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47310e8114178" /><Relationship Type="http://schemas.openxmlformats.org/officeDocument/2006/relationships/extended-properties" Target="/docProps/app.xml" Id="R8d5b189a14464df1" /><Relationship Type="http://schemas.openxmlformats.org/officeDocument/2006/relationships/officeDocument" Target="/ppt/presentation.xml" Id="Rddb44e6fad8b49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6c3b4beaf467c"/>
  </p:sldMasterIdLst>
  <p:notesMasterIdLst>
    <p:notesMasterId xmlns:r="http://schemas.openxmlformats.org/officeDocument/2006/relationships" r:id="R278fae8fc6c44089"/>
  </p:notesMasterIdLst>
  <p:sldIdLst>
    <p:sldId xmlns:r="http://schemas.openxmlformats.org/officeDocument/2006/relationships" id="256" r:id="R26f675f338274719"/>
    <p:sldId xmlns:r="http://schemas.openxmlformats.org/officeDocument/2006/relationships" id="257" r:id="R7b877ae85848425b"/>
    <p:sldId xmlns:r="http://schemas.openxmlformats.org/officeDocument/2006/relationships" id="258" r:id="R742b8fe972594dcd"/>
    <p:sldId xmlns:r="http://schemas.openxmlformats.org/officeDocument/2006/relationships" id="259" r:id="Rbed31caf6d1244fc"/>
    <p:sldId xmlns:r="http://schemas.openxmlformats.org/officeDocument/2006/relationships" id="260" r:id="Rf51d6ca2811b4c7f"/>
    <p:sldId xmlns:r="http://schemas.openxmlformats.org/officeDocument/2006/relationships" id="261" r:id="Rd14218644f61441a"/>
    <p:sldId xmlns:r="http://schemas.openxmlformats.org/officeDocument/2006/relationships" id="262" r:id="Re33a4a3876514487"/>
    <p:sldId xmlns:r="http://schemas.openxmlformats.org/officeDocument/2006/relationships" id="263" r:id="Rc65d4fb1dd8942ac"/>
    <p:sldId xmlns:r="http://schemas.openxmlformats.org/officeDocument/2006/relationships" id="264" r:id="R290b65f7544240c2"/>
    <p:sldId xmlns:r="http://schemas.openxmlformats.org/officeDocument/2006/relationships" id="265" r:id="R4ea69a3d6a3e4f97"/>
    <p:sldId xmlns:r="http://schemas.openxmlformats.org/officeDocument/2006/relationships" id="266" r:id="R54b40ffead4a44df"/>
    <p:sldId xmlns:r="http://schemas.openxmlformats.org/officeDocument/2006/relationships" id="267" r:id="Rc4aea14f2ea944eb"/>
    <p:sldId xmlns:r="http://schemas.openxmlformats.org/officeDocument/2006/relationships" id="268" r:id="Rdb229ff5c4d643f6"/>
    <p:sldId xmlns:r="http://schemas.openxmlformats.org/officeDocument/2006/relationships" id="269" r:id="R4ca7c33fc5614a82"/>
    <p:sldId xmlns:r="http://schemas.openxmlformats.org/officeDocument/2006/relationships" id="270" r:id="R4dbc63efbdbd41b2"/>
    <p:sldId xmlns:r="http://schemas.openxmlformats.org/officeDocument/2006/relationships" id="271" r:id="Rc00e920ca9e945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52c887fdeb4945" /><Relationship Type="http://schemas.openxmlformats.org/officeDocument/2006/relationships/slideMaster" Target="/ppt/slideMasters/slideMaster1.xml" Id="R1506c3b4beaf467c" /><Relationship Type="http://schemas.openxmlformats.org/officeDocument/2006/relationships/notesMaster" Target="/ppt/notesMasters/notesMaster1.xml" Id="R278fae8fc6c44089" /><Relationship Type="http://schemas.openxmlformats.org/officeDocument/2006/relationships/presProps" Target="/ppt/presProps.xml" Id="Re2fa8d9d00b4490d" /><Relationship Type="http://schemas.openxmlformats.org/officeDocument/2006/relationships/tableStyles" Target="/ppt/tableStyles.xml" Id="Rb9c601cbfeaf45cf" /><Relationship Type="http://schemas.openxmlformats.org/officeDocument/2006/relationships/slide" Target="/ppt/slides/slide1.xml" Id="R26f675f338274719" /><Relationship Type="http://schemas.openxmlformats.org/officeDocument/2006/relationships/slide" Target="/ppt/slides/slide2.xml" Id="R7b877ae85848425b" /><Relationship Type="http://schemas.openxmlformats.org/officeDocument/2006/relationships/slide" Target="/ppt/slides/slide3.xml" Id="R742b8fe972594dcd" /><Relationship Type="http://schemas.openxmlformats.org/officeDocument/2006/relationships/slide" Target="/ppt/slides/slide4.xml" Id="Rbed31caf6d1244fc" /><Relationship Type="http://schemas.openxmlformats.org/officeDocument/2006/relationships/slide" Target="/ppt/slides/slide5.xml" Id="Rf51d6ca2811b4c7f" /><Relationship Type="http://schemas.openxmlformats.org/officeDocument/2006/relationships/slide" Target="/ppt/slides/slide6.xml" Id="Rd14218644f61441a" /><Relationship Type="http://schemas.openxmlformats.org/officeDocument/2006/relationships/slide" Target="/ppt/slides/slide7.xml" Id="Re33a4a3876514487" /><Relationship Type="http://schemas.openxmlformats.org/officeDocument/2006/relationships/slide" Target="/ppt/slides/slide8.xml" Id="Rc65d4fb1dd8942ac" /><Relationship Type="http://schemas.openxmlformats.org/officeDocument/2006/relationships/slide" Target="/ppt/slides/slide9.xml" Id="R290b65f7544240c2" /><Relationship Type="http://schemas.openxmlformats.org/officeDocument/2006/relationships/slide" Target="/ppt/slides/slide10.xml" Id="R4ea69a3d6a3e4f97" /><Relationship Type="http://schemas.openxmlformats.org/officeDocument/2006/relationships/slide" Target="/ppt/slides/slide11.xml" Id="R54b40ffead4a44df" /><Relationship Type="http://schemas.openxmlformats.org/officeDocument/2006/relationships/slide" Target="/ppt/slides/slide12.xml" Id="Rc4aea14f2ea944eb" /><Relationship Type="http://schemas.openxmlformats.org/officeDocument/2006/relationships/slide" Target="/ppt/slides/slide13.xml" Id="Rdb229ff5c4d643f6" /><Relationship Type="http://schemas.openxmlformats.org/officeDocument/2006/relationships/slide" Target="/ppt/slides/slide14.xml" Id="R4ca7c33fc5614a82" /><Relationship Type="http://schemas.openxmlformats.org/officeDocument/2006/relationships/slide" Target="/ppt/slides/slide15.xml" Id="R4dbc63efbdbd41b2" /><Relationship Type="http://schemas.openxmlformats.org/officeDocument/2006/relationships/slide" Target="/ppt/slides/slide16.xml" Id="Rc00e920ca9e9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a89dc9848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aece1c49146ac" /><Relationship Type="http://schemas.openxmlformats.org/officeDocument/2006/relationships/notesMaster" Target="/ppt/notesMasters/notesMaster1.xml" Id="R9bb9488ecabc4f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d9021714f4182" /><Relationship Type="http://schemas.openxmlformats.org/officeDocument/2006/relationships/notesMaster" Target="/ppt/notesMasters/notesMaster1.xml" Id="R902e8afb497e45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81fd201c543c2" /><Relationship Type="http://schemas.openxmlformats.org/officeDocument/2006/relationships/notesMaster" Target="/ppt/notesMasters/notesMaster1.xml" Id="Rdde78accc49e46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d80d089e3b4102" /><Relationship Type="http://schemas.openxmlformats.org/officeDocument/2006/relationships/notesMaster" Target="/ppt/notesMasters/notesMaster1.xml" Id="R047f3d8e41af41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a55ef764ce408f" /><Relationship Type="http://schemas.openxmlformats.org/officeDocument/2006/relationships/notesMaster" Target="/ppt/notesMasters/notesMaster1.xml" Id="R3f714d1d4c0c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860c9892f4492b" /><Relationship Type="http://schemas.openxmlformats.org/officeDocument/2006/relationships/notesMaster" Target="/ppt/notesMasters/notesMaster1.xml" Id="R43c84c9f552744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e6d2ba16f744a1" /><Relationship Type="http://schemas.openxmlformats.org/officeDocument/2006/relationships/notesMaster" Target="/ppt/notesMasters/notesMaster1.xml" Id="R14dbb870308d41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6803ecddd4b78" /><Relationship Type="http://schemas.openxmlformats.org/officeDocument/2006/relationships/notesMaster" Target="/ppt/notesMasters/notesMaster1.xml" Id="R1de25fd6b79743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59a9f6d9c54778" /><Relationship Type="http://schemas.openxmlformats.org/officeDocument/2006/relationships/notesMaster" Target="/ppt/notesMasters/notesMaster1.xml" Id="R3997ebec296149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9e52857e3a4acc" /><Relationship Type="http://schemas.openxmlformats.org/officeDocument/2006/relationships/notesMaster" Target="/ppt/notesMasters/notesMaster1.xml" Id="Rd8518562f81c42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fdc1b47ab24857" /><Relationship Type="http://schemas.openxmlformats.org/officeDocument/2006/relationships/notesMaster" Target="/ppt/notesMasters/notesMaster1.xml" Id="Re49259301e60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4fad8ffb614737" /><Relationship Type="http://schemas.openxmlformats.org/officeDocument/2006/relationships/notesMaster" Target="/ppt/notesMasters/notesMaster1.xml" Id="Re508455ca8a547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b79ef1791d4d56" /><Relationship Type="http://schemas.openxmlformats.org/officeDocument/2006/relationships/notesMaster" Target="/ppt/notesMasters/notesMaster1.xml" Id="Re63eba4d07414e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9dd5339af243e2" /><Relationship Type="http://schemas.openxmlformats.org/officeDocument/2006/relationships/notesMaster" Target="/ppt/notesMasters/notesMaster1.xml" Id="Ra03e33da817c4f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16c14dbdeb4b4a" /><Relationship Type="http://schemas.openxmlformats.org/officeDocument/2006/relationships/notesMaster" Target="/ppt/notesMasters/notesMaster1.xml" Id="R5a367b4466784b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71b04be9da465e" /><Relationship Type="http://schemas.openxmlformats.org/officeDocument/2006/relationships/notesMaster" Target="/ppt/notesMasters/notesMaster1.xml" Id="Rde60b8ab992446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Open with the idea in one sentence. The platform progressively narrows the national search and keeps execution priority separate from attractiveness.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0:50</a:t>
            </a:r>
          </a:p>
          <a:p xmlns:a="http://schemas.openxmlformats.org/drawingml/2006/main">
            <a:r>
              <a:t>Explain why the product is not another map or spreadsheet score. The opportunity is the connective decision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</a:t>
            </a:r>
          </a:p>
          <a:p xmlns:a="http://schemas.openxmlformats.org/drawingml/2006/main">
            <a:r>
              <a:t>Cale meeting notes, Confluence page 5352949587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0:45</a:t>
            </a:r>
          </a:p>
          <a:p xmlns:a="http://schemas.openxmlformats.org/drawingml/2006/main">
            <a:r>
              <a:t>Give the product definition and emphasize that people make the final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Introduce the four-level funnel. Each level has a different question and output, so one national property score is neither necessary nor desirable.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Walk through steps one through four. Scale comes from scheduled coverage and progressive narrowing.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Continue with submarket construction, broker properties, property gates, and the separate execution queue.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Describe the analyst experience from national map to review sequence. The key is that every view stays connected to evidence and scenario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Pause on the distinction among attractiveness, feasibility, and execution priority. These outputs may legitimately disagree.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Use the synthetic example to show why Property B can be first to investigate while Property A has the higher location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example supplied for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Be candid about the current boundary. The prototype demonstrates pieces of the workflow but does not yet rank the country legitimately.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Frame the four decisions as the minimum governance needed before rankings are credible.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Keep this brief. AI explains structured results and missing evidence but does not choose the site, rules, weights, geography, or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docs/technical/ai-boundaries.md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Explain that the workflow benefit is a shared decision trace across existing tools and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Describe measurable early impact without claiming unverified financial savings.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docs/evaluation/success-metrics.md</a:t>
            </a:r>
          </a:p>
          <a:p xmlns:a="http://schemas.openxmlformats.org/drawingml/2006/main">
            <a:r>
              <a:t>docs/evaluation/evaluation-plan.md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6:00 demo</a:t>
            </a:r>
          </a:p>
          <a:p xmlns:a="http://schemas.openxmlformats.org/drawingml/2006/main">
            <a:r>
              <a:t>Transition into the live product. Aim for approximately six minutes and follow these five checkpoints.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Close with the requested decisions and one bounded pilot. Leave the audience with the progressive funnel and separate queue as the product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e475a3eff4c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753bc9f26a46e3" /><Relationship Type="http://schemas.openxmlformats.org/officeDocument/2006/relationships/slideLayout" Target="/ppt/slideLayouts/slideLayout1.xml" Id="R157fc03ea61f4a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7fc03ea61f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1120f90eb4ffa" /><Relationship Type="http://schemas.openxmlformats.org/officeDocument/2006/relationships/notesSlide" Target="/ppt/notesSlides/notesSlide1.xml" Id="R4b27a2837aa2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a70e4c8ab462f" /><Relationship Type="http://schemas.openxmlformats.org/officeDocument/2006/relationships/notesSlide" Target="/ppt/notesSlides/notesSlide2.xml" Id="R195cf56a92be44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c8434ab914c1b" /><Relationship Type="http://schemas.openxmlformats.org/officeDocument/2006/relationships/notesSlide" Target="/ppt/notesSlides/notesSlide3.xml" Id="R7b52829ab25749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3c1f07e204c17" /><Relationship Type="http://schemas.openxmlformats.org/officeDocument/2006/relationships/notesSlide" Target="/ppt/notesSlides/notesSlide4.xml" Id="R44b030b547f3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bb4c5663146fb" /><Relationship Type="http://schemas.openxmlformats.org/officeDocument/2006/relationships/notesSlide" Target="/ppt/notesSlides/notesSlide5.xml" Id="R806b12a35678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749ae7fb44bae" /><Relationship Type="http://schemas.openxmlformats.org/officeDocument/2006/relationships/notesSlide" Target="/ppt/notesSlides/notesSlide6.xml" Id="R264e78fad7af45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9edfaff254daa" /><Relationship Type="http://schemas.openxmlformats.org/officeDocument/2006/relationships/notesSlide" Target="/ppt/notesSlides/notesSlide7.xml" Id="Rfedbddff0c9c4d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8e3ed4ecb4111" /><Relationship Type="http://schemas.openxmlformats.org/officeDocument/2006/relationships/notesSlide" Target="/ppt/notesSlides/notesSlide8.xml" Id="R02b4ce3ad4d74c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63c34a20b4c52" /><Relationship Type="http://schemas.openxmlformats.org/officeDocument/2006/relationships/notesSlide" Target="/ppt/notesSlides/notesSlide9.xml" Id="Raa08e40907a141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c3c4ce7744716" /><Relationship Type="http://schemas.openxmlformats.org/officeDocument/2006/relationships/notesSlide" Target="/ppt/notesSlides/notesSlide10.xml" Id="Rdae98cef5fe146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ab5936e6a4a9a" /><Relationship Type="http://schemas.openxmlformats.org/officeDocument/2006/relationships/notesSlide" Target="/ppt/notesSlides/notesSlide11.xml" Id="Ra6108139eb1e4d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19e1999a348f8" /><Relationship Type="http://schemas.openxmlformats.org/officeDocument/2006/relationships/notesSlide" Target="/ppt/notesSlides/notesSlide12.xml" Id="R9030ca0fcc1e4d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16fc5d66d4378" /><Relationship Type="http://schemas.openxmlformats.org/officeDocument/2006/relationships/notesSlide" Target="/ppt/notesSlides/notesSlide13.xml" Id="R7f1e6e6109c045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9aa22c3a14d0d" /><Relationship Type="http://schemas.openxmlformats.org/officeDocument/2006/relationships/notesSlide" Target="/ppt/notesSlides/notesSlide14.xml" Id="R2d4e9924f54642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be41aa36f4486" /><Relationship Type="http://schemas.openxmlformats.org/officeDocument/2006/relationships/notesSlide" Target="/ppt/notesSlides/notesSlide15.xml" Id="R062d5c06f3984f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749ffb1b14843" /><Relationship Type="http://schemas.openxmlformats.org/officeDocument/2006/relationships/notesSlide" Target="/ppt/notesSlides/notesSlide16.xml" Id="Rafeaf6a681b6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DFE6D-620F-4692-95D8-0C4B37E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CHEWY VET 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B219-F69C-439C-9BF4-C1C5D27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85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CVC Clinic Market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and Location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AB941-9A84-416B-A04C-AC26767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From nationwide market opportunity to an explainable clinic-opening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1ABA6-F7BC-4C3D-A666-2814363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VISION AND VALIDATION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507C1-DAC9-4107-89C7-DF7C0A0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B196F-D5A1-42E5-A274-4AE661D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CVC</a:t>
            </a:r>
          </a:p>
        </p:txBody>
      </p:sp>
    </p:spTree>
    <p:extLst>
      <p:ext uri="{BB962C8B-B14F-4D97-AF65-F5344CB8AC3E}">
        <p14:creationId xmlns:p14="http://schemas.microsoft.com/office/powerpoint/2010/main" val="1685264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C7431-9AE7-4D75-A2AB-86C53EB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WHY THE VISION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88497-2EA0-4D4F-9828-6896140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pivot: the niche is not another map or weighted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5256D-9652-4060-87E3-A7E8BC2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AE681-CABB-46DA-BB82-49432F71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Cale notes;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0A317-F7F8-41CC-8681-CB10C4C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081B-98FC-4EB1-9527-C8B73DB2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8BED9-52B8-42BC-9814-64A721D7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ALREADY STRONG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26E2F-6034-4134-B789-F41A40D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Esri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A48DF-F467-4638-9D70-27F4D201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Mapping, overlays, drive-time analysis, competitive context, and large customer calculations.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A8DC6-1404-43F1-BC68-0739C01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D723-FE65-4C54-9C4C-2D6CBA2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ALREADY FAMILIAR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5A279-B429-4964-8553-7F4CED6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0633C-70F2-4518-8B46-39F9C9D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Weighted, rules-based ranking that teams can adjust and understand.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C3DD6-1547-4A74-9E64-2A142B8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4671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B7562-8D16-4A06-AE96-B6227B9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STILL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68C7E-B461-4896-B1A7-5881741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connective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B3EEE-736A-4AD4-A77D-9C34AEA9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30099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 shared scenario and evidence trail from market attractiveness through property feasibility and execution sequence.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2211A-2941-4F0C-95D3-45B8884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The opportunity is between the tools, not inside one more scoring screen.</a:t>
            </a:r>
          </a:p>
        </p:txBody>
      </p:sp>
    </p:spTree>
    <p:extLst>
      <p:ext uri="{BB962C8B-B14F-4D97-AF65-F5344CB8AC3E}">
        <p14:creationId xmlns:p14="http://schemas.microsoft.com/office/powerpoint/2010/main" val="151070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1473F-28FD-4EDF-BBB7-F409449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PRODUCT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BAC3C-B014-44EA-8759-1B53733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9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One scenario layer connects discovery, diligence, and sequencing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D625-0E87-42AD-A135-74F48924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B327-9774-4920-85C3-DB49205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MVP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24F67-35E1-41A1-82BF-27E15EF1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5BED-EA33-40D9-9D46-7202819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CVC Clinic Market and Location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121C2-CDD5-43F8-BB39-5ABF8A4A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723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is an evidence-backed scenario layer that connects national market discovery, sub-area opportunity, real properties, feasibility, Finance scenarios, and execution priority.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D9B3-EF0F-4589-96D8-69E3DC45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3486150" cy="373380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6C76-4B60-487D-8267-C227015B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IT HELPS CVC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7C227-C048-46B2-9812-C2110E18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3DD8-1CBC-4169-981E-EB90C3F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Scan consistently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09D78-743C-4E37-8853-C16CA74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9438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D13E9-7C8D-4D01-BFC0-8A1CA21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52763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93611-712A-41FF-B14C-3DBA470A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7D60D-6D45-4DD8-861A-DC09735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29025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tradeoffs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00392-71BC-4E82-9786-A32B1D7F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1963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AE1BD-110A-4A6D-B6F6-D88B8EF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05288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Preserve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74008-DCBA-4868-9698-CF91783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It prepares the portfolio case. People make the decisions.</a:t>
            </a:r>
          </a:p>
        </p:txBody>
      </p:sp>
    </p:spTree>
    <p:extLst>
      <p:ext uri="{BB962C8B-B14F-4D97-AF65-F5344CB8AC3E}">
        <p14:creationId xmlns:p14="http://schemas.microsoft.com/office/powerpoint/2010/main" val="263023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DA6EF-7C78-4062-8B50-8CAEC27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THE SCALABLE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8C76-52EC-42F0-B662-83D1813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 funnel narrows the search without one giant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81D0-5E6E-43B5-B2E0-E7B32636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5B145-D984-4BE5-A7E4-878875B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A5705-58A4-4E93-BC9C-902C654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33C5-4708-4B28-A4A8-9C37C7C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01C4C-8163-4642-9E79-0CF3056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D5CEE-7D1C-488E-90CF-DBAF807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41E1E-7531-4E80-8536-8A64D15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9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Which metros deserve attention?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Tier +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65A94-9245-4C1B-A179-921F545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4922-C9AD-4FAA-A815-1590FFC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2448B-FAD2-46F8-8DEB-E151103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Submarket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C5224-D7D2-48C7-A85B-2C816BF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Where is opportunity concentrated?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Ranked heat-map areas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CF458-7B56-45AF-975D-9E7C558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99FE9-D4B2-489C-B683-8E0B0E0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A42B-00DD-44D4-B6CE-BDF2940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035BE-4012-4B10-98C9-D89DC0D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Which properties are feasible?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Advance, review, or blocked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DA382-7DF0-4B45-94A2-B179AEB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38350"/>
            <a:ext cx="29622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F6561-9C17-4DD9-B000-DFFC056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5AF32-3FFB-47E6-8425-FABBED6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2890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BE5E3-F862-41C7-BCA0-E7A41DF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194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What should Chewy pursue first?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Queue + rationale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4DDA9-E6DF-44ED-AE3A-F4EBB18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400DD-5371-443E-B728-7769B71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4445C-A64D-4882-8DDF-F053870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5317A-88A1-43E9-92BD-EDE7FCE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46114-8DE9-47C8-9804-CA0F20E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74166-780E-4886-AE68-010B1A8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70B89-F1DE-4060-97B4-C45B4BC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Each level answers a different question before the search gets narrower.</a:t>
            </a:r>
          </a:p>
        </p:txBody>
      </p:sp>
    </p:spTree>
    <p:extLst>
      <p:ext uri="{BB962C8B-B14F-4D97-AF65-F5344CB8AC3E}">
        <p14:creationId xmlns:p14="http://schemas.microsoft.com/office/powerpoint/2010/main" val="230766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B08C1-9EFB-4D76-A463-3D9336B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HOW IT WORKS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947D-2816-4D7B-994F-965D928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national process starts broad, then earns deeper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B474-BD0C-4E86-9E89-ACC4CB0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33C0-E90D-46A1-AFD5-4069BCE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06FB1-AE1D-4FFD-8A7D-C7EED75F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91663-7631-437C-82F3-E0A25DD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905500" cy="3695700"/>
          </a:xfrm>
          <a:prstGeom xmlns:a="http://schemas.openxmlformats.org/drawingml/2006/main" prst="roundRect">
            <a:avLst>
              <a:gd name="adj" fmla="val 567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4095D-3A50-44AB-8397-45B5014A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2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COMPLETE APPROVED U.S. MARKET UNIVERSE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CC309-1830-40A0-83B5-0E7A965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3730"/>
            <a:ext cx="285750" cy="147447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E9B29-92DC-49FE-8E27-1892CBC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8065"/>
            <a:ext cx="285750" cy="108013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4B75B-F844-4FE4-B692-B326696B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45180"/>
            <a:ext cx="285750" cy="13030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C8CB5-F64F-4388-9AEA-9B52392B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76675"/>
            <a:ext cx="285750" cy="7715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FCC9E-2017-4BC3-8517-CCA50511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5195"/>
            <a:ext cx="285750" cy="118300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B2BAB-9190-441B-9FAA-5190BC2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88080"/>
            <a:ext cx="285750" cy="9601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5521-1330-4DB5-A1D5-15ED03C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8005"/>
            <a:ext cx="285750" cy="156019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7D0E6-9CFC-4755-8BCA-9CEE4C81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13760"/>
            <a:ext cx="285750" cy="12344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43ABC-0E02-4932-8BA8-ED06622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73805"/>
            <a:ext cx="285750" cy="87439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8A0FB-62C0-4E69-B8D9-8702DA8E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285750" cy="13716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02472-ECAA-4DC0-BB2C-3365B4D2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9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Scheduled evaluation, not market-by-market prompting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0FB45-8DAB-4AC0-8AE5-C666D1CD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first four steps decide where deeper analysis is warranted.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A5523-7D61-4C43-850C-C3B570E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B9132-BD4E-4574-9567-DFEE2E68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1. Evaluate every approved market on a 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3CAD0-9F91-4BE9-80E5-DEBAAC3B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41FED-F8DD-4390-BD7E-FB0BC19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2. Remove ineligible markets with hard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8C5EF-2555-4ECF-95CD-1D01B30F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252F52-C1AB-43BD-9371-8C5FD55E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3. Apply transparent approved market 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E551D-C316-4443-A083-3B8CC8A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48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064DC-E632-4C08-88DB-C2AC5945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815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4. Analyze submarkets only in promising metros</a:t>
            </a:r>
          </a:p>
        </p:txBody>
      </p:sp>
    </p:spTree>
    <p:extLst>
      <p:ext uri="{BB962C8B-B14F-4D97-AF65-F5344CB8AC3E}">
        <p14:creationId xmlns:p14="http://schemas.microsoft.com/office/powerpoint/2010/main" val="549851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FCDAF-377F-42CA-B09E-841EC42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HOW IT WORKS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68CFC-C54E-4CA7-9E9E-42EA6F9B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Promising markets progress to submarkets, properties, and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04595-10F2-4A51-BC2A-22A6A447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E76AE-9AA7-442F-8E4B-B4DC4D9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91780-F9A1-4FFB-B663-6D0B90E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2DA04-103F-4985-A5FC-AAFE4FC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3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69777-F9A6-4FE4-800D-B431E0D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SUBMARKETS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BFDFB-2AC6-4663-B06F-60A5C84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OPPORTUNITY 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6114A-D5DC-4077-86E8-32F7EA5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603BA-7A30-4197-9F82-DF0550A0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92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EXECUTION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760A3-2D25-42DE-9B1F-C523F79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BA09D-5459-43B7-88C7-83F039D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Consistent analysis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8E6FC-8DBD-4AC6-B2A8-1EDEBD7E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Tracts, block groups, or hex cells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AABCF-7D1F-4009-AB32-11EFD12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F2ABA-0B84-463B-8F39-4562ECCA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Grouped opportunity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40C49-1618-464E-B442-C6969DDE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Approved drive-time and overlap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7D8FE-B772-43F4-A143-DE89139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A19EF-0290-463B-B7B4-F39725A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Broker availability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5F1AB-3FAF-47B6-8F4C-D034AA30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Attach real properties to submarkets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39610-1BB9-4524-AD73-7D2E7D8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A128A-CCD8-4C25-BA97-97B3FA0D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Hard property 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9D443-7DED-48C9-89F4-4E1E9E7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Block infeasible candidates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77BDE-4A89-41F4-BCB2-434E5BD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711EE-9429-4C2A-B489-3831113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Weighted preferences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7CA3A-0F4E-47CE-8DEB-40A9403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only viable properties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12088-D006-49DC-BAC4-321FB07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82333-CA85-4E20-867D-1A3B69A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Separate review sequence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EDC39-4185-40B2-B3A5-0282CDE0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Availability, staffing, economics, timing</a:t>
            </a:r>
          </a:p>
        </p:txBody>
      </p:sp>
    </p:spTree>
    <p:extLst>
      <p:ext uri="{BB962C8B-B14F-4D97-AF65-F5344CB8AC3E}">
        <p14:creationId xmlns:p14="http://schemas.microsoft.com/office/powerpoint/2010/main" val="1033227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8B7D8-9D71-4D68-B62C-D81430B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WHAT ANALYSTS WOULD SEE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2F072-9D04-4807-80EA-59944F1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99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interface keeps geography, evidence, and sequence connected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C3B4D-0C99-4328-93C7-3EA15304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679D4-273B-4B79-BDD3-230DE5F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9A20-2570-4056-9377-1FFE3D8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E412-712D-46F5-80E9-ED2564F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1FDC0-BAE6-49D0-84C4-46BBB8D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NATIONAL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D6A39-7132-44B2-955A-FB2696A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97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attractiveness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B34BD-3F0A-4B3D-AEB0-D6D39497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97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Tiered view of where attention is warranted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5B04C-8982-4DBA-97C7-D38A936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42048-2CD8-43E0-B4BF-E6C1127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MARKET TABLE + FILTERS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66EF5-CDED-4032-B327-DD1441F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Top opportunities, scenario, region,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5E729-5721-46AA-ABA3-A985169F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Sort by coverage, freshness, and constraints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D9ECD-5DFA-44D2-8332-E36233DC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A5EDA-7423-4990-9D68-01DA7CC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SUBMARKET DRILL-DOWN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5DB44-03AA-453B-A082-A230AEB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385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Opportunity heat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A6971-AA83-4389-B224-C40DF91A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385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Shows where opportunity is concentrated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4D277-50CF-4F67-A613-A34602F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7B69C-00D1-4230-A9A6-B186B67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PROPERTY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36090-A106-43C7-B3CA-C9F8F49C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529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Score, constraints, missing evidence, movement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FE91B-2B9F-46A1-96AF-4742FD7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529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Explains why each candidate moved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7C0BD-E07E-418B-9B18-0E5CF3D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B21E4-C305-459C-BC2C-B44C15CA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REVIEW SEQUENCE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2A08C-92F3-4DF0-86E1-40DFC850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673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Separate queue with rationale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CDEBA-F24C-459E-B352-673F7ED7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673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Shows what to investigate first</a:t>
            </a:r>
          </a:p>
        </p:txBody>
      </p:sp>
    </p:spTree>
    <p:extLst>
      <p:ext uri="{BB962C8B-B14F-4D97-AF65-F5344CB8AC3E}">
        <p14:creationId xmlns:p14="http://schemas.microsoft.com/office/powerpoint/2010/main" val="2063193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672B6-F32D-4A8C-9D1D-D2A54DF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CORE PRODUCT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2111-6573-43D8-877F-48241BE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Three outputs must stay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FF62-1481-473C-804F-535A1C0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06176-D641-414F-ADCF-DE15899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AB315-2EE1-4FB0-9A42-3F88C53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8619D-5DC1-409F-B08E-1E0F4BFC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1367E-5DE5-4C1D-8520-A86C6BB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STRATEGIC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A8500-C3CE-4E41-BD12-F00D5DC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Attractiveness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31DD4-E75C-473A-B6A1-9B402DF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Is the market or sub-area strategically favorable based on approved evidence and criteria?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C62A9-BAD9-4750-A571-0EF35DB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0ABA5-C068-4D2A-BC04-928A6CCB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8F99F-DAA4-4530-AF27-7DEC89B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3B56E-4076-4882-8DBF-CD2F90E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Does an available location pass mandatory physical, legal, operational, and financial requirements?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4B65E-EFE3-4A4D-8EA4-653A843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467100" cy="371475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124D9-97A8-4400-9DB5-0CCB8CE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EE36A-F9E7-4EA9-BCB6-10610A1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Execution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0D03A-E4FE-4039-A0CE-AD6D6E3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300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Given timing, capital, staffing, readiness, and dependencies, what should be reviewed or opened first?</a:t>
            </a:r>
          </a:p>
        </p:txBody>
      </p:sp>
    </p:spTree>
    <p:extLst>
      <p:ext uri="{BB962C8B-B14F-4D97-AF65-F5344CB8AC3E}">
        <p14:creationId xmlns:p14="http://schemas.microsoft.com/office/powerpoint/2010/main" val="1838043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EF587-0FD9-41C2-9645-111CDE6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SYNTHETIC SEQUENCING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DB33-66D2-4C06-8F74-7245CEDD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6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highest location score can still be fourth in the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FBCFC-BB65-42B1-868E-13151644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0B61D-CFDD-462E-B423-F2592CD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Synthetic example based on user-provided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8A4B3-423F-44A4-B3F8-A424CEC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3E4A-E1AC-4559-8D02-ABB8D4C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SYNTHETIC ILLUSTRATION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6342D-0F09-45F6-81F1-4CB8201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143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61D0F-2D49-4884-9F7C-37CF98D5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ATTRACTIVENESS 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2266E-3734-4746-9385-11F18A8B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B97D8-F156-4AB9-9F25-AB3B4780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Strong northern submarket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Highest location score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Availability unconfirmed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Execution queue: fourth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48C79-55A4-4160-92B0-33E163E7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5143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7B269-0C1F-48FF-A8BE-55FC10C9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ATTRACTIVENESS 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3443A-EB36-468F-9CCB-94FE46FA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53CD7-1579-42DA-A728-E03C2F5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Slightly lower location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Confirmed available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Passes mandatory constraints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Stronger evidence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0C2A5-DFC7-4DC0-A449-0C42CA6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384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1791A-B80D-442D-B1A0-B72B76B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384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25818-4618-4C58-B718-83D607D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1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Property B moves first because it is viable now, not because it has the higher location score.</a:t>
            </a:r>
          </a:p>
        </p:txBody>
      </p:sp>
    </p:spTree>
    <p:extLst>
      <p:ext uri="{BB962C8B-B14F-4D97-AF65-F5344CB8AC3E}">
        <p14:creationId xmlns:p14="http://schemas.microsoft.com/office/powerpoint/2010/main" val="14303688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66B7B-BFE2-4F60-9BD8-B0BD38C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WHERE THE PROTOTYPE STANDS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4C70A-2B3B-4CBB-BC3A-A8E53346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6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prototype does not yet produce a legitimate national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CE9B-D701-4901-9B20-B751518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AE360-68D8-454E-A4A3-82697D7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84A43-440C-43AB-8BA2-4403B3CD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AC6BE-B217-4FEC-84C9-5D4AE65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B3E6B-68FF-45B5-A0C0-4FA2742E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PUBLIC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02C3C-1C33-4121-A6BC-6C3BE736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Census + ACS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EF042-3D68-423A-B6E1-503E250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Explicitly non-scored 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45134-7E95-4E9C-94E8-9A8368F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9C125-1A19-4FE3-9E54-E6409C4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ESRI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3C16-9DE9-4754-8BA9-32ECC4F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Descriptive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F2BC3-811C-42D6-A097-C1B8F70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Marked ineligible for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026C-AD0E-43BB-A1F8-E9677242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6FB62-0699-464F-B062-F45C768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WORKFLOW 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9455E-1D34-4539-B9AC-75C40BD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Potential + Evaluated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53E46-39D2-41F3-8DF1-566DE08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Labels, not attractiveness scores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09FD8-AA77-4BBC-9320-268EBFF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7A170-9123-4523-9293-1AB63A2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SCORING SANDBOX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8640E-615D-4CA7-87F5-CF8E7722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Deterministic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B21F0-71AD-4163-8E9E-5A42DBC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Production criteria and weights remain unresolved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09820-38CB-46F6-88A0-751AA589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We should not present “most promising locations” as a current product output.</a:t>
            </a:r>
          </a:p>
        </p:txBody>
      </p:sp>
    </p:spTree>
    <p:extLst>
      <p:ext uri="{BB962C8B-B14F-4D97-AF65-F5344CB8AC3E}">
        <p14:creationId xmlns:p14="http://schemas.microsoft.com/office/powerpoint/2010/main" val="1417878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99AD7-B488-4452-9AB6-374CF4A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WHAT MUST BE DECIDED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E7AB-13D1-4B35-A1C1-202519C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73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Four decisions are required before real rankings are credible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621C-D75B-41C8-B6E0-5AA5A2E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0B3F-6D10-4F7F-B837-5C745ADA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3E8BC-C82A-4E20-9B03-BB19CF27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7F4E-3D17-48B5-AFDD-03CC583E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8AD2A-EBBD-4D40-AE11-2FAAEE7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80A53-F24F-4902-8F41-6DB8A4D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18E7E-D3EC-4485-9491-C7C31EC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Approved attractiveness criteria and weights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FFE19-7E36-44DA-9152-729D5A71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FAC32-18F9-44A4-AFCC-7166ADD0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E7EB-FB7B-446A-BEF6-65312FC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Submarket definition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0C56A-F998-4684-AD38-755F0355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Units, grouping rules, drive-time, and overlap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2E46C-7F53-4103-AB18-4EE3217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87ECE-1A51-44AE-8ACA-A759E366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65645-74B3-4479-9F9E-0C9C123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C6784-0C91-4F06-93B7-3A06BCA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Mandatory constraints and availability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DD66B-DA13-4F5F-8B2C-2D87ECD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627BC-C9AF-4C2E-B0F1-1FB3A278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4B9B-1B7B-4FB8-8D81-EEBEE0F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Queue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B819A-0EFE-40B8-B398-BC3E66F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Rules separating attractiveness from priority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52077-3D05-4BD4-AE31-EE71B850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7B79E-648E-40D8-B370-B2D3369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3BEA8-0954-4AD4-83BE-957EE1D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Clear direction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63F3F-C759-4ACD-9499-649023E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National screen → submarket map → property gate → human-reviewed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9564B-299C-4393-9E78-BB964821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Scale comes from progressive narrowing, not one giant property score.</a:t>
            </a:r>
          </a:p>
        </p:txBody>
      </p:sp>
    </p:spTree>
    <p:extLst>
      <p:ext uri="{BB962C8B-B14F-4D97-AF65-F5344CB8AC3E}">
        <p14:creationId xmlns:p14="http://schemas.microsoft.com/office/powerpoint/2010/main" val="1220267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6D119-33FA-4963-8A3E-9E9E8A47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RESPONSIBLE AI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F42A6-AC14-4399-B760-6D11E502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AI explains structured results, but does not create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D16F6-F8BE-456C-BB3D-0043E6C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B93BB-0B7F-4142-92FA-E285D3C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AI boundaries;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0BAB6-6B8D-44C4-BCB1-459D43F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8919-94DA-4BEE-BD92-96B3BCD5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102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39F3E-AD5F-4A5C-9560-109AB5B5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AI MAY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F77F-0D53-42FD-9407-61F31623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7AE07-1855-4DB5-B506-C6B34D2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why scenarios or sequences differ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CBC23-FEA1-457C-8923-0096A0B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704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95BA5-9D9B-4DD1-8AA0-CDF424B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037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Summarize evidence and missing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5E5AA-5834-4851-9B80-CC8EC30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96A32-0A7B-45E5-BA80-7058D82B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139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Flag conflicts, fragile rankings, or stale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1FE33-982C-4B09-AAAA-215F8B0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908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18163-EEE2-4AAF-8395-27F86BB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241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Extract broker facts for human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3E843-1FCA-4A91-99F9-0DAA986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01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4CA5E-92A0-4987-80CD-77A6EA2A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343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Draft source-linked review briefs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C23B3-69BB-4F33-9CDC-FAA313CE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4102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732E0-00C5-4477-AD0C-A9FAF35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AI MAY NOT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22BA3-359E-4926-9801-EB4CE395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DD26A-DD4D-4670-B032-9698786D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1935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Choose weights or silently change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A0BFF-4EB4-4A66-8DF3-6FAE8D5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704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E3E8D-1651-4DB2-BE76-384C2A3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037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Invent, impute, or overwrite missing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94320-4646-461C-A1F0-B730EBD9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12DE1-4135-43B1-863D-ECB911F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139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Calculate authoritative geography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A29BC-0A2E-4B63-9F24-82AFCE1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908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E8F3C-74F6-44EA-8F23-6CC6F4C9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241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Create unsupported Finance forecasts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15A14-59C0-4BD1-ABBB-90C10B92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01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48032-1101-42BC-A652-A58FE77C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8343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Make the lease or opening decision</a:t>
            </a:r>
          </a:p>
        </p:txBody>
      </p:sp>
    </p:spTree>
    <p:extLst>
      <p:ext uri="{BB962C8B-B14F-4D97-AF65-F5344CB8AC3E}">
        <p14:creationId xmlns:p14="http://schemas.microsoft.com/office/powerpoint/2010/main" val="487281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23C35-CA7A-4346-AB97-EBAF20C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BEFORE AND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429C-DFCA-437D-B13A-F4ABF18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workflow improvement is a shared decision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740E-3D83-4F82-BCBC-E4182F5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18562-918A-47C9-8C07-AB4D7E4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user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3926-EB77-4942-BFB3-31145C4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006A-B13E-408A-8166-2804DC4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ACEB-5F59-456E-AE2D-A69CF8D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WITH THE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E83A-03C7-47F1-9AB8-2C41456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FF14-8975-4ECB-81B1-4A224D68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Market shortlist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FAB8D-DDE8-4EAE-AAFC-6EE4F53D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AB7BC-28B4-499C-BA9D-04A4292A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Sub-area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CF0F9-9016-499B-97E0-256474A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88673-E2AA-42C7-9E8D-9BBD583D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Broker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E9599-04E3-4A6A-B157-C1EE31E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09976-E5EB-4619-BE3F-069746E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Finance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DF697-9416-4B5F-8E62-F163233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AAC09-D66F-43C6-842B-B6883EF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Opening 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F9541-D5C0-42C0-8751-8B4ECC3C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25BEE-CDCC-4502-8546-88E8655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One market-to-property hierarchy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22566-F47C-4AC1-882E-EFDC6A7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06EEC-2097-457D-B8B0-0F7D0F0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Named, versioned 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04B81-52E9-44FA-995B-E52EDFE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210CC-FC7F-4D0A-AE2F-44C3917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57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Evidence and missingness at every stage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AFD62-374E-4856-A91E-0363D15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BBF17-9A25-4B88-84B9-2CEC759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Explainable overrides and sequencing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7ED43-5ECA-4CE6-A895-FEF471F9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7D7A0-E097-4A2F-B4D3-664A7B63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435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Durable decision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DFEAB-3C09-441F-B32B-540BEBE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337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handoffs</a:t>
            </a:r>
          </a:p>
        </p:txBody>
      </p:sp>
    </p:spTree>
    <p:extLst>
      <p:ext uri="{BB962C8B-B14F-4D97-AF65-F5344CB8AC3E}">
        <p14:creationId xmlns:p14="http://schemas.microsoft.com/office/powerpoint/2010/main" val="210314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6E7C4-9A23-4157-B194-EB922429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IMPACT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B4E57-BF3B-4938-92D8-E7A1B2B0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Measure decision quality and operating speed without inventing savings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EF10A-CB1A-4A92-98D3-42C21916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CADFD-2C85-4186-BA8B-77C7FAD7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evaluation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A66BE-5FAE-4F5A-9489-8D1543E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03A4A-41C7-43D5-A496-33896273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51B4B-1DBB-4F96-82DB-4CE59D6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9ACB1-A531-4031-9A08-612A7F39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F3A2E-B8CB-41DB-B7B6-9FDADAE1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Share of the approved national market universe evaluated on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60955-6192-48C9-AED3-4AB7B7D7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8035-1E69-454E-BFB3-72D87779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3A8C6-FB19-4FC0-80D0-5C5DCBF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473C9-6F0A-4677-82DA-05A7928C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Share of markets and locations processed under the same versioned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2194A-509D-422D-A42E-F030E8D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17500-C13A-4F91-ADCC-B0DE104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1DFE3-9D18-45FC-AF78-FFAB41D2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Scenario 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7DDBF-2AA3-4A6C-91A9-2E4DA14F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Time to refresh and compare a portfolio scenario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3E4DA-12CB-4A56-89B2-9C8B7C0D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345E8-BF02-4D2D-A383-34064F2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C5F8A-9C71-4031-A838-CDBB4DE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Evidence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7AE24-54C5-416F-BED7-D43C5A2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Missing, stale, or conflicting inputs found before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DA5EC-5EF3-458F-84C8-1AB51E0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F6219-43D5-48F6-AAF2-E08DE64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0E400-729F-4A83-BF53-FD584BDA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CEFE8-26CB-4666-B76F-028D4AA3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2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Time and completeness required to explain a sequencing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5A91F-7CA9-4A3B-815A-E47F5CAA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65E1B-45FC-4651-BF7A-F2742AE7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F0388-2F67-4CA0-AF01-83122A9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E421F-B177-48A8-95C9-B427909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Whether another reviewer can recreate the result and rationale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F804E-A57E-4CD9-9EC6-F9A474F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Financial impact should be modeled only after Finance provides approved inputs and a baseline.</a:t>
            </a:r>
          </a:p>
        </p:txBody>
      </p:sp>
    </p:spTree>
    <p:extLst>
      <p:ext uri="{BB962C8B-B14F-4D97-AF65-F5344CB8AC3E}">
        <p14:creationId xmlns:p14="http://schemas.microsoft.com/office/powerpoint/2010/main" val="418331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92F96-0EE8-41DD-AD31-C6021EE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4DBC7-6E33-4724-8ECB-A8B80DD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demo follows the same funnel the product is designed to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340C0-B064-4033-864E-00A18F22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FC375-17F9-4FB9-B3BC-7402840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Current local prototype; MVP scope; user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72F8-F91C-4AB1-A276-12AF5C3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2238E-CA6B-4F68-907B-54801E8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A097-F3F8-4B6F-8B20-1388019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9B40E-6B38-4B9B-84D8-548D14E3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525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National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5EDDD-F477-4996-8726-C11B7AF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525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 market states, public context, and evidence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7680A-BF2C-4EE0-BEBE-A329563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B2A1A-FBAF-44DE-A325-DD621D0A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A367-79B3-4AE8-AE7A-B6D1DB2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drill-down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161BA-91C3-4C42-BCE9-88BF307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 how a market becomes the parent for locations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E2D66-A242-4045-94DA-C18D3AA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5F5A4-B6AF-4D40-B43D-B4776C1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BC9E-D8B1-43FA-9C39-4079CDF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051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screen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EFD15-C6A7-4E04-B28E-C2A029C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 deterministic scoring, constraints, and missing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FDA91-77C8-4D1E-8FE6-12F073B2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4139C-2A21-4A5F-B357-641A794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A535D-491D-44D8-9422-4920856F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814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Sequence example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F7939-FEE6-4721-BA25-9E88E39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14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why a lower score could move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F2160-350F-4BAE-82C1-902ED01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7CFF4-6CC0-4CC0-A501-BE739032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8DA6B-9AD6-4D4E-929E-84E7699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577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Boundary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686262-87AD-44B0-BB97-F0D233B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577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Call out what remains synthetic, non-scored, or unresolved</a:t>
            </a:r>
          </a:p>
        </p:txBody>
      </p:sp>
    </p:spTree>
    <p:extLst>
      <p:ext uri="{BB962C8B-B14F-4D97-AF65-F5344CB8AC3E}">
        <p14:creationId xmlns:p14="http://schemas.microsoft.com/office/powerpoint/2010/main" val="15709080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47F49-94A7-4E8E-A6EA-0CD2EDFA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B1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B1FF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3D337-3A40-4605-A81C-0DB33CC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47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the definitions.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the funnel.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the queue.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1EA6-0BB4-442A-BB7D-65BA40A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CE5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5FF"/>
                </a:solidFill>
                <a:latin typeface="Aptos"/>
                <a:ea typeface="Aptos"/>
                <a:cs typeface="Aptos"/>
              </a:rPr>
              <a:t>Next step: confirm the four decision rules, select one accountable user, and run one bounded portfolio decision through the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8AE29-FAD7-4EC8-875A-D75A26F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oundRect">
            <a:avLst>
              <a:gd name="adj" fmla="val 21795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A0CAD-F9A5-4D1C-A91F-4CE5FA12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CVC</a:t>
            </a:r>
          </a:p>
        </p:txBody>
      </p:sp>
    </p:spTree>
    <p:extLst>
      <p:ext uri="{BB962C8B-B14F-4D97-AF65-F5344CB8AC3E}">
        <p14:creationId xmlns:p14="http://schemas.microsoft.com/office/powerpoint/2010/main" val="1440418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2026-08-06T23:17:25.3240000Z</dcterms:created>
  <dcterms:modified xsi:type="dcterms:W3CDTF">2026-08-06T23:17:25.3240000Z</dcterms:modified>
</coreProperties>
</file>
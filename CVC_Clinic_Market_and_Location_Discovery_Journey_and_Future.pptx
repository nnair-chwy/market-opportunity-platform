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d1d57d40634797" /><Relationship Type="http://schemas.openxmlformats.org/officeDocument/2006/relationships/extended-properties" Target="/docProps/app.xml" Id="R5dfb4f04a93a4979" /><Relationship Type="http://schemas.openxmlformats.org/officeDocument/2006/relationships/officeDocument" Target="/ppt/presentation.xml" Id="R0c1a29f7a7674b69" /></Relationships>
</file>

<file path=ppt/presentation.xml><?xml version="1.0" encoding="utf-8"?>
<p:presentation xmlns:p="http://schemas.openxmlformats.org/presentationml/2006/main">
  <p:sldMasterIdLst>
    <p:sldMasterId xmlns:r="http://schemas.openxmlformats.org/officeDocument/2006/relationships" id="2147483648" r:id="Rab3792ca063447e7"/>
  </p:sldMasterIdLst>
  <p:notesMasterIdLst>
    <p:notesMasterId xmlns:r="http://schemas.openxmlformats.org/officeDocument/2006/relationships" r:id="Rdd4d37328c224350"/>
  </p:notesMasterIdLst>
  <p:sldIdLst>
    <p:sldId xmlns:r="http://schemas.openxmlformats.org/officeDocument/2006/relationships" id="256" r:id="Re6dab11521f44537"/>
    <p:sldId xmlns:r="http://schemas.openxmlformats.org/officeDocument/2006/relationships" id="257" r:id="R0c7e7afc3950478b"/>
    <p:sldId xmlns:r="http://schemas.openxmlformats.org/officeDocument/2006/relationships" id="258" r:id="R44ef04bc313d4fb5"/>
    <p:sldId xmlns:r="http://schemas.openxmlformats.org/officeDocument/2006/relationships" id="259" r:id="R0a8e42009a4744b6"/>
    <p:sldId xmlns:r="http://schemas.openxmlformats.org/officeDocument/2006/relationships" id="260" r:id="Rdc4087396c984b49"/>
    <p:sldId xmlns:r="http://schemas.openxmlformats.org/officeDocument/2006/relationships" id="261" r:id="R6b487af4e6aa4bb0"/>
    <p:sldId xmlns:r="http://schemas.openxmlformats.org/officeDocument/2006/relationships" id="262" r:id="Rde58500aeb214412"/>
    <p:sldId xmlns:r="http://schemas.openxmlformats.org/officeDocument/2006/relationships" id="263" r:id="R646e24bcd583497c"/>
    <p:sldId xmlns:r="http://schemas.openxmlformats.org/officeDocument/2006/relationships" id="264" r:id="Ra87d4b9740104af3"/>
    <p:sldId xmlns:r="http://schemas.openxmlformats.org/officeDocument/2006/relationships" id="265" r:id="R85048536749d49bc"/>
    <p:sldId xmlns:r="http://schemas.openxmlformats.org/officeDocument/2006/relationships" id="266" r:id="R7397769c7af54f6a"/>
    <p:sldId xmlns:r="http://schemas.openxmlformats.org/officeDocument/2006/relationships" id="267" r:id="R543d9abcbadc4c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f17a81cd2440a8" /><Relationship Type="http://schemas.openxmlformats.org/officeDocument/2006/relationships/slideMaster" Target="/ppt/slideMasters/slideMaster1.xml" Id="Rab3792ca063447e7" /><Relationship Type="http://schemas.openxmlformats.org/officeDocument/2006/relationships/notesMaster" Target="/ppt/notesMasters/notesMaster1.xml" Id="Rdd4d37328c224350" /><Relationship Type="http://schemas.openxmlformats.org/officeDocument/2006/relationships/presProps" Target="/ppt/presProps.xml" Id="Re2e8b0d20808432f" /><Relationship Type="http://schemas.openxmlformats.org/officeDocument/2006/relationships/tableStyles" Target="/ppt/tableStyles.xml" Id="R2070b71360484a66" /><Relationship Type="http://schemas.openxmlformats.org/officeDocument/2006/relationships/slide" Target="/ppt/slides/slide1.xml" Id="Re6dab11521f44537" /><Relationship Type="http://schemas.openxmlformats.org/officeDocument/2006/relationships/slide" Target="/ppt/slides/slide2.xml" Id="R0c7e7afc3950478b" /><Relationship Type="http://schemas.openxmlformats.org/officeDocument/2006/relationships/slide" Target="/ppt/slides/slide3.xml" Id="R44ef04bc313d4fb5" /><Relationship Type="http://schemas.openxmlformats.org/officeDocument/2006/relationships/slide" Target="/ppt/slides/slide4.xml" Id="R0a8e42009a4744b6" /><Relationship Type="http://schemas.openxmlformats.org/officeDocument/2006/relationships/slide" Target="/ppt/slides/slide5.xml" Id="Rdc4087396c984b49" /><Relationship Type="http://schemas.openxmlformats.org/officeDocument/2006/relationships/slide" Target="/ppt/slides/slide6.xml" Id="R6b487af4e6aa4bb0" /><Relationship Type="http://schemas.openxmlformats.org/officeDocument/2006/relationships/slide" Target="/ppt/slides/slide7.xml" Id="Rde58500aeb214412" /><Relationship Type="http://schemas.openxmlformats.org/officeDocument/2006/relationships/slide" Target="/ppt/slides/slide8.xml" Id="R646e24bcd583497c" /><Relationship Type="http://schemas.openxmlformats.org/officeDocument/2006/relationships/slide" Target="/ppt/slides/slide9.xml" Id="Ra87d4b9740104af3" /><Relationship Type="http://schemas.openxmlformats.org/officeDocument/2006/relationships/slide" Target="/ppt/slides/slide10.xml" Id="R85048536749d49bc" /><Relationship Type="http://schemas.openxmlformats.org/officeDocument/2006/relationships/slide" Target="/ppt/slides/slide11.xml" Id="R7397769c7af54f6a" /><Relationship Type="http://schemas.openxmlformats.org/officeDocument/2006/relationships/slide" Target="/ppt/slides/slide12.xml" Id="R543d9abcbadc4c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a763207ec743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4162bb63ed49f2" /><Relationship Type="http://schemas.openxmlformats.org/officeDocument/2006/relationships/notesMaster" Target="/ppt/notesMasters/notesMaster1.xml" Id="Rb3bfbd1c9ed543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b786e40ad44d30" /><Relationship Type="http://schemas.openxmlformats.org/officeDocument/2006/relationships/notesMaster" Target="/ppt/notesMasters/notesMaster1.xml" Id="Rf108e73abe4646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c2603d410e491b" /><Relationship Type="http://schemas.openxmlformats.org/officeDocument/2006/relationships/notesMaster" Target="/ppt/notesMasters/notesMaster1.xml" Id="Rc810d7dbd9674e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67e8988e654aeb" /><Relationship Type="http://schemas.openxmlformats.org/officeDocument/2006/relationships/notesMaster" Target="/ppt/notesMasters/notesMaster1.xml" Id="Rf341729594df40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eba98372614a07" /><Relationship Type="http://schemas.openxmlformats.org/officeDocument/2006/relationships/notesMaster" Target="/ppt/notesMasters/notesMaster1.xml" Id="R45770d45e96e40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985efaa3334d08" /><Relationship Type="http://schemas.openxmlformats.org/officeDocument/2006/relationships/notesMaster" Target="/ppt/notesMasters/notesMaster1.xml" Id="Rf7ce1e5811cd40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aa634f2d634571" /><Relationship Type="http://schemas.openxmlformats.org/officeDocument/2006/relationships/notesMaster" Target="/ppt/notesMasters/notesMaster1.xml" Id="R3e1d76fcee1041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6e47549e45443d" /><Relationship Type="http://schemas.openxmlformats.org/officeDocument/2006/relationships/notesMaster" Target="/ppt/notesMasters/notesMaster1.xml" Id="Rd20f96f527ef47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d14fccb08f44f5" /><Relationship Type="http://schemas.openxmlformats.org/officeDocument/2006/relationships/notesMaster" Target="/ppt/notesMasters/notesMaster1.xml" Id="R18fd0de3afa445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bb6ba36ef74782" /><Relationship Type="http://schemas.openxmlformats.org/officeDocument/2006/relationships/notesMaster" Target="/ppt/notesMasters/notesMaster1.xml" Id="R9916167858c348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6229c4c92848f3" /><Relationship Type="http://schemas.openxmlformats.org/officeDocument/2006/relationships/notesMaster" Target="/ppt/notesMasters/notesMaster1.xml" Id="R23c041b543cf42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8858d7c7e148fd" /><Relationship Type="http://schemas.openxmlformats.org/officeDocument/2006/relationships/notesMaster" Target="/ppt/notesMasters/notesMaster1.xml" Id="Re3656bc6ac364b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with the journey: we began with candidate-site diligence, learned the larger gap is between decision stages, and are proposing a broader future direction.</a:t>
            </a:r>
          </a:p>
          <a:p xmlns:a="http://schemas.openxmlformats.org/drawingml/2006/main">
            <a:r>
              <a:t/>
            </a:r>
          </a:p>
          <a:p xmlns:a="http://schemas.openxmlformats.org/drawingml/2006/main">
            <a:r>
              <a:t>[Sources]</a:t>
            </a:r>
          </a:p>
          <a:p xmlns:a="http://schemas.openxmlformats.org/drawingml/2006/main">
            <a:r>
              <a:t>- PROJECT_CONTEXT.md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Explain that discovery initially converged on two promising problems. User Profile Studio addressed customer and pet information that is collected but not consistently connected to action. Clinic expansion addressed fragmented market, property, and feasibility evidence. Clinic expansion became the first wedge because it offered a focused decision that could be prototyped with transparent boundaries.</a:t>
            </a:r>
          </a:p>
          <a:p xmlns:a="http://schemas.openxmlformats.org/drawingml/2006/main">
            <a:r>
              <a:t/>
            </a:r>
          </a:p>
          <a:p xmlns:a="http://schemas.openxmlformats.org/drawingml/2006/main">
            <a:r>
              <a:t>[Sources]</a:t>
            </a:r>
          </a:p>
          <a:p xmlns:a="http://schemas.openxmlformats.org/drawingml/2006/main">
            <a:r>
              <a:t>- https://chewyinc.atlassian.net/wiki/spaces/AUS/pages/5325357932/TOP+5+IDEAS</a:t>
            </a:r>
          </a:p>
          <a:p xmlns:a="http://schemas.openxmlformats.org/drawingml/2006/main">
            <a:r>
              <a:t>- https://chewyinc.atlassian.net/wiki/spaces/AUS/pages/5330470157/01+Contacts+Conversations</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Name only completed conversations that are documented. Cathy Harley, Mike Cammarota, Krista Bardelli, and Lana Lee informed the broader CVC and user-context problem space. Matt Merrill and Cale Harrington sharpened the clinic expansion opportunity. Their combined input showed that important tools already exist, while evidence and rationale fragment across decision stages.</a:t>
            </a:r>
          </a:p>
          <a:p xmlns:a="http://schemas.openxmlformats.org/drawingml/2006/main">
            <a:r>
              <a:t/>
            </a:r>
          </a:p>
          <a:p xmlns:a="http://schemas.openxmlformats.org/drawingml/2006/main">
            <a:r>
              <a:t>[Sources]</a:t>
            </a:r>
          </a:p>
          <a:p xmlns:a="http://schemas.openxmlformats.org/drawingml/2006/main">
            <a:r>
              <a:t>- https://chewyinc.atlassian.net/wiki/spaces/AUS/pages/5330470157/01+Contacts+Conversations</a:t>
            </a:r>
          </a:p>
          <a:p xmlns:a="http://schemas.openxmlformats.org/drawingml/2006/main">
            <a:r>
              <a:t>- https://chewyinc.atlassian.net/wiki/spaces/AUS/pages/5352949587/Cale</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This is the core product insight. A geography can be attractive while a specific property is infeasible. A feasible property may still be a poor near-term execution choice. One composite score would hide those tradeoffs.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State exactly what is real in the current demo and what is not. Public Census context is non-scored. Market scoring is synthetic. Esri evidence is descriptive and ineligible for scoring. The agent and sandbox are human-gated prototype tools. This is not a legitimate national locator.</a:t>
            </a:r>
          </a:p>
          <a:p xmlns:a="http://schemas.openxmlformats.org/drawingml/2006/main">
            <a:r>
              <a:t/>
            </a:r>
          </a:p>
          <a:p xmlns:a="http://schemas.openxmlformats.org/drawingml/2006/main">
            <a:r>
              <a:t>[Sources]</a:t>
            </a:r>
          </a:p>
          <a:p xmlns:a="http://schemas.openxmlformats.org/drawingml/2006/main">
            <a:r>
              <a:t>- docs/product/mvp-scope.md</a:t>
            </a:r>
          </a:p>
          <a:p xmlns:a="http://schemas.openxmlformats.org/drawingml/2006/main">
            <a:r>
              <a:t>- docs/product/user-workflows.md</a:t>
            </a:r>
          </a:p>
          <a:p xmlns:a="http://schemas.openxmlformats.org/drawingml/2006/main">
            <a:r>
              <a:t>- docs/technical/data-contracts.md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These are the visible current capabilities. Clarify that the comparison supports two to five same-cohort markets or audited locations. Ask AI explains structured results only. The Seattle deep dive is synthetic and requires analyst confirmation before comparison.</a:t>
            </a:r>
          </a:p>
          <a:p xmlns:a="http://schemas.openxmlformats.org/drawingml/2006/main">
            <a:r>
              <a:t/>
            </a:r>
          </a:p>
          <a:p xmlns:a="http://schemas.openxmlformats.org/drawingml/2006/main">
            <a:r>
              <a:t>[Sources]</a:t>
            </a:r>
          </a:p>
          <a:p xmlns:a="http://schemas.openxmlformats.org/drawingml/2006/main">
            <a:r>
              <a:t>- app/page.tsx</a:t>
            </a:r>
          </a:p>
          <a:p xmlns:a="http://schemas.openxmlformats.org/drawingml/2006/main">
            <a:r>
              <a:t>- components/market-attractiveness/MarketAttractivenessRanking.tsx</a:t>
            </a:r>
          </a:p>
          <a:p xmlns:a="http://schemas.openxmlformats.org/drawingml/2006/main">
            <a:r>
              <a:t>- components/location-workspace/CandidateBriefsWorkspace.tsx</a:t>
            </a:r>
          </a:p>
          <a:p xmlns:a="http://schemas.openxmlformats.org/drawingml/2006/main">
            <a:r>
              <a:t>- components/agent-workspace/CandidateReviewAgent.tsx</a:t>
            </a:r>
          </a:p>
          <a:p xmlns:a="http://schemas.openxmlformats.org/drawingml/2006/main">
            <a:r>
              <a:t>- components/market-deep-dive/SeattleMarketDeepDive.tsx</a:t>
            </a:r>
          </a:p>
          <a:p xmlns:a="http://schemas.openxmlformats.org/drawingml/2006/main">
            <a:r>
              <a:t>- components/scoring-sandbox/ScoringSandbox.tsx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 including live demo</a:t>
            </a:r>
          </a:p>
          <a:p xmlns:a="http://schemas.openxmlformats.org/drawingml/2006/main">
            <a:r>
              <a:t>Suggested clicks: start in Markets, select a scored metropolitan market, add two same-cohort markets, open comparison and Ask AI, open Seattle and confirm the illustrative segmentation, switch to Locations for Candidate briefs and raw comparison, then open the scoring sandbox. If time is tight, skip the full agent run and show its visible pause and evidence receipts.</a:t>
            </a:r>
          </a:p>
          <a:p xmlns:a="http://schemas.openxmlformats.org/drawingml/2006/main">
            <a:r>
              <a:t/>
            </a:r>
          </a:p>
          <a:p xmlns:a="http://schemas.openxmlformats.org/drawingml/2006/main">
            <a:r>
              <a:t>Boundary line to say out loud: everything scored here is synthetic and unapproved; public context and Esri demo evidence are not scoring inputs; no lease, opening, or market-entry recommendation is produced.</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docs/product/mvp-scope.md</a:t>
            </a:r>
          </a:p>
          <a:p xmlns:a="http://schemas.openxmlformats.org/drawingml/2006/main">
            <a:r>
              <a:t>- tests/market-comparison-rendered.test.mjs</a:t>
            </a:r>
          </a:p>
          <a:p xmlns:a="http://schemas.openxmlformats.org/drawingml/2006/main">
            <a:r>
              <a:t>- tests/agent-workspace-rendered.test.mjs</a:t>
            </a:r>
          </a:p>
          <a:p xmlns:a="http://schemas.openxmlformats.org/drawingml/2006/main">
            <a:r>
              <a:t>- tests/seattle-market-deep-dive-rendered.test.mjs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Transition clearly from current to future. This slide is a product direction, not a current capability claim.</a:t>
            </a:r>
          </a:p>
          <a:p xmlns:a="http://schemas.openxmlformats.org/drawingml/2006/main">
            <a:r>
              <a:t/>
            </a:r>
          </a:p>
          <a:p xmlns:a="http://schemas.openxmlformats.org/drawingml/2006/main">
            <a:r>
              <a:t>Mission statement:</a:t>
            </a:r>
          </a:p>
          <a:p xmlns:a="http://schemas.openxmlformats.org/drawingml/2006/main">
            <a:r>
              <a:t>Our mission began with clinic location evaluation because it offered a focused, high-value way to improve how teams assemble evidence, compare opportunities, and prepare decisions. By bringing together a broad range of internal and external data, we learned that the greater opportunity is a transparent, governed platform that generates new insights across the sectors we hope to impact and helps teams move from fragmented evidence to confident human decisions.</a:t>
            </a:r>
          </a:p>
          <a:p xmlns:a="http://schemas.openxmlformats.org/drawingml/2006/main">
            <a:r>
              <a:t/>
            </a:r>
          </a:p>
          <a:p xmlns:a="http://schemas.openxmlformats.org/drawingml/2006/main">
            <a:r>
              <a:t>[Sources]</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Walk left to right. Scheduled screening narrows the approved market universe. Only promising markets earn submarket analysis. Available properties are screened separately. Viable opportunities enter a human-reviewed sequence based on confirmed constraints.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This is an illustrative future-state concept generated for discussion. It uses generic markets and properties, contains no real rankings, and is not a screenshot of the current product. Point out the separation between the opportunity map and the review sequence.</a:t>
            </a:r>
          </a:p>
          <a:p xmlns:a="http://schemas.openxmlformats.org/drawingml/2006/main">
            <a:r>
              <a:t/>
            </a:r>
          </a:p>
          <a:p xmlns:a="http://schemas.openxmlformats.org/drawingml/2006/main">
            <a:r>
              <a:t>[Sources]</a:t>
            </a:r>
          </a:p>
          <a:p xmlns:a="http://schemas.openxmlformats.org/drawingml/2006/main">
            <a:r>
              <a:t>- Generated concept asset: presentations/assets/cvc-market-opportunity-home-concept.png</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Ask for decisions rather than broad approval. We need approved market criteria, a submarket definition, mandatory property constraints and availability source, and explicit queue logic. The pilot also needs one accountable user and measurable baseline.</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Close with a bounded ask: choose one real decision, one accountable user, approved inputs, and success measures. The next milestone is workflow validation, not national deployment.</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docs/evaluation/success-metrics.md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e16e59317041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7466e643b7442e" /><Relationship Type="http://schemas.openxmlformats.org/officeDocument/2006/relationships/slideLayout" Target="/ppt/slideLayouts/slideLayout1.xml" Id="R9074d494150047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74d494150047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359dfb3075432f" /><Relationship Type="http://schemas.openxmlformats.org/officeDocument/2006/relationships/notesSlide" Target="/ppt/notesSlides/notesSlide1.xml" Id="R8097ef2f707842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bac68363ab4f4b" /><Relationship Type="http://schemas.openxmlformats.org/officeDocument/2006/relationships/notesSlide" Target="/ppt/notesSlides/notesSlide2.xml" Id="Rf864fde3fb2e49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8f40c85d934385" /><Relationship Type="http://schemas.openxmlformats.org/officeDocument/2006/relationships/notesSlide" Target="/ppt/notesSlides/notesSlide3.xml" Id="Rc30d1f89335f46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e419ab26834a79" /><Relationship Type="http://schemas.openxmlformats.org/officeDocument/2006/relationships/notesSlide" Target="/ppt/notesSlides/notesSlide4.xml" Id="R83940dc05eb047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f418cfb1c84b7c" /><Relationship Type="http://schemas.openxmlformats.org/officeDocument/2006/relationships/notesSlide" Target="/ppt/notesSlides/notesSlide5.xml" Id="R87ab43041e0540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364020ae8c4ea9" /><Relationship Type="http://schemas.openxmlformats.org/officeDocument/2006/relationships/notesSlide" Target="/ppt/notesSlides/notesSlide6.xml" Id="R45ac2661843d4e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78e163e26a4cfd" /><Relationship Type="http://schemas.openxmlformats.org/officeDocument/2006/relationships/notesSlide" Target="/ppt/notesSlides/notesSlide7.xml" Id="R3cc81995812047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7e6a92f76c4e0d" /><Relationship Type="http://schemas.openxmlformats.org/officeDocument/2006/relationships/notesSlide" Target="/ppt/notesSlides/notesSlide8.xml" Id="R577c4d10150247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29032a8fd742de" /><Relationship Type="http://schemas.openxmlformats.org/officeDocument/2006/relationships/notesSlide" Target="/ppt/notesSlides/notesSlide9.xml" Id="Rfb4f24cbfd7b47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3b22cae7194605" /><Relationship Type="http://schemas.openxmlformats.org/officeDocument/2006/relationships/image" Target="/ppt/media/image.png" Id="R051a7c4c05864f33" /><Relationship Type="http://schemas.openxmlformats.org/officeDocument/2006/relationships/notesSlide" Target="/ppt/notesSlides/notesSlide10.xml" Id="Ra2e1ea15fc184c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10f305097843e7" /><Relationship Type="http://schemas.openxmlformats.org/officeDocument/2006/relationships/notesSlide" Target="/ppt/notesSlides/notesSlide11.xml" Id="Rba16e2afd69f4b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70a44a3d564b85" /><Relationship Type="http://schemas.openxmlformats.org/officeDocument/2006/relationships/notesSlide" Target="/ppt/notesSlides/notesSlide12.xml" Id="Rdf4cc1de66214c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DFE6D-620F-4692-95D8-0C4B37EB04D9}"/>
              </a:ext>
            </a:extLst>
          </p:cNvPr>
          <p:cNvSpPr>
            <a:spLocks xmlns:a="http://schemas.openxmlformats.org/drawingml/2006/main" noGrp="1"/>
          </p:cNvSpPr>
          <p:nvPr/>
        </p:nvSpPr>
        <p:spPr>
          <a:xfrm xmlns:a="http://schemas.openxmlformats.org/drawingml/2006/main">
            <a:off x="400050" y="36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2D5BFF"/>
                </a:solidFill>
                <a:latin typeface="Aptos"/>
                <a:ea typeface="Aptos"/>
                <a:cs typeface="Aptos"/>
              </a:defRPr>
            </a:pPr>
            <a:r>
              <a:rPr sz="1350" b="1">
                <a:solidFill>
                  <a:srgbClr val="2D5BFF"/>
                </a:solidFill>
                <a:latin typeface="Aptos"/>
                <a:ea typeface="Aptos"/>
                <a:cs typeface="Aptos"/>
              </a:rPr>
              <a:t>CHEWY VET CARE</a:t>
            </a:r>
          </a:p>
        </p:txBody>
      </p:sp>
      <p:sp>
        <p:nvSpPr>
          <p:cNvPr id="2" name="">
            <a:extLst xmlns:a="http://schemas.openxmlformats.org/drawingml/2006/main">
              <a:ext uri="{FF2B5EF4-FFF2-40B4-BE49-F238E27FC236}">
                <a16:creationId xmlns:a16="http://schemas.microsoft.com/office/drawing/2014/main" id="{95E6B219-F69C-439C-9BF4-C1C5D2777631}"/>
              </a:ext>
            </a:extLst>
          </p:cNvPr>
          <p:cNvSpPr>
            <a:spLocks xmlns:a="http://schemas.openxmlformats.org/drawingml/2006/main" noGrp="1"/>
          </p:cNvSpPr>
          <p:nvPr/>
        </p:nvSpPr>
        <p:spPr>
          <a:xfrm xmlns:a="http://schemas.openxmlformats.org/drawingml/2006/main">
            <a:off x="400050" y="1524000"/>
            <a:ext cx="88582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CVC Clinic Market</a:t>
            </a:r>
          </a:p>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and Location Discovery</a:t>
            </a:r>
          </a:p>
        </p:txBody>
      </p:sp>
      <p:sp>
        <p:nvSpPr>
          <p:cNvPr id="3" name="">
            <a:extLst xmlns:a="http://schemas.openxmlformats.org/drawingml/2006/main">
              <a:ext uri="{FF2B5EF4-FFF2-40B4-BE49-F238E27FC236}">
                <a16:creationId xmlns:a16="http://schemas.microsoft.com/office/drawing/2014/main" id="{9F7AB941-9A84-416B-A04C-AC2676777DAD}"/>
              </a:ext>
            </a:extLst>
          </p:cNvPr>
          <p:cNvSpPr>
            <a:spLocks xmlns:a="http://schemas.openxmlformats.org/drawingml/2006/main" noGrp="1"/>
          </p:cNvSpPr>
          <p:nvPr/>
        </p:nvSpPr>
        <p:spPr>
          <a:xfrm xmlns:a="http://schemas.openxmlformats.org/drawingml/2006/main">
            <a:off x="400050" y="4400550"/>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a:solidFill>
                  <a:srgbClr val="39455A"/>
                </a:solidFill>
                <a:latin typeface="Aptos"/>
                <a:ea typeface="Aptos"/>
                <a:cs typeface="Aptos"/>
              </a:defRPr>
            </a:pPr>
            <a:r>
              <a:rPr sz="2175" b="0">
                <a:solidFill>
                  <a:srgbClr val="39455A"/>
                </a:solidFill>
                <a:latin typeface="Aptos"/>
                <a:ea typeface="Aptos"/>
                <a:cs typeface="Aptos"/>
              </a:rPr>
              <a:t>From a governed clinic evaluator to a scalable market opportunity vision</a:t>
            </a:r>
          </a:p>
        </p:txBody>
      </p:sp>
      <p:sp>
        <p:nvSpPr>
          <p:cNvPr id="4" name="">
            <a:extLst xmlns:a="http://schemas.openxmlformats.org/drawingml/2006/main">
              <a:ext uri="{FF2B5EF4-FFF2-40B4-BE49-F238E27FC236}">
                <a16:creationId xmlns:a16="http://schemas.microsoft.com/office/drawing/2014/main" id="{9F21ABA6-F7BC-4C3D-A666-2814363BD756}"/>
              </a:ext>
            </a:extLst>
          </p:cNvPr>
          <p:cNvSpPr>
            <a:spLocks xmlns:a="http://schemas.openxmlformats.org/drawingml/2006/main" noGrp="1"/>
          </p:cNvSpPr>
          <p:nvPr/>
        </p:nvSpPr>
        <p:spPr>
          <a:xfrm xmlns:a="http://schemas.openxmlformats.org/drawingml/2006/main">
            <a:off x="400050" y="58102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497"/>
          </a:bodyPr>
          <a:lstStyle xmlns:a="http://schemas.openxmlformats.org/drawingml/2006/main"/>
          <a:p xmlns:a="http://schemas.openxmlformats.org/drawingml/2006/main">
            <a:pPr algn="l">
              <a:buNone/>
              <a:defRPr sz="1200" b="1">
                <a:solidFill>
                  <a:srgbClr val="A56A00"/>
                </a:solidFill>
                <a:latin typeface="Aptos"/>
                <a:ea typeface="Aptos"/>
                <a:cs typeface="Aptos"/>
              </a:defRPr>
            </a:pPr>
            <a:r>
              <a:rPr sz="1200" b="1">
                <a:solidFill>
                  <a:srgbClr val="A56A00"/>
                </a:solidFill>
                <a:latin typeface="Aptos"/>
                <a:ea typeface="Aptos"/>
                <a:cs typeface="Aptos"/>
              </a:rPr>
              <a:t>MONDAY PRESENTATION | CURRENT DEMO + FUTURE DIRECTION</a:t>
            </a:r>
          </a:p>
        </p:txBody>
      </p:sp>
      <p:sp>
        <p:nvSpPr>
          <p:cNvPr id="5" name="">
            <a:extLst xmlns:a="http://schemas.openxmlformats.org/drawingml/2006/main">
              <a:ext uri="{FF2B5EF4-FFF2-40B4-BE49-F238E27FC236}">
                <a16:creationId xmlns:a16="http://schemas.microsoft.com/office/drawing/2014/main" id="{D5E507C1-DAC9-4107-89C7-DF7C0A00B819}"/>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1B196F-D5A1-42E5-A274-4AE661DFCBD0}"/>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FFFFFF"/>
                </a:solidFill>
                <a:latin typeface="Aptos"/>
                <a:ea typeface="Aptos"/>
                <a:cs typeface="Aptos"/>
              </a:defRPr>
            </a:pPr>
            <a:r>
              <a:rPr sz="3150" b="1">
                <a:solidFill>
                  <a:srgbClr val="FFFFFF"/>
                </a:solidFill>
                <a:latin typeface="Aptos"/>
                <a:ea typeface="Aptos"/>
                <a:cs typeface="Aptos"/>
              </a:rPr>
              <a:t>CVC</a:t>
            </a:r>
          </a:p>
        </p:txBody>
      </p:sp>
    </p:spTree>
    <p:extLst>
      <p:ext uri="{BB962C8B-B14F-4D97-AF65-F5344CB8AC3E}">
        <p14:creationId xmlns:p14="http://schemas.microsoft.com/office/powerpoint/2010/main" val="1685264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2C7431-9AE7-4D75-A2AB-86C53EBEA0F3}"/>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WHERE WE STARTED</a:t>
            </a:r>
          </a:p>
        </p:txBody>
      </p:sp>
      <p:sp>
        <p:nvSpPr>
          <p:cNvPr id="2" name="">
            <a:extLst xmlns:a="http://schemas.openxmlformats.org/drawingml/2006/main">
              <a:ext uri="{FF2B5EF4-FFF2-40B4-BE49-F238E27FC236}">
                <a16:creationId xmlns:a16="http://schemas.microsoft.com/office/drawing/2014/main" id="{8EE88497-2EA0-4D4F-9828-68961409332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We started with two high-value problem spaces</a:t>
            </a:r>
          </a:p>
        </p:txBody>
      </p:sp>
      <p:sp>
        <p:nvSpPr>
          <p:cNvPr id="3" name="">
            <a:extLst xmlns:a="http://schemas.openxmlformats.org/drawingml/2006/main">
              <a:ext uri="{FF2B5EF4-FFF2-40B4-BE49-F238E27FC236}">
                <a16:creationId xmlns:a16="http://schemas.microsoft.com/office/drawing/2014/main" id="{DE35256D-9652-4060-87E3-A7E8BC2E4C8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BAE681-CABB-46DA-BB82-49432F711D1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Top 5 Ideas; Contacts &amp; Conversations; Matt check-in</a:t>
            </a:r>
          </a:p>
        </p:txBody>
      </p:sp>
      <p:sp>
        <p:nvSpPr>
          <p:cNvPr id="5" name="">
            <a:extLst xmlns:a="http://schemas.openxmlformats.org/drawingml/2006/main">
              <a:ext uri="{FF2B5EF4-FFF2-40B4-BE49-F238E27FC236}">
                <a16:creationId xmlns:a16="http://schemas.microsoft.com/office/drawing/2014/main" id="{34F0A317-F7F8-41CC-8681-CB10C4C8C6D8}"/>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E225081B-98FC-4EB1-9527-C8B73DB2162F}"/>
              </a:ext>
            </a:extLst>
          </p:cNvPr>
          <p:cNvSpPr>
            <a:spLocks xmlns:a="http://schemas.openxmlformats.org/drawingml/2006/main" noGrp="1"/>
          </p:cNvSpPr>
          <p:nvPr/>
        </p:nvSpPr>
        <p:spPr>
          <a:xfrm xmlns:a="http://schemas.openxmlformats.org/drawingml/2006/main">
            <a:off x="400050" y="1676400"/>
            <a:ext cx="3476625" cy="3467100"/>
          </a:xfrm>
          <a:prstGeom xmlns:a="http://schemas.openxmlformats.org/drawingml/2006/main" prst="roundRect">
            <a:avLst>
              <a:gd name="adj" fmla="val 4945"/>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88BED9-52B8-42BC-9814-64A721D78F28}"/>
              </a:ext>
            </a:extLst>
          </p:cNvPr>
          <p:cNvSpPr>
            <a:spLocks xmlns:a="http://schemas.openxmlformats.org/drawingml/2006/main" noGrp="1"/>
          </p:cNvSpPr>
          <p:nvPr/>
        </p:nvSpPr>
        <p:spPr>
          <a:xfrm xmlns:a="http://schemas.openxmlformats.org/drawingml/2006/main">
            <a:off x="6286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CLINIC EXPANSION</a:t>
            </a:r>
          </a:p>
        </p:txBody>
      </p:sp>
      <p:sp>
        <p:nvSpPr>
          <p:cNvPr id="8" name="">
            <a:extLst xmlns:a="http://schemas.openxmlformats.org/drawingml/2006/main">
              <a:ext uri="{FF2B5EF4-FFF2-40B4-BE49-F238E27FC236}">
                <a16:creationId xmlns:a16="http://schemas.microsoft.com/office/drawing/2014/main" id="{CA726E2F-6034-4134-B789-F41A40D091EF}"/>
              </a:ext>
            </a:extLst>
          </p:cNvPr>
          <p:cNvSpPr>
            <a:spLocks xmlns:a="http://schemas.openxmlformats.org/drawingml/2006/main" noGrp="1"/>
          </p:cNvSpPr>
          <p:nvPr/>
        </p:nvSpPr>
        <p:spPr>
          <a:xfrm xmlns:a="http://schemas.openxmlformats.org/drawingml/2006/main">
            <a:off x="6286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Location evaluation</a:t>
            </a:r>
          </a:p>
        </p:txBody>
      </p:sp>
      <p:sp>
        <p:nvSpPr>
          <p:cNvPr id="9" name="">
            <a:extLst xmlns:a="http://schemas.openxmlformats.org/drawingml/2006/main">
              <a:ext uri="{FF2B5EF4-FFF2-40B4-BE49-F238E27FC236}">
                <a16:creationId xmlns:a16="http://schemas.microsoft.com/office/drawing/2014/main" id="{2EEA48DF-F467-4638-9D70-27F4D2016B68}"/>
              </a:ext>
            </a:extLst>
          </p:cNvPr>
          <p:cNvSpPr>
            <a:spLocks xmlns:a="http://schemas.openxmlformats.org/drawingml/2006/main" noGrp="1"/>
          </p:cNvSpPr>
          <p:nvPr/>
        </p:nvSpPr>
        <p:spPr>
          <a:xfrm xmlns:a="http://schemas.openxmlformats.org/drawingml/2006/main">
            <a:off x="6286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Teams combine fragmented market, site, and feasibility evidence to compare opportunities and prepare human decisions.</a:t>
            </a:r>
          </a:p>
        </p:txBody>
      </p:sp>
      <p:sp>
        <p:nvSpPr>
          <p:cNvPr id="10" name="">
            <a:extLst xmlns:a="http://schemas.openxmlformats.org/drawingml/2006/main">
              <a:ext uri="{FF2B5EF4-FFF2-40B4-BE49-F238E27FC236}">
                <a16:creationId xmlns:a16="http://schemas.microsoft.com/office/drawing/2014/main" id="{70DA8DC6-1404-43F1-BC68-0739C01277AE}"/>
              </a:ext>
            </a:extLst>
          </p:cNvPr>
          <p:cNvSpPr>
            <a:spLocks xmlns:a="http://schemas.openxmlformats.org/drawingml/2006/main" noGrp="1"/>
          </p:cNvSpPr>
          <p:nvPr/>
        </p:nvSpPr>
        <p:spPr>
          <a:xfrm xmlns:a="http://schemas.openxmlformats.org/drawingml/2006/main">
            <a:off x="4362450" y="1676400"/>
            <a:ext cx="3476625" cy="3467100"/>
          </a:xfrm>
          <a:prstGeom xmlns:a="http://schemas.openxmlformats.org/drawingml/2006/main" prst="roundRect">
            <a:avLst>
              <a:gd name="adj" fmla="val 4945"/>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43D723-FE65-4C54-9C4C-2D6CBA2FE4EA}"/>
              </a:ext>
            </a:extLst>
          </p:cNvPr>
          <p:cNvSpPr>
            <a:spLocks xmlns:a="http://schemas.openxmlformats.org/drawingml/2006/main" noGrp="1"/>
          </p:cNvSpPr>
          <p:nvPr/>
        </p:nvSpPr>
        <p:spPr>
          <a:xfrm xmlns:a="http://schemas.openxmlformats.org/drawingml/2006/main">
            <a:off x="45910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USER CONTEXT</a:t>
            </a:r>
          </a:p>
        </p:txBody>
      </p:sp>
      <p:sp>
        <p:nvSpPr>
          <p:cNvPr id="12" name="">
            <a:extLst xmlns:a="http://schemas.openxmlformats.org/drawingml/2006/main">
              <a:ext uri="{FF2B5EF4-FFF2-40B4-BE49-F238E27FC236}">
                <a16:creationId xmlns:a16="http://schemas.microsoft.com/office/drawing/2014/main" id="{3545A279-B429-4964-8553-7F4CED6B523A}"/>
              </a:ext>
            </a:extLst>
          </p:cNvPr>
          <p:cNvSpPr>
            <a:spLocks xmlns:a="http://schemas.openxmlformats.org/drawingml/2006/main" noGrp="1"/>
          </p:cNvSpPr>
          <p:nvPr/>
        </p:nvSpPr>
        <p:spPr>
          <a:xfrm xmlns:a="http://schemas.openxmlformats.org/drawingml/2006/main">
            <a:off x="45910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User Profile Studio</a:t>
            </a:r>
          </a:p>
        </p:txBody>
      </p:sp>
      <p:sp>
        <p:nvSpPr>
          <p:cNvPr id="13" name="">
            <a:extLst xmlns:a="http://schemas.openxmlformats.org/drawingml/2006/main">
              <a:ext uri="{FF2B5EF4-FFF2-40B4-BE49-F238E27FC236}">
                <a16:creationId xmlns:a16="http://schemas.microsoft.com/office/drawing/2014/main" id="{1220633C-70F2-4518-8B46-39F9C9D98803}"/>
              </a:ext>
            </a:extLst>
          </p:cNvPr>
          <p:cNvSpPr>
            <a:spLocks xmlns:a="http://schemas.openxmlformats.org/drawingml/2006/main" noGrp="1"/>
          </p:cNvSpPr>
          <p:nvPr/>
        </p:nvSpPr>
        <p:spPr>
          <a:xfrm xmlns:a="http://schemas.openxmlformats.org/drawingml/2006/main">
            <a:off x="45910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Useful customer and pet information is collected, but not always connected to the next helpful action across experiences.</a:t>
            </a:r>
          </a:p>
        </p:txBody>
      </p:sp>
      <p:sp>
        <p:nvSpPr>
          <p:cNvPr id="14" name="">
            <a:extLst xmlns:a="http://schemas.openxmlformats.org/drawingml/2006/main">
              <a:ext uri="{FF2B5EF4-FFF2-40B4-BE49-F238E27FC236}">
                <a16:creationId xmlns:a16="http://schemas.microsoft.com/office/drawing/2014/main" id="{38DC3DD6-1547-4A74-9E64-2A142B86EE9C}"/>
              </a:ext>
            </a:extLst>
          </p:cNvPr>
          <p:cNvSpPr>
            <a:spLocks xmlns:a="http://schemas.openxmlformats.org/drawingml/2006/main" noGrp="1"/>
          </p:cNvSpPr>
          <p:nvPr/>
        </p:nvSpPr>
        <p:spPr>
          <a:xfrm xmlns:a="http://schemas.openxmlformats.org/drawingml/2006/main">
            <a:off x="8324850" y="1676400"/>
            <a:ext cx="3467100" cy="346710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0B7562-8D16-4A06-AE96-B6227B9DCA58}"/>
              </a:ext>
            </a:extLst>
          </p:cNvPr>
          <p:cNvSpPr>
            <a:spLocks xmlns:a="http://schemas.openxmlformats.org/drawingml/2006/main" noGrp="1"/>
          </p:cNvSpPr>
          <p:nvPr/>
        </p:nvSpPr>
        <p:spPr>
          <a:xfrm xmlns:a="http://schemas.openxmlformats.org/drawingml/2006/main">
            <a:off x="8553450" y="186690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WHY THESE</a:t>
            </a:r>
          </a:p>
        </p:txBody>
      </p:sp>
      <p:sp>
        <p:nvSpPr>
          <p:cNvPr id="16" name="">
            <a:extLst xmlns:a="http://schemas.openxmlformats.org/drawingml/2006/main">
              <a:ext uri="{FF2B5EF4-FFF2-40B4-BE49-F238E27FC236}">
                <a16:creationId xmlns:a16="http://schemas.microsoft.com/office/drawing/2014/main" id="{60168C7E-B461-4896-B1A7-58817412C3D1}"/>
              </a:ext>
            </a:extLst>
          </p:cNvPr>
          <p:cNvSpPr>
            <a:spLocks xmlns:a="http://schemas.openxmlformats.org/drawingml/2006/main" noGrp="1"/>
          </p:cNvSpPr>
          <p:nvPr/>
        </p:nvSpPr>
        <p:spPr>
          <a:xfrm xmlns:a="http://schemas.openxmlformats.org/drawingml/2006/main">
            <a:off x="8553450" y="222885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Governed decisions</a:t>
            </a:r>
          </a:p>
        </p:txBody>
      </p:sp>
      <p:sp>
        <p:nvSpPr>
          <p:cNvPr id="17" name="">
            <a:extLst xmlns:a="http://schemas.openxmlformats.org/drawingml/2006/main">
              <a:ext uri="{FF2B5EF4-FFF2-40B4-BE49-F238E27FC236}">
                <a16:creationId xmlns:a16="http://schemas.microsoft.com/office/drawing/2014/main" id="{E3DB3EEE-736A-4AD4-A77D-9C34AEA958B2}"/>
              </a:ext>
            </a:extLst>
          </p:cNvPr>
          <p:cNvSpPr>
            <a:spLocks xmlns:a="http://schemas.openxmlformats.org/drawingml/2006/main" noGrp="1"/>
          </p:cNvSpPr>
          <p:nvPr/>
        </p:nvSpPr>
        <p:spPr>
          <a:xfrm xmlns:a="http://schemas.openxmlformats.org/drawingml/2006/main">
            <a:off x="8553450" y="2990850"/>
            <a:ext cx="30099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Both offered a clear role for AI: organize validated evidence and explain tradeoffs without taking ownership from people.</a:t>
            </a:r>
          </a:p>
        </p:txBody>
      </p:sp>
      <p:sp>
        <p:nvSpPr>
          <p:cNvPr id="18" name="">
            <a:extLst xmlns:a="http://schemas.openxmlformats.org/drawingml/2006/main">
              <a:ext uri="{FF2B5EF4-FFF2-40B4-BE49-F238E27FC236}">
                <a16:creationId xmlns:a16="http://schemas.microsoft.com/office/drawing/2014/main" id="{B892211A-2941-4F0C-95D3-45B88841352C}"/>
              </a:ext>
            </a:extLst>
          </p:cNvPr>
          <p:cNvSpPr>
            <a:spLocks xmlns:a="http://schemas.openxmlformats.org/drawingml/2006/main" noGrp="1"/>
          </p:cNvSpPr>
          <p:nvPr/>
        </p:nvSpPr>
        <p:spPr>
          <a:xfrm xmlns:a="http://schemas.openxmlformats.org/drawingml/2006/main">
            <a:off x="1524000" y="5476875"/>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730"/>
          </a:bodyPr>
          <a:lstStyle xmlns:a="http://schemas.openxmlformats.org/drawingml/2006/main"/>
          <a:p xmlns:a="http://schemas.openxmlformats.org/drawingml/2006/main">
            <a:pPr algn="ctr">
              <a:buNone/>
              <a:defRPr sz="2100" b="1">
                <a:solidFill>
                  <a:srgbClr val="1E43C8"/>
                </a:solidFill>
                <a:latin typeface="Aptos"/>
                <a:ea typeface="Aptos"/>
                <a:cs typeface="Aptos"/>
              </a:defRPr>
            </a:pPr>
            <a:r>
              <a:rPr sz="2100" b="1">
                <a:solidFill>
                  <a:srgbClr val="1E43C8"/>
                </a:solidFill>
                <a:latin typeface="Aptos"/>
                <a:ea typeface="Aptos"/>
                <a:cs typeface="Aptos"/>
              </a:rPr>
              <a:t>Clinic expansion became the first wedge because it offered a focused, high-value decision we could prototype.</a:t>
            </a:r>
          </a:p>
        </p:txBody>
      </p:sp>
    </p:spTree>
    <p:extLst>
      <p:ext uri="{BB962C8B-B14F-4D97-AF65-F5344CB8AC3E}">
        <p14:creationId xmlns:p14="http://schemas.microsoft.com/office/powerpoint/2010/main" val="1510707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123C35-CA7A-4346-AB97-EBAF20C3105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DISCOVERY JOURNEY</a:t>
            </a:r>
          </a:p>
        </p:txBody>
      </p:sp>
      <p:sp>
        <p:nvSpPr>
          <p:cNvPr id="2" name="">
            <a:extLst xmlns:a="http://schemas.openxmlformats.org/drawingml/2006/main">
              <a:ext uri="{FF2B5EF4-FFF2-40B4-BE49-F238E27FC236}">
                <a16:creationId xmlns:a16="http://schemas.microsoft.com/office/drawing/2014/main" id="{36C8429C-DFCA-437D-B13A-F4ABF1840A4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21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Conversations moved us from broad ideas to a sharper clinic opportunity</a:t>
            </a:r>
          </a:p>
        </p:txBody>
      </p:sp>
      <p:sp>
        <p:nvSpPr>
          <p:cNvPr id="3" name="">
            <a:extLst xmlns:a="http://schemas.openxmlformats.org/drawingml/2006/main">
              <a:ext uri="{FF2B5EF4-FFF2-40B4-BE49-F238E27FC236}">
                <a16:creationId xmlns:a16="http://schemas.microsoft.com/office/drawing/2014/main" id="{7962740E-3D83-4F82-BCBC-E4182F5F4B5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318562-918A-47C9-8C07-AB4D7E4F1E2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Contacts &amp; Conversations; Cale notes; Matt check-in</a:t>
            </a:r>
          </a:p>
        </p:txBody>
      </p:sp>
      <p:sp>
        <p:nvSpPr>
          <p:cNvPr id="5" name="">
            <a:extLst xmlns:a="http://schemas.openxmlformats.org/drawingml/2006/main">
              <a:ext uri="{FF2B5EF4-FFF2-40B4-BE49-F238E27FC236}">
                <a16:creationId xmlns:a16="http://schemas.microsoft.com/office/drawing/2014/main" id="{2DAA3926-EB77-4942-BFB3-31145C4E35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BE24006A-B13E-408A-8166-2804DC4F81BB}"/>
              </a:ext>
            </a:extLst>
          </p:cNvPr>
          <p:cNvSpPr>
            <a:spLocks xmlns:a="http://schemas.openxmlformats.org/drawingml/2006/main" noGrp="1"/>
          </p:cNvSpPr>
          <p:nvPr/>
        </p:nvSpPr>
        <p:spPr>
          <a:xfrm xmlns:a="http://schemas.openxmlformats.org/drawingml/2006/main">
            <a:off x="400050" y="1581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284"/>
          </a:bodyPr>
          <a:lstStyle xmlns:a="http://schemas.openxmlformats.org/drawingml/2006/main"/>
          <a:p xmlns:a="http://schemas.openxmlformats.org/drawingml/2006/main">
            <a:pPr algn="l">
              <a:buNone/>
              <a:defRPr sz="1200" b="1">
                <a:solidFill>
                  <a:srgbClr val="687386"/>
                </a:solidFill>
                <a:latin typeface="Aptos"/>
                <a:ea typeface="Aptos"/>
                <a:cs typeface="Aptos"/>
              </a:defRPr>
            </a:pPr>
            <a:r>
              <a:rPr sz="1200" b="1">
                <a:solidFill>
                  <a:srgbClr val="687386"/>
                </a:solidFill>
                <a:latin typeface="Aptos"/>
                <a:ea typeface="Aptos"/>
                <a:cs typeface="Aptos"/>
              </a:rPr>
              <a:t>WHO WE HEARD FROM</a:t>
            </a:r>
          </a:p>
        </p:txBody>
      </p:sp>
      <p:sp>
        <p:nvSpPr>
          <p:cNvPr id="7" name="">
            <a:extLst xmlns:a="http://schemas.openxmlformats.org/drawingml/2006/main">
              <a:ext uri="{FF2B5EF4-FFF2-40B4-BE49-F238E27FC236}">
                <a16:creationId xmlns:a16="http://schemas.microsoft.com/office/drawing/2014/main" id="{9E73ACEB-5F59-456E-AE2D-A69CF8DCB931}"/>
              </a:ext>
            </a:extLst>
          </p:cNvPr>
          <p:cNvSpPr>
            <a:spLocks xmlns:a="http://schemas.openxmlformats.org/drawingml/2006/main" noGrp="1"/>
          </p:cNvSpPr>
          <p:nvPr/>
        </p:nvSpPr>
        <p:spPr>
          <a:xfrm xmlns:a="http://schemas.openxmlformats.org/drawingml/2006/main">
            <a:off x="6381750" y="1581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8" name="">
            <a:extLst xmlns:a="http://schemas.openxmlformats.org/drawingml/2006/main">
              <a:ext uri="{FF2B5EF4-FFF2-40B4-BE49-F238E27FC236}">
                <a16:creationId xmlns:a16="http://schemas.microsoft.com/office/drawing/2014/main" id="{714EE83A-03C7-47F1-9AB8-2C41456ABF03}"/>
              </a:ext>
            </a:extLst>
          </p:cNvPr>
          <p:cNvSpPr>
            <a:spLocks xmlns:a="http://schemas.openxmlformats.org/drawingml/2006/main" noGrp="1"/>
          </p:cNvSpPr>
          <p:nvPr/>
        </p:nvSpPr>
        <p:spPr>
          <a:xfrm xmlns:a="http://schemas.openxmlformats.org/drawingml/2006/main">
            <a:off x="400050" y="20383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F9FF14-8975-4ECB-81B1-4A224D68FC7A}"/>
              </a:ext>
            </a:extLst>
          </p:cNvPr>
          <p:cNvSpPr>
            <a:spLocks xmlns:a="http://schemas.openxmlformats.org/drawingml/2006/main" noGrp="1"/>
          </p:cNvSpPr>
          <p:nvPr/>
        </p:nvSpPr>
        <p:spPr>
          <a:xfrm xmlns:a="http://schemas.openxmlformats.org/drawingml/2006/main">
            <a:off x="628650" y="21717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Cathy Harley • CVC / hybrid care</a:t>
            </a:r>
          </a:p>
        </p:txBody>
      </p:sp>
      <p:sp>
        <p:nvSpPr>
          <p:cNvPr id="10" name="">
            <a:extLst xmlns:a="http://schemas.openxmlformats.org/drawingml/2006/main">
              <a:ext uri="{FF2B5EF4-FFF2-40B4-BE49-F238E27FC236}">
                <a16:creationId xmlns:a16="http://schemas.microsoft.com/office/drawing/2014/main" id="{EAEFAB8D-DDE8-4EAE-AAFC-6EE4F53DFE36}"/>
              </a:ext>
            </a:extLst>
          </p:cNvPr>
          <p:cNvSpPr>
            <a:spLocks xmlns:a="http://schemas.openxmlformats.org/drawingml/2006/main" noGrp="1"/>
          </p:cNvSpPr>
          <p:nvPr/>
        </p:nvSpPr>
        <p:spPr>
          <a:xfrm xmlns:a="http://schemas.openxmlformats.org/drawingml/2006/main">
            <a:off x="400050" y="27813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9AB7BC-28B4-499C-BA9D-04A4292AC11C}"/>
              </a:ext>
            </a:extLst>
          </p:cNvPr>
          <p:cNvSpPr>
            <a:spLocks xmlns:a="http://schemas.openxmlformats.org/drawingml/2006/main" noGrp="1"/>
          </p:cNvSpPr>
          <p:nvPr/>
        </p:nvSpPr>
        <p:spPr>
          <a:xfrm xmlns:a="http://schemas.openxmlformats.org/drawingml/2006/main">
            <a:off x="628650" y="29146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Mike Cammarota • CVC operations</a:t>
            </a:r>
          </a:p>
        </p:txBody>
      </p:sp>
      <p:sp>
        <p:nvSpPr>
          <p:cNvPr id="12" name="">
            <a:extLst xmlns:a="http://schemas.openxmlformats.org/drawingml/2006/main">
              <a:ext uri="{FF2B5EF4-FFF2-40B4-BE49-F238E27FC236}">
                <a16:creationId xmlns:a16="http://schemas.microsoft.com/office/drawing/2014/main" id="{96CCF0F9-9016-499B-97E0-256474A5E23A}"/>
              </a:ext>
            </a:extLst>
          </p:cNvPr>
          <p:cNvSpPr>
            <a:spLocks xmlns:a="http://schemas.openxmlformats.org/drawingml/2006/main" noGrp="1"/>
          </p:cNvSpPr>
          <p:nvPr/>
        </p:nvSpPr>
        <p:spPr>
          <a:xfrm xmlns:a="http://schemas.openxmlformats.org/drawingml/2006/main">
            <a:off x="400050" y="35242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888673-E2AA-42C7-9E8D-9BBD583D7B7C}"/>
              </a:ext>
            </a:extLst>
          </p:cNvPr>
          <p:cNvSpPr>
            <a:spLocks xmlns:a="http://schemas.openxmlformats.org/drawingml/2006/main" noGrp="1"/>
          </p:cNvSpPr>
          <p:nvPr/>
        </p:nvSpPr>
        <p:spPr>
          <a:xfrm xmlns:a="http://schemas.openxmlformats.org/drawingml/2006/main">
            <a:off x="628650" y="36576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Krista Bardelli • CVC CRM</a:t>
            </a:r>
          </a:p>
        </p:txBody>
      </p:sp>
      <p:sp>
        <p:nvSpPr>
          <p:cNvPr id="14" name="">
            <a:extLst xmlns:a="http://schemas.openxmlformats.org/drawingml/2006/main">
              <a:ext uri="{FF2B5EF4-FFF2-40B4-BE49-F238E27FC236}">
                <a16:creationId xmlns:a16="http://schemas.microsoft.com/office/drawing/2014/main" id="{46DE9599-04E3-4A6A-B157-C1EE31E5411A}"/>
              </a:ext>
            </a:extLst>
          </p:cNvPr>
          <p:cNvSpPr>
            <a:spLocks xmlns:a="http://schemas.openxmlformats.org/drawingml/2006/main" noGrp="1"/>
          </p:cNvSpPr>
          <p:nvPr/>
        </p:nvSpPr>
        <p:spPr>
          <a:xfrm xmlns:a="http://schemas.openxmlformats.org/drawingml/2006/main">
            <a:off x="400050" y="42672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209976-E5EB-4619-BE3F-069746EB6FDB}"/>
              </a:ext>
            </a:extLst>
          </p:cNvPr>
          <p:cNvSpPr>
            <a:spLocks xmlns:a="http://schemas.openxmlformats.org/drawingml/2006/main" noGrp="1"/>
          </p:cNvSpPr>
          <p:nvPr/>
        </p:nvSpPr>
        <p:spPr>
          <a:xfrm xmlns:a="http://schemas.openxmlformats.org/drawingml/2006/main">
            <a:off x="628650" y="44005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Lana Lee • search + personalization</a:t>
            </a:r>
          </a:p>
        </p:txBody>
      </p:sp>
      <p:sp>
        <p:nvSpPr>
          <p:cNvPr id="16" name="">
            <a:extLst xmlns:a="http://schemas.openxmlformats.org/drawingml/2006/main">
              <a:ext uri="{FF2B5EF4-FFF2-40B4-BE49-F238E27FC236}">
                <a16:creationId xmlns:a16="http://schemas.microsoft.com/office/drawing/2014/main" id="{794DF697-9416-4B5F-8E62-F1632339BD44}"/>
              </a:ext>
            </a:extLst>
          </p:cNvPr>
          <p:cNvSpPr>
            <a:spLocks xmlns:a="http://schemas.openxmlformats.org/drawingml/2006/main" noGrp="1"/>
          </p:cNvSpPr>
          <p:nvPr/>
        </p:nvSpPr>
        <p:spPr>
          <a:xfrm xmlns:a="http://schemas.openxmlformats.org/drawingml/2006/main">
            <a:off x="400050" y="50101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FAAC09-D66F-43C6-842B-B6883EF2053F}"/>
              </a:ext>
            </a:extLst>
          </p:cNvPr>
          <p:cNvSpPr>
            <a:spLocks xmlns:a="http://schemas.openxmlformats.org/drawingml/2006/main" noGrp="1"/>
          </p:cNvSpPr>
          <p:nvPr/>
        </p:nvSpPr>
        <p:spPr>
          <a:xfrm xmlns:a="http://schemas.openxmlformats.org/drawingml/2006/main">
            <a:off x="628650" y="5143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Matt Merrill + Cale Harrington • expansion</a:t>
            </a:r>
          </a:p>
        </p:txBody>
      </p:sp>
      <p:sp>
        <p:nvSpPr>
          <p:cNvPr id="18" name="">
            <a:extLst xmlns:a="http://schemas.openxmlformats.org/drawingml/2006/main">
              <a:ext uri="{FF2B5EF4-FFF2-40B4-BE49-F238E27FC236}">
                <a16:creationId xmlns:a16="http://schemas.microsoft.com/office/drawing/2014/main" id="{81EF9541-D5C0-42C0-8751-8B4ECC3C2D98}"/>
              </a:ext>
            </a:extLst>
          </p:cNvPr>
          <p:cNvSpPr>
            <a:spLocks xmlns:a="http://schemas.openxmlformats.org/drawingml/2006/main" noGrp="1"/>
          </p:cNvSpPr>
          <p:nvPr/>
        </p:nvSpPr>
        <p:spPr>
          <a:xfrm xmlns:a="http://schemas.openxmlformats.org/drawingml/2006/main">
            <a:off x="6381750" y="20383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F25BEE-CDCC-4502-8546-88E865562164}"/>
              </a:ext>
            </a:extLst>
          </p:cNvPr>
          <p:cNvSpPr>
            <a:spLocks xmlns:a="http://schemas.openxmlformats.org/drawingml/2006/main" noGrp="1"/>
          </p:cNvSpPr>
          <p:nvPr/>
        </p:nvSpPr>
        <p:spPr>
          <a:xfrm xmlns:a="http://schemas.openxmlformats.org/drawingml/2006/main">
            <a:off x="6610350" y="21717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Customer and pet context is not always connected to action</a:t>
            </a:r>
          </a:p>
        </p:txBody>
      </p:sp>
      <p:sp>
        <p:nvSpPr>
          <p:cNvPr id="20" name="">
            <a:extLst xmlns:a="http://schemas.openxmlformats.org/drawingml/2006/main">
              <a:ext uri="{FF2B5EF4-FFF2-40B4-BE49-F238E27FC236}">
                <a16:creationId xmlns:a16="http://schemas.microsoft.com/office/drawing/2014/main" id="{4A622566-F47C-4AC1-882E-EFDC6A7D5DC7}"/>
              </a:ext>
            </a:extLst>
          </p:cNvPr>
          <p:cNvSpPr>
            <a:spLocks xmlns:a="http://schemas.openxmlformats.org/drawingml/2006/main" noGrp="1"/>
          </p:cNvSpPr>
          <p:nvPr/>
        </p:nvSpPr>
        <p:spPr>
          <a:xfrm xmlns:a="http://schemas.openxmlformats.org/drawingml/2006/main">
            <a:off x="6381750" y="27813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4206EEC-2097-457D-B8B0-0F7D0F018FB2}"/>
              </a:ext>
            </a:extLst>
          </p:cNvPr>
          <p:cNvSpPr>
            <a:spLocks xmlns:a="http://schemas.openxmlformats.org/drawingml/2006/main" noGrp="1"/>
          </p:cNvSpPr>
          <p:nvPr/>
        </p:nvSpPr>
        <p:spPr>
          <a:xfrm xmlns:a="http://schemas.openxmlformats.org/drawingml/2006/main">
            <a:off x="6610350" y="29146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Clinic work crosses systems, owners, and handoffs</a:t>
            </a:r>
          </a:p>
        </p:txBody>
      </p:sp>
      <p:sp>
        <p:nvSpPr>
          <p:cNvPr id="22" name="">
            <a:extLst xmlns:a="http://schemas.openxmlformats.org/drawingml/2006/main">
              <a:ext uri="{FF2B5EF4-FFF2-40B4-BE49-F238E27FC236}">
                <a16:creationId xmlns:a16="http://schemas.microsoft.com/office/drawing/2014/main" id="{2BE04B81-52E9-44FA-995B-E52EDFEC5B92}"/>
              </a:ext>
            </a:extLst>
          </p:cNvPr>
          <p:cNvSpPr>
            <a:spLocks xmlns:a="http://schemas.openxmlformats.org/drawingml/2006/main" noGrp="1"/>
          </p:cNvSpPr>
          <p:nvPr/>
        </p:nvSpPr>
        <p:spPr>
          <a:xfrm xmlns:a="http://schemas.openxmlformats.org/drawingml/2006/main">
            <a:off x="6381750" y="35242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3210CC-FC7F-4D0A-AE2F-44C3917A3DA8}"/>
              </a:ext>
            </a:extLst>
          </p:cNvPr>
          <p:cNvSpPr>
            <a:spLocks xmlns:a="http://schemas.openxmlformats.org/drawingml/2006/main" noGrp="1"/>
          </p:cNvSpPr>
          <p:nvPr/>
        </p:nvSpPr>
        <p:spPr>
          <a:xfrm xmlns:a="http://schemas.openxmlformats.org/drawingml/2006/main">
            <a:off x="6610350" y="36576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Esri and Excel already cover major parts of analysis</a:t>
            </a:r>
          </a:p>
        </p:txBody>
      </p:sp>
      <p:sp>
        <p:nvSpPr>
          <p:cNvPr id="24" name="">
            <a:extLst xmlns:a="http://schemas.openxmlformats.org/drawingml/2006/main">
              <a:ext uri="{FF2B5EF4-FFF2-40B4-BE49-F238E27FC236}">
                <a16:creationId xmlns:a16="http://schemas.microsoft.com/office/drawing/2014/main" id="{76CAFD62-374E-4856-A91E-0363D15A67D8}"/>
              </a:ext>
            </a:extLst>
          </p:cNvPr>
          <p:cNvSpPr>
            <a:spLocks xmlns:a="http://schemas.openxmlformats.org/drawingml/2006/main" noGrp="1"/>
          </p:cNvSpPr>
          <p:nvPr/>
        </p:nvSpPr>
        <p:spPr>
          <a:xfrm xmlns:a="http://schemas.openxmlformats.org/drawingml/2006/main">
            <a:off x="6381750" y="42672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EBBF17-9A25-4B88-84B9-2CEC759CBC18}"/>
              </a:ext>
            </a:extLst>
          </p:cNvPr>
          <p:cNvSpPr>
            <a:spLocks xmlns:a="http://schemas.openxmlformats.org/drawingml/2006/main" noGrp="1"/>
          </p:cNvSpPr>
          <p:nvPr/>
        </p:nvSpPr>
        <p:spPr>
          <a:xfrm xmlns:a="http://schemas.openxmlformats.org/drawingml/2006/main">
            <a:off x="6610350" y="4400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Market, property, and sequence are different decisions</a:t>
            </a:r>
          </a:p>
        </p:txBody>
      </p:sp>
      <p:sp>
        <p:nvSpPr>
          <p:cNvPr id="26" name="">
            <a:extLst xmlns:a="http://schemas.openxmlformats.org/drawingml/2006/main">
              <a:ext uri="{FF2B5EF4-FFF2-40B4-BE49-F238E27FC236}">
                <a16:creationId xmlns:a16="http://schemas.microsoft.com/office/drawing/2014/main" id="{AD27ED43-5ECA-4CE6-A895-FEF471F9368B}"/>
              </a:ext>
            </a:extLst>
          </p:cNvPr>
          <p:cNvSpPr>
            <a:spLocks xmlns:a="http://schemas.openxmlformats.org/drawingml/2006/main" noGrp="1"/>
          </p:cNvSpPr>
          <p:nvPr/>
        </p:nvSpPr>
        <p:spPr>
          <a:xfrm xmlns:a="http://schemas.openxmlformats.org/drawingml/2006/main">
            <a:off x="6381750" y="5010150"/>
            <a:ext cx="5410200" cy="552450"/>
          </a:xfrm>
          <a:prstGeom xmlns:a="http://schemas.openxmlformats.org/drawingml/2006/main" prst="roundRect">
            <a:avLst>
              <a:gd name="adj" fmla="val 20690"/>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F7D7A0-E097-4A2F-B4D3-664A7B63C409}"/>
              </a:ext>
            </a:extLst>
          </p:cNvPr>
          <p:cNvSpPr>
            <a:spLocks xmlns:a="http://schemas.openxmlformats.org/drawingml/2006/main" noGrp="1"/>
          </p:cNvSpPr>
          <p:nvPr/>
        </p:nvSpPr>
        <p:spPr>
          <a:xfrm xmlns:a="http://schemas.openxmlformats.org/drawingml/2006/main">
            <a:off x="6610350" y="51435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The gap is a shared, reviewable decision trace</a:t>
            </a:r>
          </a:p>
        </p:txBody>
      </p:sp>
      <p:sp>
        <p:nvSpPr>
          <p:cNvPr id="28" name="">
            <a:extLst xmlns:a="http://schemas.openxmlformats.org/drawingml/2006/main">
              <a:ext uri="{FF2B5EF4-FFF2-40B4-BE49-F238E27FC236}">
                <a16:creationId xmlns:a16="http://schemas.microsoft.com/office/drawing/2014/main" id="{8FADFEAB-3C09-441F-B32B-540BEBE36274}"/>
              </a:ext>
            </a:extLst>
          </p:cNvPr>
          <p:cNvSpPr>
            <a:spLocks xmlns:a="http://schemas.openxmlformats.org/drawingml/2006/main" noGrp="1"/>
          </p:cNvSpPr>
          <p:nvPr/>
        </p:nvSpPr>
        <p:spPr>
          <a:xfrm xmlns:a="http://schemas.openxmlformats.org/drawingml/2006/main">
            <a:off x="5305425" y="333375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1">
                <a:solidFill>
                  <a:srgbClr val="A56A00"/>
                </a:solidFill>
                <a:latin typeface="Aptos"/>
                <a:ea typeface="Aptos"/>
                <a:cs typeface="Aptos"/>
              </a:defRPr>
            </a:pPr>
            <a:r>
              <a:rPr sz="1200" b="1">
                <a:solidFill>
                  <a:srgbClr val="A56A00"/>
                </a:solidFill>
                <a:latin typeface="Aptos"/>
                <a:ea typeface="Aptos"/>
                <a:cs typeface="Aptos"/>
              </a:rPr>
              <a:t>synthesis</a:t>
            </a:r>
          </a:p>
        </p:txBody>
      </p:sp>
    </p:spTree>
    <p:extLst>
      <p:ext uri="{BB962C8B-B14F-4D97-AF65-F5344CB8AC3E}">
        <p14:creationId xmlns:p14="http://schemas.microsoft.com/office/powerpoint/2010/main" val="2103140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7672B6-F32D-4A8C-9D1D-D2A54DF8CC5F}"/>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2" name="">
            <a:extLst xmlns:a="http://schemas.openxmlformats.org/drawingml/2006/main">
              <a:ext uri="{FF2B5EF4-FFF2-40B4-BE49-F238E27FC236}">
                <a16:creationId xmlns:a16="http://schemas.microsoft.com/office/drawing/2014/main" id="{6BDD2111-6573-43D8-877F-48241BEEDE54}"/>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Attractiveness, feasibility, and execution priority are different decisions</a:t>
            </a:r>
          </a:p>
        </p:txBody>
      </p:sp>
      <p:sp>
        <p:nvSpPr>
          <p:cNvPr id="3" name="">
            <a:extLst xmlns:a="http://schemas.openxmlformats.org/drawingml/2006/main">
              <a:ext uri="{FF2B5EF4-FFF2-40B4-BE49-F238E27FC236}">
                <a16:creationId xmlns:a16="http://schemas.microsoft.com/office/drawing/2014/main" id="{9041FF62-1481-473C-804F-535A1C05D3DB}"/>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706176-D641-414F-ADCF-DE15899D3C2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transition brief; MVP scope; open questions</a:t>
            </a:r>
          </a:p>
        </p:txBody>
      </p:sp>
      <p:sp>
        <p:nvSpPr>
          <p:cNvPr id="5" name="">
            <a:extLst xmlns:a="http://schemas.openxmlformats.org/drawingml/2006/main">
              <a:ext uri="{FF2B5EF4-FFF2-40B4-BE49-F238E27FC236}">
                <a16:creationId xmlns:a16="http://schemas.microsoft.com/office/drawing/2014/main" id="{8B6AB315-2EE1-4FB0-9A42-3F88C533860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62A8619D-5DC1-409F-B08E-1E0F4BFCF6B8}"/>
              </a:ext>
            </a:extLst>
          </p:cNvPr>
          <p:cNvSpPr>
            <a:spLocks xmlns:a="http://schemas.openxmlformats.org/drawingml/2006/main" noGrp="1"/>
          </p:cNvSpPr>
          <p:nvPr/>
        </p:nvSpPr>
        <p:spPr>
          <a:xfrm xmlns:a="http://schemas.openxmlformats.org/drawingml/2006/main">
            <a:off x="400050" y="1695450"/>
            <a:ext cx="3476625" cy="3714750"/>
          </a:xfrm>
          <a:prstGeom xmlns:a="http://schemas.openxmlformats.org/drawingml/2006/main" prst="roundRect">
            <a:avLst>
              <a:gd name="adj" fmla="val 4932"/>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B11367E-5DE5-4C1D-8520-A86C6BB4C898}"/>
              </a:ext>
            </a:extLst>
          </p:cNvPr>
          <p:cNvSpPr>
            <a:spLocks xmlns:a="http://schemas.openxmlformats.org/drawingml/2006/main" noGrp="1"/>
          </p:cNvSpPr>
          <p:nvPr/>
        </p:nvSpPr>
        <p:spPr>
          <a:xfrm xmlns:a="http://schemas.openxmlformats.org/drawingml/2006/main">
            <a:off x="6286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GEOGRAPHY</a:t>
            </a:r>
          </a:p>
        </p:txBody>
      </p:sp>
      <p:sp>
        <p:nvSpPr>
          <p:cNvPr id="8" name="">
            <a:extLst xmlns:a="http://schemas.openxmlformats.org/drawingml/2006/main">
              <a:ext uri="{FF2B5EF4-FFF2-40B4-BE49-F238E27FC236}">
                <a16:creationId xmlns:a16="http://schemas.microsoft.com/office/drawing/2014/main" id="{578A8500-C3CE-4E41-BD12-F00D5DC1A077}"/>
              </a:ext>
            </a:extLst>
          </p:cNvPr>
          <p:cNvSpPr>
            <a:spLocks xmlns:a="http://schemas.openxmlformats.org/drawingml/2006/main" noGrp="1"/>
          </p:cNvSpPr>
          <p:nvPr/>
        </p:nvSpPr>
        <p:spPr>
          <a:xfrm xmlns:a="http://schemas.openxmlformats.org/drawingml/2006/main">
            <a:off x="6286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Attractiveness</a:t>
            </a:r>
          </a:p>
        </p:txBody>
      </p:sp>
      <p:sp>
        <p:nvSpPr>
          <p:cNvPr id="9" name="">
            <a:extLst xmlns:a="http://schemas.openxmlformats.org/drawingml/2006/main">
              <a:ext uri="{FF2B5EF4-FFF2-40B4-BE49-F238E27FC236}">
                <a16:creationId xmlns:a16="http://schemas.microsoft.com/office/drawing/2014/main" id="{5C031DD4-E75C-473A-B6A1-9B402DF0C63E}"/>
              </a:ext>
            </a:extLst>
          </p:cNvPr>
          <p:cNvSpPr>
            <a:spLocks xmlns:a="http://schemas.openxmlformats.org/drawingml/2006/main" noGrp="1"/>
          </p:cNvSpPr>
          <p:nvPr/>
        </p:nvSpPr>
        <p:spPr>
          <a:xfrm xmlns:a="http://schemas.openxmlformats.org/drawingml/2006/main">
            <a:off x="6286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Is this market or submarket appealing enough to justify deeper diligence?</a:t>
            </a:r>
          </a:p>
        </p:txBody>
      </p:sp>
      <p:sp>
        <p:nvSpPr>
          <p:cNvPr id="10" name="">
            <a:extLst xmlns:a="http://schemas.openxmlformats.org/drawingml/2006/main">
              <a:ext uri="{FF2B5EF4-FFF2-40B4-BE49-F238E27FC236}">
                <a16:creationId xmlns:a16="http://schemas.microsoft.com/office/drawing/2014/main" id="{F2AC62A9-BAD9-4750-A571-0EF35DBA5A88}"/>
              </a:ext>
            </a:extLst>
          </p:cNvPr>
          <p:cNvSpPr>
            <a:spLocks xmlns:a="http://schemas.openxmlformats.org/drawingml/2006/main" noGrp="1"/>
          </p:cNvSpPr>
          <p:nvPr/>
        </p:nvSpPr>
        <p:spPr>
          <a:xfrm xmlns:a="http://schemas.openxmlformats.org/drawingml/2006/main">
            <a:off x="4362450" y="1695450"/>
            <a:ext cx="3476625" cy="3714750"/>
          </a:xfrm>
          <a:prstGeom xmlns:a="http://schemas.openxmlformats.org/drawingml/2006/main" prst="roundRect">
            <a:avLst>
              <a:gd name="adj" fmla="val 4932"/>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50ABA5-C068-4D2A-BC04-928A6CCBA1E1}"/>
              </a:ext>
            </a:extLst>
          </p:cNvPr>
          <p:cNvSpPr>
            <a:spLocks xmlns:a="http://schemas.openxmlformats.org/drawingml/2006/main" noGrp="1"/>
          </p:cNvSpPr>
          <p:nvPr/>
        </p:nvSpPr>
        <p:spPr>
          <a:xfrm xmlns:a="http://schemas.openxmlformats.org/drawingml/2006/main">
            <a:off x="45910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PROPERTY</a:t>
            </a:r>
          </a:p>
        </p:txBody>
      </p:sp>
      <p:sp>
        <p:nvSpPr>
          <p:cNvPr id="12" name="">
            <a:extLst xmlns:a="http://schemas.openxmlformats.org/drawingml/2006/main">
              <a:ext uri="{FF2B5EF4-FFF2-40B4-BE49-F238E27FC236}">
                <a16:creationId xmlns:a16="http://schemas.microsoft.com/office/drawing/2014/main" id="{9688F99F-DAA4-4530-AF27-7DEC89BA78CD}"/>
              </a:ext>
            </a:extLst>
          </p:cNvPr>
          <p:cNvSpPr>
            <a:spLocks xmlns:a="http://schemas.openxmlformats.org/drawingml/2006/main" noGrp="1"/>
          </p:cNvSpPr>
          <p:nvPr/>
        </p:nvSpPr>
        <p:spPr>
          <a:xfrm xmlns:a="http://schemas.openxmlformats.org/drawingml/2006/main">
            <a:off x="45910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Feasibility</a:t>
            </a:r>
          </a:p>
        </p:txBody>
      </p:sp>
      <p:sp>
        <p:nvSpPr>
          <p:cNvPr id="13" name="">
            <a:extLst xmlns:a="http://schemas.openxmlformats.org/drawingml/2006/main">
              <a:ext uri="{FF2B5EF4-FFF2-40B4-BE49-F238E27FC236}">
                <a16:creationId xmlns:a16="http://schemas.microsoft.com/office/drawing/2014/main" id="{8A23B56E-4076-4882-8DBF-CD2F90E858C2}"/>
              </a:ext>
            </a:extLst>
          </p:cNvPr>
          <p:cNvSpPr>
            <a:spLocks xmlns:a="http://schemas.openxmlformats.org/drawingml/2006/main" noGrp="1"/>
          </p:cNvSpPr>
          <p:nvPr/>
        </p:nvSpPr>
        <p:spPr>
          <a:xfrm xmlns:a="http://schemas.openxmlformats.org/drawingml/2006/main">
            <a:off x="45910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Can this available property pass mandatory physical, legal, operational, and financial constraints?</a:t>
            </a:r>
          </a:p>
        </p:txBody>
      </p:sp>
      <p:sp>
        <p:nvSpPr>
          <p:cNvPr id="14" name="">
            <a:extLst xmlns:a="http://schemas.openxmlformats.org/drawingml/2006/main">
              <a:ext uri="{FF2B5EF4-FFF2-40B4-BE49-F238E27FC236}">
                <a16:creationId xmlns:a16="http://schemas.microsoft.com/office/drawing/2014/main" id="{8A54B65E-EFE3-4A4D-8EA4-653A8437C81C}"/>
              </a:ext>
            </a:extLst>
          </p:cNvPr>
          <p:cNvSpPr>
            <a:spLocks xmlns:a="http://schemas.openxmlformats.org/drawingml/2006/main" noGrp="1"/>
          </p:cNvSpPr>
          <p:nvPr/>
        </p:nvSpPr>
        <p:spPr>
          <a:xfrm xmlns:a="http://schemas.openxmlformats.org/drawingml/2006/main">
            <a:off x="8324850" y="1695450"/>
            <a:ext cx="3467100" cy="371475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2124D9-97A8-4400-9DB5-0CCB8CED83AE}"/>
              </a:ext>
            </a:extLst>
          </p:cNvPr>
          <p:cNvSpPr>
            <a:spLocks xmlns:a="http://schemas.openxmlformats.org/drawingml/2006/main" noGrp="1"/>
          </p:cNvSpPr>
          <p:nvPr/>
        </p:nvSpPr>
        <p:spPr>
          <a:xfrm xmlns:a="http://schemas.openxmlformats.org/drawingml/2006/main">
            <a:off x="8553450" y="1885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PORTFOLIO</a:t>
            </a:r>
          </a:p>
        </p:txBody>
      </p:sp>
      <p:sp>
        <p:nvSpPr>
          <p:cNvPr id="16" name="">
            <a:extLst xmlns:a="http://schemas.openxmlformats.org/drawingml/2006/main">
              <a:ext uri="{FF2B5EF4-FFF2-40B4-BE49-F238E27FC236}">
                <a16:creationId xmlns:a16="http://schemas.microsoft.com/office/drawing/2014/main" id="{805EE36A-F9E7-4EA9-BCB6-10610A1C036B}"/>
              </a:ext>
            </a:extLst>
          </p:cNvPr>
          <p:cNvSpPr>
            <a:spLocks xmlns:a="http://schemas.openxmlformats.org/drawingml/2006/main" noGrp="1"/>
          </p:cNvSpPr>
          <p:nvPr/>
        </p:nvSpPr>
        <p:spPr>
          <a:xfrm xmlns:a="http://schemas.openxmlformats.org/drawingml/2006/main">
            <a:off x="8553450" y="224790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Execution priority</a:t>
            </a:r>
          </a:p>
        </p:txBody>
      </p:sp>
      <p:sp>
        <p:nvSpPr>
          <p:cNvPr id="17" name="">
            <a:extLst xmlns:a="http://schemas.openxmlformats.org/drawingml/2006/main">
              <a:ext uri="{FF2B5EF4-FFF2-40B4-BE49-F238E27FC236}">
                <a16:creationId xmlns:a16="http://schemas.microsoft.com/office/drawing/2014/main" id="{4470D03A-E4FE-4039-A0CE-AD6D6E395342}"/>
              </a:ext>
            </a:extLst>
          </p:cNvPr>
          <p:cNvSpPr>
            <a:spLocks xmlns:a="http://schemas.openxmlformats.org/drawingml/2006/main" noGrp="1"/>
          </p:cNvSpPr>
          <p:nvPr/>
        </p:nvSpPr>
        <p:spPr>
          <a:xfrm xmlns:a="http://schemas.openxmlformats.org/drawingml/2006/main">
            <a:off x="8553450" y="3009900"/>
            <a:ext cx="3009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Given availability, staffing, economics, timing, and dependencies, what should be reviewed first?</a:t>
            </a:r>
          </a:p>
        </p:txBody>
      </p:sp>
    </p:spTree>
    <p:extLst>
      <p:ext uri="{BB962C8B-B14F-4D97-AF65-F5344CB8AC3E}">
        <p14:creationId xmlns:p14="http://schemas.microsoft.com/office/powerpoint/2010/main" val="1838043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A66B7B-BFE2-4F60-9BD8-B0BD38CE31BE}"/>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OUR CURRENT PROJECT</a:t>
            </a:r>
          </a:p>
        </p:txBody>
      </p:sp>
      <p:sp>
        <p:nvSpPr>
          <p:cNvPr id="2" name="">
            <a:extLst xmlns:a="http://schemas.openxmlformats.org/drawingml/2006/main">
              <a:ext uri="{FF2B5EF4-FFF2-40B4-BE49-F238E27FC236}">
                <a16:creationId xmlns:a16="http://schemas.microsoft.com/office/drawing/2014/main" id="{7864C70A-2B3B-4CBB-BC3A-A8E53346131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current demo is governed decision support, not a production locator</a:t>
            </a:r>
          </a:p>
        </p:txBody>
      </p:sp>
      <p:sp>
        <p:nvSpPr>
          <p:cNvPr id="3" name="">
            <a:extLst xmlns:a="http://schemas.openxmlformats.org/drawingml/2006/main">
              <a:ext uri="{FF2B5EF4-FFF2-40B4-BE49-F238E27FC236}">
                <a16:creationId xmlns:a16="http://schemas.microsoft.com/office/drawing/2014/main" id="{372DCE9B-D701-4901-9B20-B751518B733F}"/>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AE360-68D8-454E-A4A3-82697D75BB3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MVP scope; user workflows</a:t>
            </a:r>
          </a:p>
        </p:txBody>
      </p:sp>
      <p:sp>
        <p:nvSpPr>
          <p:cNvPr id="5" name="">
            <a:extLst xmlns:a="http://schemas.openxmlformats.org/drawingml/2006/main">
              <a:ext uri="{FF2B5EF4-FFF2-40B4-BE49-F238E27FC236}">
                <a16:creationId xmlns:a16="http://schemas.microsoft.com/office/drawing/2014/main" id="{FC184A43-440C-43AB-8BA2-4403B3CD84B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12EAC6BE-B217-4FEC-84C9-5D4AE65B733D}"/>
              </a:ext>
            </a:extLst>
          </p:cNvPr>
          <p:cNvSpPr>
            <a:spLocks xmlns:a="http://schemas.openxmlformats.org/drawingml/2006/main" noGrp="1"/>
          </p:cNvSpPr>
          <p:nvPr/>
        </p:nvSpPr>
        <p:spPr>
          <a:xfrm xmlns:a="http://schemas.openxmlformats.org/drawingml/2006/main">
            <a:off x="400050" y="1714500"/>
            <a:ext cx="2609850" cy="3638550"/>
          </a:xfrm>
          <a:prstGeom xmlns:a="http://schemas.openxmlformats.org/drawingml/2006/main" prst="roundRect">
            <a:avLst>
              <a:gd name="adj" fmla="val 6569"/>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7B3E6B-68FF-45B5-A0C0-4FA2742EA7D6}"/>
              </a:ext>
            </a:extLst>
          </p:cNvPr>
          <p:cNvSpPr>
            <a:spLocks xmlns:a="http://schemas.openxmlformats.org/drawingml/2006/main" noGrp="1"/>
          </p:cNvSpPr>
          <p:nvPr/>
        </p:nvSpPr>
        <p:spPr>
          <a:xfrm xmlns:a="http://schemas.openxmlformats.org/drawingml/2006/main">
            <a:off x="62865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PUBLIC FOUNDATION</a:t>
            </a:r>
          </a:p>
        </p:txBody>
      </p:sp>
      <p:sp>
        <p:nvSpPr>
          <p:cNvPr id="8" name="">
            <a:extLst xmlns:a="http://schemas.openxmlformats.org/drawingml/2006/main">
              <a:ext uri="{FF2B5EF4-FFF2-40B4-BE49-F238E27FC236}">
                <a16:creationId xmlns:a16="http://schemas.microsoft.com/office/drawing/2014/main" id="{62802C3C-1C33-4121-A6BC-6C3BE7364E7E}"/>
              </a:ext>
            </a:extLst>
          </p:cNvPr>
          <p:cNvSpPr>
            <a:spLocks xmlns:a="http://schemas.openxmlformats.org/drawingml/2006/main" noGrp="1"/>
          </p:cNvSpPr>
          <p:nvPr/>
        </p:nvSpPr>
        <p:spPr>
          <a:xfrm xmlns:a="http://schemas.openxmlformats.org/drawingml/2006/main">
            <a:off x="62865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Census + ACS</a:t>
            </a:r>
          </a:p>
        </p:txBody>
      </p:sp>
      <p:sp>
        <p:nvSpPr>
          <p:cNvPr id="9" name="">
            <a:extLst xmlns:a="http://schemas.openxmlformats.org/drawingml/2006/main">
              <a:ext uri="{FF2B5EF4-FFF2-40B4-BE49-F238E27FC236}">
                <a16:creationId xmlns:a16="http://schemas.microsoft.com/office/drawing/2014/main" id="{37BEF042-3D68-423A-B6E1-503E25019A70}"/>
              </a:ext>
            </a:extLst>
          </p:cNvPr>
          <p:cNvSpPr>
            <a:spLocks xmlns:a="http://schemas.openxmlformats.org/drawingml/2006/main" noGrp="1"/>
          </p:cNvSpPr>
          <p:nvPr/>
        </p:nvSpPr>
        <p:spPr>
          <a:xfrm xmlns:a="http://schemas.openxmlformats.org/drawingml/2006/main">
            <a:off x="62865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Versioned CBSA universe, boundaries, and public context. Explicitly non-scored.</a:t>
            </a:r>
          </a:p>
        </p:txBody>
      </p:sp>
      <p:sp>
        <p:nvSpPr>
          <p:cNvPr id="10" name="">
            <a:extLst xmlns:a="http://schemas.openxmlformats.org/drawingml/2006/main">
              <a:ext uri="{FF2B5EF4-FFF2-40B4-BE49-F238E27FC236}">
                <a16:creationId xmlns:a16="http://schemas.microsoft.com/office/drawing/2014/main" id="{0AD45134-7E95-4E9C-94E8-9A8368F8AAAB}"/>
              </a:ext>
            </a:extLst>
          </p:cNvPr>
          <p:cNvSpPr>
            <a:spLocks xmlns:a="http://schemas.openxmlformats.org/drawingml/2006/main" noGrp="1"/>
          </p:cNvSpPr>
          <p:nvPr/>
        </p:nvSpPr>
        <p:spPr>
          <a:xfrm xmlns:a="http://schemas.openxmlformats.org/drawingml/2006/main">
            <a:off x="3248025" y="1714500"/>
            <a:ext cx="2609850" cy="3638550"/>
          </a:xfrm>
          <a:prstGeom xmlns:a="http://schemas.openxmlformats.org/drawingml/2006/main" prst="roundRect">
            <a:avLst>
              <a:gd name="adj" fmla="val 6569"/>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49C125-1A19-4FE3-9E54-E6409C4BE4FD}"/>
              </a:ext>
            </a:extLst>
          </p:cNvPr>
          <p:cNvSpPr>
            <a:spLocks xmlns:a="http://schemas.openxmlformats.org/drawingml/2006/main" noGrp="1"/>
          </p:cNvSpPr>
          <p:nvPr/>
        </p:nvSpPr>
        <p:spPr>
          <a:xfrm xmlns:a="http://schemas.openxmlformats.org/drawingml/2006/main">
            <a:off x="347662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SYNTHETIC MARKETS</a:t>
            </a:r>
          </a:p>
        </p:txBody>
      </p:sp>
      <p:sp>
        <p:nvSpPr>
          <p:cNvPr id="12" name="">
            <a:extLst xmlns:a="http://schemas.openxmlformats.org/drawingml/2006/main">
              <a:ext uri="{FF2B5EF4-FFF2-40B4-BE49-F238E27FC236}">
                <a16:creationId xmlns:a16="http://schemas.microsoft.com/office/drawing/2014/main" id="{4EDE3C16-9DE9-4754-8BA9-32ECC4F2904B}"/>
              </a:ext>
            </a:extLst>
          </p:cNvPr>
          <p:cNvSpPr>
            <a:spLocks xmlns:a="http://schemas.openxmlformats.org/drawingml/2006/main" noGrp="1"/>
          </p:cNvSpPr>
          <p:nvPr/>
        </p:nvSpPr>
        <p:spPr>
          <a:xfrm xmlns:a="http://schemas.openxmlformats.org/drawingml/2006/main">
            <a:off x="347662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6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Map + compare</a:t>
            </a:r>
          </a:p>
        </p:txBody>
      </p:sp>
      <p:sp>
        <p:nvSpPr>
          <p:cNvPr id="13" name="">
            <a:extLst xmlns:a="http://schemas.openxmlformats.org/drawingml/2006/main">
              <a:ext uri="{FF2B5EF4-FFF2-40B4-BE49-F238E27FC236}">
                <a16:creationId xmlns:a16="http://schemas.microsoft.com/office/drawing/2014/main" id="{D41F2BC3-811C-42D6-A097-C1B8F7062AA2}"/>
              </a:ext>
            </a:extLst>
          </p:cNvPr>
          <p:cNvSpPr>
            <a:spLocks xmlns:a="http://schemas.openxmlformats.org/drawingml/2006/main" noGrp="1"/>
          </p:cNvSpPr>
          <p:nvPr/>
        </p:nvSpPr>
        <p:spPr>
          <a:xfrm xmlns:a="http://schemas.openxmlformats.org/drawingml/2006/main">
            <a:off x="347662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Synthetic attractiveness map and rank; compare 2 to 5 same-cohort markets with sensitivity.</a:t>
            </a:r>
          </a:p>
        </p:txBody>
      </p:sp>
      <p:sp>
        <p:nvSpPr>
          <p:cNvPr id="14" name="">
            <a:extLst xmlns:a="http://schemas.openxmlformats.org/drawingml/2006/main">
              <a:ext uri="{FF2B5EF4-FFF2-40B4-BE49-F238E27FC236}">
                <a16:creationId xmlns:a16="http://schemas.microsoft.com/office/drawing/2014/main" id="{0B02026C-AD0E-43BB-A1F8-E9677242068F}"/>
              </a:ext>
            </a:extLst>
          </p:cNvPr>
          <p:cNvSpPr>
            <a:spLocks xmlns:a="http://schemas.openxmlformats.org/drawingml/2006/main" noGrp="1"/>
          </p:cNvSpPr>
          <p:nvPr/>
        </p:nvSpPr>
        <p:spPr>
          <a:xfrm xmlns:a="http://schemas.openxmlformats.org/drawingml/2006/main">
            <a:off x="6096000" y="1714500"/>
            <a:ext cx="2609850" cy="3638550"/>
          </a:xfrm>
          <a:prstGeom xmlns:a="http://schemas.openxmlformats.org/drawingml/2006/main" prst="roundRect">
            <a:avLst>
              <a:gd name="adj" fmla="val 6569"/>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A6FB62-0699-464F-B062-F45C768EBFB0}"/>
              </a:ext>
            </a:extLst>
          </p:cNvPr>
          <p:cNvSpPr>
            <a:spLocks xmlns:a="http://schemas.openxmlformats.org/drawingml/2006/main" noGrp="1"/>
          </p:cNvSpPr>
          <p:nvPr/>
        </p:nvSpPr>
        <p:spPr>
          <a:xfrm xmlns:a="http://schemas.openxmlformats.org/drawingml/2006/main">
            <a:off x="632460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REPORTED SITE EVIDENCE</a:t>
            </a:r>
          </a:p>
        </p:txBody>
      </p:sp>
      <p:sp>
        <p:nvSpPr>
          <p:cNvPr id="16" name="">
            <a:extLst xmlns:a="http://schemas.openxmlformats.org/drawingml/2006/main">
              <a:ext uri="{FF2B5EF4-FFF2-40B4-BE49-F238E27FC236}">
                <a16:creationId xmlns:a16="http://schemas.microsoft.com/office/drawing/2014/main" id="{B869455E-1D34-4539-B9AC-75C40BD9206E}"/>
              </a:ext>
            </a:extLst>
          </p:cNvPr>
          <p:cNvSpPr>
            <a:spLocks xmlns:a="http://schemas.openxmlformats.org/drawingml/2006/main" noGrp="1"/>
          </p:cNvSpPr>
          <p:nvPr/>
        </p:nvSpPr>
        <p:spPr>
          <a:xfrm xmlns:a="http://schemas.openxmlformats.org/drawingml/2006/main">
            <a:off x="632460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Briefs + compare</a:t>
            </a:r>
          </a:p>
        </p:txBody>
      </p:sp>
      <p:sp>
        <p:nvSpPr>
          <p:cNvPr id="17" name="">
            <a:extLst xmlns:a="http://schemas.openxmlformats.org/drawingml/2006/main">
              <a:ext uri="{FF2B5EF4-FFF2-40B4-BE49-F238E27FC236}">
                <a16:creationId xmlns:a16="http://schemas.microsoft.com/office/drawing/2014/main" id="{40353E46-39D2-41F3-8DF1-566DE08216CD}"/>
              </a:ext>
            </a:extLst>
          </p:cNvPr>
          <p:cNvSpPr>
            <a:spLocks xmlns:a="http://schemas.openxmlformats.org/drawingml/2006/main" noGrp="1"/>
          </p:cNvSpPr>
          <p:nvPr/>
        </p:nvSpPr>
        <p:spPr>
          <a:xfrm xmlns:a="http://schemas.openxmlformats.org/drawingml/2006/main">
            <a:off x="632460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Minimized Esri demo evidence, provenance, missingness, and raw comparison. Not scored.</a:t>
            </a:r>
          </a:p>
        </p:txBody>
      </p:sp>
      <p:sp>
        <p:nvSpPr>
          <p:cNvPr id="18" name="">
            <a:extLst xmlns:a="http://schemas.openxmlformats.org/drawingml/2006/main">
              <a:ext uri="{FF2B5EF4-FFF2-40B4-BE49-F238E27FC236}">
                <a16:creationId xmlns:a16="http://schemas.microsoft.com/office/drawing/2014/main" id="{68A09FD8-AA77-4BBC-9320-268EBFF84149}"/>
              </a:ext>
            </a:extLst>
          </p:cNvPr>
          <p:cNvSpPr>
            <a:spLocks xmlns:a="http://schemas.openxmlformats.org/drawingml/2006/main" noGrp="1"/>
          </p:cNvSpPr>
          <p:nvPr/>
        </p:nvSpPr>
        <p:spPr>
          <a:xfrm xmlns:a="http://schemas.openxmlformats.org/drawingml/2006/main">
            <a:off x="8943975" y="1714500"/>
            <a:ext cx="2609850" cy="3638550"/>
          </a:xfrm>
          <a:prstGeom xmlns:a="http://schemas.openxmlformats.org/drawingml/2006/main" prst="roundRect">
            <a:avLst>
              <a:gd name="adj" fmla="val 6569"/>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7A170-9123-4523-9293-1AB63A25E31C}"/>
              </a:ext>
            </a:extLst>
          </p:cNvPr>
          <p:cNvSpPr>
            <a:spLocks xmlns:a="http://schemas.openxmlformats.org/drawingml/2006/main" noGrp="1"/>
          </p:cNvSpPr>
          <p:nvPr/>
        </p:nvSpPr>
        <p:spPr>
          <a:xfrm xmlns:a="http://schemas.openxmlformats.org/drawingml/2006/main">
            <a:off x="917257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9A4040"/>
                </a:solidFill>
                <a:latin typeface="Aptos"/>
                <a:ea typeface="Aptos"/>
                <a:cs typeface="Aptos"/>
              </a:defRPr>
            </a:pPr>
            <a:r>
              <a:rPr sz="1050" b="1">
                <a:solidFill>
                  <a:srgbClr val="9A4040"/>
                </a:solidFill>
                <a:latin typeface="Aptos"/>
                <a:ea typeface="Aptos"/>
                <a:cs typeface="Aptos"/>
              </a:rPr>
              <a:t>HUMAN-GATED TOOLS</a:t>
            </a:r>
          </a:p>
        </p:txBody>
      </p:sp>
      <p:sp>
        <p:nvSpPr>
          <p:cNvPr id="20" name="">
            <a:extLst xmlns:a="http://schemas.openxmlformats.org/drawingml/2006/main">
              <a:ext uri="{FF2B5EF4-FFF2-40B4-BE49-F238E27FC236}">
                <a16:creationId xmlns:a16="http://schemas.microsoft.com/office/drawing/2014/main" id="{5AF8640E-615D-4CA7-87F5-CF8E77227F47}"/>
              </a:ext>
            </a:extLst>
          </p:cNvPr>
          <p:cNvSpPr>
            <a:spLocks xmlns:a="http://schemas.openxmlformats.org/drawingml/2006/main" noGrp="1"/>
          </p:cNvSpPr>
          <p:nvPr/>
        </p:nvSpPr>
        <p:spPr>
          <a:xfrm xmlns:a="http://schemas.openxmlformats.org/drawingml/2006/main">
            <a:off x="917257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Agent + sandbox</a:t>
            </a:r>
          </a:p>
        </p:txBody>
      </p:sp>
      <p:sp>
        <p:nvSpPr>
          <p:cNvPr id="21" name="">
            <a:extLst xmlns:a="http://schemas.openxmlformats.org/drawingml/2006/main">
              <a:ext uri="{FF2B5EF4-FFF2-40B4-BE49-F238E27FC236}">
                <a16:creationId xmlns:a16="http://schemas.microsoft.com/office/drawing/2014/main" id="{C89B21F0-71AD-4163-8E9E-5A42DBC3CDCA}"/>
              </a:ext>
            </a:extLst>
          </p:cNvPr>
          <p:cNvSpPr>
            <a:spLocks xmlns:a="http://schemas.openxmlformats.org/drawingml/2006/main" noGrp="1"/>
          </p:cNvSpPr>
          <p:nvPr/>
        </p:nvSpPr>
        <p:spPr>
          <a:xfrm xmlns:a="http://schemas.openxmlformats.org/drawingml/2006/main">
            <a:off x="917257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The agent pauses on ambiguity; the sandbox tests constraints and weights. No recommendation.</a:t>
            </a:r>
          </a:p>
        </p:txBody>
      </p:sp>
      <p:sp>
        <p:nvSpPr>
          <p:cNvPr id="22" name="">
            <a:extLst xmlns:a="http://schemas.openxmlformats.org/drawingml/2006/main">
              <a:ext uri="{FF2B5EF4-FFF2-40B4-BE49-F238E27FC236}">
                <a16:creationId xmlns:a16="http://schemas.microsoft.com/office/drawing/2014/main" id="{6FE09820-38CB-46F6-88A0-751AA589A8CD}"/>
              </a:ext>
            </a:extLst>
          </p:cNvPr>
          <p:cNvSpPr>
            <a:spLocks xmlns:a="http://schemas.openxmlformats.org/drawingml/2006/main" noGrp="1"/>
          </p:cNvSpPr>
          <p:nvPr/>
        </p:nvSpPr>
        <p:spPr>
          <a:xfrm xmlns:a="http://schemas.openxmlformats.org/drawingml/2006/main">
            <a:off x="1333500" y="5638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30"/>
          </a:bodyPr>
          <a:lstStyle xmlns:a="http://schemas.openxmlformats.org/drawingml/2006/main"/>
          <a:p xmlns:a="http://schemas.openxmlformats.org/drawingml/2006/main">
            <a:pPr algn="ctr">
              <a:buNone/>
              <a:defRPr sz="1875" b="1">
                <a:solidFill>
                  <a:srgbClr val="1E43C8"/>
                </a:solidFill>
                <a:latin typeface="Aptos"/>
                <a:ea typeface="Aptos"/>
                <a:cs typeface="Aptos"/>
              </a:defRPr>
            </a:pPr>
            <a:r>
              <a:rPr sz="1875" b="1">
                <a:solidFill>
                  <a:srgbClr val="1E43C8"/>
                </a:solidFill>
                <a:latin typeface="Aptos"/>
                <a:ea typeface="Aptos"/>
                <a:cs typeface="Aptos"/>
              </a:rPr>
              <a:t>Demonstrable now: traceable workflows and boundaries. Production inputs and ownership remain unresolved.</a:t>
            </a:r>
          </a:p>
        </p:txBody>
      </p:sp>
    </p:spTree>
    <p:extLst>
      <p:ext uri="{BB962C8B-B14F-4D97-AF65-F5344CB8AC3E}">
        <p14:creationId xmlns:p14="http://schemas.microsoft.com/office/powerpoint/2010/main" val="14178780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6FCDAF-377F-42CA-B09E-841EC4236985}"/>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CURRENT DEMO CAPABILITIES</a:t>
            </a:r>
          </a:p>
        </p:txBody>
      </p:sp>
      <p:sp>
        <p:nvSpPr>
          <p:cNvPr id="2" name="">
            <a:extLst xmlns:a="http://schemas.openxmlformats.org/drawingml/2006/main">
              <a:ext uri="{FF2B5EF4-FFF2-40B4-BE49-F238E27FC236}">
                <a16:creationId xmlns:a16="http://schemas.microsoft.com/office/drawing/2014/main" id="{AFC68CFC-C54E-4CA7-9E9E-42EA6F9B784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What the prototype can demonstrate today</a:t>
            </a:r>
          </a:p>
        </p:txBody>
      </p:sp>
      <p:sp>
        <p:nvSpPr>
          <p:cNvPr id="3" name="">
            <a:extLst xmlns:a="http://schemas.openxmlformats.org/drawingml/2006/main">
              <a:ext uri="{FF2B5EF4-FFF2-40B4-BE49-F238E27FC236}">
                <a16:creationId xmlns:a16="http://schemas.microsoft.com/office/drawing/2014/main" id="{D6D04595-10F2-4A51-BC2A-22A6A4477307}"/>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0E76AE-9AA7-442F-8E4B-B4DC4D9D763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and automated tests</a:t>
            </a:r>
          </a:p>
        </p:txBody>
      </p:sp>
      <p:sp>
        <p:nvSpPr>
          <p:cNvPr id="5" name="">
            <a:extLst xmlns:a="http://schemas.openxmlformats.org/drawingml/2006/main">
              <a:ext uri="{FF2B5EF4-FFF2-40B4-BE49-F238E27FC236}">
                <a16:creationId xmlns:a16="http://schemas.microsoft.com/office/drawing/2014/main" id="{31891780-F9A1-4FFB-B663-6D0B90E39C1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E12DA04-103F-4985-A5FC-AAFE4FC65976}"/>
              </a:ext>
            </a:extLst>
          </p:cNvPr>
          <p:cNvSpPr>
            <a:spLocks xmlns:a="http://schemas.openxmlformats.org/drawingml/2006/main" noGrp="1"/>
          </p:cNvSpPr>
          <p:nvPr/>
        </p:nvSpPr>
        <p:spPr>
          <a:xfrm xmlns:a="http://schemas.openxmlformats.org/drawingml/2006/main">
            <a:off x="400050" y="1619250"/>
            <a:ext cx="11391900" cy="819150"/>
          </a:xfrm>
          <a:prstGeom xmlns:a="http://schemas.openxmlformats.org/drawingml/2006/main" prst="roundRect">
            <a:avLst>
              <a:gd name="adj" fmla="val 18605"/>
            </a:avLst>
          </a:prstGeom>
          <a:solidFill xmlns:a="http://schemas.openxmlformats.org/drawingml/2006/main">
            <a:srgbClr val="1321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569777-F9A6-4FE4-800D-B431E0DA5A12}"/>
              </a:ext>
            </a:extLst>
          </p:cNvPr>
          <p:cNvSpPr>
            <a:spLocks xmlns:a="http://schemas.openxmlformats.org/drawingml/2006/main" noGrp="1"/>
          </p:cNvSpPr>
          <p:nvPr/>
        </p:nvSpPr>
        <p:spPr>
          <a:xfrm xmlns:a="http://schemas.openxmlformats.org/drawingml/2006/main">
            <a:off x="6858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MARKETS</a:t>
            </a:r>
          </a:p>
        </p:txBody>
      </p:sp>
      <p:sp>
        <p:nvSpPr>
          <p:cNvPr id="8" name="">
            <a:extLst xmlns:a="http://schemas.openxmlformats.org/drawingml/2006/main">
              <a:ext uri="{FF2B5EF4-FFF2-40B4-BE49-F238E27FC236}">
                <a16:creationId xmlns:a16="http://schemas.microsoft.com/office/drawing/2014/main" id="{6F6BFDFB-2AC6-4663-B06F-60A5C84DC354}"/>
              </a:ext>
            </a:extLst>
          </p:cNvPr>
          <p:cNvSpPr>
            <a:spLocks xmlns:a="http://schemas.openxmlformats.org/drawingml/2006/main" noGrp="1"/>
          </p:cNvSpPr>
          <p:nvPr/>
        </p:nvSpPr>
        <p:spPr>
          <a:xfrm xmlns:a="http://schemas.openxmlformats.org/drawingml/2006/main">
            <a:off x="36957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7"/>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 REVIEW</a:t>
            </a:r>
          </a:p>
        </p:txBody>
      </p:sp>
      <p:sp>
        <p:nvSpPr>
          <p:cNvPr id="9" name="">
            <a:extLst xmlns:a="http://schemas.openxmlformats.org/drawingml/2006/main">
              <a:ext uri="{FF2B5EF4-FFF2-40B4-BE49-F238E27FC236}">
                <a16:creationId xmlns:a16="http://schemas.microsoft.com/office/drawing/2014/main" id="{4DD6114A-D5DC-4077-86E8-32F7EA58F0C7}"/>
              </a:ext>
            </a:extLst>
          </p:cNvPr>
          <p:cNvSpPr>
            <a:spLocks xmlns:a="http://schemas.openxmlformats.org/drawingml/2006/main" noGrp="1"/>
          </p:cNvSpPr>
          <p:nvPr/>
        </p:nvSpPr>
        <p:spPr>
          <a:xfrm xmlns:a="http://schemas.openxmlformats.org/drawingml/2006/main">
            <a:off x="67056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LOCATIONS</a:t>
            </a:r>
          </a:p>
        </p:txBody>
      </p:sp>
      <p:sp>
        <p:nvSpPr>
          <p:cNvPr id="10" name="">
            <a:extLst xmlns:a="http://schemas.openxmlformats.org/drawingml/2006/main">
              <a:ext uri="{FF2B5EF4-FFF2-40B4-BE49-F238E27FC236}">
                <a16:creationId xmlns:a16="http://schemas.microsoft.com/office/drawing/2014/main" id="{CBF603BA-7A30-4197-9F82-DF0550A07FA9}"/>
              </a:ext>
            </a:extLst>
          </p:cNvPr>
          <p:cNvSpPr>
            <a:spLocks xmlns:a="http://schemas.openxmlformats.org/drawingml/2006/main" noGrp="1"/>
          </p:cNvSpPr>
          <p:nvPr/>
        </p:nvSpPr>
        <p:spPr>
          <a:xfrm xmlns:a="http://schemas.openxmlformats.org/drawingml/2006/main">
            <a:off x="9525000" y="18478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FFFFFF"/>
                </a:solidFill>
                <a:latin typeface="Aptos"/>
                <a:ea typeface="Aptos"/>
                <a:cs typeface="Aptos"/>
              </a:defRPr>
            </a:pPr>
            <a:r>
              <a:rPr sz="1350" b="1">
                <a:solidFill>
                  <a:srgbClr val="FFFFFF"/>
                </a:solidFill>
                <a:latin typeface="Aptos"/>
                <a:ea typeface="Aptos"/>
                <a:cs typeface="Aptos"/>
              </a:rPr>
              <a:t>CONTROL</a:t>
            </a:r>
          </a:p>
        </p:txBody>
      </p:sp>
      <p:sp>
        <p:nvSpPr>
          <p:cNvPr id="11" name="">
            <a:extLst xmlns:a="http://schemas.openxmlformats.org/drawingml/2006/main">
              <a:ext uri="{FF2B5EF4-FFF2-40B4-BE49-F238E27FC236}">
                <a16:creationId xmlns:a16="http://schemas.microsoft.com/office/drawing/2014/main" id="{615760A3-2D25-42DE-9B1F-C523F79A3998}"/>
              </a:ext>
            </a:extLst>
          </p:cNvPr>
          <p:cNvSpPr>
            <a:spLocks xmlns:a="http://schemas.openxmlformats.org/drawingml/2006/main" noGrp="1"/>
          </p:cNvSpPr>
          <p:nvPr/>
        </p:nvSpPr>
        <p:spPr>
          <a:xfrm xmlns:a="http://schemas.openxmlformats.org/drawingml/2006/main">
            <a:off x="40005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BA09D-5459-43B7-88C7-83F039DA8DD2}"/>
              </a:ext>
            </a:extLst>
          </p:cNvPr>
          <p:cNvSpPr>
            <a:spLocks xmlns:a="http://schemas.openxmlformats.org/drawingml/2006/main" noGrp="1"/>
          </p:cNvSpPr>
          <p:nvPr/>
        </p:nvSpPr>
        <p:spPr>
          <a:xfrm xmlns:a="http://schemas.openxmlformats.org/drawingml/2006/main">
            <a:off x="62865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Map and context</a:t>
            </a:r>
          </a:p>
        </p:txBody>
      </p:sp>
      <p:sp>
        <p:nvSpPr>
          <p:cNvPr id="13" name="">
            <a:extLst xmlns:a="http://schemas.openxmlformats.org/drawingml/2006/main">
              <a:ext uri="{FF2B5EF4-FFF2-40B4-BE49-F238E27FC236}">
                <a16:creationId xmlns:a16="http://schemas.microsoft.com/office/drawing/2014/main" id="{9D98E6FC-8DBD-4AC6-B2A8-1EDEBD7EDEB7}"/>
              </a:ext>
            </a:extLst>
          </p:cNvPr>
          <p:cNvSpPr>
            <a:spLocks xmlns:a="http://schemas.openxmlformats.org/drawingml/2006/main" noGrp="1"/>
          </p:cNvSpPr>
          <p:nvPr/>
        </p:nvSpPr>
        <p:spPr>
          <a:xfrm xmlns:a="http://schemas.openxmlformats.org/drawingml/2006/main">
            <a:off x="62865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Explore public CBSA boundaries, ACS context, workflow states, and selection.</a:t>
            </a:r>
          </a:p>
        </p:txBody>
      </p:sp>
      <p:sp>
        <p:nvSpPr>
          <p:cNvPr id="14" name="">
            <a:extLst xmlns:a="http://schemas.openxmlformats.org/drawingml/2006/main">
              <a:ext uri="{FF2B5EF4-FFF2-40B4-BE49-F238E27FC236}">
                <a16:creationId xmlns:a16="http://schemas.microsoft.com/office/drawing/2014/main" id="{065AABCF-7D1F-4009-AB32-11EFD12C5A71}"/>
              </a:ext>
            </a:extLst>
          </p:cNvPr>
          <p:cNvSpPr>
            <a:spLocks xmlns:a="http://schemas.openxmlformats.org/drawingml/2006/main" noGrp="1"/>
          </p:cNvSpPr>
          <p:nvPr/>
        </p:nvSpPr>
        <p:spPr>
          <a:xfrm xmlns:a="http://schemas.openxmlformats.org/drawingml/2006/main">
            <a:off x="4219575"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2F2ABA-0B84-463B-8F39-4562ECCAD915}"/>
              </a:ext>
            </a:extLst>
          </p:cNvPr>
          <p:cNvSpPr>
            <a:spLocks xmlns:a="http://schemas.openxmlformats.org/drawingml/2006/main" noGrp="1"/>
          </p:cNvSpPr>
          <p:nvPr/>
        </p:nvSpPr>
        <p:spPr>
          <a:xfrm xmlns:a="http://schemas.openxmlformats.org/drawingml/2006/main">
            <a:off x="4448175"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Synthetic market compare</a:t>
            </a:r>
          </a:p>
        </p:txBody>
      </p:sp>
      <p:sp>
        <p:nvSpPr>
          <p:cNvPr id="16" name="">
            <a:extLst xmlns:a="http://schemas.openxmlformats.org/drawingml/2006/main">
              <a:ext uri="{FF2B5EF4-FFF2-40B4-BE49-F238E27FC236}">
                <a16:creationId xmlns:a16="http://schemas.microsoft.com/office/drawing/2014/main" id="{E4C40C49-1618-464E-B442-C6969DDEFA2B}"/>
              </a:ext>
            </a:extLst>
          </p:cNvPr>
          <p:cNvSpPr>
            <a:spLocks xmlns:a="http://schemas.openxmlformats.org/drawingml/2006/main" noGrp="1"/>
          </p:cNvSpPr>
          <p:nvPr/>
        </p:nvSpPr>
        <p:spPr>
          <a:xfrm xmlns:a="http://schemas.openxmlformats.org/drawingml/2006/main">
            <a:off x="4448175"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same-cohort results with rank, gaps, warnings, and sensitivity.</a:t>
            </a:r>
          </a:p>
        </p:txBody>
      </p:sp>
      <p:sp>
        <p:nvSpPr>
          <p:cNvPr id="17" name="">
            <a:extLst xmlns:a="http://schemas.openxmlformats.org/drawingml/2006/main">
              <a:ext uri="{FF2B5EF4-FFF2-40B4-BE49-F238E27FC236}">
                <a16:creationId xmlns:a16="http://schemas.microsoft.com/office/drawing/2014/main" id="{1287D8FE-B772-43F4-A143-DE8913916895}"/>
              </a:ext>
            </a:extLst>
          </p:cNvPr>
          <p:cNvSpPr>
            <a:spLocks xmlns:a="http://schemas.openxmlformats.org/drawingml/2006/main" noGrp="1"/>
          </p:cNvSpPr>
          <p:nvPr/>
        </p:nvSpPr>
        <p:spPr>
          <a:xfrm xmlns:a="http://schemas.openxmlformats.org/drawingml/2006/main">
            <a:off x="803910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7A19EF-0290-463B-B7B4-F39725AF6107}"/>
              </a:ext>
            </a:extLst>
          </p:cNvPr>
          <p:cNvSpPr>
            <a:spLocks xmlns:a="http://schemas.openxmlformats.org/drawingml/2006/main" noGrp="1"/>
          </p:cNvSpPr>
          <p:nvPr/>
        </p:nvSpPr>
        <p:spPr>
          <a:xfrm xmlns:a="http://schemas.openxmlformats.org/drawingml/2006/main">
            <a:off x="826770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Bounded Ask AI</a:t>
            </a:r>
          </a:p>
        </p:txBody>
      </p:sp>
      <p:sp>
        <p:nvSpPr>
          <p:cNvPr id="19" name="">
            <a:extLst xmlns:a="http://schemas.openxmlformats.org/drawingml/2006/main">
              <a:ext uri="{FF2B5EF4-FFF2-40B4-BE49-F238E27FC236}">
                <a16:creationId xmlns:a16="http://schemas.microsoft.com/office/drawing/2014/main" id="{4985F1AB-3FAF-47B6-8F4C-D034AA300571}"/>
              </a:ext>
            </a:extLst>
          </p:cNvPr>
          <p:cNvSpPr>
            <a:spLocks xmlns:a="http://schemas.openxmlformats.org/drawingml/2006/main" noGrp="1"/>
          </p:cNvSpPr>
          <p:nvPr/>
        </p:nvSpPr>
        <p:spPr>
          <a:xfrm xmlns:a="http://schemas.openxmlformats.org/drawingml/2006/main">
            <a:off x="826770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Explain supplied structured results without changing scores or choosing a market.</a:t>
            </a:r>
          </a:p>
        </p:txBody>
      </p:sp>
      <p:sp>
        <p:nvSpPr>
          <p:cNvPr id="20" name="">
            <a:extLst xmlns:a="http://schemas.openxmlformats.org/drawingml/2006/main">
              <a:ext uri="{FF2B5EF4-FFF2-40B4-BE49-F238E27FC236}">
                <a16:creationId xmlns:a16="http://schemas.microsoft.com/office/drawing/2014/main" id="{5F739610-1BB9-4524-AD73-7D2E7D88216F}"/>
              </a:ext>
            </a:extLst>
          </p:cNvPr>
          <p:cNvSpPr>
            <a:spLocks xmlns:a="http://schemas.openxmlformats.org/drawingml/2006/main" noGrp="1"/>
          </p:cNvSpPr>
          <p:nvPr/>
        </p:nvSpPr>
        <p:spPr>
          <a:xfrm xmlns:a="http://schemas.openxmlformats.org/drawingml/2006/main">
            <a:off x="40005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6A128A-CCD8-4C25-BA97-97B3FA0D1AA2}"/>
              </a:ext>
            </a:extLst>
          </p:cNvPr>
          <p:cNvSpPr>
            <a:spLocks xmlns:a="http://schemas.openxmlformats.org/drawingml/2006/main" noGrp="1"/>
          </p:cNvSpPr>
          <p:nvPr/>
        </p:nvSpPr>
        <p:spPr>
          <a:xfrm xmlns:a="http://schemas.openxmlformats.org/drawingml/2006/main">
            <a:off x="62865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Candidate briefs</a:t>
            </a:r>
          </a:p>
        </p:txBody>
      </p:sp>
      <p:sp>
        <p:nvSpPr>
          <p:cNvPr id="22" name="">
            <a:extLst xmlns:a="http://schemas.openxmlformats.org/drawingml/2006/main">
              <a:ext uri="{FF2B5EF4-FFF2-40B4-BE49-F238E27FC236}">
                <a16:creationId xmlns:a16="http://schemas.microsoft.com/office/drawing/2014/main" id="{37D9D443-7DED-48C9-89F4-4E1E9E788DFD}"/>
              </a:ext>
            </a:extLst>
          </p:cNvPr>
          <p:cNvSpPr>
            <a:spLocks xmlns:a="http://schemas.openxmlformats.org/drawingml/2006/main" noGrp="1"/>
          </p:cNvSpPr>
          <p:nvPr/>
        </p:nvSpPr>
        <p:spPr>
          <a:xfrm xmlns:a="http://schemas.openxmlformats.org/drawingml/2006/main">
            <a:off x="62865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Prepare source-linked drafts and show missing or conflicting demo evidence.</a:t>
            </a:r>
          </a:p>
        </p:txBody>
      </p:sp>
      <p:sp>
        <p:nvSpPr>
          <p:cNvPr id="23" name="">
            <a:extLst xmlns:a="http://schemas.openxmlformats.org/drawingml/2006/main">
              <a:ext uri="{FF2B5EF4-FFF2-40B4-BE49-F238E27FC236}">
                <a16:creationId xmlns:a16="http://schemas.microsoft.com/office/drawing/2014/main" id="{4CE77BDE-4A89-41F4-BCB2-434E5BDE78F8}"/>
              </a:ext>
            </a:extLst>
          </p:cNvPr>
          <p:cNvSpPr>
            <a:spLocks xmlns:a="http://schemas.openxmlformats.org/drawingml/2006/main" noGrp="1"/>
          </p:cNvSpPr>
          <p:nvPr/>
        </p:nvSpPr>
        <p:spPr>
          <a:xfrm xmlns:a="http://schemas.openxmlformats.org/drawingml/2006/main">
            <a:off x="4219575"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E711EE-9429-4C2A-B489-38311138D608}"/>
              </a:ext>
            </a:extLst>
          </p:cNvPr>
          <p:cNvSpPr>
            <a:spLocks xmlns:a="http://schemas.openxmlformats.org/drawingml/2006/main" noGrp="1"/>
          </p:cNvSpPr>
          <p:nvPr/>
        </p:nvSpPr>
        <p:spPr>
          <a:xfrm xmlns:a="http://schemas.openxmlformats.org/drawingml/2006/main">
            <a:off x="4448175"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Raw location compare</a:t>
            </a:r>
          </a:p>
        </p:txBody>
      </p:sp>
      <p:sp>
        <p:nvSpPr>
          <p:cNvPr id="25" name="">
            <a:extLst xmlns:a="http://schemas.openxmlformats.org/drawingml/2006/main">
              <a:ext uri="{FF2B5EF4-FFF2-40B4-BE49-F238E27FC236}">
                <a16:creationId xmlns:a16="http://schemas.microsoft.com/office/drawing/2014/main" id="{7577CA3A-0F4E-47CE-8DEB-40A9403C29DA}"/>
              </a:ext>
            </a:extLst>
          </p:cNvPr>
          <p:cNvSpPr>
            <a:spLocks xmlns:a="http://schemas.openxmlformats.org/drawingml/2006/main" noGrp="1"/>
          </p:cNvSpPr>
          <p:nvPr/>
        </p:nvSpPr>
        <p:spPr>
          <a:xfrm xmlns:a="http://schemas.openxmlformats.org/drawingml/2006/main">
            <a:off x="4448175"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audited candidates field by field, with no composite or winner.</a:t>
            </a:r>
          </a:p>
        </p:txBody>
      </p:sp>
      <p:sp>
        <p:nvSpPr>
          <p:cNvPr id="26" name="">
            <a:extLst xmlns:a="http://schemas.openxmlformats.org/drawingml/2006/main">
              <a:ext uri="{FF2B5EF4-FFF2-40B4-BE49-F238E27FC236}">
                <a16:creationId xmlns:a16="http://schemas.microsoft.com/office/drawing/2014/main" id="{2AE12088-D006-49DC-BAC4-321FB0799009}"/>
              </a:ext>
            </a:extLst>
          </p:cNvPr>
          <p:cNvSpPr>
            <a:spLocks xmlns:a="http://schemas.openxmlformats.org/drawingml/2006/main" noGrp="1"/>
          </p:cNvSpPr>
          <p:nvPr/>
        </p:nvSpPr>
        <p:spPr>
          <a:xfrm xmlns:a="http://schemas.openxmlformats.org/drawingml/2006/main">
            <a:off x="803910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DB82333-CA85-4E20-867D-1A3B69ADB622}"/>
              </a:ext>
            </a:extLst>
          </p:cNvPr>
          <p:cNvSpPr>
            <a:spLocks xmlns:a="http://schemas.openxmlformats.org/drawingml/2006/main" noGrp="1"/>
          </p:cNvSpPr>
          <p:nvPr/>
        </p:nvSpPr>
        <p:spPr>
          <a:xfrm xmlns:a="http://schemas.openxmlformats.org/drawingml/2006/main">
            <a:off x="826770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Sandbox + Seattle</a:t>
            </a:r>
          </a:p>
        </p:txBody>
      </p:sp>
      <p:sp>
        <p:nvSpPr>
          <p:cNvPr id="28" name="">
            <a:extLst xmlns:a="http://schemas.openxmlformats.org/drawingml/2006/main">
              <a:ext uri="{FF2B5EF4-FFF2-40B4-BE49-F238E27FC236}">
                <a16:creationId xmlns:a16="http://schemas.microsoft.com/office/drawing/2014/main" id="{F0BEDC39-4185-40B2-B3A5-0282CDE005F2}"/>
              </a:ext>
            </a:extLst>
          </p:cNvPr>
          <p:cNvSpPr>
            <a:spLocks xmlns:a="http://schemas.openxmlformats.org/drawingml/2006/main" noGrp="1"/>
          </p:cNvSpPr>
          <p:nvPr/>
        </p:nvSpPr>
        <p:spPr>
          <a:xfrm xmlns:a="http://schemas.openxmlformats.org/drawingml/2006/main">
            <a:off x="826770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Test synthetic weights and constraints; run one human-confirmed synthetic deep dive.</a:t>
            </a:r>
          </a:p>
        </p:txBody>
      </p:sp>
    </p:spTree>
    <p:extLst>
      <p:ext uri="{BB962C8B-B14F-4D97-AF65-F5344CB8AC3E}">
        <p14:creationId xmlns:p14="http://schemas.microsoft.com/office/powerpoint/2010/main" val="10332278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2592F96-0EE8-41DD-AD31-C6021EE989E4}"/>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LIVE DEMO</a:t>
            </a:r>
          </a:p>
        </p:txBody>
      </p:sp>
      <p:sp>
        <p:nvSpPr>
          <p:cNvPr id="2" name="">
            <a:extLst xmlns:a="http://schemas.openxmlformats.org/drawingml/2006/main">
              <a:ext uri="{FF2B5EF4-FFF2-40B4-BE49-F238E27FC236}">
                <a16:creationId xmlns:a16="http://schemas.microsoft.com/office/drawing/2014/main" id="{E674DBC7-6E33-4724-8ECB-A8B80DD4EF2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42"/>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seven-minute demo shows what the prototype can do today</a:t>
            </a:r>
          </a:p>
        </p:txBody>
      </p:sp>
      <p:sp>
        <p:nvSpPr>
          <p:cNvPr id="3" name="">
            <a:extLst xmlns:a="http://schemas.openxmlformats.org/drawingml/2006/main">
              <a:ext uri="{FF2B5EF4-FFF2-40B4-BE49-F238E27FC236}">
                <a16:creationId xmlns:a16="http://schemas.microsoft.com/office/drawing/2014/main" id="{E16340C0-B064-4033-864E-00A18F22D4D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9FC375-17F9-4FB9-B3BC-740284050E4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local prototype; user workflows; automated tests</a:t>
            </a:r>
          </a:p>
        </p:txBody>
      </p:sp>
      <p:sp>
        <p:nvSpPr>
          <p:cNvPr id="5" name="">
            <a:extLst xmlns:a="http://schemas.openxmlformats.org/drawingml/2006/main">
              <a:ext uri="{FF2B5EF4-FFF2-40B4-BE49-F238E27FC236}">
                <a16:creationId xmlns:a16="http://schemas.microsoft.com/office/drawing/2014/main" id="{841E72F8-F91C-4AB1-A276-12AF5C3566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7F2238E-CA6B-4F68-907B-54801E8BCDF5}"/>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EA097-F3F8-4B6F-8B20-13880193029C}"/>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CCE9B40E-6B38-4B9B-84D8-548D14E3420E}"/>
              </a:ext>
            </a:extLst>
          </p:cNvPr>
          <p:cNvSpPr>
            <a:spLocks xmlns:a="http://schemas.openxmlformats.org/drawingml/2006/main" noGrp="1"/>
          </p:cNvSpPr>
          <p:nvPr/>
        </p:nvSpPr>
        <p:spPr>
          <a:xfrm xmlns:a="http://schemas.openxmlformats.org/drawingml/2006/main">
            <a:off x="1485900" y="15525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Markets workspace</a:t>
            </a:r>
          </a:p>
        </p:txBody>
      </p:sp>
      <p:sp>
        <p:nvSpPr>
          <p:cNvPr id="9" name="">
            <a:extLst xmlns:a="http://schemas.openxmlformats.org/drawingml/2006/main">
              <a:ext uri="{FF2B5EF4-FFF2-40B4-BE49-F238E27FC236}">
                <a16:creationId xmlns:a16="http://schemas.microsoft.com/office/drawing/2014/main" id="{6285EDDD-F477-4996-8726-C11B7AFB8803}"/>
              </a:ext>
            </a:extLst>
          </p:cNvPr>
          <p:cNvSpPr>
            <a:spLocks xmlns:a="http://schemas.openxmlformats.org/drawingml/2006/main" noGrp="1"/>
          </p:cNvSpPr>
          <p:nvPr/>
        </p:nvSpPr>
        <p:spPr>
          <a:xfrm xmlns:a="http://schemas.openxmlformats.org/drawingml/2006/main">
            <a:off x="4762500" y="15525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Select a market; show public context, synthetic score, and workflow-state separation</a:t>
            </a:r>
          </a:p>
        </p:txBody>
      </p:sp>
      <p:sp>
        <p:nvSpPr>
          <p:cNvPr id="10" name="">
            <a:extLst xmlns:a="http://schemas.openxmlformats.org/drawingml/2006/main">
              <a:ext uri="{FF2B5EF4-FFF2-40B4-BE49-F238E27FC236}">
                <a16:creationId xmlns:a16="http://schemas.microsoft.com/office/drawing/2014/main" id="{EFE7680A-BF2C-4EE0-BEBE-A32956369C77}"/>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6B2A1A-FBAF-44DE-A325-DD621D0AFA33}"/>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210A367-79B3-4AE8-AE7A-B6D1DB29520A}"/>
              </a:ext>
            </a:extLst>
          </p:cNvPr>
          <p:cNvSpPr>
            <a:spLocks xmlns:a="http://schemas.openxmlformats.org/drawingml/2006/main" noGrp="1"/>
          </p:cNvSpPr>
          <p:nvPr/>
        </p:nvSpPr>
        <p:spPr>
          <a:xfrm xmlns:a="http://schemas.openxmlformats.org/drawingml/2006/main">
            <a:off x="1485900" y="24288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 comparison</a:t>
            </a:r>
          </a:p>
        </p:txBody>
      </p:sp>
      <p:sp>
        <p:nvSpPr>
          <p:cNvPr id="13" name="">
            <a:extLst xmlns:a="http://schemas.openxmlformats.org/drawingml/2006/main">
              <a:ext uri="{FF2B5EF4-FFF2-40B4-BE49-F238E27FC236}">
                <a16:creationId xmlns:a16="http://schemas.microsoft.com/office/drawing/2014/main" id="{D1E161BA-91C3-4C42-BCE9-88BF30776DBC}"/>
              </a:ext>
            </a:extLst>
          </p:cNvPr>
          <p:cNvSpPr>
            <a:spLocks xmlns:a="http://schemas.openxmlformats.org/drawingml/2006/main" noGrp="1"/>
          </p:cNvSpPr>
          <p:nvPr/>
        </p:nvSpPr>
        <p:spPr>
          <a:xfrm xmlns:a="http://schemas.openxmlformats.org/drawingml/2006/main">
            <a:off x="4762500" y="24288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Add two same-cohort markets; inspect subscores, missingness, sensitivity, and Ask AI</a:t>
            </a:r>
          </a:p>
        </p:txBody>
      </p:sp>
      <p:sp>
        <p:nvSpPr>
          <p:cNvPr id="14" name="">
            <a:extLst xmlns:a="http://schemas.openxmlformats.org/drawingml/2006/main">
              <a:ext uri="{FF2B5EF4-FFF2-40B4-BE49-F238E27FC236}">
                <a16:creationId xmlns:a16="http://schemas.microsoft.com/office/drawing/2014/main" id="{F46E2D66-A242-4045-94DA-C18D3AAE8F58}"/>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55F5A4-B6AF-4D40-B43D-B4776C15394F}"/>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6C47BC9E-D8B1-43FA-9C39-4079CDFF17E7}"/>
              </a:ext>
            </a:extLst>
          </p:cNvPr>
          <p:cNvSpPr>
            <a:spLocks xmlns:a="http://schemas.openxmlformats.org/drawingml/2006/main" noGrp="1"/>
          </p:cNvSpPr>
          <p:nvPr/>
        </p:nvSpPr>
        <p:spPr>
          <a:xfrm xmlns:a="http://schemas.openxmlformats.org/drawingml/2006/main">
            <a:off x="1485900" y="33051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Seattle deep dive</a:t>
            </a:r>
          </a:p>
        </p:txBody>
      </p:sp>
      <p:sp>
        <p:nvSpPr>
          <p:cNvPr id="17" name="">
            <a:extLst xmlns:a="http://schemas.openxmlformats.org/drawingml/2006/main">
              <a:ext uri="{FF2B5EF4-FFF2-40B4-BE49-F238E27FC236}">
                <a16:creationId xmlns:a16="http://schemas.microsoft.com/office/drawing/2014/main" id="{904EFD15-C6A7-4E04-B28E-C2A029C80069}"/>
              </a:ext>
            </a:extLst>
          </p:cNvPr>
          <p:cNvSpPr>
            <a:spLocks xmlns:a="http://schemas.openxmlformats.org/drawingml/2006/main" noGrp="1"/>
          </p:cNvSpPr>
          <p:nvPr/>
        </p:nvSpPr>
        <p:spPr>
          <a:xfrm xmlns:a="http://schemas.openxmlformats.org/drawingml/2006/main">
            <a:off x="4762500" y="33051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31"/>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Confirm synthetic segmentation before comparison; show tool activity and evidence receipts</a:t>
            </a:r>
          </a:p>
        </p:txBody>
      </p:sp>
      <p:sp>
        <p:nvSpPr>
          <p:cNvPr id="18" name="">
            <a:extLst xmlns:a="http://schemas.openxmlformats.org/drawingml/2006/main">
              <a:ext uri="{FF2B5EF4-FFF2-40B4-BE49-F238E27FC236}">
                <a16:creationId xmlns:a16="http://schemas.microsoft.com/office/drawing/2014/main" id="{3FBFDA91-77C8-4D1E-8FE6-12F073B2F6E9}"/>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44139C-2A21-4A5F-B357-641A794D1D58}"/>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652A535D-491D-44D8-9422-4920856FC41C}"/>
              </a:ext>
            </a:extLst>
          </p:cNvPr>
          <p:cNvSpPr>
            <a:spLocks xmlns:a="http://schemas.openxmlformats.org/drawingml/2006/main" noGrp="1"/>
          </p:cNvSpPr>
          <p:nvPr/>
        </p:nvSpPr>
        <p:spPr>
          <a:xfrm xmlns:a="http://schemas.openxmlformats.org/drawingml/2006/main">
            <a:off x="1485900" y="4181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Candidate briefs</a:t>
            </a:r>
          </a:p>
        </p:txBody>
      </p:sp>
      <p:sp>
        <p:nvSpPr>
          <p:cNvPr id="21" name="">
            <a:extLst xmlns:a="http://schemas.openxmlformats.org/drawingml/2006/main">
              <a:ext uri="{FF2B5EF4-FFF2-40B4-BE49-F238E27FC236}">
                <a16:creationId xmlns:a16="http://schemas.microsoft.com/office/drawing/2014/main" id="{AF3F7939-FEE6-4721-BA25-9E88E3988562}"/>
              </a:ext>
            </a:extLst>
          </p:cNvPr>
          <p:cNvSpPr>
            <a:spLocks xmlns:a="http://schemas.openxmlformats.org/drawingml/2006/main" noGrp="1"/>
          </p:cNvSpPr>
          <p:nvPr/>
        </p:nvSpPr>
        <p:spPr>
          <a:xfrm xmlns:a="http://schemas.openxmlformats.org/drawingml/2006/main">
            <a:off x="4762500" y="41814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845"/>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Prepare a bounded brief, then compare audited locations without a winner or recommendation</a:t>
            </a:r>
          </a:p>
        </p:txBody>
      </p:sp>
      <p:sp>
        <p:nvSpPr>
          <p:cNvPr id="22" name="">
            <a:extLst xmlns:a="http://schemas.openxmlformats.org/drawingml/2006/main">
              <a:ext uri="{FF2B5EF4-FFF2-40B4-BE49-F238E27FC236}">
                <a16:creationId xmlns:a16="http://schemas.microsoft.com/office/drawing/2014/main" id="{A88F2160-350F-4BAE-82C1-902ED016E9B9}"/>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oundRect">
            <a:avLst>
              <a:gd name="adj" fmla="val 22222"/>
            </a:avLst>
          </a:prstGeom>
          <a:solidFill xmlns:a="http://schemas.openxmlformats.org/drawingml/2006/main">
            <a:srgbClr val="347A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97CFF4-6CC0-4CC0-A501-BE73903280A1}"/>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5B8DA6B-9AD6-4D4E-929E-84E76998057C}"/>
              </a:ext>
            </a:extLst>
          </p:cNvPr>
          <p:cNvSpPr>
            <a:spLocks xmlns:a="http://schemas.openxmlformats.org/drawingml/2006/main" noGrp="1"/>
          </p:cNvSpPr>
          <p:nvPr/>
        </p:nvSpPr>
        <p:spPr>
          <a:xfrm xmlns:a="http://schemas.openxmlformats.org/drawingml/2006/main">
            <a:off x="1485900" y="50577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Sandbox + boundary</a:t>
            </a:r>
          </a:p>
        </p:txBody>
      </p:sp>
      <p:sp>
        <p:nvSpPr>
          <p:cNvPr id="25" name="">
            <a:extLst xmlns:a="http://schemas.openxmlformats.org/drawingml/2006/main">
              <a:ext uri="{FF2B5EF4-FFF2-40B4-BE49-F238E27FC236}">
                <a16:creationId xmlns:a16="http://schemas.microsoft.com/office/drawing/2014/main" id="{51686262-87AD-44B0-BB97-F0D233BC8C02}"/>
              </a:ext>
            </a:extLst>
          </p:cNvPr>
          <p:cNvSpPr>
            <a:spLocks xmlns:a="http://schemas.openxmlformats.org/drawingml/2006/main" noGrp="1"/>
          </p:cNvSpPr>
          <p:nvPr/>
        </p:nvSpPr>
        <p:spPr>
          <a:xfrm xmlns:a="http://schemas.openxmlformats.org/drawingml/2006/main">
            <a:off x="4762500" y="50577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26"/>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Adjust synthetic weights and constraints; name what is non-scored, process-local, or unresolved</a:t>
            </a:r>
          </a:p>
        </p:txBody>
      </p:sp>
    </p:spTree>
    <p:extLst>
      <p:ext uri="{BB962C8B-B14F-4D97-AF65-F5344CB8AC3E}">
        <p14:creationId xmlns:p14="http://schemas.microsoft.com/office/powerpoint/2010/main" val="1570908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81473F-28FD-4EDF-BBB7-F4094496879C}"/>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DIRECTION</a:t>
            </a:r>
          </a:p>
        </p:txBody>
      </p:sp>
      <p:sp>
        <p:nvSpPr>
          <p:cNvPr id="2" name="">
            <a:extLst xmlns:a="http://schemas.openxmlformats.org/drawingml/2006/main">
              <a:ext uri="{FF2B5EF4-FFF2-40B4-BE49-F238E27FC236}">
                <a16:creationId xmlns:a16="http://schemas.microsoft.com/office/drawing/2014/main" id="{04FBAC3C-B014-44EA-8759-1B53733E6D42}"/>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Thinking bigger: a Market Opportunity Platform</a:t>
            </a:r>
          </a:p>
        </p:txBody>
      </p:sp>
      <p:sp>
        <p:nvSpPr>
          <p:cNvPr id="3" name="">
            <a:extLst xmlns:a="http://schemas.openxmlformats.org/drawingml/2006/main">
              <a:ext uri="{FF2B5EF4-FFF2-40B4-BE49-F238E27FC236}">
                <a16:creationId xmlns:a16="http://schemas.microsoft.com/office/drawing/2014/main" id="{3772D625-0E87-42AD-A135-74F48924A46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5EB327-9774-4920-85C3-DB49205E4B8F}"/>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a:t>
            </a:r>
          </a:p>
        </p:txBody>
      </p:sp>
      <p:sp>
        <p:nvSpPr>
          <p:cNvPr id="5" name="">
            <a:extLst xmlns:a="http://schemas.openxmlformats.org/drawingml/2006/main">
              <a:ext uri="{FF2B5EF4-FFF2-40B4-BE49-F238E27FC236}">
                <a16:creationId xmlns:a16="http://schemas.microsoft.com/office/drawing/2014/main" id="{8C024F67-35E1-41A1-82BF-27E15EF1533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D765BED-EA33-40D9-9D46-7202819594B3}"/>
              </a:ext>
            </a:extLst>
          </p:cNvPr>
          <p:cNvSpPr>
            <a:spLocks xmlns:a="http://schemas.openxmlformats.org/drawingml/2006/main" noGrp="1"/>
          </p:cNvSpPr>
          <p:nvPr/>
        </p:nvSpPr>
        <p:spPr>
          <a:xfrm xmlns:a="http://schemas.openxmlformats.org/drawingml/2006/main">
            <a:off x="400050" y="16573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625" b="1">
                <a:solidFill>
                  <a:srgbClr val="1E43C8"/>
                </a:solidFill>
                <a:latin typeface="Aptos"/>
                <a:ea typeface="Aptos"/>
                <a:cs typeface="Aptos"/>
              </a:defRPr>
            </a:pPr>
            <a:r>
              <a:rPr sz="2625" b="1">
                <a:solidFill>
                  <a:srgbClr val="1E43C8"/>
                </a:solidFill>
                <a:latin typeface="Aptos"/>
                <a:ea typeface="Aptos"/>
                <a:cs typeface="Aptos"/>
              </a:rPr>
              <a:t>Market Opportunity Platform</a:t>
            </a:r>
          </a:p>
        </p:txBody>
      </p:sp>
      <p:sp>
        <p:nvSpPr>
          <p:cNvPr id="7" name="">
            <a:extLst xmlns:a="http://schemas.openxmlformats.org/drawingml/2006/main">
              <a:ext uri="{FF2B5EF4-FFF2-40B4-BE49-F238E27FC236}">
                <a16:creationId xmlns:a16="http://schemas.microsoft.com/office/drawing/2014/main" id="{04B121C2-CDD5-43F8-BB39-5ABF8A4AF73B}"/>
              </a:ext>
            </a:extLst>
          </p:cNvPr>
          <p:cNvSpPr>
            <a:spLocks xmlns:a="http://schemas.openxmlformats.org/drawingml/2006/main" noGrp="1"/>
          </p:cNvSpPr>
          <p:nvPr/>
        </p:nvSpPr>
        <p:spPr>
          <a:xfrm xmlns:a="http://schemas.openxmlformats.org/drawingml/2006/main">
            <a:off x="400050" y="2362200"/>
            <a:ext cx="7239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3213A"/>
                </a:solidFill>
                <a:latin typeface="Aptos"/>
                <a:ea typeface="Aptos"/>
                <a:cs typeface="Aptos"/>
              </a:defRPr>
            </a:pPr>
            <a:r>
              <a:rPr sz="2325" b="1">
                <a:solidFill>
                  <a:srgbClr val="13213A"/>
                </a:solidFill>
                <a:latin typeface="Aptos"/>
                <a:ea typeface="Aptos"/>
                <a:cs typeface="Aptos"/>
              </a:rPr>
              <a:t>would automate nationwide screening, focus deeper analysis on promising submarkets, connect viable properties, and prepare a human-reviewed execution queue.</a:t>
            </a:r>
          </a:p>
        </p:txBody>
      </p:sp>
      <p:sp>
        <p:nvSpPr>
          <p:cNvPr id="8" name="">
            <a:extLst xmlns:a="http://schemas.openxmlformats.org/drawingml/2006/main">
              <a:ext uri="{FF2B5EF4-FFF2-40B4-BE49-F238E27FC236}">
                <a16:creationId xmlns:a16="http://schemas.microsoft.com/office/drawing/2014/main" id="{40D8D9B3-EF0F-4589-96D8-69E3DC45D750}"/>
              </a:ext>
            </a:extLst>
          </p:cNvPr>
          <p:cNvSpPr>
            <a:spLocks xmlns:a="http://schemas.openxmlformats.org/drawingml/2006/main" noGrp="1"/>
          </p:cNvSpPr>
          <p:nvPr/>
        </p:nvSpPr>
        <p:spPr>
          <a:xfrm xmlns:a="http://schemas.openxmlformats.org/drawingml/2006/main">
            <a:off x="8305800" y="1638300"/>
            <a:ext cx="3486150" cy="3733800"/>
          </a:xfrm>
          <a:prstGeom xmlns:a="http://schemas.openxmlformats.org/drawingml/2006/main" prst="roundRect">
            <a:avLst>
              <a:gd name="adj" fmla="val 6011"/>
            </a:avLst>
          </a:prstGeom>
          <a:solidFill xmlns:a="http://schemas.openxmlformats.org/drawingml/2006/main">
            <a:srgbClr val="EDF3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3F6C76-4B60-487D-8267-C227015B3D7D}"/>
              </a:ext>
            </a:extLst>
          </p:cNvPr>
          <p:cNvSpPr>
            <a:spLocks xmlns:a="http://schemas.openxmlformats.org/drawingml/2006/main" noGrp="1"/>
          </p:cNvSpPr>
          <p:nvPr/>
        </p:nvSpPr>
        <p:spPr>
          <a:xfrm xmlns:a="http://schemas.openxmlformats.org/drawingml/2006/main">
            <a:off x="8591550" y="1962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IT WOULD HELP TEAMS</a:t>
            </a:r>
          </a:p>
        </p:txBody>
      </p:sp>
      <p:sp>
        <p:nvSpPr>
          <p:cNvPr id="10" name="">
            <a:extLst xmlns:a="http://schemas.openxmlformats.org/drawingml/2006/main">
              <a:ext uri="{FF2B5EF4-FFF2-40B4-BE49-F238E27FC236}">
                <a16:creationId xmlns:a16="http://schemas.microsoft.com/office/drawing/2014/main" id="{DEA7C227-C048-46B2-9812-C2110E18EE45}"/>
              </a:ext>
            </a:extLst>
          </p:cNvPr>
          <p:cNvSpPr>
            <a:spLocks xmlns:a="http://schemas.openxmlformats.org/drawingml/2006/main" noGrp="1"/>
          </p:cNvSpPr>
          <p:nvPr/>
        </p:nvSpPr>
        <p:spPr>
          <a:xfrm xmlns:a="http://schemas.openxmlformats.org/drawingml/2006/main">
            <a:off x="8591550" y="254317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3B3DD8-1CBC-4169-981E-EB90C3F8B90E}"/>
              </a:ext>
            </a:extLst>
          </p:cNvPr>
          <p:cNvSpPr>
            <a:spLocks xmlns:a="http://schemas.openxmlformats.org/drawingml/2006/main" noGrp="1"/>
          </p:cNvSpPr>
          <p:nvPr/>
        </p:nvSpPr>
        <p:spPr>
          <a:xfrm xmlns:a="http://schemas.openxmlformats.org/drawingml/2006/main">
            <a:off x="8820150" y="2476500"/>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Scan nationally</a:t>
            </a:r>
          </a:p>
        </p:txBody>
      </p:sp>
      <p:sp>
        <p:nvSpPr>
          <p:cNvPr id="12" name="">
            <a:extLst xmlns:a="http://schemas.openxmlformats.org/drawingml/2006/main">
              <a:ext uri="{FF2B5EF4-FFF2-40B4-BE49-F238E27FC236}">
                <a16:creationId xmlns:a16="http://schemas.microsoft.com/office/drawing/2014/main" id="{96209D78-743C-4E37-8853-C16CA74439CC}"/>
              </a:ext>
            </a:extLst>
          </p:cNvPr>
          <p:cNvSpPr>
            <a:spLocks xmlns:a="http://schemas.openxmlformats.org/drawingml/2006/main" noGrp="1"/>
          </p:cNvSpPr>
          <p:nvPr/>
        </p:nvSpPr>
        <p:spPr>
          <a:xfrm xmlns:a="http://schemas.openxmlformats.org/drawingml/2006/main">
            <a:off x="8591550" y="3119438"/>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7D13E9-7C8D-4D01-BFC0-8A1CA210F644}"/>
              </a:ext>
            </a:extLst>
          </p:cNvPr>
          <p:cNvSpPr>
            <a:spLocks xmlns:a="http://schemas.openxmlformats.org/drawingml/2006/main" noGrp="1"/>
          </p:cNvSpPr>
          <p:nvPr/>
        </p:nvSpPr>
        <p:spPr>
          <a:xfrm xmlns:a="http://schemas.openxmlformats.org/drawingml/2006/main">
            <a:off x="8820150" y="3052763"/>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Drill down selectively</a:t>
            </a:r>
          </a:p>
        </p:txBody>
      </p:sp>
      <p:sp>
        <p:nvSpPr>
          <p:cNvPr id="14" name="">
            <a:extLst xmlns:a="http://schemas.openxmlformats.org/drawingml/2006/main">
              <a:ext uri="{FF2B5EF4-FFF2-40B4-BE49-F238E27FC236}">
                <a16:creationId xmlns:a16="http://schemas.microsoft.com/office/drawing/2014/main" id="{CF093611-712A-41FF-B14C-3DBA470AE16C}"/>
              </a:ext>
            </a:extLst>
          </p:cNvPr>
          <p:cNvSpPr>
            <a:spLocks xmlns:a="http://schemas.openxmlformats.org/drawingml/2006/main" noGrp="1"/>
          </p:cNvSpPr>
          <p:nvPr/>
        </p:nvSpPr>
        <p:spPr>
          <a:xfrm xmlns:a="http://schemas.openxmlformats.org/drawingml/2006/main">
            <a:off x="8591550" y="36957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C7D60D-6D45-4DD8-861A-DC097354E1B3}"/>
              </a:ext>
            </a:extLst>
          </p:cNvPr>
          <p:cNvSpPr>
            <a:spLocks xmlns:a="http://schemas.openxmlformats.org/drawingml/2006/main" noGrp="1"/>
          </p:cNvSpPr>
          <p:nvPr/>
        </p:nvSpPr>
        <p:spPr>
          <a:xfrm xmlns:a="http://schemas.openxmlformats.org/drawingml/2006/main">
            <a:off x="8820150" y="3629025"/>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Compare feasibility</a:t>
            </a:r>
          </a:p>
        </p:txBody>
      </p:sp>
      <p:sp>
        <p:nvSpPr>
          <p:cNvPr id="16" name="">
            <a:extLst xmlns:a="http://schemas.openxmlformats.org/drawingml/2006/main">
              <a:ext uri="{FF2B5EF4-FFF2-40B4-BE49-F238E27FC236}">
                <a16:creationId xmlns:a16="http://schemas.microsoft.com/office/drawing/2014/main" id="{2BB00392-71BC-4E82-9786-A32B1D7F1E3A}"/>
              </a:ext>
            </a:extLst>
          </p:cNvPr>
          <p:cNvSpPr>
            <a:spLocks xmlns:a="http://schemas.openxmlformats.org/drawingml/2006/main" noGrp="1"/>
          </p:cNvSpPr>
          <p:nvPr/>
        </p:nvSpPr>
        <p:spPr>
          <a:xfrm xmlns:a="http://schemas.openxmlformats.org/drawingml/2006/main">
            <a:off x="8591550" y="4271963"/>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AE1BD-110A-4A6D-B6F6-D88B8EFE81AF}"/>
              </a:ext>
            </a:extLst>
          </p:cNvPr>
          <p:cNvSpPr>
            <a:spLocks xmlns:a="http://schemas.openxmlformats.org/drawingml/2006/main" noGrp="1"/>
          </p:cNvSpPr>
          <p:nvPr/>
        </p:nvSpPr>
        <p:spPr>
          <a:xfrm xmlns:a="http://schemas.openxmlformats.org/drawingml/2006/main">
            <a:off x="8820150" y="4205288"/>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898"/>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Sequence transparently</a:t>
            </a:r>
          </a:p>
        </p:txBody>
      </p:sp>
      <p:sp>
        <p:nvSpPr>
          <p:cNvPr id="18" name="">
            <a:extLst xmlns:a="http://schemas.openxmlformats.org/drawingml/2006/main">
              <a:ext uri="{FF2B5EF4-FFF2-40B4-BE49-F238E27FC236}">
                <a16:creationId xmlns:a16="http://schemas.microsoft.com/office/drawing/2014/main" id="{69474008-DCBA-4868-9698-CF917834D14F}"/>
              </a:ext>
            </a:extLst>
          </p:cNvPr>
          <p:cNvSpPr>
            <a:spLocks xmlns:a="http://schemas.openxmlformats.org/drawingml/2006/main" noGrp="1"/>
          </p:cNvSpPr>
          <p:nvPr/>
        </p:nvSpPr>
        <p:spPr>
          <a:xfrm xmlns:a="http://schemas.openxmlformats.org/drawingml/2006/main">
            <a:off x="400050" y="5257800"/>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91"/>
          </a:bodyPr>
          <a:lstStyle xmlns:a="http://schemas.openxmlformats.org/drawingml/2006/main"/>
          <a:p xmlns:a="http://schemas.openxmlformats.org/drawingml/2006/main">
            <a:pPr algn="l">
              <a:buNone/>
              <a:defRPr sz="2025" b="1">
                <a:solidFill>
                  <a:srgbClr val="347A4A"/>
                </a:solidFill>
                <a:latin typeface="Aptos"/>
                <a:ea typeface="Aptos"/>
                <a:cs typeface="Aptos"/>
              </a:defRPr>
            </a:pPr>
            <a:r>
              <a:rPr sz="2025" b="1">
                <a:solidFill>
                  <a:srgbClr val="347A4A"/>
                </a:solidFill>
                <a:latin typeface="Aptos"/>
                <a:ea typeface="Aptos"/>
                <a:cs typeface="Aptos"/>
              </a:rPr>
              <a:t>The clinic prototype becomes the reference vertical, not the limit of the platform.</a:t>
            </a:r>
          </a:p>
        </p:txBody>
      </p:sp>
    </p:spTree>
    <p:extLst>
      <p:ext uri="{BB962C8B-B14F-4D97-AF65-F5344CB8AC3E}">
        <p14:creationId xmlns:p14="http://schemas.microsoft.com/office/powerpoint/2010/main" val="263023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BDA6EF-7C78-4062-8B50-8CAEC27BEBA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OPERATING MODEL</a:t>
            </a:r>
          </a:p>
        </p:txBody>
      </p:sp>
      <p:sp>
        <p:nvSpPr>
          <p:cNvPr id="2" name="">
            <a:extLst xmlns:a="http://schemas.openxmlformats.org/drawingml/2006/main">
              <a:ext uri="{FF2B5EF4-FFF2-40B4-BE49-F238E27FC236}">
                <a16:creationId xmlns:a16="http://schemas.microsoft.com/office/drawing/2014/main" id="{FE158C76-52EC-42F0-B662-83D181328F1E}"/>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future platform scales through a four-level funnel</a:t>
            </a:r>
          </a:p>
        </p:txBody>
      </p:sp>
      <p:sp>
        <p:nvSpPr>
          <p:cNvPr id="3" name="">
            <a:extLst xmlns:a="http://schemas.openxmlformats.org/drawingml/2006/main">
              <a:ext uri="{FF2B5EF4-FFF2-40B4-BE49-F238E27FC236}">
                <a16:creationId xmlns:a16="http://schemas.microsoft.com/office/drawing/2014/main" id="{22E681D0-5E6E-43B5-B2E0-E7B32636206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E5B145-D984-4BE5-A7E4-878875BFD0A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 open questions</a:t>
            </a:r>
          </a:p>
        </p:txBody>
      </p:sp>
      <p:sp>
        <p:nvSpPr>
          <p:cNvPr id="5" name="">
            <a:extLst xmlns:a="http://schemas.openxmlformats.org/drawingml/2006/main">
              <a:ext uri="{FF2B5EF4-FFF2-40B4-BE49-F238E27FC236}">
                <a16:creationId xmlns:a16="http://schemas.microsoft.com/office/drawing/2014/main" id="{442A5705-58A4-4E93-BC9C-902C6540CFD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928633C5-4708-4B28-A4A8-9C37C7C309A6}"/>
              </a:ext>
            </a:extLst>
          </p:cNvPr>
          <p:cNvSpPr>
            <a:spLocks xmlns:a="http://schemas.openxmlformats.org/drawingml/2006/main" noGrp="1"/>
          </p:cNvSpPr>
          <p:nvPr/>
        </p:nvSpPr>
        <p:spPr>
          <a:xfrm xmlns:a="http://schemas.openxmlformats.org/drawingml/2006/main">
            <a:off x="400050" y="2038350"/>
            <a:ext cx="2505075" cy="1790700"/>
          </a:xfrm>
          <a:prstGeom xmlns:a="http://schemas.openxmlformats.org/drawingml/2006/main" prst="roundRect">
            <a:avLst>
              <a:gd name="adj" fmla="val 957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E01C4C-8163-4642-9E79-0CF305684765}"/>
              </a:ext>
            </a:extLst>
          </p:cNvPr>
          <p:cNvSpPr>
            <a:spLocks xmlns:a="http://schemas.openxmlformats.org/drawingml/2006/main" noGrp="1"/>
          </p:cNvSpPr>
          <p:nvPr/>
        </p:nvSpPr>
        <p:spPr>
          <a:xfrm xmlns:a="http://schemas.openxmlformats.org/drawingml/2006/main">
            <a:off x="60960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3FD5CEE-7D1C-488E-90CF-DBAF807A43A8}"/>
              </a:ext>
            </a:extLst>
          </p:cNvPr>
          <p:cNvSpPr>
            <a:spLocks xmlns:a="http://schemas.openxmlformats.org/drawingml/2006/main" noGrp="1"/>
          </p:cNvSpPr>
          <p:nvPr/>
        </p:nvSpPr>
        <p:spPr>
          <a:xfrm xmlns:a="http://schemas.openxmlformats.org/drawingml/2006/main">
            <a:off x="60960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Market</a:t>
            </a:r>
          </a:p>
        </p:txBody>
      </p:sp>
      <p:sp>
        <p:nvSpPr>
          <p:cNvPr id="9" name="">
            <a:extLst xmlns:a="http://schemas.openxmlformats.org/drawingml/2006/main">
              <a:ext uri="{FF2B5EF4-FFF2-40B4-BE49-F238E27FC236}">
                <a16:creationId xmlns:a16="http://schemas.microsoft.com/office/drawing/2014/main" id="{03741E1E-7531-4E80-8536-8A64D157D044}"/>
              </a:ext>
            </a:extLst>
          </p:cNvPr>
          <p:cNvSpPr>
            <a:spLocks xmlns:a="http://schemas.openxmlformats.org/drawingml/2006/main" noGrp="1"/>
          </p:cNvSpPr>
          <p:nvPr/>
        </p:nvSpPr>
        <p:spPr>
          <a:xfrm xmlns:a="http://schemas.openxmlformats.org/drawingml/2006/main">
            <a:off x="60960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metros deserve attention?</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Tier + rank</a:t>
            </a:r>
          </a:p>
        </p:txBody>
      </p:sp>
      <p:sp>
        <p:nvSpPr>
          <p:cNvPr id="10" name="">
            <a:extLst xmlns:a="http://schemas.openxmlformats.org/drawingml/2006/main">
              <a:ext uri="{FF2B5EF4-FFF2-40B4-BE49-F238E27FC236}">
                <a16:creationId xmlns:a16="http://schemas.microsoft.com/office/drawing/2014/main" id="{9EC65A94-9245-4C1B-A179-921F54577920}"/>
              </a:ext>
            </a:extLst>
          </p:cNvPr>
          <p:cNvSpPr>
            <a:spLocks xmlns:a="http://schemas.openxmlformats.org/drawingml/2006/main" noGrp="1"/>
          </p:cNvSpPr>
          <p:nvPr/>
        </p:nvSpPr>
        <p:spPr>
          <a:xfrm xmlns:a="http://schemas.openxmlformats.org/drawingml/2006/main">
            <a:off x="3209925" y="2038350"/>
            <a:ext cx="2505075" cy="1790700"/>
          </a:xfrm>
          <a:prstGeom xmlns:a="http://schemas.openxmlformats.org/drawingml/2006/main" prst="roundRect">
            <a:avLst>
              <a:gd name="adj" fmla="val 9574"/>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784922-C9AD-4FAA-A815-1590FFC1C687}"/>
              </a:ext>
            </a:extLst>
          </p:cNvPr>
          <p:cNvSpPr>
            <a:spLocks xmlns:a="http://schemas.openxmlformats.org/drawingml/2006/main" noGrp="1"/>
          </p:cNvSpPr>
          <p:nvPr/>
        </p:nvSpPr>
        <p:spPr>
          <a:xfrm xmlns:a="http://schemas.openxmlformats.org/drawingml/2006/main">
            <a:off x="341947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347A4A"/>
                </a:solidFill>
                <a:latin typeface="Aptos"/>
                <a:ea typeface="Aptos"/>
                <a:cs typeface="Aptos"/>
              </a:defRPr>
            </a:pPr>
            <a:r>
              <a:rPr sz="1125" b="1">
                <a:solidFill>
                  <a:srgbClr val="347A4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A32448B-FAD2-46F8-8DEB-E1511038198A}"/>
              </a:ext>
            </a:extLst>
          </p:cNvPr>
          <p:cNvSpPr>
            <a:spLocks xmlns:a="http://schemas.openxmlformats.org/drawingml/2006/main" noGrp="1"/>
          </p:cNvSpPr>
          <p:nvPr/>
        </p:nvSpPr>
        <p:spPr>
          <a:xfrm xmlns:a="http://schemas.openxmlformats.org/drawingml/2006/main">
            <a:off x="3419475"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Submarket</a:t>
            </a:r>
          </a:p>
        </p:txBody>
      </p:sp>
      <p:sp>
        <p:nvSpPr>
          <p:cNvPr id="13" name="">
            <a:extLst xmlns:a="http://schemas.openxmlformats.org/drawingml/2006/main">
              <a:ext uri="{FF2B5EF4-FFF2-40B4-BE49-F238E27FC236}">
                <a16:creationId xmlns:a16="http://schemas.microsoft.com/office/drawing/2014/main" id="{3C6C5224-D7D2-48C7-A85B-2C816BF3736D}"/>
              </a:ext>
            </a:extLst>
          </p:cNvPr>
          <p:cNvSpPr>
            <a:spLocks xmlns:a="http://schemas.openxmlformats.org/drawingml/2006/main" noGrp="1"/>
          </p:cNvSpPr>
          <p:nvPr/>
        </p:nvSpPr>
        <p:spPr>
          <a:xfrm xmlns:a="http://schemas.openxmlformats.org/drawingml/2006/main">
            <a:off x="3419475"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086"/>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Where is opportunity concentrated?</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Ranked heat-map areas</a:t>
            </a:r>
          </a:p>
        </p:txBody>
      </p:sp>
      <p:sp>
        <p:nvSpPr>
          <p:cNvPr id="14" name="">
            <a:extLst xmlns:a="http://schemas.openxmlformats.org/drawingml/2006/main">
              <a:ext uri="{FF2B5EF4-FFF2-40B4-BE49-F238E27FC236}">
                <a16:creationId xmlns:a16="http://schemas.microsoft.com/office/drawing/2014/main" id="{017CF458-7B56-45AF-975D-9E7C55834755}"/>
              </a:ext>
            </a:extLst>
          </p:cNvPr>
          <p:cNvSpPr>
            <a:spLocks xmlns:a="http://schemas.openxmlformats.org/drawingml/2006/main" noGrp="1"/>
          </p:cNvSpPr>
          <p:nvPr/>
        </p:nvSpPr>
        <p:spPr>
          <a:xfrm xmlns:a="http://schemas.openxmlformats.org/drawingml/2006/main">
            <a:off x="6019800" y="2038350"/>
            <a:ext cx="2505075" cy="1790700"/>
          </a:xfrm>
          <a:prstGeom xmlns:a="http://schemas.openxmlformats.org/drawingml/2006/main" prst="roundRect">
            <a:avLst>
              <a:gd name="adj" fmla="val 957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C99FE9-D4B2-489C-B683-8E0B0E0F2EEB}"/>
              </a:ext>
            </a:extLst>
          </p:cNvPr>
          <p:cNvSpPr>
            <a:spLocks xmlns:a="http://schemas.openxmlformats.org/drawingml/2006/main" noGrp="1"/>
          </p:cNvSpPr>
          <p:nvPr/>
        </p:nvSpPr>
        <p:spPr>
          <a:xfrm xmlns:a="http://schemas.openxmlformats.org/drawingml/2006/main">
            <a:off x="622935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A56A00"/>
                </a:solidFill>
                <a:latin typeface="Aptos"/>
                <a:ea typeface="Aptos"/>
                <a:cs typeface="Aptos"/>
              </a:defRPr>
            </a:pPr>
            <a:r>
              <a:rPr sz="1125" b="1">
                <a:solidFill>
                  <a:srgbClr val="A56A00"/>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380A42B-00DD-44D4-B6CE-BDF29406968F}"/>
              </a:ext>
            </a:extLst>
          </p:cNvPr>
          <p:cNvSpPr>
            <a:spLocks xmlns:a="http://schemas.openxmlformats.org/drawingml/2006/main" noGrp="1"/>
          </p:cNvSpPr>
          <p:nvPr/>
        </p:nvSpPr>
        <p:spPr>
          <a:xfrm xmlns:a="http://schemas.openxmlformats.org/drawingml/2006/main">
            <a:off x="622935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Property</a:t>
            </a:r>
          </a:p>
        </p:txBody>
      </p:sp>
      <p:sp>
        <p:nvSpPr>
          <p:cNvPr id="17" name="">
            <a:extLst xmlns:a="http://schemas.openxmlformats.org/drawingml/2006/main">
              <a:ext uri="{FF2B5EF4-FFF2-40B4-BE49-F238E27FC236}">
                <a16:creationId xmlns:a16="http://schemas.microsoft.com/office/drawing/2014/main" id="{713035BE-4012-4B10-98C9-D89DC0D6BB7D}"/>
              </a:ext>
            </a:extLst>
          </p:cNvPr>
          <p:cNvSpPr>
            <a:spLocks xmlns:a="http://schemas.openxmlformats.org/drawingml/2006/main" noGrp="1"/>
          </p:cNvSpPr>
          <p:nvPr/>
        </p:nvSpPr>
        <p:spPr>
          <a:xfrm xmlns:a="http://schemas.openxmlformats.org/drawingml/2006/main">
            <a:off x="622935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57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available properties are feasible? Advance, review, or blocked</a:t>
            </a:r>
          </a:p>
        </p:txBody>
      </p:sp>
      <p:sp>
        <p:nvSpPr>
          <p:cNvPr id="18" name="">
            <a:extLst xmlns:a="http://schemas.openxmlformats.org/drawingml/2006/main">
              <a:ext uri="{FF2B5EF4-FFF2-40B4-BE49-F238E27FC236}">
                <a16:creationId xmlns:a16="http://schemas.microsoft.com/office/drawing/2014/main" id="{D68DA382-7DF0-4B45-94A2-B179AEB4CC01}"/>
              </a:ext>
            </a:extLst>
          </p:cNvPr>
          <p:cNvSpPr>
            <a:spLocks xmlns:a="http://schemas.openxmlformats.org/drawingml/2006/main" noGrp="1"/>
          </p:cNvSpPr>
          <p:nvPr/>
        </p:nvSpPr>
        <p:spPr>
          <a:xfrm xmlns:a="http://schemas.openxmlformats.org/drawingml/2006/main">
            <a:off x="8829675" y="2038350"/>
            <a:ext cx="2962275" cy="1790700"/>
          </a:xfrm>
          <a:prstGeom xmlns:a="http://schemas.openxmlformats.org/drawingml/2006/main" prst="roundRect">
            <a:avLst>
              <a:gd name="adj" fmla="val 9574"/>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F6561-9C17-4DD9-B000-DFFC056555C2}"/>
              </a:ext>
            </a:extLst>
          </p:cNvPr>
          <p:cNvSpPr>
            <a:spLocks xmlns:a="http://schemas.openxmlformats.org/drawingml/2006/main" noGrp="1"/>
          </p:cNvSpPr>
          <p:nvPr/>
        </p:nvSpPr>
        <p:spPr>
          <a:xfrm xmlns:a="http://schemas.openxmlformats.org/drawingml/2006/main">
            <a:off x="903922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9A4040"/>
                </a:solidFill>
                <a:latin typeface="Aptos"/>
                <a:ea typeface="Aptos"/>
                <a:cs typeface="Aptos"/>
              </a:defRPr>
            </a:pPr>
            <a:r>
              <a:rPr sz="1125" b="1">
                <a:solidFill>
                  <a:srgbClr val="9A4040"/>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2A5AF32-3FFB-47E6-8425-FABBED6CF501}"/>
              </a:ext>
            </a:extLst>
          </p:cNvPr>
          <p:cNvSpPr>
            <a:spLocks xmlns:a="http://schemas.openxmlformats.org/drawingml/2006/main" noGrp="1"/>
          </p:cNvSpPr>
          <p:nvPr/>
        </p:nvSpPr>
        <p:spPr>
          <a:xfrm xmlns:a="http://schemas.openxmlformats.org/drawingml/2006/main">
            <a:off x="9039225" y="2628900"/>
            <a:ext cx="2543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Sequence</a:t>
            </a:r>
          </a:p>
        </p:txBody>
      </p:sp>
      <p:sp>
        <p:nvSpPr>
          <p:cNvPr id="21" name="">
            <a:extLst xmlns:a="http://schemas.openxmlformats.org/drawingml/2006/main">
              <a:ext uri="{FF2B5EF4-FFF2-40B4-BE49-F238E27FC236}">
                <a16:creationId xmlns:a16="http://schemas.microsoft.com/office/drawing/2014/main" id="{FE1BE5E3-F862-41C7-BCA0-E7A41DFFD172}"/>
              </a:ext>
            </a:extLst>
          </p:cNvPr>
          <p:cNvSpPr>
            <a:spLocks xmlns:a="http://schemas.openxmlformats.org/drawingml/2006/main" noGrp="1"/>
          </p:cNvSpPr>
          <p:nvPr/>
        </p:nvSpPr>
        <p:spPr>
          <a:xfrm xmlns:a="http://schemas.openxmlformats.org/drawingml/2006/main">
            <a:off x="9039225" y="3219450"/>
            <a:ext cx="2543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914"/>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What should Chewy pursue first? Human-reviewed queue + rationale</a:t>
            </a:r>
          </a:p>
        </p:txBody>
      </p:sp>
      <p:sp>
        <p:nvSpPr>
          <p:cNvPr id="22" name="">
            <a:extLst xmlns:a="http://schemas.openxmlformats.org/drawingml/2006/main">
              <a:ext uri="{FF2B5EF4-FFF2-40B4-BE49-F238E27FC236}">
                <a16:creationId xmlns:a16="http://schemas.microsoft.com/office/drawing/2014/main" id="{0814DDA9-E6DF-44ED-AE3A-F4EBB182E7BD}"/>
              </a:ext>
            </a:extLst>
          </p:cNvPr>
          <p:cNvSpPr>
            <a:spLocks xmlns:a="http://schemas.openxmlformats.org/drawingml/2006/main" noGrp="1"/>
          </p:cNvSpPr>
          <p:nvPr/>
        </p:nvSpPr>
        <p:spPr>
          <a:xfrm xmlns:a="http://schemas.openxmlformats.org/drawingml/2006/main">
            <a:off x="300990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5400DD-5371-443E-B728-7769B714BB28}"/>
              </a:ext>
            </a:extLst>
          </p:cNvPr>
          <p:cNvSpPr>
            <a:spLocks xmlns:a="http://schemas.openxmlformats.org/drawingml/2006/main" noGrp="1"/>
          </p:cNvSpPr>
          <p:nvPr/>
        </p:nvSpPr>
        <p:spPr>
          <a:xfrm xmlns:a="http://schemas.openxmlformats.org/drawingml/2006/main">
            <a:off x="310515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F4445C-A64D-4882-8DDF-F053870AD260}"/>
              </a:ext>
            </a:extLst>
          </p:cNvPr>
          <p:cNvSpPr>
            <a:spLocks xmlns:a="http://schemas.openxmlformats.org/drawingml/2006/main" noGrp="1"/>
          </p:cNvSpPr>
          <p:nvPr/>
        </p:nvSpPr>
        <p:spPr>
          <a:xfrm xmlns:a="http://schemas.openxmlformats.org/drawingml/2006/main">
            <a:off x="5819775"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05317A-88A1-43E9-92BD-EDE7FCE54BD6}"/>
              </a:ext>
            </a:extLst>
          </p:cNvPr>
          <p:cNvSpPr>
            <a:spLocks xmlns:a="http://schemas.openxmlformats.org/drawingml/2006/main" noGrp="1"/>
          </p:cNvSpPr>
          <p:nvPr/>
        </p:nvSpPr>
        <p:spPr>
          <a:xfrm xmlns:a="http://schemas.openxmlformats.org/drawingml/2006/main">
            <a:off x="5915025"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6246114-8DE9-47C8-9804-CA0F20EC945B}"/>
              </a:ext>
            </a:extLst>
          </p:cNvPr>
          <p:cNvSpPr>
            <a:spLocks xmlns:a="http://schemas.openxmlformats.org/drawingml/2006/main" noGrp="1"/>
          </p:cNvSpPr>
          <p:nvPr/>
        </p:nvSpPr>
        <p:spPr>
          <a:xfrm xmlns:a="http://schemas.openxmlformats.org/drawingml/2006/main">
            <a:off x="862965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EA74166-780E-4886-AE68-010B1A87D08E}"/>
              </a:ext>
            </a:extLst>
          </p:cNvPr>
          <p:cNvSpPr>
            <a:spLocks xmlns:a="http://schemas.openxmlformats.org/drawingml/2006/main" noGrp="1"/>
          </p:cNvSpPr>
          <p:nvPr/>
        </p:nvSpPr>
        <p:spPr>
          <a:xfrm xmlns:a="http://schemas.openxmlformats.org/drawingml/2006/main">
            <a:off x="872490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170B89-F1DE-4060-97B4-C45B4BC9D5C4}"/>
              </a:ext>
            </a:extLst>
          </p:cNvPr>
          <p:cNvSpPr>
            <a:spLocks xmlns:a="http://schemas.openxmlformats.org/drawingml/2006/main" noGrp="1"/>
          </p:cNvSpPr>
          <p:nvPr/>
        </p:nvSpPr>
        <p:spPr>
          <a:xfrm xmlns:a="http://schemas.openxmlformats.org/drawingml/2006/main">
            <a:off x="1047750" y="4476750"/>
            <a:ext cx="1009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557"/>
          </a:bodyPr>
          <a:lstStyle xmlns:a="http://schemas.openxmlformats.org/drawingml/2006/main"/>
          <a:p xmlns:a="http://schemas.openxmlformats.org/drawingml/2006/main">
            <a:pPr algn="ctr">
              <a:buNone/>
              <a:defRPr sz="2175" b="1">
                <a:solidFill>
                  <a:srgbClr val="1E43C8"/>
                </a:solidFill>
                <a:latin typeface="Aptos"/>
                <a:ea typeface="Aptos"/>
                <a:cs typeface="Aptos"/>
              </a:defRPr>
            </a:pPr>
            <a:r>
              <a:rPr sz="2175" b="1">
                <a:solidFill>
                  <a:srgbClr val="1E43C8"/>
                </a:solidFill>
                <a:latin typeface="Aptos"/>
                <a:ea typeface="Aptos"/>
                <a:cs typeface="Aptos"/>
              </a:rPr>
              <a:t>Each stage narrows the search while preserving a separate decision and rationale.</a:t>
            </a:r>
          </a:p>
        </p:txBody>
      </p:sp>
    </p:spTree>
    <p:extLst>
      <p:ext uri="{BB962C8B-B14F-4D97-AF65-F5344CB8AC3E}">
        <p14:creationId xmlns:p14="http://schemas.microsoft.com/office/powerpoint/2010/main" val="230766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CDB08C1-9EFB-4D76-A463-3D9336B935DB}"/>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HOME PAGE</a:t>
            </a:r>
          </a:p>
        </p:txBody>
      </p:sp>
      <p:sp>
        <p:nvSpPr>
          <p:cNvPr id="2" name="">
            <a:extLst xmlns:a="http://schemas.openxmlformats.org/drawingml/2006/main">
              <a:ext uri="{FF2B5EF4-FFF2-40B4-BE49-F238E27FC236}">
                <a16:creationId xmlns:a16="http://schemas.microsoft.com/office/drawing/2014/main" id="{67A1947D-2816-4D7B-994F-965D92843603}"/>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325"/>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workspace could connect national scan, diligence, and review sequence</a:t>
            </a:r>
          </a:p>
        </p:txBody>
      </p:sp>
      <p:sp>
        <p:nvSpPr>
          <p:cNvPr id="3" name="">
            <a:extLst xmlns:a="http://schemas.openxmlformats.org/drawingml/2006/main">
              <a:ext uri="{FF2B5EF4-FFF2-40B4-BE49-F238E27FC236}">
                <a16:creationId xmlns:a16="http://schemas.microsoft.com/office/drawing/2014/main" id="{D0AEB474-BD0C-4E86-9E89-ACC4CB06C2E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8E33C0-E90D-46A1-AFD5-4069BCE07049}"/>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Illustrative future-state concept. No real rankings or properties shown.</a:t>
            </a:r>
          </a:p>
        </p:txBody>
      </p:sp>
      <p:sp>
        <p:nvSpPr>
          <p:cNvPr id="5" name="">
            <a:extLst xmlns:a="http://schemas.openxmlformats.org/drawingml/2006/main">
              <a:ext uri="{FF2B5EF4-FFF2-40B4-BE49-F238E27FC236}">
                <a16:creationId xmlns:a16="http://schemas.microsoft.com/office/drawing/2014/main" id="{F2D06FB1-AE1D-4FFD-8A7D-C7EED75FF21C}"/>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51a7c4c05864f33"/>
          <a:stretch xmlns:a="http://schemas.openxmlformats.org/drawingml/2006/main"/>
        </p:blipFill>
        <p:spPr>
          <a:xfrm xmlns:a="http://schemas.openxmlformats.org/drawingml/2006/main">
            <a:off x="1636438" y="1333500"/>
            <a:ext cx="8919125" cy="5019675"/>
          </a:xfrm>
          <a:prstGeom xmlns:a="http://schemas.openxmlformats.org/drawingml/2006/main" prst="roundRect">
            <a:avLst>
              <a:gd name="adj" fmla="val 2277"/>
            </a:avLst>
          </a:prstGeom>
        </p:spPr>
      </p:pic>
    </p:spTree>
    <p:extLst>
      <p:ext uri="{BB962C8B-B14F-4D97-AF65-F5344CB8AC3E}">
        <p14:creationId xmlns:p14="http://schemas.microsoft.com/office/powerpoint/2010/main" val="549851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4099AD7-B488-4452-9AB6-374CF4A680FD}"/>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NEED TO VALIDATE</a:t>
            </a:r>
          </a:p>
        </p:txBody>
      </p:sp>
      <p:sp>
        <p:nvSpPr>
          <p:cNvPr id="2" name="">
            <a:extLst xmlns:a="http://schemas.openxmlformats.org/drawingml/2006/main">
              <a:ext uri="{FF2B5EF4-FFF2-40B4-BE49-F238E27FC236}">
                <a16:creationId xmlns:a16="http://schemas.microsoft.com/office/drawing/2014/main" id="{D916E7AB-13D1-4B35-A1C1-202519C20FA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Four product decisions unlock a bounded pilot</a:t>
            </a:r>
          </a:p>
        </p:txBody>
      </p:sp>
      <p:sp>
        <p:nvSpPr>
          <p:cNvPr id="3" name="">
            <a:extLst xmlns:a="http://schemas.openxmlformats.org/drawingml/2006/main">
              <a:ext uri="{FF2B5EF4-FFF2-40B4-BE49-F238E27FC236}">
                <a16:creationId xmlns:a16="http://schemas.microsoft.com/office/drawing/2014/main" id="{C1D0621C-D75B-41C8-B6E0-5AA5A2ECBBF8}"/>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C90B3F-6D10-4F7F-B837-5C745ADA4A25}"/>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open questions; market opportunity transition brief</a:t>
            </a:r>
          </a:p>
        </p:txBody>
      </p:sp>
      <p:sp>
        <p:nvSpPr>
          <p:cNvPr id="5" name="">
            <a:extLst xmlns:a="http://schemas.openxmlformats.org/drawingml/2006/main">
              <a:ext uri="{FF2B5EF4-FFF2-40B4-BE49-F238E27FC236}">
                <a16:creationId xmlns:a16="http://schemas.microsoft.com/office/drawing/2014/main" id="{14C3E8BC-C82A-4E20-9B03-BB19CF27B40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9D4F7F4E-3D17-48B5-AFDD-03CC583EE040}"/>
              </a:ext>
            </a:extLst>
          </p:cNvPr>
          <p:cNvSpPr>
            <a:spLocks xmlns:a="http://schemas.openxmlformats.org/drawingml/2006/main" noGrp="1"/>
          </p:cNvSpPr>
          <p:nvPr/>
        </p:nvSpPr>
        <p:spPr>
          <a:xfrm xmlns:a="http://schemas.openxmlformats.org/drawingml/2006/main">
            <a:off x="400050"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F8AD2A-EBBD-4D40-AE11-2FAAEE74B06F}"/>
              </a:ext>
            </a:extLst>
          </p:cNvPr>
          <p:cNvSpPr>
            <a:spLocks xmlns:a="http://schemas.openxmlformats.org/drawingml/2006/main" noGrp="1"/>
          </p:cNvSpPr>
          <p:nvPr/>
        </p:nvSpPr>
        <p:spPr>
          <a:xfrm xmlns:a="http://schemas.openxmlformats.org/drawingml/2006/main">
            <a:off x="60960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A280A53-F24F-4902-8F41-6DB8A4D8F360}"/>
              </a:ext>
            </a:extLst>
          </p:cNvPr>
          <p:cNvSpPr>
            <a:spLocks xmlns:a="http://schemas.openxmlformats.org/drawingml/2006/main" noGrp="1"/>
          </p:cNvSpPr>
          <p:nvPr/>
        </p:nvSpPr>
        <p:spPr>
          <a:xfrm xmlns:a="http://schemas.openxmlformats.org/drawingml/2006/main">
            <a:off x="6096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Market model</a:t>
            </a:r>
          </a:p>
        </p:txBody>
      </p:sp>
      <p:sp>
        <p:nvSpPr>
          <p:cNvPr id="9" name="">
            <a:extLst xmlns:a="http://schemas.openxmlformats.org/drawingml/2006/main">
              <a:ext uri="{FF2B5EF4-FFF2-40B4-BE49-F238E27FC236}">
                <a16:creationId xmlns:a16="http://schemas.microsoft.com/office/drawing/2014/main" id="{ADF18E7E-D3EC-4485-9491-C7C31ECECD48}"/>
              </a:ext>
            </a:extLst>
          </p:cNvPr>
          <p:cNvSpPr>
            <a:spLocks xmlns:a="http://schemas.openxmlformats.org/drawingml/2006/main" noGrp="1"/>
          </p:cNvSpPr>
          <p:nvPr/>
        </p:nvSpPr>
        <p:spPr>
          <a:xfrm xmlns:a="http://schemas.openxmlformats.org/drawingml/2006/main">
            <a:off x="6096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Approved attractiveness criteria, directions, and weights</a:t>
            </a:r>
          </a:p>
        </p:txBody>
      </p:sp>
      <p:sp>
        <p:nvSpPr>
          <p:cNvPr id="10" name="">
            <a:extLst xmlns:a="http://schemas.openxmlformats.org/drawingml/2006/main">
              <a:ext uri="{FF2B5EF4-FFF2-40B4-BE49-F238E27FC236}">
                <a16:creationId xmlns:a16="http://schemas.microsoft.com/office/drawing/2014/main" id="{DC4FFE19-7E36-44DA-9152-729D5A710B79}"/>
              </a:ext>
            </a:extLst>
          </p:cNvPr>
          <p:cNvSpPr>
            <a:spLocks xmlns:a="http://schemas.openxmlformats.org/drawingml/2006/main" noGrp="1"/>
          </p:cNvSpPr>
          <p:nvPr/>
        </p:nvSpPr>
        <p:spPr>
          <a:xfrm xmlns:a="http://schemas.openxmlformats.org/drawingml/2006/main">
            <a:off x="2676525"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DFAC32-18F9-44A4-AFCC-7166ADD0AFB4}"/>
              </a:ext>
            </a:extLst>
          </p:cNvPr>
          <p:cNvSpPr>
            <a:spLocks xmlns:a="http://schemas.openxmlformats.org/drawingml/2006/main" noGrp="1"/>
          </p:cNvSpPr>
          <p:nvPr/>
        </p:nvSpPr>
        <p:spPr>
          <a:xfrm xmlns:a="http://schemas.openxmlformats.org/drawingml/2006/main">
            <a:off x="288607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F6D0E7EB-FB7B-446A-BEF6-65312FCD6E22}"/>
              </a:ext>
            </a:extLst>
          </p:cNvPr>
          <p:cNvSpPr>
            <a:spLocks xmlns:a="http://schemas.openxmlformats.org/drawingml/2006/main" noGrp="1"/>
          </p:cNvSpPr>
          <p:nvPr/>
        </p:nvSpPr>
        <p:spPr>
          <a:xfrm xmlns:a="http://schemas.openxmlformats.org/drawingml/2006/main">
            <a:off x="288607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Submarket definition</a:t>
            </a:r>
          </a:p>
        </p:txBody>
      </p:sp>
      <p:sp>
        <p:nvSpPr>
          <p:cNvPr id="13" name="">
            <a:extLst xmlns:a="http://schemas.openxmlformats.org/drawingml/2006/main">
              <a:ext uri="{FF2B5EF4-FFF2-40B4-BE49-F238E27FC236}">
                <a16:creationId xmlns:a16="http://schemas.microsoft.com/office/drawing/2014/main" id="{34A0C56A-F998-4684-AD38-755F03552A81}"/>
              </a:ext>
            </a:extLst>
          </p:cNvPr>
          <p:cNvSpPr>
            <a:spLocks xmlns:a="http://schemas.openxmlformats.org/drawingml/2006/main" noGrp="1"/>
          </p:cNvSpPr>
          <p:nvPr/>
        </p:nvSpPr>
        <p:spPr>
          <a:xfrm xmlns:a="http://schemas.openxmlformats.org/drawingml/2006/main">
            <a:off x="288607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Units, grouping rules, drive-time, and overlap method</a:t>
            </a:r>
          </a:p>
        </p:txBody>
      </p:sp>
      <p:sp>
        <p:nvSpPr>
          <p:cNvPr id="14" name="">
            <a:extLst xmlns:a="http://schemas.openxmlformats.org/drawingml/2006/main">
              <a:ext uri="{FF2B5EF4-FFF2-40B4-BE49-F238E27FC236}">
                <a16:creationId xmlns:a16="http://schemas.microsoft.com/office/drawing/2014/main" id="{8662E46C-7F53-4103-AB18-4EE3217C87A3}"/>
              </a:ext>
            </a:extLst>
          </p:cNvPr>
          <p:cNvSpPr>
            <a:spLocks xmlns:a="http://schemas.openxmlformats.org/drawingml/2006/main" noGrp="1"/>
          </p:cNvSpPr>
          <p:nvPr/>
        </p:nvSpPr>
        <p:spPr>
          <a:xfrm xmlns:a="http://schemas.openxmlformats.org/drawingml/2006/main">
            <a:off x="4953000"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887ECE-1A51-44AE-8ACA-A759E3667688}"/>
              </a:ext>
            </a:extLst>
          </p:cNvPr>
          <p:cNvSpPr>
            <a:spLocks xmlns:a="http://schemas.openxmlformats.org/drawingml/2006/main" noGrp="1"/>
          </p:cNvSpPr>
          <p:nvPr/>
        </p:nvSpPr>
        <p:spPr>
          <a:xfrm xmlns:a="http://schemas.openxmlformats.org/drawingml/2006/main">
            <a:off x="516255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5F165645-74B3-4479-9F9E-0C9C12348830}"/>
              </a:ext>
            </a:extLst>
          </p:cNvPr>
          <p:cNvSpPr>
            <a:spLocks xmlns:a="http://schemas.openxmlformats.org/drawingml/2006/main" noGrp="1"/>
          </p:cNvSpPr>
          <p:nvPr/>
        </p:nvSpPr>
        <p:spPr>
          <a:xfrm xmlns:a="http://schemas.openxmlformats.org/drawingml/2006/main">
            <a:off x="516255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Property gate</a:t>
            </a:r>
          </a:p>
        </p:txBody>
      </p:sp>
      <p:sp>
        <p:nvSpPr>
          <p:cNvPr id="17" name="">
            <a:extLst xmlns:a="http://schemas.openxmlformats.org/drawingml/2006/main">
              <a:ext uri="{FF2B5EF4-FFF2-40B4-BE49-F238E27FC236}">
                <a16:creationId xmlns:a16="http://schemas.microsoft.com/office/drawing/2014/main" id="{D5EC6784-0C91-4F06-93B7-3A06BCAE84FF}"/>
              </a:ext>
            </a:extLst>
          </p:cNvPr>
          <p:cNvSpPr>
            <a:spLocks xmlns:a="http://schemas.openxmlformats.org/drawingml/2006/main" noGrp="1"/>
          </p:cNvSpPr>
          <p:nvPr/>
        </p:nvSpPr>
        <p:spPr>
          <a:xfrm xmlns:a="http://schemas.openxmlformats.org/drawingml/2006/main">
            <a:off x="516255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Mandatory constraints and approved availability source</a:t>
            </a:r>
          </a:p>
        </p:txBody>
      </p:sp>
      <p:sp>
        <p:nvSpPr>
          <p:cNvPr id="18" name="">
            <a:extLst xmlns:a="http://schemas.openxmlformats.org/drawingml/2006/main">
              <a:ext uri="{FF2B5EF4-FFF2-40B4-BE49-F238E27FC236}">
                <a16:creationId xmlns:a16="http://schemas.microsoft.com/office/drawing/2014/main" id="{D67DD66B-DA13-4F5F-8B2C-2D87ECD10B1A}"/>
              </a:ext>
            </a:extLst>
          </p:cNvPr>
          <p:cNvSpPr>
            <a:spLocks xmlns:a="http://schemas.openxmlformats.org/drawingml/2006/main" noGrp="1"/>
          </p:cNvSpPr>
          <p:nvPr/>
        </p:nvSpPr>
        <p:spPr>
          <a:xfrm xmlns:a="http://schemas.openxmlformats.org/drawingml/2006/main">
            <a:off x="7229475"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9627BC-C9AF-4C2E-B0F1-1FB3A2789061}"/>
              </a:ext>
            </a:extLst>
          </p:cNvPr>
          <p:cNvSpPr>
            <a:spLocks xmlns:a="http://schemas.openxmlformats.org/drawingml/2006/main" noGrp="1"/>
          </p:cNvSpPr>
          <p:nvPr/>
        </p:nvSpPr>
        <p:spPr>
          <a:xfrm xmlns:a="http://schemas.openxmlformats.org/drawingml/2006/main">
            <a:off x="743902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FE1E4B9B-1B7B-4FB8-8D81-EEBEE0FB5DC4}"/>
              </a:ext>
            </a:extLst>
          </p:cNvPr>
          <p:cNvSpPr>
            <a:spLocks xmlns:a="http://schemas.openxmlformats.org/drawingml/2006/main" noGrp="1"/>
          </p:cNvSpPr>
          <p:nvPr/>
        </p:nvSpPr>
        <p:spPr>
          <a:xfrm xmlns:a="http://schemas.openxmlformats.org/drawingml/2006/main">
            <a:off x="743902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Queue logic</a:t>
            </a:r>
          </a:p>
        </p:txBody>
      </p:sp>
      <p:sp>
        <p:nvSpPr>
          <p:cNvPr id="21" name="">
            <a:extLst xmlns:a="http://schemas.openxmlformats.org/drawingml/2006/main">
              <a:ext uri="{FF2B5EF4-FFF2-40B4-BE49-F238E27FC236}">
                <a16:creationId xmlns:a16="http://schemas.microsoft.com/office/drawing/2014/main" id="{693B819A-0EFE-40B8-B398-BC3E66F6C92A}"/>
              </a:ext>
            </a:extLst>
          </p:cNvPr>
          <p:cNvSpPr>
            <a:spLocks xmlns:a="http://schemas.openxmlformats.org/drawingml/2006/main" noGrp="1"/>
          </p:cNvSpPr>
          <p:nvPr/>
        </p:nvSpPr>
        <p:spPr>
          <a:xfrm xmlns:a="http://schemas.openxmlformats.org/drawingml/2006/main">
            <a:off x="743902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Rules separating attractiveness, feasibility, and priority</a:t>
            </a:r>
          </a:p>
        </p:txBody>
      </p:sp>
      <p:sp>
        <p:nvSpPr>
          <p:cNvPr id="22" name="">
            <a:extLst xmlns:a="http://schemas.openxmlformats.org/drawingml/2006/main">
              <a:ext uri="{FF2B5EF4-FFF2-40B4-BE49-F238E27FC236}">
                <a16:creationId xmlns:a16="http://schemas.microsoft.com/office/drawing/2014/main" id="{68152077-3D05-4BD4-AE31-EE71B85093DC}"/>
              </a:ext>
            </a:extLst>
          </p:cNvPr>
          <p:cNvSpPr>
            <a:spLocks xmlns:a="http://schemas.openxmlformats.org/drawingml/2006/main" noGrp="1"/>
          </p:cNvSpPr>
          <p:nvPr/>
        </p:nvSpPr>
        <p:spPr>
          <a:xfrm xmlns:a="http://schemas.openxmlformats.org/drawingml/2006/main">
            <a:off x="9505950" y="1809750"/>
            <a:ext cx="1943100" cy="3333750"/>
          </a:xfrm>
          <a:prstGeom xmlns:a="http://schemas.openxmlformats.org/drawingml/2006/main" prst="roundRect">
            <a:avLst>
              <a:gd name="adj" fmla="val 8824"/>
            </a:avLst>
          </a:prstGeom>
          <a:solidFill xmlns:a="http://schemas.openxmlformats.org/drawingml/2006/main">
            <a:srgbClr val="EDF7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27B79E-648E-40D8-B370-B2D336903EB9}"/>
              </a:ext>
            </a:extLst>
          </p:cNvPr>
          <p:cNvSpPr>
            <a:spLocks xmlns:a="http://schemas.openxmlformats.org/drawingml/2006/main" noGrp="1"/>
          </p:cNvSpPr>
          <p:nvPr/>
        </p:nvSpPr>
        <p:spPr>
          <a:xfrm xmlns:a="http://schemas.openxmlformats.org/drawingml/2006/main">
            <a:off x="9715500" y="2019300"/>
            <a:ext cx="419100" cy="4191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E993BEA8-0954-4AD4-83BE-957EE1DA77E3}"/>
              </a:ext>
            </a:extLst>
          </p:cNvPr>
          <p:cNvSpPr>
            <a:spLocks xmlns:a="http://schemas.openxmlformats.org/drawingml/2006/main" noGrp="1"/>
          </p:cNvSpPr>
          <p:nvPr/>
        </p:nvSpPr>
        <p:spPr>
          <a:xfrm xmlns:a="http://schemas.openxmlformats.org/drawingml/2006/main">
            <a:off x="97155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 scope</a:t>
            </a:r>
          </a:p>
        </p:txBody>
      </p:sp>
      <p:sp>
        <p:nvSpPr>
          <p:cNvPr id="25" name="">
            <a:extLst xmlns:a="http://schemas.openxmlformats.org/drawingml/2006/main">
              <a:ext uri="{FF2B5EF4-FFF2-40B4-BE49-F238E27FC236}">
                <a16:creationId xmlns:a16="http://schemas.microsoft.com/office/drawing/2014/main" id="{87963F3F-C759-4ACD-9499-649023E14298}"/>
              </a:ext>
            </a:extLst>
          </p:cNvPr>
          <p:cNvSpPr>
            <a:spLocks xmlns:a="http://schemas.openxmlformats.org/drawingml/2006/main" noGrp="1"/>
          </p:cNvSpPr>
          <p:nvPr/>
        </p:nvSpPr>
        <p:spPr>
          <a:xfrm xmlns:a="http://schemas.openxmlformats.org/drawingml/2006/main">
            <a:off x="97155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947"/>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One accountable user, one decision, approved inputs, and measurable workflow baseline</a:t>
            </a:r>
          </a:p>
        </p:txBody>
      </p:sp>
      <p:sp>
        <p:nvSpPr>
          <p:cNvPr id="26" name="">
            <a:extLst xmlns:a="http://schemas.openxmlformats.org/drawingml/2006/main">
              <a:ext uri="{FF2B5EF4-FFF2-40B4-BE49-F238E27FC236}">
                <a16:creationId xmlns:a16="http://schemas.microsoft.com/office/drawing/2014/main" id="{5419564B-299C-4393-9E78-BB9648219313}"/>
              </a:ext>
            </a:extLst>
          </p:cNvPr>
          <p:cNvSpPr>
            <a:spLocks xmlns:a="http://schemas.openxmlformats.org/drawingml/2006/main" noGrp="1"/>
          </p:cNvSpPr>
          <p:nvPr/>
        </p:nvSpPr>
        <p:spPr>
          <a:xfrm xmlns:a="http://schemas.openxmlformats.org/drawingml/2006/main">
            <a:off x="1009650" y="5524500"/>
            <a:ext cx="1017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9A4040"/>
                </a:solidFill>
                <a:latin typeface="Aptos"/>
                <a:ea typeface="Aptos"/>
                <a:cs typeface="Aptos"/>
              </a:defRPr>
            </a:pPr>
            <a:r>
              <a:rPr sz="1650" b="1">
                <a:solidFill>
                  <a:srgbClr val="9A4040"/>
                </a:solidFill>
                <a:latin typeface="Aptos"/>
                <a:ea typeface="Aptos"/>
                <a:cs typeface="Aptos"/>
              </a:rPr>
              <a:t>Validate the workflow before claiming rankings, savings, or production readiness.</a:t>
            </a:r>
          </a:p>
        </p:txBody>
      </p:sp>
    </p:spTree>
    <p:extLst>
      <p:ext uri="{BB962C8B-B14F-4D97-AF65-F5344CB8AC3E}">
        <p14:creationId xmlns:p14="http://schemas.microsoft.com/office/powerpoint/2010/main" val="1220267390"/>
      </p:ext>
    </p:extLst>
  </p:cSld>
</p:sld>
</file>

<file path=ppt/slides/slide12.xml><?xml version="1.0" encoding="utf-8"?>
<p:sld xmlns:p="http://schemas.openxmlformats.org/presentationml/2006/main">
  <p:cSld>
    <p:bg>
      <p:bgPr>
        <a:solidFill xmlns:a="http://schemas.openxmlformats.org/drawingml/2006/main">
          <a:srgbClr val="1321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147F49-94A7-4E8E-A6EA-0CD2EDFAB4A4}"/>
              </a:ext>
            </a:extLst>
          </p:cNvPr>
          <p:cNvSpPr>
            <a:spLocks xmlns:a="http://schemas.openxmlformats.org/drawingml/2006/main" noGrp="1"/>
          </p:cNvSpPr>
          <p:nvPr/>
        </p:nvSpPr>
        <p:spPr>
          <a:xfrm xmlns:a="http://schemas.openxmlformats.org/drawingml/2006/main">
            <a:off x="400050" y="400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9AB1FF"/>
                </a:solidFill>
                <a:latin typeface="Aptos"/>
                <a:ea typeface="Aptos"/>
                <a:cs typeface="Aptos"/>
              </a:defRPr>
            </a:pPr>
            <a:r>
              <a:rPr sz="1200" b="1">
                <a:solidFill>
                  <a:srgbClr val="9AB1FF"/>
                </a:solidFill>
                <a:latin typeface="Aptos"/>
                <a:ea typeface="Aptos"/>
                <a:cs typeface="Aptos"/>
              </a:rPr>
              <a:t>THE ASK</a:t>
            </a:r>
          </a:p>
        </p:txBody>
      </p:sp>
      <p:sp>
        <p:nvSpPr>
          <p:cNvPr id="2" name="">
            <a:extLst xmlns:a="http://schemas.openxmlformats.org/drawingml/2006/main">
              <a:ext uri="{FF2B5EF4-FFF2-40B4-BE49-F238E27FC236}">
                <a16:creationId xmlns:a16="http://schemas.microsoft.com/office/drawing/2014/main" id="{5853D337-3A40-4605-A81C-0DB33CCAFD30}"/>
              </a:ext>
            </a:extLst>
          </p:cNvPr>
          <p:cNvSpPr>
            <a:spLocks xmlns:a="http://schemas.openxmlformats.org/drawingml/2006/main" noGrp="1"/>
          </p:cNvSpPr>
          <p:nvPr/>
        </p:nvSpPr>
        <p:spPr>
          <a:xfrm xmlns:a="http://schemas.openxmlformats.org/drawingml/2006/main">
            <a:off x="400050" y="1428750"/>
            <a:ext cx="8477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500" b="1">
                <a:solidFill>
                  <a:srgbClr val="FFFFFF"/>
                </a:solidFill>
                <a:latin typeface="Aptos"/>
                <a:ea typeface="Aptos"/>
                <a:cs typeface="Aptos"/>
              </a:defRPr>
            </a:pPr>
            <a:r>
              <a:rPr sz="4500" b="1">
                <a:solidFill>
                  <a:srgbClr val="FFFFFF"/>
                </a:solidFill>
                <a:latin typeface="Aptos"/>
                <a:ea typeface="Aptos"/>
                <a:cs typeface="Aptos"/>
              </a:rPr>
              <a:t>Choose one decision. Pilot the workflow. Validate the value.</a:t>
            </a:r>
          </a:p>
        </p:txBody>
      </p:sp>
      <p:sp>
        <p:nvSpPr>
          <p:cNvPr id="3" name="">
            <a:extLst xmlns:a="http://schemas.openxmlformats.org/drawingml/2006/main">
              <a:ext uri="{FF2B5EF4-FFF2-40B4-BE49-F238E27FC236}">
                <a16:creationId xmlns:a16="http://schemas.microsoft.com/office/drawing/2014/main" id="{EE9F1EA6-0BB4-442A-BB7D-65BA40A055DE}"/>
              </a:ext>
            </a:extLst>
          </p:cNvPr>
          <p:cNvSpPr>
            <a:spLocks xmlns:a="http://schemas.openxmlformats.org/drawingml/2006/main" noGrp="1"/>
          </p:cNvSpPr>
          <p:nvPr/>
        </p:nvSpPr>
        <p:spPr>
          <a:xfrm xmlns:a="http://schemas.openxmlformats.org/drawingml/2006/main">
            <a:off x="400050" y="4762500"/>
            <a:ext cx="828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04"/>
          </a:bodyPr>
          <a:lstStyle xmlns:a="http://schemas.openxmlformats.org/drawingml/2006/main"/>
          <a:p xmlns:a="http://schemas.openxmlformats.org/drawingml/2006/main">
            <a:pPr algn="l">
              <a:buNone/>
              <a:defRPr sz="2025" b="0">
                <a:solidFill>
                  <a:srgbClr val="DCE5FF"/>
                </a:solidFill>
                <a:latin typeface="Aptos"/>
                <a:ea typeface="Aptos"/>
                <a:cs typeface="Aptos"/>
              </a:defRPr>
            </a:pPr>
            <a:r>
              <a:rPr sz="2025" b="0">
                <a:solidFill>
                  <a:srgbClr val="DCE5FF"/>
                </a:solidFill>
                <a:latin typeface="Aptos"/>
                <a:ea typeface="Aptos"/>
                <a:cs typeface="Aptos"/>
              </a:rPr>
              <a:t>Next step: name one accountable user, confirm the four decision rules, and run one bounded portfolio decision with approved inputs and a measurable baseline.</a:t>
            </a:r>
          </a:p>
        </p:txBody>
      </p:sp>
      <p:sp>
        <p:nvSpPr>
          <p:cNvPr id="4" name="">
            <a:extLst xmlns:a="http://schemas.openxmlformats.org/drawingml/2006/main">
              <a:ext uri="{FF2B5EF4-FFF2-40B4-BE49-F238E27FC236}">
                <a16:creationId xmlns:a16="http://schemas.microsoft.com/office/drawing/2014/main" id="{F348AE29-FAD7-4EC8-875A-D75A26F69CE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oundRect">
            <a:avLst>
              <a:gd name="adj" fmla="val 21795"/>
            </a:avLst>
          </a:prstGeom>
          <a:solidFill xmlns:a="http://schemas.openxmlformats.org/drawingml/2006/main">
            <a:srgbClr val="2D5B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9A0CAD-F9A5-4D1C-A91F-4CE5FA12C1C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FFFFFF"/>
                </a:solidFill>
                <a:latin typeface="Aptos"/>
                <a:ea typeface="Aptos"/>
                <a:cs typeface="Aptos"/>
              </a:defRPr>
            </a:pPr>
            <a:r>
              <a:rPr sz="3300" b="1">
                <a:solidFill>
                  <a:srgbClr val="FFFFFF"/>
                </a:solidFill>
                <a:latin typeface="Aptos"/>
                <a:ea typeface="Aptos"/>
                <a:cs typeface="Aptos"/>
              </a:rPr>
              <a:t>CVC</a:t>
            </a:r>
          </a:p>
        </p:txBody>
      </p:sp>
    </p:spTree>
    <p:extLst>
      <p:ext uri="{BB962C8B-B14F-4D97-AF65-F5344CB8AC3E}">
        <p14:creationId xmlns:p14="http://schemas.microsoft.com/office/powerpoint/2010/main" val="1440418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2026-08-05T22:39:35.3800000Z</dcterms:created>
  <dcterms:modified xsi:type="dcterms:W3CDTF">2026-08-05T22:39:35.3800000Z</dcterms:modified>
</coreProperties>
</file>
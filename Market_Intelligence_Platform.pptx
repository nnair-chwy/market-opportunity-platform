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32" d="100"/>
          <a:sy n="132" d="100"/>
        </p:scale>
        <p:origin x="12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9BEEC3F-C090-41B0-A9FC-F7FA54F8CA14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B1D45C3-931E-440D-8035-62FC46C7D153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ED71B2-8975-4B35-8CDC-E564C9942277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F4EE00-FF53-46F1-B440-E939C44AB7F7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F5FF57-1DC8-4DE2-A438-93FB6ABB68BB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545F62-2214-4A01-AC35-B94053640CB5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25CE2E-DB5B-47E5-AAB6-47C86ED458A9}"/>
              </a:ext>
            </a:extLst>
          </p:cNvPr>
          <p:cNvSpPr>
            <a:spLocks noGrp="1"/>
          </p:cNvSpPr>
          <p:nvPr/>
        </p:nvSpPr>
        <p:spPr>
          <a:xfrm>
            <a:off x="514350" y="647700"/>
            <a:ext cx="5048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746" lnSpcReduction="20000"/>
          </a:bodyPr>
          <a:lstStyle/>
          <a:p>
            <a:pPr algn="l">
              <a:defRPr sz="35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550" b="0" i="0" dirty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Chewy has the signals</a:t>
            </a:r>
          </a:p>
          <a:p>
            <a:pPr algn="l">
              <a:defRPr sz="355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550" b="0" i="0" dirty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to find opportunity.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4A1DA-AE6E-4252-8EE2-8F8A00A63FEA}"/>
              </a:ext>
            </a:extLst>
          </p:cNvPr>
          <p:cNvSpPr>
            <a:spLocks noGrp="1"/>
          </p:cNvSpPr>
          <p:nvPr/>
        </p:nvSpPr>
        <p:spPr>
          <a:xfrm>
            <a:off x="552450" y="1580649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0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50" b="0" i="0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Market Opportunity Platform turns those signals into decisions people can trust and own.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5A014-CC98-4899-9EBD-57AD9C0DFF9A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 shared decision layer for growth, expansion, insights, and strategy.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A4446F-95E1-4D9D-BE1B-A7485F45BCE0}"/>
              </a:ext>
            </a:extLst>
          </p:cNvPr>
          <p:cNvSpPr>
            <a:spLocks noGrp="1"/>
          </p:cNvSpPr>
          <p:nvPr/>
        </p:nvSpPr>
        <p:spPr>
          <a:xfrm>
            <a:off x="6048375" y="1104900"/>
            <a:ext cx="1676400" cy="1676400"/>
          </a:xfrm>
          <a:prstGeom prst="ellipse">
            <a:avLst/>
          </a:prstGeom>
          <a:solidFill>
            <a:srgbClr val="EEF4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B5AD09E-6146-49B0-AA21-61625112D667}"/>
              </a:ext>
            </a:extLst>
          </p:cNvPr>
          <p:cNvSpPr>
            <a:spLocks noGrp="1"/>
          </p:cNvSpPr>
          <p:nvPr/>
        </p:nvSpPr>
        <p:spPr>
          <a:xfrm>
            <a:off x="6457950" y="1514475"/>
            <a:ext cx="857250" cy="85725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4B7344-D3C9-4ECF-95F2-DA47619A62AE}"/>
              </a:ext>
            </a:extLst>
          </p:cNvPr>
          <p:cNvSpPr>
            <a:spLocks noGrp="1"/>
          </p:cNvSpPr>
          <p:nvPr/>
        </p:nvSpPr>
        <p:spPr>
          <a:xfrm>
            <a:off x="6762750" y="1819275"/>
            <a:ext cx="266700" cy="266700"/>
          </a:xfrm>
          <a:prstGeom prst="ellipse">
            <a:avLst/>
          </a:prstGeom>
          <a:solidFill>
            <a:srgbClr val="0B3FB8"/>
          </a:solidFill>
          <a:ln w="9525">
            <a:solidFill>
              <a:srgbClr val="0B3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6AB69F41-5062-4770-8A82-D20DF5F0671C}"/>
              </a:ext>
            </a:extLst>
          </p:cNvPr>
          <p:cNvSpPr>
            <a:spLocks noGrp="1"/>
          </p:cNvSpPr>
          <p:nvPr/>
        </p:nvSpPr>
        <p:spPr>
          <a:xfrm flipH="1">
            <a:off x="6896098" y="1351247"/>
            <a:ext cx="1002432" cy="601364"/>
          </a:xfrm>
          <a:prstGeom prst="line">
            <a:avLst/>
          </a:prstGeom>
          <a:noFill/>
          <a:ln w="14288">
            <a:solidFill>
              <a:srgbClr val="2F6B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4C46767-4908-47E0-A784-4708226D7F81}"/>
              </a:ext>
            </a:extLst>
          </p:cNvPr>
          <p:cNvSpPr>
            <a:spLocks noGrp="1"/>
          </p:cNvSpPr>
          <p:nvPr/>
        </p:nvSpPr>
        <p:spPr>
          <a:xfrm>
            <a:off x="6896100" y="1952625"/>
            <a:ext cx="1028700" cy="0"/>
          </a:xfrm>
          <a:prstGeom prst="line">
            <a:avLst/>
          </a:prstGeom>
          <a:noFill/>
          <a:ln w="14288">
            <a:solidFill>
              <a:srgbClr val="0FA9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F306527-DFBC-420B-A5C7-BCAA504DE407}"/>
              </a:ext>
            </a:extLst>
          </p:cNvPr>
          <p:cNvSpPr>
            <a:spLocks noGrp="1"/>
          </p:cNvSpPr>
          <p:nvPr/>
        </p:nvSpPr>
        <p:spPr>
          <a:xfrm>
            <a:off x="6896100" y="1952625"/>
            <a:ext cx="971550" cy="619125"/>
          </a:xfrm>
          <a:prstGeom prst="line">
            <a:avLst/>
          </a:prstGeom>
          <a:noFill/>
          <a:ln w="14288">
            <a:solidFill>
              <a:srgbClr val="FF6B4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BF5057-B71F-4168-B573-AFF3E38D35E3}"/>
              </a:ext>
            </a:extLst>
          </p:cNvPr>
          <p:cNvSpPr>
            <a:spLocks noGrp="1"/>
          </p:cNvSpPr>
          <p:nvPr/>
        </p:nvSpPr>
        <p:spPr>
          <a:xfrm>
            <a:off x="7953375" y="1223962"/>
            <a:ext cx="11144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E4B60E-4B9D-4414-9C96-F85E55D5425C}"/>
              </a:ext>
            </a:extLst>
          </p:cNvPr>
          <p:cNvSpPr>
            <a:spLocks noGrp="1"/>
          </p:cNvSpPr>
          <p:nvPr/>
        </p:nvSpPr>
        <p:spPr>
          <a:xfrm>
            <a:off x="7898531" y="1819275"/>
            <a:ext cx="1350244" cy="3251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0FA99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5AEE5-9904-491B-BD97-14AE099A6B0B}"/>
              </a:ext>
            </a:extLst>
          </p:cNvPr>
          <p:cNvSpPr>
            <a:spLocks noGrp="1"/>
          </p:cNvSpPr>
          <p:nvPr/>
        </p:nvSpPr>
        <p:spPr>
          <a:xfrm>
            <a:off x="7920037" y="2474119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6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600" b="1" i="0" dirty="0">
                <a:solidFill>
                  <a:srgbClr val="FF6B4A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78F19-682C-44AD-980A-82738D132D34}"/>
              </a:ext>
            </a:extLst>
          </p:cNvPr>
          <p:cNvSpPr>
            <a:spLocks noGrp="1"/>
          </p:cNvSpPr>
          <p:nvPr/>
        </p:nvSpPr>
        <p:spPr>
          <a:xfrm>
            <a:off x="514350" y="3754354"/>
            <a:ext cx="7277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7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75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FROM WHERE SHOULD WE OPEN  →  WHERE SHOULD WE 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584CC0-56D8-4061-8D22-2089F8476FCD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3233088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67B0955C-5BBD-4225-963C-A156FA2F20F9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0AEE7FA-87B0-4AAB-B271-DCDE82FA4AA0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E4F7FE-9038-4D6D-BF4C-882B88C1DCF6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9967A2-27E8-41E1-ACA9-30695D092319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203EAE-4FAF-4101-AEC2-C503E966C5B1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BCB82C-B62E-4D41-8E7A-151AD922C272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329A8D-92FC-4BA6-916D-B4EDE544745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6351" lnSpcReduction="20000"/>
          </a:bodyPr>
          <a:lstStyle/>
          <a:p>
            <a:pPr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 dirty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Multiple teams are asking the same underlying market question.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2A2BD3-2453-44E7-A15D-11DBEED9A505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ctr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Different decisions. Shared need: evidence that is local, comparable, and actionable.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90B8-28EC-4D61-881F-0BF3845734BD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8AA85E-FABE-4CFA-9A8F-A41FF70713A7}"/>
              </a:ext>
            </a:extLst>
          </p:cNvPr>
          <p:cNvSpPr>
            <a:spLocks noGrp="1"/>
          </p:cNvSpPr>
          <p:nvPr/>
        </p:nvSpPr>
        <p:spPr>
          <a:xfrm>
            <a:off x="3302000" y="1587500"/>
            <a:ext cx="508000" cy="508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CE88A5-8E87-4E06-A37C-DB98B3BB388F}"/>
              </a:ext>
            </a:extLst>
          </p:cNvPr>
          <p:cNvSpPr>
            <a:spLocks noGrp="1"/>
          </p:cNvSpPr>
          <p:nvPr/>
        </p:nvSpPr>
        <p:spPr>
          <a:xfrm>
            <a:off x="3302000" y="1749425"/>
            <a:ext cx="508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451CE4-CA2E-4F18-ADAA-1A89853889EC}"/>
              </a:ext>
            </a:extLst>
          </p:cNvPr>
          <p:cNvSpPr>
            <a:spLocks noGrp="1"/>
          </p:cNvSpPr>
          <p:nvPr/>
        </p:nvSpPr>
        <p:spPr>
          <a:xfrm>
            <a:off x="571500" y="1574800"/>
            <a:ext cx="2540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0000" lnSpcReduction="20000"/>
          </a:bodyPr>
          <a:lstStyle/>
          <a:p>
            <a:pPr algn="l">
              <a:defRPr sz="1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Clinic &amp; CVC expansion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03AB3-7DFF-4E65-904D-FE7F24B7D341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5400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Where should we investigate next?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298840-A0E7-4CBB-9791-0413710C7D21}"/>
              </a:ext>
            </a:extLst>
          </p:cNvPr>
          <p:cNvSpPr>
            <a:spLocks noGrp="1"/>
          </p:cNvSpPr>
          <p:nvPr/>
        </p:nvSpPr>
        <p:spPr>
          <a:xfrm>
            <a:off x="3302000" y="3175000"/>
            <a:ext cx="508000" cy="508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869D7B-8F4C-4061-9616-3783FCFFCEB6}"/>
              </a:ext>
            </a:extLst>
          </p:cNvPr>
          <p:cNvSpPr>
            <a:spLocks noGrp="1"/>
          </p:cNvSpPr>
          <p:nvPr/>
        </p:nvSpPr>
        <p:spPr>
          <a:xfrm>
            <a:off x="3302000" y="3350828"/>
            <a:ext cx="508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4621" lnSpcReduction="20000"/>
          </a:bodyPr>
          <a:lstStyle/>
          <a:p>
            <a:pPr algn="ctr">
              <a:defRPr sz="2050" b="0" i="0">
                <a:solidFill>
                  <a:srgbClr val="0FA99A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0FA99A"/>
                </a:solidFill>
                <a:latin typeface="Georgia"/>
                <a:ea typeface="Georgia"/>
                <a:cs typeface="Georgia"/>
              </a:rPr>
              <a:t>↗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5455EC-4D81-440D-B5F6-8224AF37D1BC}"/>
              </a:ext>
            </a:extLst>
          </p:cNvPr>
          <p:cNvSpPr>
            <a:spLocks noGrp="1"/>
          </p:cNvSpPr>
          <p:nvPr/>
        </p:nvSpPr>
        <p:spPr>
          <a:xfrm>
            <a:off x="571500" y="3162300"/>
            <a:ext cx="2540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0000" lnSpcReduction="20000"/>
          </a:bodyPr>
          <a:lstStyle/>
          <a:p>
            <a:pPr algn="l">
              <a:defRPr sz="19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Growth marketing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E5BA42-965A-46E1-BE45-2DCF2FD9A260}"/>
              </a:ext>
            </a:extLst>
          </p:cNvPr>
          <p:cNvSpPr>
            <a:spLocks noGrp="1"/>
          </p:cNvSpPr>
          <p:nvPr/>
        </p:nvSpPr>
        <p:spPr>
          <a:xfrm>
            <a:off x="571500" y="3492500"/>
            <a:ext cx="25400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Which local test should we run?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F06C91-0FE3-4358-B99F-1274C032182A}"/>
              </a:ext>
            </a:extLst>
          </p:cNvPr>
          <p:cNvSpPr>
            <a:spLocks noGrp="1"/>
          </p:cNvSpPr>
          <p:nvPr/>
        </p:nvSpPr>
        <p:spPr>
          <a:xfrm>
            <a:off x="5588000" y="1587500"/>
            <a:ext cx="508000" cy="508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5BDBCF-F3AD-45AE-88D1-A6B9C34E257F}"/>
              </a:ext>
            </a:extLst>
          </p:cNvPr>
          <p:cNvSpPr>
            <a:spLocks noGrp="1"/>
          </p:cNvSpPr>
          <p:nvPr/>
        </p:nvSpPr>
        <p:spPr>
          <a:xfrm>
            <a:off x="5588000" y="1733550"/>
            <a:ext cx="508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◌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A03C64-0055-4E14-8AF6-4ECE66B7A1B3}"/>
              </a:ext>
            </a:extLst>
          </p:cNvPr>
          <p:cNvSpPr>
            <a:spLocks noGrp="1"/>
          </p:cNvSpPr>
          <p:nvPr/>
        </p:nvSpPr>
        <p:spPr>
          <a:xfrm>
            <a:off x="6286500" y="1574800"/>
            <a:ext cx="2286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0000" lnSpcReduction="20000"/>
          </a:bodyPr>
          <a:lstStyle/>
          <a:p>
            <a:pPr algn="l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Consumer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AD78C8-B2E2-4ECD-91BB-E0CD2EDA2F77}"/>
              </a:ext>
            </a:extLst>
          </p:cNvPr>
          <p:cNvSpPr>
            <a:spLocks noGrp="1"/>
          </p:cNvSpPr>
          <p:nvPr/>
        </p:nvSpPr>
        <p:spPr>
          <a:xfrm>
            <a:off x="6286500" y="1905000"/>
            <a:ext cx="22860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Which need or barrier matters?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AC9892-090A-4542-A3A5-5F60E72831FC}"/>
              </a:ext>
            </a:extLst>
          </p:cNvPr>
          <p:cNvSpPr>
            <a:spLocks noGrp="1"/>
          </p:cNvSpPr>
          <p:nvPr/>
        </p:nvSpPr>
        <p:spPr>
          <a:xfrm>
            <a:off x="5588000" y="3200400"/>
            <a:ext cx="508000" cy="508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1CFD9A-231F-4EB5-AABF-880270D71489}"/>
              </a:ext>
            </a:extLst>
          </p:cNvPr>
          <p:cNvSpPr>
            <a:spLocks noGrp="1"/>
          </p:cNvSpPr>
          <p:nvPr/>
        </p:nvSpPr>
        <p:spPr>
          <a:xfrm>
            <a:off x="5588000" y="3339732"/>
            <a:ext cx="508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AE031A-572A-4EFB-8073-B4518B407CAE}"/>
              </a:ext>
            </a:extLst>
          </p:cNvPr>
          <p:cNvSpPr>
            <a:spLocks noGrp="1"/>
          </p:cNvSpPr>
          <p:nvPr/>
        </p:nvSpPr>
        <p:spPr>
          <a:xfrm>
            <a:off x="6286500" y="3162300"/>
            <a:ext cx="22860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0000" lnSpcReduction="20000"/>
          </a:bodyPr>
          <a:lstStyle/>
          <a:p>
            <a:pPr algn="l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Market intelligence &amp; strategy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513917-127B-4BF3-832A-B2C4E708AB18}"/>
              </a:ext>
            </a:extLst>
          </p:cNvPr>
          <p:cNvSpPr>
            <a:spLocks noGrp="1"/>
          </p:cNvSpPr>
          <p:nvPr/>
        </p:nvSpPr>
        <p:spPr>
          <a:xfrm>
            <a:off x="6286500" y="3492500"/>
            <a:ext cx="2286000" cy="43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Where should leadership focus?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AC157BB-5CC7-490E-B0F1-13FFD8922A6F}"/>
              </a:ext>
            </a:extLst>
          </p:cNvPr>
          <p:cNvSpPr>
            <a:spLocks noGrp="1"/>
          </p:cNvSpPr>
          <p:nvPr/>
        </p:nvSpPr>
        <p:spPr>
          <a:xfrm>
            <a:off x="4064000" y="2127250"/>
            <a:ext cx="1270000" cy="1270000"/>
          </a:xfrm>
          <a:prstGeom prst="ellipse">
            <a:avLst/>
          </a:prstGeom>
          <a:solidFill>
            <a:srgbClr val="EEF4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E428F5-CD82-408A-ADC5-9F3C1E11ACC6}"/>
              </a:ext>
            </a:extLst>
          </p:cNvPr>
          <p:cNvSpPr>
            <a:spLocks noGrp="1"/>
          </p:cNvSpPr>
          <p:nvPr/>
        </p:nvSpPr>
        <p:spPr>
          <a:xfrm>
            <a:off x="4064000" y="2451100"/>
            <a:ext cx="1270000" cy="62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6019" lnSpcReduction="20000"/>
          </a:bodyPr>
          <a:lstStyle/>
          <a:p>
            <a:pPr algn="ctr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ONE</a:t>
            </a:r>
          </a:p>
          <a:p>
            <a:pPr algn="ctr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MARKET</a:t>
            </a:r>
          </a:p>
          <a:p>
            <a:pPr algn="ctr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81224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71E0644F-DC8E-4D22-AB8D-5A9580963708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1083AEC-0EC5-40C5-B212-CA1B943CDC5C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4776AB-C000-445B-BFDA-6EA0BE2B28EC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59BA9F-3EE6-4AD9-8E3E-709015654C53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8E3F96-C1C5-4389-A89F-8B275F8CF571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5C95F1-6955-488D-B43E-2B8AC495110A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C1A98C-E17B-4477-8F23-C2D6D25AF2B2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8810" lnSpcReduction="2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Today, the evidence is fragmented across the decision journey.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DF0FCC-1546-4A44-901C-AD8ED93ADB3B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The cost is repeated research, inconsistent context, and unclear ownership.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E2DE29-46B9-4E31-B439-3D40FDECDECA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80A84-864F-4931-9AE5-953FA46D015C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9167" lnSpcReduction="20000"/>
          </a:bodyPr>
          <a:lstStyle/>
          <a:p>
            <a:pPr algn="l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 dirty="0">
                <a:solidFill>
                  <a:srgbClr val="2F6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E3EA0-ED0A-4608-9B25-C19382354122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310" lnSpcReduction="20000"/>
          </a:bodyPr>
          <a:lstStyle/>
          <a:p>
            <a:pPr algn="l">
              <a:defRPr sz="220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200" b="0" i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Where should we focus?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8BBC1A-19FE-4F18-8A25-7E2C89DCF191}"/>
              </a:ext>
            </a:extLst>
          </p:cNvPr>
          <p:cNvSpPr>
            <a:spLocks noGrp="1"/>
          </p:cNvSpPr>
          <p:nvPr/>
        </p:nvSpPr>
        <p:spPr>
          <a:xfrm>
            <a:off x="3638550" y="1600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9167" lnSpcReduction="20000"/>
          </a:bodyPr>
          <a:lstStyle/>
          <a:p>
            <a:pPr algn="l">
              <a:defRPr sz="17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0166C0-3941-4996-BD5A-4CD7F4A3FBB4}"/>
              </a:ext>
            </a:extLst>
          </p:cNvPr>
          <p:cNvSpPr>
            <a:spLocks noGrp="1"/>
          </p:cNvSpPr>
          <p:nvPr/>
        </p:nvSpPr>
        <p:spPr>
          <a:xfrm>
            <a:off x="3638550" y="19240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639" lnSpcReduction="20000"/>
          </a:bodyPr>
          <a:lstStyle/>
          <a:p>
            <a:pPr algn="l">
              <a:def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Different sources</a:t>
            </a:r>
          </a:p>
          <a:p>
            <a:pPr algn="l">
              <a:def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5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arrive in different places.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7929C-F4AE-43EA-A7A8-2E9ACEECF855}"/>
              </a:ext>
            </a:extLst>
          </p:cNvPr>
          <p:cNvSpPr>
            <a:spLocks noGrp="1"/>
          </p:cNvSpPr>
          <p:nvPr/>
        </p:nvSpPr>
        <p:spPr>
          <a:xfrm>
            <a:off x="6667500" y="16002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9167" lnSpcReduction="20000"/>
          </a:bodyPr>
          <a:lstStyle/>
          <a:p>
            <a:pPr algn="l">
              <a:defRPr sz="17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B83AD-C287-473E-AC8C-98BA4A6818ED}"/>
              </a:ext>
            </a:extLst>
          </p:cNvPr>
          <p:cNvSpPr>
            <a:spLocks noGrp="1"/>
          </p:cNvSpPr>
          <p:nvPr/>
        </p:nvSpPr>
        <p:spPr>
          <a:xfrm>
            <a:off x="6648450" y="18954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242"/>
          </a:bodyPr>
          <a:lstStyle/>
          <a:p>
            <a:pPr algn="l">
              <a:def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0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What should we</a:t>
            </a:r>
          </a:p>
          <a:p>
            <a:pPr algn="l">
              <a:def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0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do next?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A20C361-C59B-409B-B35D-A0180111D9C3}"/>
              </a:ext>
            </a:extLst>
          </p:cNvPr>
          <p:cNvSpPr>
            <a:spLocks noGrp="1"/>
          </p:cNvSpPr>
          <p:nvPr/>
        </p:nvSpPr>
        <p:spPr>
          <a:xfrm>
            <a:off x="2781300" y="2095500"/>
            <a:ext cx="742950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C287AC0-E659-4866-86DA-2CD123337D68}"/>
              </a:ext>
            </a:extLst>
          </p:cNvPr>
          <p:cNvSpPr>
            <a:spLocks noGrp="1"/>
          </p:cNvSpPr>
          <p:nvPr/>
        </p:nvSpPr>
        <p:spPr>
          <a:xfrm>
            <a:off x="1819275" y="3143250"/>
            <a:ext cx="781050" cy="781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E1F480-E854-471E-9808-46E39487D871}"/>
              </a:ext>
            </a:extLst>
          </p:cNvPr>
          <p:cNvSpPr>
            <a:spLocks noGrp="1"/>
          </p:cNvSpPr>
          <p:nvPr/>
        </p:nvSpPr>
        <p:spPr>
          <a:xfrm>
            <a:off x="1819275" y="335280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4762" lnSpcReduction="20000"/>
          </a:bodyPr>
          <a:lstStyle/>
          <a:p>
            <a:pPr algn="ctr">
              <a:defRPr sz="250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250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↻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677FEF-ED77-4747-895C-566B00C7FC41}"/>
              </a:ext>
            </a:extLst>
          </p:cNvPr>
          <p:cNvSpPr>
            <a:spLocks noGrp="1"/>
          </p:cNvSpPr>
          <p:nvPr/>
        </p:nvSpPr>
        <p:spPr>
          <a:xfrm>
            <a:off x="1514475" y="4048125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1912" lnSpcReduction="20000"/>
          </a:bodyPr>
          <a:lstStyle/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Repeated</a:t>
            </a:r>
          </a:p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manual synthesis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9A2CF8-8859-41CE-A2E9-CA72ADA435DD}"/>
              </a:ext>
            </a:extLst>
          </p:cNvPr>
          <p:cNvSpPr>
            <a:spLocks noGrp="1"/>
          </p:cNvSpPr>
          <p:nvPr/>
        </p:nvSpPr>
        <p:spPr>
          <a:xfrm>
            <a:off x="4057650" y="3143250"/>
            <a:ext cx="781050" cy="781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C734E3-CC43-4B58-9515-3C7CC37E3ABE}"/>
              </a:ext>
            </a:extLst>
          </p:cNvPr>
          <p:cNvSpPr>
            <a:spLocks noGrp="1"/>
          </p:cNvSpPr>
          <p:nvPr/>
        </p:nvSpPr>
        <p:spPr>
          <a:xfrm>
            <a:off x="4057650" y="335280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4762" lnSpcReduction="20000"/>
          </a:bodyPr>
          <a:lstStyle/>
          <a:p>
            <a:pPr algn="ctr">
              <a:defRPr sz="2500" b="0" i="0">
                <a:solidFill>
                  <a:srgbClr val="0FA99A"/>
                </a:solidFill>
                <a:latin typeface="Georgia"/>
                <a:ea typeface="Georgia"/>
                <a:cs typeface="Georgia"/>
              </a:defRPr>
            </a:pPr>
            <a:r>
              <a:rPr sz="2500" b="0" i="0">
                <a:solidFill>
                  <a:srgbClr val="0FA99A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E38C55-A67A-45F0-BDED-C354A3EFB316}"/>
              </a:ext>
            </a:extLst>
          </p:cNvPr>
          <p:cNvSpPr>
            <a:spLocks noGrp="1"/>
          </p:cNvSpPr>
          <p:nvPr/>
        </p:nvSpPr>
        <p:spPr>
          <a:xfrm>
            <a:off x="3762375" y="4048125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1912" lnSpcReduction="20000"/>
          </a:bodyPr>
          <a:lstStyle/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Missing context</a:t>
            </a:r>
          </a:p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stays hidden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BFB425-7FED-4A18-AABA-7DB63D1B3D9D}"/>
              </a:ext>
            </a:extLst>
          </p:cNvPr>
          <p:cNvSpPr>
            <a:spLocks noGrp="1"/>
          </p:cNvSpPr>
          <p:nvPr/>
        </p:nvSpPr>
        <p:spPr>
          <a:xfrm>
            <a:off x="6296025" y="3143250"/>
            <a:ext cx="781050" cy="7810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80FFE-46A6-4ADC-906B-0B848094964C}"/>
              </a:ext>
            </a:extLst>
          </p:cNvPr>
          <p:cNvSpPr>
            <a:spLocks noGrp="1"/>
          </p:cNvSpPr>
          <p:nvPr/>
        </p:nvSpPr>
        <p:spPr>
          <a:xfrm>
            <a:off x="6296025" y="335280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4762" lnSpcReduction="20000"/>
          </a:bodyPr>
          <a:lstStyle/>
          <a:p>
            <a:pPr algn="ctr">
              <a:defRPr sz="2500" b="0" i="0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2500" b="0" i="0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7F0CBE-503E-47BF-A94F-C1A7D0BE3116}"/>
              </a:ext>
            </a:extLst>
          </p:cNvPr>
          <p:cNvSpPr>
            <a:spLocks noGrp="1"/>
          </p:cNvSpPr>
          <p:nvPr/>
        </p:nvSpPr>
        <p:spPr>
          <a:xfrm>
            <a:off x="6010275" y="4048125"/>
            <a:ext cx="1381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1912" lnSpcReduction="20000"/>
          </a:bodyPr>
          <a:lstStyle/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Ownership arrives</a:t>
            </a:r>
          </a:p>
          <a:p>
            <a:pPr algn="ctr">
              <a:defRPr sz="1675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75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late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77E7D541-5E5E-58FA-C581-DEA60AB97E92}"/>
              </a:ext>
            </a:extLst>
          </p:cNvPr>
          <p:cNvSpPr>
            <a:spLocks noGrp="1"/>
          </p:cNvSpPr>
          <p:nvPr/>
        </p:nvSpPr>
        <p:spPr>
          <a:xfrm>
            <a:off x="5725027" y="2110339"/>
            <a:ext cx="742950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13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4418212A-724C-4EDE-9328-1C950CB4C091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7BEF4CC-36BA-4F9B-B7F0-99F95E51AC6D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ACDD580-19AD-4A02-B893-EB347A7AF0E8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401C0B-3C11-44F1-BB7D-E4D6F817480B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0282497-EB3E-4AAC-94DA-3862F6647641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FE8F4A-A59B-47E1-8799-116D4DCEF404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E920C-79D8-4AC1-8BB4-00F80C1CD64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7593" lnSpcReduction="2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Market Opportunity Platform turns a question into a reviewable next action.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CF3DBA-4F75-4E9D-9021-50DF0B84B66F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One shared workflow, with vertical-specific evidence and accountable owners.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47739F-8E5D-4975-BB23-B5323A3ABC82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DA4451-861C-4D62-8202-1DAF929C718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A43B7-74FD-41F2-B150-77E6D9FC1D03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539553-5CB6-4733-A72C-2879D6AF4A88}"/>
              </a:ext>
            </a:extLst>
          </p:cNvPr>
          <p:cNvSpPr>
            <a:spLocks noGrp="1"/>
          </p:cNvSpPr>
          <p:nvPr/>
        </p:nvSpPr>
        <p:spPr>
          <a:xfrm>
            <a:off x="495300" y="24955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C86DF8-10F7-462F-9640-EEB5A30B7E21}"/>
              </a:ext>
            </a:extLst>
          </p:cNvPr>
          <p:cNvSpPr>
            <a:spLocks noGrp="1"/>
          </p:cNvSpPr>
          <p:nvPr/>
        </p:nvSpPr>
        <p:spPr>
          <a:xfrm>
            <a:off x="333375" y="27432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500" lnSpcReduction="200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Define the decision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839CF70-26E0-4EAE-B225-25A0D8A889DB}"/>
              </a:ext>
            </a:extLst>
          </p:cNvPr>
          <p:cNvSpPr>
            <a:spLocks noGrp="1"/>
          </p:cNvSpPr>
          <p:nvPr/>
        </p:nvSpPr>
        <p:spPr>
          <a:xfrm>
            <a:off x="1352550" y="2085975"/>
            <a:ext cx="108585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F42855-85AA-43FD-A370-1C984E50659C}"/>
              </a:ext>
            </a:extLst>
          </p:cNvPr>
          <p:cNvSpPr>
            <a:spLocks noGrp="1"/>
          </p:cNvSpPr>
          <p:nvPr/>
        </p:nvSpPr>
        <p:spPr>
          <a:xfrm>
            <a:off x="2476500" y="18097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1021FB-621F-400B-A830-D40F73AEEFEA}"/>
              </a:ext>
            </a:extLst>
          </p:cNvPr>
          <p:cNvSpPr>
            <a:spLocks noGrp="1"/>
          </p:cNvSpPr>
          <p:nvPr/>
        </p:nvSpPr>
        <p:spPr>
          <a:xfrm>
            <a:off x="2476500" y="1943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2E6994-DFE6-4B14-A079-F7D1D47EBD0F}"/>
              </a:ext>
            </a:extLst>
          </p:cNvPr>
          <p:cNvSpPr>
            <a:spLocks noGrp="1"/>
          </p:cNvSpPr>
          <p:nvPr/>
        </p:nvSpPr>
        <p:spPr>
          <a:xfrm>
            <a:off x="2209800" y="24955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FB6180-6AAA-4AB9-BB88-81E508D97F08}"/>
              </a:ext>
            </a:extLst>
          </p:cNvPr>
          <p:cNvSpPr>
            <a:spLocks noGrp="1"/>
          </p:cNvSpPr>
          <p:nvPr/>
        </p:nvSpPr>
        <p:spPr>
          <a:xfrm>
            <a:off x="2047875" y="27432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476" lnSpcReduction="200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Assemble governed inputs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8FC7A9F-420F-48CE-B05F-99F95E00CA74}"/>
              </a:ext>
            </a:extLst>
          </p:cNvPr>
          <p:cNvSpPr>
            <a:spLocks noGrp="1"/>
          </p:cNvSpPr>
          <p:nvPr/>
        </p:nvSpPr>
        <p:spPr>
          <a:xfrm>
            <a:off x="3067050" y="2085975"/>
            <a:ext cx="108585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BE6726-0015-4AB7-8476-9D664D6AED75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6E334E-3E58-4296-B656-E2AE50340F48}"/>
              </a:ext>
            </a:extLst>
          </p:cNvPr>
          <p:cNvSpPr>
            <a:spLocks noGrp="1"/>
          </p:cNvSpPr>
          <p:nvPr/>
        </p:nvSpPr>
        <p:spPr>
          <a:xfrm>
            <a:off x="4191000" y="1943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0F0D50-CF66-4689-B871-25F386E2E56A}"/>
              </a:ext>
            </a:extLst>
          </p:cNvPr>
          <p:cNvSpPr>
            <a:spLocks noGrp="1"/>
          </p:cNvSpPr>
          <p:nvPr/>
        </p:nvSpPr>
        <p:spPr>
          <a:xfrm>
            <a:off x="3924300" y="24955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EF69C0-7193-4A35-97F4-3B780F432A1B}"/>
              </a:ext>
            </a:extLst>
          </p:cNvPr>
          <p:cNvSpPr>
            <a:spLocks noGrp="1"/>
          </p:cNvSpPr>
          <p:nvPr/>
        </p:nvSpPr>
        <p:spPr>
          <a:xfrm>
            <a:off x="3762375" y="27432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476" lnSpcReduction="200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Calculate transparently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0E371786-9851-4A93-93F1-B9CD8F4958C9}"/>
              </a:ext>
            </a:extLst>
          </p:cNvPr>
          <p:cNvSpPr>
            <a:spLocks noGrp="1"/>
          </p:cNvSpPr>
          <p:nvPr/>
        </p:nvSpPr>
        <p:spPr>
          <a:xfrm>
            <a:off x="4781550" y="2085975"/>
            <a:ext cx="108585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5FA42C4-5BBD-46D2-AC8A-CFC27DBFCA6F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177076-9029-46D4-A61E-D743FDDDFFD0}"/>
              </a:ext>
            </a:extLst>
          </p:cNvPr>
          <p:cNvSpPr>
            <a:spLocks noGrp="1"/>
          </p:cNvSpPr>
          <p:nvPr/>
        </p:nvSpPr>
        <p:spPr>
          <a:xfrm>
            <a:off x="5905500" y="1943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4DB2A5-C977-4ED4-BE18-ABAF4DBA7002}"/>
              </a:ext>
            </a:extLst>
          </p:cNvPr>
          <p:cNvSpPr>
            <a:spLocks noGrp="1"/>
          </p:cNvSpPr>
          <p:nvPr/>
        </p:nvSpPr>
        <p:spPr>
          <a:xfrm>
            <a:off x="5638800" y="24955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3475DA-4048-4D87-9743-594B656F77BD}"/>
              </a:ext>
            </a:extLst>
          </p:cNvPr>
          <p:cNvSpPr>
            <a:spLocks noGrp="1"/>
          </p:cNvSpPr>
          <p:nvPr/>
        </p:nvSpPr>
        <p:spPr>
          <a:xfrm>
            <a:off x="5476875" y="27432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476" lnSpcReduction="200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Expose gaps and sensitivity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46EADA5E-5D73-4A16-AF7E-10C5A33306CB}"/>
              </a:ext>
            </a:extLst>
          </p:cNvPr>
          <p:cNvSpPr>
            <a:spLocks noGrp="1"/>
          </p:cNvSpPr>
          <p:nvPr/>
        </p:nvSpPr>
        <p:spPr>
          <a:xfrm>
            <a:off x="6496050" y="2085975"/>
            <a:ext cx="108585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ABE1A25-EFEB-403C-8D76-A24EE61074F2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40150C-D7F2-412B-9BD6-307E5894962D}"/>
              </a:ext>
            </a:extLst>
          </p:cNvPr>
          <p:cNvSpPr>
            <a:spLocks noGrp="1"/>
          </p:cNvSpPr>
          <p:nvPr/>
        </p:nvSpPr>
        <p:spPr>
          <a:xfrm>
            <a:off x="7620000" y="19431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4563D-8497-4304-8045-F93B6A55E8CA}"/>
              </a:ext>
            </a:extLst>
          </p:cNvPr>
          <p:cNvSpPr>
            <a:spLocks noGrp="1"/>
          </p:cNvSpPr>
          <p:nvPr/>
        </p:nvSpPr>
        <p:spPr>
          <a:xfrm>
            <a:off x="7353300" y="24955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8320B0-6DF2-49D5-BB94-E566432B323B}"/>
              </a:ext>
            </a:extLst>
          </p:cNvPr>
          <p:cNvSpPr>
            <a:spLocks noGrp="1"/>
          </p:cNvSpPr>
          <p:nvPr/>
        </p:nvSpPr>
        <p:spPr>
          <a:xfrm>
            <a:off x="7191375" y="27432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7118" lnSpcReduction="200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Prepare human review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C80F5E-F312-4C01-83E3-338780D3E7C9}"/>
              </a:ext>
            </a:extLst>
          </p:cNvPr>
          <p:cNvSpPr>
            <a:spLocks noGrp="1"/>
          </p:cNvSpPr>
          <p:nvPr/>
        </p:nvSpPr>
        <p:spPr>
          <a:xfrm>
            <a:off x="1381125" y="3905250"/>
            <a:ext cx="638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0000" lnSpcReduction="20000"/>
          </a:bodyPr>
          <a:lstStyle/>
          <a:p>
            <a:pPr algn="ctr">
              <a:defRPr sz="190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00" b="0" i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AI helps interpret and explain. Deterministic systems own geography, calculations, comparisons, and policy.</a:t>
            </a:r>
          </a:p>
        </p:txBody>
      </p:sp>
    </p:spTree>
    <p:extLst>
      <p:ext uri="{BB962C8B-B14F-4D97-AF65-F5344CB8AC3E}">
        <p14:creationId xmlns:p14="http://schemas.microsoft.com/office/powerpoint/2010/main" val="4050853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605D2F2D-0662-47C4-94F3-FA63D8AE76E3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FF3BBAC-F3BE-4E8D-B0E7-B8BAD8CFA8AD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5C76B08-821C-437C-AC47-7F82B63B8962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690B8A6-7513-4C8D-824C-B86FC8308EE1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4F4C0A-8867-43D3-8AE3-0D1CB2CC77CF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A54A85-3DAD-4FFA-90BD-5DB0316FE88D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D7238-1DC1-4169-AB03-C23F08AC8F5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1207" lnSpcReduction="2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Clinic expansion is the first proof point, not the product boundary.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9E7105-BCD5-40DF-BEFE-6C677B7557F6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It is a difficult, high-value decision that makes the reusable pattern visible.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046B6D-7ADE-425B-A8F7-BE556C27681B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000" lnSpcReduction="20000"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22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</a:t>
            </a:r>
            <a:r>
              <a:rPr sz="8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1469FB-C775-4709-8C77-E77B704B2039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1809750" cy="1809750"/>
          </a:xfrm>
          <a:prstGeom prst="ellipse">
            <a:avLst/>
          </a:prstGeom>
          <a:solidFill>
            <a:srgbClr val="EEF4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0379F9-9A7C-4D49-81B2-9C05D12E4482}"/>
              </a:ext>
            </a:extLst>
          </p:cNvPr>
          <p:cNvSpPr>
            <a:spLocks noGrp="1"/>
          </p:cNvSpPr>
          <p:nvPr/>
        </p:nvSpPr>
        <p:spPr>
          <a:xfrm>
            <a:off x="876300" y="2276475"/>
            <a:ext cx="1809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819" lnSpcReduction="20000"/>
          </a:bodyPr>
          <a:lstStyle/>
          <a:p>
            <a:pPr algn="ctr">
              <a:defRPr sz="2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CLINIC</a:t>
            </a:r>
          </a:p>
          <a:p>
            <a:pPr algn="ctr">
              <a:defRPr sz="22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2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EXPANSION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2842B3F9-894B-40AB-910D-39560525DD5E}"/>
              </a:ext>
            </a:extLst>
          </p:cNvPr>
          <p:cNvSpPr>
            <a:spLocks noGrp="1"/>
          </p:cNvSpPr>
          <p:nvPr/>
        </p:nvSpPr>
        <p:spPr>
          <a:xfrm>
            <a:off x="2686050" y="2619375"/>
            <a:ext cx="1028700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CDADAE-5393-4595-98DC-B79CFABA5DE2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1619250" cy="16192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1E60E2-5450-4EC1-A3F9-DBAB162315D3}"/>
              </a:ext>
            </a:extLst>
          </p:cNvPr>
          <p:cNvSpPr>
            <a:spLocks noGrp="1"/>
          </p:cNvSpPr>
          <p:nvPr/>
        </p:nvSpPr>
        <p:spPr>
          <a:xfrm>
            <a:off x="3714750" y="2209800"/>
            <a:ext cx="1619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111" lnSpcReduction="20000"/>
          </a:bodyPr>
          <a:lstStyle/>
          <a:p>
            <a:pPr algn="ctr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REUSABLE</a:t>
            </a:r>
          </a:p>
          <a:p>
            <a:pPr algn="ctr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EVALUATION</a:t>
            </a:r>
          </a:p>
          <a:p>
            <a:pPr algn="ctr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67F2046C-248E-46C6-9443-D6D0370994DC}"/>
              </a:ext>
            </a:extLst>
          </p:cNvPr>
          <p:cNvSpPr>
            <a:spLocks noGrp="1"/>
          </p:cNvSpPr>
          <p:nvPr/>
        </p:nvSpPr>
        <p:spPr>
          <a:xfrm>
            <a:off x="5353050" y="2619375"/>
            <a:ext cx="1028700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95CCAD-FE6E-47E2-9817-D3360BD41903}"/>
              </a:ext>
            </a:extLst>
          </p:cNvPr>
          <p:cNvSpPr>
            <a:spLocks noGrp="1"/>
          </p:cNvSpPr>
          <p:nvPr/>
        </p:nvSpPr>
        <p:spPr>
          <a:xfrm>
            <a:off x="6381750" y="1714500"/>
            <a:ext cx="1809750" cy="18097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7D2915-36F0-48E3-85A3-2968D1D01F82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788" lnSpcReduction="20000"/>
          </a:bodyPr>
          <a:lstStyle/>
          <a:p>
            <a:pPr algn="ctr">
              <a:defRPr sz="20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20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COMPANY-WIDE</a:t>
            </a:r>
          </a:p>
          <a:p>
            <a:pPr algn="ctr">
              <a:defRPr sz="20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20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MARKET</a:t>
            </a:r>
          </a:p>
          <a:p>
            <a:pPr algn="ctr">
              <a:defRPr sz="20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20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8B5155-C27E-413F-9556-17040CA1BC42}"/>
              </a:ext>
            </a:extLst>
          </p:cNvPr>
          <p:cNvSpPr>
            <a:spLocks noGrp="1"/>
          </p:cNvSpPr>
          <p:nvPr/>
        </p:nvSpPr>
        <p:spPr>
          <a:xfrm>
            <a:off x="719137" y="4095750"/>
            <a:ext cx="7572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200" b="0" i="0" dirty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The same pattern can support local tests, customer questions, portfolio choices, and expansion planning.</a:t>
            </a:r>
          </a:p>
        </p:txBody>
      </p:sp>
    </p:spTree>
    <p:extLst>
      <p:ext uri="{BB962C8B-B14F-4D97-AF65-F5344CB8AC3E}">
        <p14:creationId xmlns:p14="http://schemas.microsoft.com/office/powerpoint/2010/main" val="1470517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val 31">
            <a:extLst>
              <a:ext uri="{FF2B5EF4-FFF2-40B4-BE49-F238E27FC236}">
                <a16:creationId xmlns:a16="http://schemas.microsoft.com/office/drawing/2014/main" id="{879D821C-0BCC-4F4E-B6A9-F0B82BA9D676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0F244EF-EE4A-414B-9EA6-55BBFC6BB6EA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B8059E-23FF-4B7A-B436-6329964DB8F2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ED7AF1-83FF-4C4B-B4B2-69E139930553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71FC68F-3481-4296-A514-D7B32F6C39A1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3796A8-F9E8-43B5-B9A9-526388529A9A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81BAD1-66D4-4399-A060-860AF9A1986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7593" lnSpcReduction="2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demo shows the platform narrowing a broad question into grounded action.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C3B570-FF17-49D1-AE5F-115880A01DC4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Watch the workflow, not a black-box score.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9A313-9926-4F68-AE30-C913F4DED9C3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000" lnSpcReduction="20000"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22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</a:t>
            </a:r>
            <a:r>
              <a:rPr sz="8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A9EE91-E8C8-45F5-80A1-F8DBDB668991}"/>
              </a:ext>
            </a:extLst>
          </p:cNvPr>
          <p:cNvSpPr>
            <a:spLocks noGrp="1"/>
          </p:cNvSpPr>
          <p:nvPr/>
        </p:nvSpPr>
        <p:spPr>
          <a:xfrm>
            <a:off x="1238250" y="17335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529541-62EE-4C65-A4D6-15C074A9EE82}"/>
              </a:ext>
            </a:extLst>
          </p:cNvPr>
          <p:cNvSpPr>
            <a:spLocks noGrp="1"/>
          </p:cNvSpPr>
          <p:nvPr/>
        </p:nvSpPr>
        <p:spPr>
          <a:xfrm>
            <a:off x="1238250" y="18669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2E662C-CEE2-4F25-8986-A329E4245519}"/>
              </a:ext>
            </a:extLst>
          </p:cNvPr>
          <p:cNvSpPr>
            <a:spLocks noGrp="1"/>
          </p:cNvSpPr>
          <p:nvPr/>
        </p:nvSpPr>
        <p:spPr>
          <a:xfrm>
            <a:off x="971550" y="24193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39FDC8-7C70-45C9-B039-3CA69DEE0B1E}"/>
              </a:ext>
            </a:extLst>
          </p:cNvPr>
          <p:cNvSpPr>
            <a:spLocks noGrp="1"/>
          </p:cNvSpPr>
          <p:nvPr/>
        </p:nvSpPr>
        <p:spPr>
          <a:xfrm>
            <a:off x="809625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market context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12572A8-5802-49D7-AF9B-54317C72C115}"/>
              </a:ext>
            </a:extLst>
          </p:cNvPr>
          <p:cNvSpPr>
            <a:spLocks noGrp="1"/>
          </p:cNvSpPr>
          <p:nvPr/>
        </p:nvSpPr>
        <p:spPr>
          <a:xfrm>
            <a:off x="1828800" y="2009775"/>
            <a:ext cx="137160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176F41-2D0A-4ADC-BF2F-203DD095BF7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951F9-2201-4FE6-A3EB-76F77C8DC33F}"/>
              </a:ext>
            </a:extLst>
          </p:cNvPr>
          <p:cNvSpPr>
            <a:spLocks noGrp="1"/>
          </p:cNvSpPr>
          <p:nvPr/>
        </p:nvSpPr>
        <p:spPr>
          <a:xfrm>
            <a:off x="3238500" y="18669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54B46-104A-4FB9-9351-132E96B2E485}"/>
              </a:ext>
            </a:extLst>
          </p:cNvPr>
          <p:cNvSpPr>
            <a:spLocks noGrp="1"/>
          </p:cNvSpPr>
          <p:nvPr/>
        </p:nvSpPr>
        <p:spPr>
          <a:xfrm>
            <a:off x="2971800" y="24193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ASSEMBLE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D4AB12-F5D9-49E6-AC1D-BFF10D5FBC31}"/>
              </a:ext>
            </a:extLst>
          </p:cNvPr>
          <p:cNvSpPr>
            <a:spLocks noGrp="1"/>
          </p:cNvSpPr>
          <p:nvPr/>
        </p:nvSpPr>
        <p:spPr>
          <a:xfrm>
            <a:off x="2809875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evidence ledger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0849E2E5-6B9B-40CC-B3ED-753F6BD07A07}"/>
              </a:ext>
            </a:extLst>
          </p:cNvPr>
          <p:cNvSpPr>
            <a:spLocks noGrp="1"/>
          </p:cNvSpPr>
          <p:nvPr/>
        </p:nvSpPr>
        <p:spPr>
          <a:xfrm>
            <a:off x="3829050" y="2009775"/>
            <a:ext cx="137160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4E7144-9002-4453-A470-85ED9DFDC7C0}"/>
              </a:ext>
            </a:extLst>
          </p:cNvPr>
          <p:cNvSpPr>
            <a:spLocks noGrp="1"/>
          </p:cNvSpPr>
          <p:nvPr/>
        </p:nvSpPr>
        <p:spPr>
          <a:xfrm>
            <a:off x="5238750" y="17335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E53AC5-47FB-4706-8F83-5392BCCCFF48}"/>
              </a:ext>
            </a:extLst>
          </p:cNvPr>
          <p:cNvSpPr>
            <a:spLocks noGrp="1"/>
          </p:cNvSpPr>
          <p:nvPr/>
        </p:nvSpPr>
        <p:spPr>
          <a:xfrm>
            <a:off x="5238750" y="18669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57BEBE-567D-4D4B-992B-215B048AA4E5}"/>
              </a:ext>
            </a:extLst>
          </p:cNvPr>
          <p:cNvSpPr>
            <a:spLocks noGrp="1"/>
          </p:cNvSpPr>
          <p:nvPr/>
        </p:nvSpPr>
        <p:spPr>
          <a:xfrm>
            <a:off x="4972050" y="24193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DB49C4-C5B1-4692-88E1-8FFF2482CDA5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visible criteria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86CF43B-E795-4243-97ED-335DC3974CD2}"/>
              </a:ext>
            </a:extLst>
          </p:cNvPr>
          <p:cNvSpPr>
            <a:spLocks noGrp="1"/>
          </p:cNvSpPr>
          <p:nvPr/>
        </p:nvSpPr>
        <p:spPr>
          <a:xfrm>
            <a:off x="5829300" y="2009775"/>
            <a:ext cx="1371600" cy="0"/>
          </a:xfrm>
          <a:prstGeom prst="line">
            <a:avLst/>
          </a:prstGeom>
          <a:noFill/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195C91-EF7C-4488-A6C8-F65506381FE6}"/>
              </a:ext>
            </a:extLst>
          </p:cNvPr>
          <p:cNvSpPr>
            <a:spLocks noGrp="1"/>
          </p:cNvSpPr>
          <p:nvPr/>
        </p:nvSpPr>
        <p:spPr>
          <a:xfrm>
            <a:off x="7239000" y="1733550"/>
            <a:ext cx="552450" cy="55245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33564D-CF2E-4CAC-B78F-CC409ACADE48}"/>
              </a:ext>
            </a:extLst>
          </p:cNvPr>
          <p:cNvSpPr>
            <a:spLocks noGrp="1"/>
          </p:cNvSpPr>
          <p:nvPr/>
        </p:nvSpPr>
        <p:spPr>
          <a:xfrm>
            <a:off x="7239000" y="1866900"/>
            <a:ext cx="5524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611" lnSpcReduction="20000"/>
          </a:bodyPr>
          <a:lstStyle/>
          <a:p>
            <a:pPr algn="ctr">
              <a:defRPr sz="1975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975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4F7B66-6288-4AC9-9092-0ABE6DB95B4E}"/>
              </a:ext>
            </a:extLst>
          </p:cNvPr>
          <p:cNvSpPr>
            <a:spLocks noGrp="1"/>
          </p:cNvSpPr>
          <p:nvPr/>
        </p:nvSpPr>
        <p:spPr>
          <a:xfrm>
            <a:off x="6972300" y="2419350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ctr">
              <a:defRPr sz="16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5470A0-B5FB-47E3-BACD-6D7344F2F5C4}"/>
              </a:ext>
            </a:extLst>
          </p:cNvPr>
          <p:cNvSpPr>
            <a:spLocks noGrp="1"/>
          </p:cNvSpPr>
          <p:nvPr/>
        </p:nvSpPr>
        <p:spPr>
          <a:xfrm>
            <a:off x="6810375" y="2667000"/>
            <a:ext cx="1409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4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4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next action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7446A2-C2A1-418A-9BC8-7E487D5C66B9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773" lnSpcReduction="20000"/>
          </a:bodyPr>
          <a:lstStyle/>
          <a:p>
            <a:pPr algn="l">
              <a:defRPr sz="20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20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1B001B-FDD8-45E3-859F-8BD0C4C89786}"/>
              </a:ext>
            </a:extLst>
          </p:cNvPr>
          <p:cNvSpPr>
            <a:spLocks noGrp="1"/>
          </p:cNvSpPr>
          <p:nvPr/>
        </p:nvSpPr>
        <p:spPr>
          <a:xfrm>
            <a:off x="704850" y="382905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848" lnSpcReduction="20000"/>
          </a:bodyPr>
          <a:lstStyle/>
          <a:p>
            <a:pPr algn="l">
              <a:def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50" b="0" i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One market question. Multiple evidence lenses. One reviewable handoff.</a:t>
            </a:r>
          </a:p>
        </p:txBody>
      </p:sp>
    </p:spTree>
    <p:extLst>
      <p:ext uri="{BB962C8B-B14F-4D97-AF65-F5344CB8AC3E}">
        <p14:creationId xmlns:p14="http://schemas.microsoft.com/office/powerpoint/2010/main" val="337153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8AEE87C-DDD7-8D41-97FC-39A27BC6F78F}"/>
              </a:ext>
            </a:extLst>
          </p:cNvPr>
          <p:cNvSpPr/>
          <p:nvPr/>
        </p:nvSpPr>
        <p:spPr>
          <a:xfrm>
            <a:off x="6159500" y="1600200"/>
            <a:ext cx="2413000" cy="2463800"/>
          </a:xfrm>
          <a:prstGeom prst="rect">
            <a:avLst/>
          </a:prstGeom>
          <a:solidFill>
            <a:srgbClr val="EDF3FF"/>
          </a:solidFill>
          <a:ln w="19050">
            <a:solidFill>
              <a:srgbClr val="2F6B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E7C125E-0DE5-44F1-9702-973AA92ACB04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A3B9DDF-B2B2-4B90-85CB-07A4D8971239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EB0AB5-7A84-4D5B-9BE8-7116068C3919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B4027B-68FD-4D0B-9E47-60CBBD91B92D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6F17C0-D3DD-4080-BF6A-458A25C5ADFF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D4DB52-A9FA-4EF5-9521-5F29759A9EA4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DC0BCC-5DF7-4257-A051-ECC205E9316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0968" lnSpcReduction="1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platform connects the evidence teams already use.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3C5691-3DAF-4B7B-A316-5402B13B0633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The value is in the decision context created across sources.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1B651C-1C2B-4419-8E97-74621B60E55C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000" lnSpcReduction="20000"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22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</a:t>
            </a:r>
            <a:r>
              <a:rPr sz="8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98984C-7E9A-4265-80BA-E7A9574AD95E}"/>
              </a:ext>
            </a:extLst>
          </p:cNvPr>
          <p:cNvSpPr>
            <a:spLocks noGrp="1"/>
          </p:cNvSpPr>
          <p:nvPr/>
        </p:nvSpPr>
        <p:spPr>
          <a:xfrm>
            <a:off x="685800" y="161290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B2770F-414A-4262-96B3-2287F2506C6A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572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FF6B4A"/>
                </a:solidFill>
                <a:latin typeface="Georgia"/>
                <a:ea typeface="Georgia"/>
                <a:cs typeface="Georgia"/>
              </a:defRPr>
            </a:pPr>
            <a:r>
              <a:rPr sz="2050" b="0" i="0">
                <a:solidFill>
                  <a:srgbClr val="FF6B4A"/>
                </a:solidFill>
                <a:latin typeface="Georgia"/>
                <a:ea typeface="Georgia"/>
                <a:cs typeface="Georgia"/>
              </a:rPr>
              <a:t>⌂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957059-8F78-459D-AD8A-F11E2DE24979}"/>
              </a:ext>
            </a:extLst>
          </p:cNvPr>
          <p:cNvSpPr>
            <a:spLocks noGrp="1"/>
          </p:cNvSpPr>
          <p:nvPr/>
        </p:nvSpPr>
        <p:spPr>
          <a:xfrm>
            <a:off x="1371600" y="16256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2500" lnSpcReduction="20000"/>
          </a:bodyPr>
          <a:lstStyle/>
          <a:p>
            <a:pPr algn="l">
              <a:defRPr sz="1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CLINIC EXPLORATION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2103A-DED6-4A3D-92BA-3F5FAA8BA058}"/>
              </a:ext>
            </a:extLst>
          </p:cNvPr>
          <p:cNvSpPr>
            <a:spLocks noGrp="1"/>
          </p:cNvSpPr>
          <p:nvPr/>
        </p:nvSpPr>
        <p:spPr>
          <a:xfrm>
            <a:off x="1371600" y="1879600"/>
            <a:ext cx="4191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footprint, capacity, access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6E1391-0EC7-41A6-AEFA-568EF6B2F248}"/>
              </a:ext>
            </a:extLst>
          </p:cNvPr>
          <p:cNvSpPr>
            <a:spLocks noGrp="1"/>
          </p:cNvSpPr>
          <p:nvPr/>
        </p:nvSpPr>
        <p:spPr>
          <a:xfrm>
            <a:off x="685800" y="226060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BF9C89-147E-4667-BD30-F1ABD4295D67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4572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4621" lnSpcReduction="20000"/>
          </a:bodyPr>
          <a:lstStyle/>
          <a:p>
            <a:pPr algn="ctr">
              <a:defRPr sz="2050" b="0" i="0">
                <a:solidFill>
                  <a:srgbClr val="0FA99A"/>
                </a:solidFill>
                <a:latin typeface="Georgia"/>
                <a:ea typeface="Georgia"/>
                <a:cs typeface="Georgia"/>
              </a:defRPr>
            </a:pPr>
            <a:r>
              <a:rPr sz="2050" b="0" i="0">
                <a:solidFill>
                  <a:srgbClr val="0FA99A"/>
                </a:solidFill>
                <a:latin typeface="Georgia"/>
                <a:ea typeface="Georgia"/>
                <a:cs typeface="Georgia"/>
              </a:rPr>
              <a:t>↗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1DDC09-FF01-44A3-AF15-8DF975E2DA10}"/>
              </a:ext>
            </a:extLst>
          </p:cNvPr>
          <p:cNvSpPr>
            <a:spLocks noGrp="1"/>
          </p:cNvSpPr>
          <p:nvPr/>
        </p:nvSpPr>
        <p:spPr>
          <a:xfrm>
            <a:off x="1371600" y="22733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2500" lnSpcReduction="20000"/>
          </a:bodyPr>
          <a:lstStyle/>
          <a:p>
            <a:pPr algn="l">
              <a:defRPr sz="19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GROWTH MARKETING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4019B4-580C-4236-9943-E0034F6B49A7}"/>
              </a:ext>
            </a:extLst>
          </p:cNvPr>
          <p:cNvSpPr>
            <a:spLocks noGrp="1"/>
          </p:cNvSpPr>
          <p:nvPr/>
        </p:nvSpPr>
        <p:spPr>
          <a:xfrm>
            <a:off x="1371600" y="2527300"/>
            <a:ext cx="4191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demand, response, test design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A3E792-3220-4EEB-B13D-5F069ED36305}"/>
              </a:ext>
            </a:extLst>
          </p:cNvPr>
          <p:cNvSpPr>
            <a:spLocks noGrp="1"/>
          </p:cNvSpPr>
          <p:nvPr/>
        </p:nvSpPr>
        <p:spPr>
          <a:xfrm>
            <a:off x="685800" y="290830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F5E33A-D04B-4BBE-8A82-B8998FEE5E9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2F6BFF"/>
                </a:solidFill>
                <a:latin typeface="Georgia"/>
                <a:ea typeface="Georgia"/>
                <a:cs typeface="Georgia"/>
              </a:defRPr>
            </a:pPr>
            <a:r>
              <a:rPr sz="2050" b="0" i="0">
                <a:solidFill>
                  <a:srgbClr val="2F6BFF"/>
                </a:solidFill>
                <a:latin typeface="Georgia"/>
                <a:ea typeface="Georgia"/>
                <a:cs typeface="Georgia"/>
              </a:rPr>
              <a:t>◌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36E53E-1AAF-430C-BED9-A297983F9286}"/>
              </a:ext>
            </a:extLst>
          </p:cNvPr>
          <p:cNvSpPr>
            <a:spLocks noGrp="1"/>
          </p:cNvSpPr>
          <p:nvPr/>
        </p:nvSpPr>
        <p:spPr>
          <a:xfrm>
            <a:off x="1371600" y="29210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2500" lnSpcReduction="20000"/>
          </a:bodyPr>
          <a:lstStyle/>
          <a:p>
            <a:pPr algn="l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CONSUMER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15916A-009E-42E9-924D-EAB6AB77FAC6}"/>
              </a:ext>
            </a:extLst>
          </p:cNvPr>
          <p:cNvSpPr>
            <a:spLocks noGrp="1"/>
          </p:cNvSpPr>
          <p:nvPr/>
        </p:nvSpPr>
        <p:spPr>
          <a:xfrm>
            <a:off x="1371600" y="3175000"/>
            <a:ext cx="4191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needs, barriers, brand context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21300D-BC7C-4944-ACA8-CF4762813972}"/>
              </a:ext>
            </a:extLst>
          </p:cNvPr>
          <p:cNvSpPr>
            <a:spLocks noGrp="1"/>
          </p:cNvSpPr>
          <p:nvPr/>
        </p:nvSpPr>
        <p:spPr>
          <a:xfrm>
            <a:off x="685800" y="3556000"/>
            <a:ext cx="457200" cy="457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44CC10-06DE-4846-89A5-7B0B3D51448A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4572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2121" lnSpcReduction="20000"/>
          </a:bodyPr>
          <a:lstStyle/>
          <a:p>
            <a:pPr algn="ctr">
              <a:defRPr sz="2050" b="0" i="0">
                <a:solidFill>
                  <a:srgbClr val="0FA99A"/>
                </a:solidFill>
                <a:latin typeface="Georgia"/>
                <a:ea typeface="Georgia"/>
                <a:cs typeface="Georgia"/>
              </a:defRPr>
            </a:pPr>
            <a:r>
              <a:rPr sz="2050" b="0" i="0">
                <a:solidFill>
                  <a:srgbClr val="0FA99A"/>
                </a:solidFill>
                <a:latin typeface="Georgia"/>
                <a:ea typeface="Georgia"/>
                <a:cs typeface="Georgia"/>
              </a:rPr>
              <a:t>▦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503325-5DFE-4D1A-A508-1DD663920AA9}"/>
              </a:ext>
            </a:extLst>
          </p:cNvPr>
          <p:cNvSpPr>
            <a:spLocks noGrp="1"/>
          </p:cNvSpPr>
          <p:nvPr/>
        </p:nvSpPr>
        <p:spPr>
          <a:xfrm>
            <a:off x="1371600" y="35687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2500" lnSpcReduction="20000"/>
          </a:bodyPr>
          <a:lstStyle/>
          <a:p>
            <a:pPr algn="l">
              <a:defRPr sz="19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CENSUS CONTEXT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82E611-4BC5-4264-89B9-9D749744B5BC}"/>
              </a:ext>
            </a:extLst>
          </p:cNvPr>
          <p:cNvSpPr>
            <a:spLocks noGrp="1"/>
          </p:cNvSpPr>
          <p:nvPr/>
        </p:nvSpPr>
        <p:spPr>
          <a:xfrm>
            <a:off x="1371600" y="3822700"/>
            <a:ext cx="4191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population, households, geography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887C91-B2A0-BF4C-8990-EFDE04F41B48}"/>
              </a:ext>
            </a:extLst>
          </p:cNvPr>
          <p:cNvSpPr/>
          <p:nvPr/>
        </p:nvSpPr>
        <p:spPr>
          <a:xfrm>
            <a:off x="1371600" y="2159000"/>
            <a:ext cx="4191000" cy="9525"/>
          </a:xfrm>
          <a:prstGeom prst="rect">
            <a:avLst/>
          </a:prstGeom>
          <a:solidFill>
            <a:srgbClr val="DDE5F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6C36E1-F73F-A04A-A66D-238AD1D58B25}"/>
              </a:ext>
            </a:extLst>
          </p:cNvPr>
          <p:cNvSpPr/>
          <p:nvPr/>
        </p:nvSpPr>
        <p:spPr>
          <a:xfrm>
            <a:off x="1371600" y="2806700"/>
            <a:ext cx="4191000" cy="9525"/>
          </a:xfrm>
          <a:prstGeom prst="rect">
            <a:avLst/>
          </a:prstGeom>
          <a:solidFill>
            <a:srgbClr val="DDE5F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11A6580-E8CB-424E-944C-C701A5747B89}"/>
              </a:ext>
            </a:extLst>
          </p:cNvPr>
          <p:cNvSpPr/>
          <p:nvPr/>
        </p:nvSpPr>
        <p:spPr>
          <a:xfrm>
            <a:off x="1371600" y="3454400"/>
            <a:ext cx="4191000" cy="9525"/>
          </a:xfrm>
          <a:prstGeom prst="rect">
            <a:avLst/>
          </a:prstGeom>
          <a:solidFill>
            <a:srgbClr val="DDE5F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157FFF-7162-3C48-BDA2-505614D4B4FE}"/>
              </a:ext>
            </a:extLst>
          </p:cNvPr>
          <p:cNvSpPr/>
          <p:nvPr/>
        </p:nvSpPr>
        <p:spPr>
          <a:xfrm>
            <a:off x="6159500" y="1600200"/>
            <a:ext cx="88900" cy="2463800"/>
          </a:xfrm>
          <a:prstGeom prst="rect">
            <a:avLst/>
          </a:prstGeom>
          <a:solidFill>
            <a:srgbClr val="2F6BFF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284F9C-0483-6B42-96CD-83B2F695CAB2}"/>
              </a:ext>
            </a:extLst>
          </p:cNvPr>
          <p:cNvSpPr txBox="1"/>
          <p:nvPr/>
        </p:nvSpPr>
        <p:spPr>
          <a:xfrm>
            <a:off x="6477000" y="18542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 b="1">
                <a:solidFill>
                  <a:srgbClr val="2F6BFF"/>
                </a:solidFill>
                <a:latin typeface="Aptos"/>
              </a:rPr>
              <a:t>SYNTHESIS LAYER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6659E31-5226-B549-8FE8-E59660F7F934}"/>
              </a:ext>
            </a:extLst>
          </p:cNvPr>
          <p:cNvSpPr txBox="1"/>
          <p:nvPr/>
        </p:nvSpPr>
        <p:spPr>
          <a:xfrm>
            <a:off x="6477000" y="2171700"/>
            <a:ext cx="18415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10000"/>
          </a:bodyPr>
          <a:lstStyle/>
          <a:p>
            <a:pPr algn="l"/>
            <a:r>
              <a:rPr lang="en-US" sz="2000" b="1">
                <a:solidFill>
                  <a:srgbClr val="174EA6"/>
                </a:solidFill>
                <a:latin typeface="Aptos"/>
              </a:rPr>
              <a:t>ONE EVIDENCE
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F27531-05A0-6C40-9CD1-6613DB7EF2F7}"/>
              </a:ext>
            </a:extLst>
          </p:cNvPr>
          <p:cNvSpPr txBox="1"/>
          <p:nvPr/>
        </p:nvSpPr>
        <p:spPr>
          <a:xfrm>
            <a:off x="6477000" y="2908300"/>
            <a:ext cx="177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>
                <a:solidFill>
                  <a:srgbClr val="5F6F86"/>
                </a:solidFill>
                <a:latin typeface="Aptos"/>
              </a:rPr>
              <a:t>Decision context created across sources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65E3FC-B318-4B4C-BA7C-01B2D7AF389F}"/>
              </a:ext>
            </a:extLst>
          </p:cNvPr>
          <p:cNvSpPr txBox="1"/>
          <p:nvPr/>
        </p:nvSpPr>
        <p:spPr>
          <a:xfrm>
            <a:off x="6477000" y="3606800"/>
            <a:ext cx="190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/>
            <a:r>
              <a:rPr lang="en-US" sz="800" b="1">
                <a:solidFill>
                  <a:srgbClr val="2F6BFF"/>
                </a:solidFill>
                <a:latin typeface="Aptos"/>
              </a:rPr>
              <a:t>LOCAL  •  COMPARABLE  •  ACTIONABLE</a:t>
            </a:r>
          </a:p>
        </p:txBody>
      </p:sp>
    </p:spTree>
    <p:extLst>
      <p:ext uri="{BB962C8B-B14F-4D97-AF65-F5344CB8AC3E}">
        <p14:creationId xmlns:p14="http://schemas.microsoft.com/office/powerpoint/2010/main" val="416687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5EBCD7FC-C17D-42AC-B673-0FDAE25166FF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07AF88-A35F-465F-97AB-740748FBD7C3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3168AB-7E8D-4990-BE42-B009AF412C30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D345A6E-BA82-4B4C-A7B4-CD0C7593E8E4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962A61-1106-48DD-A987-4E9104D87080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0DA71A-0642-4B7C-8F62-13516987FC99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A4515E-8EAB-46BC-A0E3-8D537055E5F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493" lnSpcReduction="2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next stakeholders are every team making a geographic decision.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55C39-BCF6-4A6B-ADDF-858DE14B5789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The platform becomes a shared operating layer, not another team-specific dashboard.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54343-3CBC-4690-A34F-232DA806A646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3EFA0-622E-45C8-BA14-542FD43ADE89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5588" lnSpcReduction="20000"/>
          </a:bodyPr>
          <a:lstStyle/>
          <a:p>
            <a:pPr algn="l">
              <a:defRPr sz="167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7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STAKEHOLDERS USING THE PLATFORM TODAY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B0D167-9F66-47A1-8D8D-DBBC44DF8752}"/>
              </a:ext>
            </a:extLst>
          </p:cNvPr>
          <p:cNvSpPr>
            <a:spLocks noGrp="1"/>
          </p:cNvSpPr>
          <p:nvPr/>
        </p:nvSpPr>
        <p:spPr>
          <a:xfrm>
            <a:off x="4953000" y="15811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5588" lnSpcReduction="20000"/>
          </a:bodyPr>
          <a:lstStyle/>
          <a:p>
            <a:pPr algn="l">
              <a:defRPr sz="1675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75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STAKEHOLDERS THE PLATFORM CAN SERVE NEXT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E6E3B6-67C4-415E-B942-2F527191CB3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85750" cy="285750"/>
          </a:xfrm>
          <a:prstGeom prst="ellipse">
            <a:avLst/>
          </a:prstGeom>
          <a:solidFill>
            <a:srgbClr val="EEF4FF"/>
          </a:solidFill>
          <a:ln w="1143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99CFE5-0B71-49C0-9EB8-2C9CCF058281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7EFB5-FEF3-482E-9130-05027B436608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Clinic &amp; CVC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26868A-5FC5-444F-A7FE-E226DF0044B8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285750" cy="285750"/>
          </a:xfrm>
          <a:prstGeom prst="ellipse">
            <a:avLst/>
          </a:prstGeom>
          <a:solidFill>
            <a:srgbClr val="EEF4FF"/>
          </a:solidFill>
          <a:ln w="1143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0D9DD-3F87-45F8-AB65-180AD68E6518}"/>
              </a:ext>
            </a:extLst>
          </p:cNvPr>
          <p:cNvSpPr>
            <a:spLocks noGrp="1"/>
          </p:cNvSpPr>
          <p:nvPr/>
        </p:nvSpPr>
        <p:spPr>
          <a:xfrm>
            <a:off x="762000" y="25431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B4769-0AE2-41BB-BB71-6429B6956239}"/>
              </a:ext>
            </a:extLst>
          </p:cNvPr>
          <p:cNvSpPr>
            <a:spLocks noGrp="1"/>
          </p:cNvSpPr>
          <p:nvPr/>
        </p:nvSpPr>
        <p:spPr>
          <a:xfrm>
            <a:off x="1238250" y="24955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Growth marketing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6EE23C-ABA3-4373-9EEB-6B00598897CA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285750" cy="285750"/>
          </a:xfrm>
          <a:prstGeom prst="ellipse">
            <a:avLst/>
          </a:prstGeom>
          <a:solidFill>
            <a:srgbClr val="EEF4FF"/>
          </a:solidFill>
          <a:ln w="1143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07FD88-973A-460F-9CE5-E5A47FF02EE6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709D4C-3107-4297-92E2-EC598E9109D1}"/>
              </a:ext>
            </a:extLst>
          </p:cNvPr>
          <p:cNvSpPr>
            <a:spLocks noGrp="1"/>
          </p:cNvSpPr>
          <p:nvPr/>
        </p:nvSpPr>
        <p:spPr>
          <a:xfrm>
            <a:off x="1238250" y="29908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Consumer insights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9CE762E-CFB1-439D-9067-E2387376102E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285750" cy="285750"/>
          </a:xfrm>
          <a:prstGeom prst="ellipse">
            <a:avLst/>
          </a:prstGeom>
          <a:solidFill>
            <a:srgbClr val="EEF4FF"/>
          </a:solidFill>
          <a:ln w="1143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17E895-1146-4EEE-8DBF-EDC674380A48}"/>
              </a:ext>
            </a:extLst>
          </p:cNvPr>
          <p:cNvSpPr>
            <a:spLocks noGrp="1"/>
          </p:cNvSpPr>
          <p:nvPr/>
        </p:nvSpPr>
        <p:spPr>
          <a:xfrm>
            <a:off x="762000" y="35337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455AC0-F206-4594-8B53-757FDDCD8E38}"/>
              </a:ext>
            </a:extLst>
          </p:cNvPr>
          <p:cNvSpPr>
            <a:spLocks noGrp="1"/>
          </p:cNvSpPr>
          <p:nvPr/>
        </p:nvSpPr>
        <p:spPr>
          <a:xfrm>
            <a:off x="1238250" y="3486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Market strategy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C4C25D-3936-4970-8080-7ECD9B71F617}"/>
              </a:ext>
            </a:extLst>
          </p:cNvPr>
          <p:cNvSpPr>
            <a:spLocks noGrp="1"/>
          </p:cNvSpPr>
          <p:nvPr/>
        </p:nvSpPr>
        <p:spPr>
          <a:xfrm>
            <a:off x="5010150" y="2000250"/>
            <a:ext cx="285750" cy="285750"/>
          </a:xfrm>
          <a:prstGeom prst="ellipse">
            <a:avLst/>
          </a:prstGeom>
          <a:solidFill>
            <a:srgbClr val="E9FBF8"/>
          </a:solidFill>
          <a:ln w="1143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89917C-B50C-4853-907E-F3827FB00CD5}"/>
              </a:ext>
            </a:extLst>
          </p:cNvPr>
          <p:cNvSpPr>
            <a:spLocks noGrp="1"/>
          </p:cNvSpPr>
          <p:nvPr/>
        </p:nvSpPr>
        <p:spPr>
          <a:xfrm>
            <a:off x="5010150" y="20478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8E788B-5CB3-4261-8D24-D1F5FA61124A}"/>
              </a:ext>
            </a:extLst>
          </p:cNvPr>
          <p:cNvSpPr>
            <a:spLocks noGrp="1"/>
          </p:cNvSpPr>
          <p:nvPr/>
        </p:nvSpPr>
        <p:spPr>
          <a:xfrm>
            <a:off x="5486400" y="20002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Portfolio strategy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67A17E3-5DDE-4B28-AC4F-6413B6E4A375}"/>
              </a:ext>
            </a:extLst>
          </p:cNvPr>
          <p:cNvSpPr>
            <a:spLocks noGrp="1"/>
          </p:cNvSpPr>
          <p:nvPr/>
        </p:nvSpPr>
        <p:spPr>
          <a:xfrm>
            <a:off x="5010150" y="2495550"/>
            <a:ext cx="285750" cy="285750"/>
          </a:xfrm>
          <a:prstGeom prst="ellipse">
            <a:avLst/>
          </a:prstGeom>
          <a:solidFill>
            <a:srgbClr val="E9FBF8"/>
          </a:solidFill>
          <a:ln w="1143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AAB96F-E644-4C21-B08D-449761DB296A}"/>
              </a:ext>
            </a:extLst>
          </p:cNvPr>
          <p:cNvSpPr>
            <a:spLocks noGrp="1"/>
          </p:cNvSpPr>
          <p:nvPr/>
        </p:nvSpPr>
        <p:spPr>
          <a:xfrm>
            <a:off x="5010150" y="25431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CBB24E-88FF-409D-84D6-D7F5BC22C65B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Real estate &amp; operations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0234CF8-28B5-461B-83CA-CDD0B0E73051}"/>
              </a:ext>
            </a:extLst>
          </p:cNvPr>
          <p:cNvSpPr>
            <a:spLocks noGrp="1"/>
          </p:cNvSpPr>
          <p:nvPr/>
        </p:nvSpPr>
        <p:spPr>
          <a:xfrm>
            <a:off x="5010150" y="2990850"/>
            <a:ext cx="285750" cy="285750"/>
          </a:xfrm>
          <a:prstGeom prst="ellipse">
            <a:avLst/>
          </a:prstGeom>
          <a:solidFill>
            <a:srgbClr val="E9FBF8"/>
          </a:solidFill>
          <a:ln w="1143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98988C-8012-40F4-95E4-A3D580B9336E}"/>
              </a:ext>
            </a:extLst>
          </p:cNvPr>
          <p:cNvSpPr>
            <a:spLocks noGrp="1"/>
          </p:cNvSpPr>
          <p:nvPr/>
        </p:nvSpPr>
        <p:spPr>
          <a:xfrm>
            <a:off x="5010150" y="3038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F0406-3355-4130-A8DB-3FB6DA937090}"/>
              </a:ext>
            </a:extLst>
          </p:cNvPr>
          <p:cNvSpPr>
            <a:spLocks noGrp="1"/>
          </p:cNvSpPr>
          <p:nvPr/>
        </p:nvSpPr>
        <p:spPr>
          <a:xfrm>
            <a:off x="5486400" y="29908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Finance &amp; planning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558CB7A-F885-45CC-A913-88AED253E352}"/>
              </a:ext>
            </a:extLst>
          </p:cNvPr>
          <p:cNvSpPr>
            <a:spLocks noGrp="1"/>
          </p:cNvSpPr>
          <p:nvPr/>
        </p:nvSpPr>
        <p:spPr>
          <a:xfrm>
            <a:off x="5010150" y="3486150"/>
            <a:ext cx="285750" cy="285750"/>
          </a:xfrm>
          <a:prstGeom prst="ellipse">
            <a:avLst/>
          </a:prstGeom>
          <a:solidFill>
            <a:srgbClr val="E9FBF8"/>
          </a:solidFill>
          <a:ln w="11430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4EC216-DAB3-42F3-A18A-1B9462B07FF0}"/>
              </a:ext>
            </a:extLst>
          </p:cNvPr>
          <p:cNvSpPr>
            <a:spLocks noGrp="1"/>
          </p:cNvSpPr>
          <p:nvPr/>
        </p:nvSpPr>
        <p:spPr>
          <a:xfrm>
            <a:off x="5010150" y="35337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25833" lnSpcReduction="20000"/>
          </a:bodyPr>
          <a:lstStyle/>
          <a:p>
            <a:pPr algn="ctr">
              <a:defRPr sz="16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6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2D7614-D90A-4362-8719-A2DDA9CAEC34}"/>
              </a:ext>
            </a:extLst>
          </p:cNvPr>
          <p:cNvSpPr>
            <a:spLocks noGrp="1"/>
          </p:cNvSpPr>
          <p:nvPr/>
        </p:nvSpPr>
        <p:spPr>
          <a:xfrm>
            <a:off x="5486400" y="34861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167" lnSpcReduction="20000"/>
          </a:bodyPr>
          <a:lstStyle/>
          <a:p>
            <a:pPr algn="l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Future geographic decision owners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46373652-3264-496D-AB1C-4DA96842B71B}"/>
              </a:ext>
            </a:extLst>
          </p:cNvPr>
          <p:cNvSpPr>
            <a:spLocks noGrp="1"/>
          </p:cNvSpPr>
          <p:nvPr/>
        </p:nvSpPr>
        <p:spPr>
          <a:xfrm>
            <a:off x="4286250" y="1600200"/>
            <a:ext cx="0" cy="2343150"/>
          </a:xfrm>
          <a:prstGeom prst="line">
            <a:avLst/>
          </a:prstGeom>
          <a:noFill/>
          <a:ln w="11430">
            <a:solidFill>
              <a:srgbClr val="C7D6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B8CEAE-8BC6-41A2-AACA-379CE37EA32A}"/>
              </a:ext>
            </a:extLst>
          </p:cNvPr>
          <p:cNvSpPr>
            <a:spLocks noGrp="1"/>
          </p:cNvSpPr>
          <p:nvPr/>
        </p:nvSpPr>
        <p:spPr>
          <a:xfrm>
            <a:off x="1676400" y="426720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5529" lnSpcReduction="20000"/>
          </a:bodyPr>
          <a:lstStyle/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Same governed pattern. Different questions, evidence, owners, and next actions.</a:t>
            </a:r>
          </a:p>
        </p:txBody>
      </p:sp>
    </p:spTree>
    <p:extLst>
      <p:ext uri="{BB962C8B-B14F-4D97-AF65-F5344CB8AC3E}">
        <p14:creationId xmlns:p14="http://schemas.microsoft.com/office/powerpoint/2010/main" val="66054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val 25">
            <a:extLst>
              <a:ext uri="{FF2B5EF4-FFF2-40B4-BE49-F238E27FC236}">
                <a16:creationId xmlns:a16="http://schemas.microsoft.com/office/drawing/2014/main" id="{43485F0F-A5A1-4E37-AD92-3D3F0FFA19CD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714784-1120-4D95-9928-A3361D13D957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D407A9-C767-4BF6-B45F-810E2F10A277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A52E0D-AF1F-45F6-9931-A3C661F47200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CC910AA-A132-4664-9B3F-108FB38F1A51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A1CB987-5623-4E5D-ADA0-12879F1850F5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53DF1D-7387-4A8A-909F-C06100C0705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999" lnSpcReduction="1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company impact is better decisions at greater scale.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D3D90-9A11-4A42-A81B-CE866E23C4B9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Measure the operating improvement first. Let business outcomes follow from a stronger decision process.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1769A0-5B30-4EED-9F46-C3E7E14C584A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 dirty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7BA03F-CBF6-4571-B6E7-57A2CD330AE2}"/>
              </a:ext>
            </a:extLst>
          </p:cNvPr>
          <p:cNvSpPr>
            <a:spLocks noGrp="1"/>
          </p:cNvSpPr>
          <p:nvPr/>
        </p:nvSpPr>
        <p:spPr>
          <a:xfrm>
            <a:off x="809625" y="1866900"/>
            <a:ext cx="1143000" cy="1143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AB053-1E4A-4F4B-96CE-BC61438D165D}"/>
              </a:ext>
            </a:extLst>
          </p:cNvPr>
          <p:cNvSpPr>
            <a:spLocks noGrp="1"/>
          </p:cNvSpPr>
          <p:nvPr/>
        </p:nvSpPr>
        <p:spPr>
          <a:xfrm>
            <a:off x="809625" y="2133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ctr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MORE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D7E160-1BE5-440A-BD3A-0A96E8489BF9}"/>
              </a:ext>
            </a:extLst>
          </p:cNvPr>
          <p:cNvSpPr>
            <a:spLocks noGrp="1"/>
          </p:cNvSpPr>
          <p:nvPr/>
        </p:nvSpPr>
        <p:spPr>
          <a:xfrm>
            <a:off x="695325" y="23812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553" lnSpcReduction="20000"/>
          </a:bodyPr>
          <a:lstStyle/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lang="en-US"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Q</a:t>
            </a:r>
            <a:r>
              <a:rPr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uestions</a:t>
            </a:r>
          </a:p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evaluated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4A0F0D6-9E9C-48ED-943F-06943E0FCB2D}"/>
              </a:ext>
            </a:extLst>
          </p:cNvPr>
          <p:cNvSpPr>
            <a:spLocks noGrp="1"/>
          </p:cNvSpPr>
          <p:nvPr/>
        </p:nvSpPr>
        <p:spPr>
          <a:xfrm>
            <a:off x="2028825" y="2438400"/>
            <a:ext cx="815975" cy="0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19A44D-1F28-467F-B126-4E63125087CA}"/>
              </a:ext>
            </a:extLst>
          </p:cNvPr>
          <p:cNvSpPr>
            <a:spLocks noGrp="1"/>
          </p:cNvSpPr>
          <p:nvPr/>
        </p:nvSpPr>
        <p:spPr>
          <a:xfrm>
            <a:off x="2921000" y="1866900"/>
            <a:ext cx="1143000" cy="1143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B2C524-4B62-4F72-9221-C740F1088151}"/>
              </a:ext>
            </a:extLst>
          </p:cNvPr>
          <p:cNvSpPr>
            <a:spLocks noGrp="1"/>
          </p:cNvSpPr>
          <p:nvPr/>
        </p:nvSpPr>
        <p:spPr>
          <a:xfrm>
            <a:off x="2921000" y="2133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ctr">
              <a:defRPr sz="17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LESS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9F2E9F-9851-47DE-9720-3D6922E390BA}"/>
              </a:ext>
            </a:extLst>
          </p:cNvPr>
          <p:cNvSpPr>
            <a:spLocks noGrp="1"/>
          </p:cNvSpPr>
          <p:nvPr/>
        </p:nvSpPr>
        <p:spPr>
          <a:xfrm>
            <a:off x="2806700" y="23812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553" lnSpcReduction="20000"/>
          </a:bodyPr>
          <a:lstStyle/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lang="en-US" sz="1825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D</a:t>
            </a:r>
            <a:r>
              <a:rPr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uplicated</a:t>
            </a:r>
          </a:p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research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C19DEDB-6F09-4834-827B-62E78B3D5463}"/>
              </a:ext>
            </a:extLst>
          </p:cNvPr>
          <p:cNvSpPr>
            <a:spLocks noGrp="1"/>
          </p:cNvSpPr>
          <p:nvPr/>
        </p:nvSpPr>
        <p:spPr>
          <a:xfrm>
            <a:off x="4140200" y="2438400"/>
            <a:ext cx="815975" cy="0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329605-2109-431D-8918-B05826EC2F93}"/>
              </a:ext>
            </a:extLst>
          </p:cNvPr>
          <p:cNvSpPr>
            <a:spLocks noGrp="1"/>
          </p:cNvSpPr>
          <p:nvPr/>
        </p:nvSpPr>
        <p:spPr>
          <a:xfrm>
            <a:off x="5032375" y="1866900"/>
            <a:ext cx="1143000" cy="1143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76FD7-8B3D-4B77-BDA2-9C16BE2588DE}"/>
              </a:ext>
            </a:extLst>
          </p:cNvPr>
          <p:cNvSpPr>
            <a:spLocks noGrp="1"/>
          </p:cNvSpPr>
          <p:nvPr/>
        </p:nvSpPr>
        <p:spPr>
          <a:xfrm>
            <a:off x="5032375" y="2133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ctr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CLEARER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241865-1C49-4164-BD95-CE4269FA3ED3}"/>
              </a:ext>
            </a:extLst>
          </p:cNvPr>
          <p:cNvSpPr>
            <a:spLocks noGrp="1"/>
          </p:cNvSpPr>
          <p:nvPr/>
        </p:nvSpPr>
        <p:spPr>
          <a:xfrm>
            <a:off x="4908550" y="2337334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553"/>
          </a:bodyPr>
          <a:lstStyle/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lang="en-US" sz="110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E</a:t>
            </a:r>
            <a:r>
              <a:rPr sz="110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vidence gaps</a:t>
            </a:r>
          </a:p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100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and ownership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BCA70E47-C68D-4B5E-8A6D-9120DC21BB1A}"/>
              </a:ext>
            </a:extLst>
          </p:cNvPr>
          <p:cNvSpPr>
            <a:spLocks noGrp="1"/>
          </p:cNvSpPr>
          <p:nvPr/>
        </p:nvSpPr>
        <p:spPr>
          <a:xfrm>
            <a:off x="6251575" y="2438400"/>
            <a:ext cx="815975" cy="0"/>
          </a:xfrm>
          <a:prstGeom prst="line">
            <a:avLst/>
          </a:prstGeom>
          <a:noFill/>
          <a:ln w="15240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C35C0B-9963-4400-AC81-78A42D1C9E79}"/>
              </a:ext>
            </a:extLst>
          </p:cNvPr>
          <p:cNvSpPr>
            <a:spLocks noGrp="1"/>
          </p:cNvSpPr>
          <p:nvPr/>
        </p:nvSpPr>
        <p:spPr>
          <a:xfrm>
            <a:off x="7143750" y="1866900"/>
            <a:ext cx="1143000" cy="11430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35D01E-0F68-421E-B429-A81A119D12D8}"/>
              </a:ext>
            </a:extLst>
          </p:cNvPr>
          <p:cNvSpPr>
            <a:spLocks noGrp="1"/>
          </p:cNvSpPr>
          <p:nvPr/>
        </p:nvSpPr>
        <p:spPr>
          <a:xfrm>
            <a:off x="7143750" y="21336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ctr">
              <a:defRPr sz="17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REUSABLE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0027D0-B551-454C-84D3-9F2A4B2F3FCC}"/>
              </a:ext>
            </a:extLst>
          </p:cNvPr>
          <p:cNvSpPr>
            <a:spLocks noGrp="1"/>
          </p:cNvSpPr>
          <p:nvPr/>
        </p:nvSpPr>
        <p:spPr>
          <a:xfrm>
            <a:off x="7038975" y="2381250"/>
            <a:ext cx="137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3553" lnSpcReduction="20000"/>
          </a:bodyPr>
          <a:lstStyle/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lang="en-US" sz="1825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Insights</a:t>
            </a:r>
            <a:endParaRPr sz="1825" b="0" i="0" dirty="0">
              <a:solidFill>
                <a:srgbClr val="111827"/>
              </a:solidFill>
              <a:latin typeface="Georgia"/>
              <a:ea typeface="Georgia"/>
              <a:cs typeface="Georgia"/>
            </a:endParaRPr>
          </a:p>
          <a:p>
            <a:pPr algn="ctr">
              <a:defRPr sz="1825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25" b="0" i="0" dirty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across teams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8D3BE9-E2BC-4886-96CF-B7BEC1C659A2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9982" lnSpcReduction="20000"/>
          </a:bodyPr>
          <a:lstStyle/>
          <a:p>
            <a:pPr algn="ctr">
              <a:defRPr sz="190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0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 shared decision layer compounds as more teams reuse the evidence model and evaluation protocol.</a:t>
            </a:r>
          </a:p>
        </p:txBody>
      </p:sp>
    </p:spTree>
    <p:extLst>
      <p:ext uri="{BB962C8B-B14F-4D97-AF65-F5344CB8AC3E}">
        <p14:creationId xmlns:p14="http://schemas.microsoft.com/office/powerpoint/2010/main" val="378149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FDC00252-C65F-4FCE-AF28-68D94C21C986}"/>
              </a:ext>
            </a:extLst>
          </p:cNvPr>
          <p:cNvSpPr>
            <a:spLocks noGrp="1"/>
          </p:cNvSpPr>
          <p:nvPr/>
        </p:nvSpPr>
        <p:spPr>
          <a:xfrm>
            <a:off x="7239000" y="190500"/>
            <a:ext cx="1428750" cy="142875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9F86BB-7EA2-4F41-9748-0D9B955E1F77}"/>
              </a:ext>
            </a:extLst>
          </p:cNvPr>
          <p:cNvSpPr>
            <a:spLocks noGrp="1"/>
          </p:cNvSpPr>
          <p:nvPr/>
        </p:nvSpPr>
        <p:spPr>
          <a:xfrm>
            <a:off x="-333375" y="4000500"/>
            <a:ext cx="952500" cy="95250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B1B741-E54C-42DF-B311-B645548F06EB}"/>
              </a:ext>
            </a:extLst>
          </p:cNvPr>
          <p:cNvSpPr>
            <a:spLocks noGrp="1"/>
          </p:cNvSpPr>
          <p:nvPr/>
        </p:nvSpPr>
        <p:spPr>
          <a:xfrm>
            <a:off x="7562850" y="333375"/>
            <a:ext cx="1666875" cy="1666875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3F17CB-120C-42D3-B5A0-E8A52A606C26}"/>
              </a:ext>
            </a:extLst>
          </p:cNvPr>
          <p:cNvSpPr>
            <a:spLocks noGrp="1"/>
          </p:cNvSpPr>
          <p:nvPr/>
        </p:nvSpPr>
        <p:spPr>
          <a:xfrm>
            <a:off x="-123825" y="4095750"/>
            <a:ext cx="1190625" cy="1190625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505B37-A589-4C93-B054-7A1F423F84EB}"/>
              </a:ext>
            </a:extLst>
          </p:cNvPr>
          <p:cNvSpPr>
            <a:spLocks noGrp="1"/>
          </p:cNvSpPr>
          <p:nvPr/>
        </p:nvSpPr>
        <p:spPr>
          <a:xfrm>
            <a:off x="7886700" y="476250"/>
            <a:ext cx="1905000" cy="1905000"/>
          </a:xfrm>
          <a:prstGeom prst="ellipse">
            <a:avLst/>
          </a:prstGeom>
          <a:noFill/>
          <a:ln w="7620">
            <a:solidFill>
              <a:srgbClr val="EA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42FB98-8D50-41BC-A6D6-A41C4528FBA2}"/>
              </a:ext>
            </a:extLst>
          </p:cNvPr>
          <p:cNvSpPr>
            <a:spLocks noGrp="1"/>
          </p:cNvSpPr>
          <p:nvPr/>
        </p:nvSpPr>
        <p:spPr>
          <a:xfrm>
            <a:off x="85725" y="4191000"/>
            <a:ext cx="1428750" cy="1428750"/>
          </a:xfrm>
          <a:prstGeom prst="ellipse">
            <a:avLst/>
          </a:prstGeom>
          <a:noFill/>
          <a:ln w="7620">
            <a:solidFill>
              <a:srgbClr val="EFF3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703E3B-42F6-44B6-B8DB-CB928461A4E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 algn="l">
              <a:defRPr sz="3100" b="0" i="0">
                <a:solidFill>
                  <a:srgbClr val="0B3FB8"/>
                </a:solidFill>
                <a:latin typeface="Georgia"/>
                <a:ea typeface="Georgia"/>
                <a:cs typeface="Georgia"/>
              </a:defRPr>
            </a:pPr>
            <a:r>
              <a:rPr sz="3100" b="0" i="0" dirty="0">
                <a:solidFill>
                  <a:srgbClr val="0B3FB8"/>
                </a:solidFill>
                <a:latin typeface="Georgia"/>
                <a:ea typeface="Georgia"/>
                <a:cs typeface="Georgia"/>
              </a:rPr>
              <a:t>The ask: prove one recurring decision end to end.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7A8DDB-A11F-4902-A53B-ED2602FAC030}"/>
              </a:ext>
            </a:extLst>
          </p:cNvPr>
          <p:cNvSpPr>
            <a:spLocks noGrp="1"/>
          </p:cNvSpPr>
          <p:nvPr/>
        </p:nvSpPr>
        <p:spPr>
          <a:xfrm>
            <a:off x="476250" y="971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0185" lnSpcReduction="20000"/>
          </a:bodyPr>
          <a:lstStyle/>
          <a:p>
            <a:pPr algn="l">
              <a:defRPr sz="175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75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Give the platform one accountable owner, one governed data path, and one success measure.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5DC236-AAC9-4299-ACA0-CB1558D90F61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2857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800" b="1" i="0">
                <a:solidFill>
                  <a:srgbClr val="8495B8"/>
                </a:solidFill>
                <a:latin typeface="Aptos"/>
                <a:ea typeface="Aptos"/>
                <a:cs typeface="Aptos"/>
              </a:defRPr>
            </a:pPr>
            <a:r>
              <a:rPr sz="800" b="1" i="0">
                <a:solidFill>
                  <a:srgbClr val="8495B8"/>
                </a:solidFill>
                <a:latin typeface="Aptos"/>
                <a:ea typeface="Aptos"/>
                <a:cs typeface="Aptos"/>
              </a:rPr>
              <a:t>MARKET INTELLIGENCE PLATFORM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AE76C0-90B9-4A4F-99EB-309454351AA8}"/>
              </a:ext>
            </a:extLst>
          </p:cNvPr>
          <p:cNvSpPr>
            <a:spLocks noGrp="1"/>
          </p:cNvSpPr>
          <p:nvPr/>
        </p:nvSpPr>
        <p:spPr>
          <a:xfrm>
            <a:off x="3781425" y="1524000"/>
            <a:ext cx="1581150" cy="1581150"/>
          </a:xfrm>
          <a:prstGeom prst="ellipse">
            <a:avLst/>
          </a:prstGeom>
          <a:solidFill>
            <a:srgbClr val="EEF4FF"/>
          </a:solidFill>
          <a:ln w="17145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A80C4-AB2A-4286-A0E8-F78876223C9A}"/>
              </a:ext>
            </a:extLst>
          </p:cNvPr>
          <p:cNvSpPr>
            <a:spLocks noGrp="1"/>
          </p:cNvSpPr>
          <p:nvPr/>
        </p:nvSpPr>
        <p:spPr>
          <a:xfrm>
            <a:off x="3781425" y="1990725"/>
            <a:ext cx="1581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8116" lnSpcReduction="20000"/>
          </a:bodyPr>
          <a:lstStyle/>
          <a:p>
            <a:pPr algn="ctr">
              <a:defRPr sz="21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1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ONE</a:t>
            </a:r>
          </a:p>
          <a:p>
            <a:pPr algn="ctr">
              <a:defRPr sz="21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1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RECURRING</a:t>
            </a:r>
          </a:p>
          <a:p>
            <a:pPr algn="ctr">
              <a:defRPr sz="2125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2125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F283C4-29DE-4D12-99ED-09F90FFD2E2B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F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A1C599-E95E-4721-820A-CFEEA87BB0AD}"/>
              </a:ext>
            </a:extLst>
          </p:cNvPr>
          <p:cNvSpPr>
            <a:spLocks noGrp="1"/>
          </p:cNvSpPr>
          <p:nvPr/>
        </p:nvSpPr>
        <p:spPr>
          <a:xfrm>
            <a:off x="762000" y="189547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4167" lnSpcReduction="20000"/>
          </a:bodyPr>
          <a:lstStyle/>
          <a:p>
            <a:pPr algn="ctr">
              <a:defRPr sz="190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964A6-747D-4E49-9D82-6EE975B4EBCD}"/>
              </a:ext>
            </a:extLst>
          </p:cNvPr>
          <p:cNvSpPr>
            <a:spLocks noGrp="1"/>
          </p:cNvSpPr>
          <p:nvPr/>
        </p:nvSpPr>
        <p:spPr>
          <a:xfrm>
            <a:off x="1352550" y="18097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l">
              <a:defRPr sz="1750" b="1" i="0">
                <a:solidFill>
                  <a:srgbClr val="2F6BFF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2F6B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9B38D8-89D8-4FD3-862B-9636B1C8EA3D}"/>
              </a:ext>
            </a:extLst>
          </p:cNvPr>
          <p:cNvSpPr>
            <a:spLocks noGrp="1"/>
          </p:cNvSpPr>
          <p:nvPr/>
        </p:nvSpPr>
        <p:spPr>
          <a:xfrm>
            <a:off x="1352550" y="20574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one business partner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00A929-AEBD-4C45-B89B-CAF2467091E9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61D3BE-D07D-445F-8C1B-4577FE45D044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4167" lnSpcReduction="20000"/>
          </a:bodyPr>
          <a:lstStyle/>
          <a:p>
            <a:pPr algn="ctr">
              <a:defRPr sz="19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F15DAE-FC88-4CC1-86DE-C09C3C57589E}"/>
              </a:ext>
            </a:extLst>
          </p:cNvPr>
          <p:cNvSpPr>
            <a:spLocks noGrp="1"/>
          </p:cNvSpPr>
          <p:nvPr/>
        </p:nvSpPr>
        <p:spPr>
          <a:xfrm>
            <a:off x="1352550" y="30480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l">
              <a:defRPr sz="17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DATA PATH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BCCA49-7DA0-45CD-8146-54ECD28BF0AE}"/>
              </a:ext>
            </a:extLst>
          </p:cNvPr>
          <p:cNvSpPr>
            <a:spLocks noGrp="1"/>
          </p:cNvSpPr>
          <p:nvPr/>
        </p:nvSpPr>
        <p:spPr>
          <a:xfrm>
            <a:off x="1352550" y="3295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one governed input set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B6B01C-2F18-4761-84BD-07F1D7DF796A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A9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9AA13B-0621-4EA2-B156-128743671B0E}"/>
              </a:ext>
            </a:extLst>
          </p:cNvPr>
          <p:cNvSpPr>
            <a:spLocks noGrp="1"/>
          </p:cNvSpPr>
          <p:nvPr/>
        </p:nvSpPr>
        <p:spPr>
          <a:xfrm>
            <a:off x="5810250" y="189547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4167" lnSpcReduction="20000"/>
          </a:bodyPr>
          <a:lstStyle/>
          <a:p>
            <a:pPr algn="ctr">
              <a:defRPr sz="190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475B18-E290-480E-BD7D-B9714E0EA08D}"/>
              </a:ext>
            </a:extLst>
          </p:cNvPr>
          <p:cNvSpPr>
            <a:spLocks noGrp="1"/>
          </p:cNvSpPr>
          <p:nvPr/>
        </p:nvSpPr>
        <p:spPr>
          <a:xfrm>
            <a:off x="6400800" y="180975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l">
              <a:defRPr sz="1750" b="1" i="0">
                <a:solidFill>
                  <a:srgbClr val="0FA99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0FA99A"/>
                </a:solidFill>
                <a:latin typeface="Aptos"/>
                <a:ea typeface="Aptos"/>
                <a:cs typeface="Aptos"/>
              </a:rPr>
              <a:t>MEASURE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2B164F-7D51-4F65-9599-CC5634F72BFA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speed, quality, reuse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D5CA7A4-12D0-4806-974D-051A4D9D096C}"/>
              </a:ext>
            </a:extLst>
          </p:cNvPr>
          <p:cNvSpPr>
            <a:spLocks noGrp="1"/>
          </p:cNvSpPr>
          <p:nvPr/>
        </p:nvSpPr>
        <p:spPr>
          <a:xfrm>
            <a:off x="5810250" y="3028950"/>
            <a:ext cx="438150" cy="43815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6F7609-3286-4A81-82E6-E03AEB1F3FD6}"/>
              </a:ext>
            </a:extLst>
          </p:cNvPr>
          <p:cNvSpPr>
            <a:spLocks noGrp="1"/>
          </p:cNvSpPr>
          <p:nvPr/>
        </p:nvSpPr>
        <p:spPr>
          <a:xfrm>
            <a:off x="5810250" y="3133725"/>
            <a:ext cx="438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4167" lnSpcReduction="20000"/>
          </a:bodyPr>
          <a:lstStyle/>
          <a:p>
            <a:pPr algn="ctr">
              <a:defRPr sz="190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90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1D79AE-0E1D-4460-AB64-DDB9D37A7056}"/>
              </a:ext>
            </a:extLst>
          </p:cNvPr>
          <p:cNvSpPr>
            <a:spLocks noGrp="1"/>
          </p:cNvSpPr>
          <p:nvPr/>
        </p:nvSpPr>
        <p:spPr>
          <a:xfrm>
            <a:off x="6400800" y="30480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49907" lnSpcReduction="20000"/>
          </a:bodyPr>
          <a:lstStyle/>
          <a:p>
            <a:pPr algn="l">
              <a:defRPr sz="1750" b="1" i="0">
                <a:solidFill>
                  <a:srgbClr val="FF6B4A"/>
                </a:solidFill>
                <a:latin typeface="Aptos"/>
                <a:ea typeface="Aptos"/>
                <a:cs typeface="Aptos"/>
              </a:defRPr>
            </a:pPr>
            <a:r>
              <a:rPr sz="1750" b="1" i="0">
                <a:solidFill>
                  <a:srgbClr val="FF6B4A"/>
                </a:solidFill>
                <a:latin typeface="Aptos"/>
                <a:ea typeface="Aptos"/>
                <a:cs typeface="Aptos"/>
              </a:rPr>
              <a:t>CADENCE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A21280-6FDE-48A5-9D13-C51651D08444}"/>
              </a:ext>
            </a:extLst>
          </p:cNvPr>
          <p:cNvSpPr>
            <a:spLocks noGrp="1"/>
          </p:cNvSpPr>
          <p:nvPr/>
        </p:nvSpPr>
        <p:spPr>
          <a:xfrm>
            <a:off x="6400800" y="32956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7083" lnSpcReduction="20000"/>
          </a:bodyPr>
          <a:lstStyle/>
          <a:p>
            <a:pPr algn="l">
              <a:defRPr sz="1600" b="0" i="0">
                <a:solidFill>
                  <a:srgbClr val="526174"/>
                </a:solidFill>
                <a:latin typeface="Aptos"/>
                <a:ea typeface="Aptos"/>
                <a:cs typeface="Aptos"/>
              </a:defRPr>
            </a:pPr>
            <a:r>
              <a:rPr sz="1600" b="0" i="0">
                <a:solidFill>
                  <a:srgbClr val="526174"/>
                </a:solidFill>
                <a:latin typeface="Aptos"/>
                <a:ea typeface="Aptos"/>
                <a:cs typeface="Aptos"/>
              </a:rPr>
              <a:t>run in shadow mode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18A64D18-C162-4D37-86E4-1690604A682C}"/>
              </a:ext>
            </a:extLst>
          </p:cNvPr>
          <p:cNvSpPr>
            <a:spLocks noGrp="1"/>
          </p:cNvSpPr>
          <p:nvPr/>
        </p:nvSpPr>
        <p:spPr>
          <a:xfrm>
            <a:off x="2857500" y="2028825"/>
            <a:ext cx="923925" cy="0"/>
          </a:xfrm>
          <a:prstGeom prst="line">
            <a:avLst/>
          </a:prstGeom>
          <a:noFill/>
          <a:ln w="12383">
            <a:solidFill>
              <a:srgbClr val="2F6B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A92A152B-E5FA-494D-A206-2320EEC49673}"/>
              </a:ext>
            </a:extLst>
          </p:cNvPr>
          <p:cNvSpPr>
            <a:spLocks noGrp="1"/>
          </p:cNvSpPr>
          <p:nvPr/>
        </p:nvSpPr>
        <p:spPr>
          <a:xfrm flipV="1">
            <a:off x="2857500" y="2667000"/>
            <a:ext cx="1000125" cy="619124"/>
          </a:xfrm>
          <a:prstGeom prst="line">
            <a:avLst/>
          </a:prstGeom>
          <a:noFill/>
          <a:ln w="12383">
            <a:solidFill>
              <a:srgbClr val="2F6B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A95D190A-0586-4D50-922F-E60E8AF4AC4B}"/>
              </a:ext>
            </a:extLst>
          </p:cNvPr>
          <p:cNvSpPr>
            <a:spLocks noGrp="1"/>
          </p:cNvSpPr>
          <p:nvPr/>
        </p:nvSpPr>
        <p:spPr>
          <a:xfrm>
            <a:off x="5362575" y="2028825"/>
            <a:ext cx="447675" cy="0"/>
          </a:xfrm>
          <a:prstGeom prst="line">
            <a:avLst/>
          </a:prstGeom>
          <a:noFill/>
          <a:ln w="12383">
            <a:solidFill>
              <a:srgbClr val="2F6B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D58D740F-122E-45E4-B73B-140CC87448A2}"/>
              </a:ext>
            </a:extLst>
          </p:cNvPr>
          <p:cNvSpPr>
            <a:spLocks noGrp="1"/>
          </p:cNvSpPr>
          <p:nvPr/>
        </p:nvSpPr>
        <p:spPr>
          <a:xfrm>
            <a:off x="5305425" y="2724150"/>
            <a:ext cx="504825" cy="514350"/>
          </a:xfrm>
          <a:prstGeom prst="line">
            <a:avLst/>
          </a:prstGeom>
          <a:noFill/>
          <a:ln w="12383">
            <a:solidFill>
              <a:srgbClr val="2F6B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8BDA89-C1DD-4E33-9B59-53509290C705}"/>
              </a:ext>
            </a:extLst>
          </p:cNvPr>
          <p:cNvSpPr>
            <a:spLocks noGrp="1"/>
          </p:cNvSpPr>
          <p:nvPr/>
        </p:nvSpPr>
        <p:spPr>
          <a:xfrm>
            <a:off x="1333500" y="4238625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0142" lnSpcReduction="20000"/>
          </a:bodyPr>
          <a:lstStyle/>
          <a:p>
            <a:pPr algn="ctr">
              <a:defRPr sz="1900" b="0" i="0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900" b="0" i="0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If we can show better decisions with less duplicated investigation, we have a platform worth scaling.</a:t>
            </a:r>
          </a:p>
        </p:txBody>
      </p:sp>
    </p:spTree>
    <p:extLst>
      <p:ext uri="{BB962C8B-B14F-4D97-AF65-F5344CB8AC3E}">
        <p14:creationId xmlns:p14="http://schemas.microsoft.com/office/powerpoint/2010/main" val="21764231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EB19F6-88A0-1444-9D0F-8590CD8DF4EB}">
  <we:reference id="cba9fc06-6fc9-492e-9525-923870a3b909" version="2.0.0.0" store="EXCatalog" storeType="EXCatalog"/>
  <we:alternateReferences>
    <we:reference id="WA200010215" version="2.0.0.0" store="en-US" storeType="OMEX"/>
  </we:alternateReferences>
  <we:properties>
    <we:property name="bps.codex_control.document_id" value="&quot;c69a7dae-fff9-4819-9b29-565e8bba4d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Microsoft Macintosh PowerPoint</Application>
  <DocSecurity>0</DocSecurity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Nik Nair</cp:lastModifiedBy>
  <cp:revision>1</cp:revision>
  <dcterms:created xsi:type="dcterms:W3CDTF">2026-08-18T19:11:54Z</dcterms:created>
  <dcterms:modified xsi:type="dcterms:W3CDTF">2026-08-18T20:43:20Z</dcterms:modified>
</cp:coreProperties>
</file>
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5c22e85292948bc" /><Relationship Type="http://schemas.openxmlformats.org/officeDocument/2006/relationships/extended-properties" Target="/docProps/app.xml" Id="R3f8dff9f1f6c434d" /><Relationship Type="http://schemas.openxmlformats.org/officeDocument/2006/relationships/officeDocument" Target="/ppt/presentation.xml" Id="R855418b490c74a36" /></Relationships>
</file>

<file path=ppt/presentation.xml><?xml version="1.0" encoding="utf-8"?>
<p:presentation xmlns:p="http://schemas.openxmlformats.org/presentationml/2006/main">
  <p:sldMasterIdLst>
    <p:sldMasterId xmlns:r="http://schemas.openxmlformats.org/officeDocument/2006/relationships" id="2147483648" r:id="R20691dbeef07438c"/>
  </p:sldMasterIdLst>
  <p:notesMasterIdLst>
    <p:notesMasterId xmlns:r="http://schemas.openxmlformats.org/officeDocument/2006/relationships" r:id="R9759999269aa4576"/>
  </p:notesMasterIdLst>
  <p:sldIdLst>
    <p:sldId xmlns:r="http://schemas.openxmlformats.org/officeDocument/2006/relationships" id="256" r:id="Rad4143c18df345a5"/>
    <p:sldId xmlns:r="http://schemas.openxmlformats.org/officeDocument/2006/relationships" id="257" r:id="R28fc1b224dfe4162"/>
    <p:sldId xmlns:r="http://schemas.openxmlformats.org/officeDocument/2006/relationships" id="258" r:id="Rd490e16d3a26400b"/>
    <p:sldId xmlns:r="http://schemas.openxmlformats.org/officeDocument/2006/relationships" id="259" r:id="R50994ebf2498467f"/>
    <p:sldId xmlns:r="http://schemas.openxmlformats.org/officeDocument/2006/relationships" id="260" r:id="R72d7602d34b24f13"/>
    <p:sldId xmlns:r="http://schemas.openxmlformats.org/officeDocument/2006/relationships" id="261" r:id="R1436229e4efb492a"/>
    <p:sldId xmlns:r="http://schemas.openxmlformats.org/officeDocument/2006/relationships" id="262" r:id="R081cede7b4854432"/>
    <p:sldId xmlns:r="http://schemas.openxmlformats.org/officeDocument/2006/relationships" id="263" r:id="R489ee9d0552e4b65"/>
    <p:sldId xmlns:r="http://schemas.openxmlformats.org/officeDocument/2006/relationships" id="264" r:id="R1f1bc96c558942fc"/>
    <p:sldId xmlns:r="http://schemas.openxmlformats.org/officeDocument/2006/relationships" id="265" r:id="R4f339a9cb24a46e1"/>
    <p:sldId xmlns:r="http://schemas.openxmlformats.org/officeDocument/2006/relationships" id="266" r:id="Rd1dddf84030e4397"/>
    <p:sldId xmlns:r="http://schemas.openxmlformats.org/officeDocument/2006/relationships" id="267" r:id="R3d0dc91f8fbd4b6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ada65b221c5439b" /><Relationship Type="http://schemas.openxmlformats.org/officeDocument/2006/relationships/slideMaster" Target="/ppt/slideMasters/slideMaster1.xml" Id="R20691dbeef07438c" /><Relationship Type="http://schemas.openxmlformats.org/officeDocument/2006/relationships/notesMaster" Target="/ppt/notesMasters/notesMaster1.xml" Id="R9759999269aa4576" /><Relationship Type="http://schemas.openxmlformats.org/officeDocument/2006/relationships/presProps" Target="/ppt/presProps.xml" Id="Rd268fa25bbe6437a" /><Relationship Type="http://schemas.openxmlformats.org/officeDocument/2006/relationships/tableStyles" Target="/ppt/tableStyles.xml" Id="R508b89a804f14917" /><Relationship Type="http://schemas.openxmlformats.org/officeDocument/2006/relationships/slide" Target="/ppt/slides/slide1.xml" Id="Rad4143c18df345a5" /><Relationship Type="http://schemas.openxmlformats.org/officeDocument/2006/relationships/slide" Target="/ppt/slides/slide2.xml" Id="R28fc1b224dfe4162" /><Relationship Type="http://schemas.openxmlformats.org/officeDocument/2006/relationships/slide" Target="/ppt/slides/slide3.xml" Id="Rd490e16d3a26400b" /><Relationship Type="http://schemas.openxmlformats.org/officeDocument/2006/relationships/slide" Target="/ppt/slides/slide4.xml" Id="R50994ebf2498467f" /><Relationship Type="http://schemas.openxmlformats.org/officeDocument/2006/relationships/slide" Target="/ppt/slides/slide5.xml" Id="R72d7602d34b24f13" /><Relationship Type="http://schemas.openxmlformats.org/officeDocument/2006/relationships/slide" Target="/ppt/slides/slide6.xml" Id="R1436229e4efb492a" /><Relationship Type="http://schemas.openxmlformats.org/officeDocument/2006/relationships/slide" Target="/ppt/slides/slide7.xml" Id="R081cede7b4854432" /><Relationship Type="http://schemas.openxmlformats.org/officeDocument/2006/relationships/slide" Target="/ppt/slides/slide8.xml" Id="R489ee9d0552e4b65" /><Relationship Type="http://schemas.openxmlformats.org/officeDocument/2006/relationships/slide" Target="/ppt/slides/slide9.xml" Id="R1f1bc96c558942fc" /><Relationship Type="http://schemas.openxmlformats.org/officeDocument/2006/relationships/slide" Target="/ppt/slides/slide10.xml" Id="R4f339a9cb24a46e1" /><Relationship Type="http://schemas.openxmlformats.org/officeDocument/2006/relationships/slide" Target="/ppt/slides/slide11.xml" Id="Rd1dddf84030e4397" /><Relationship Type="http://schemas.openxmlformats.org/officeDocument/2006/relationships/slide" Target="/ppt/slides/slide12.xml" Id="R3d0dc91f8fbd4b6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49ce605a3d3410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36f74b984aa496d" /><Relationship Type="http://schemas.openxmlformats.org/officeDocument/2006/relationships/notesMaster" Target="/ppt/notesMasters/notesMaster1.xml" Id="Reac62b6465bb4055" /></Relationships>
</file>

<file path=ppt/notesSlides/_rels/notesSlide2.xml.rels>&#65279;<?xml version="1.0" encoding="utf-8"?><Relationships xmlns="http://schemas.openxmlformats.org/package/2006/relationships"><Relationship Type="http://schemas.openxmlformats.org/officeDocument/2006/relationships/slide" Target="/ppt/slides/slide2.xml" Id="Rbda6b147f96d4cf6" /><Relationship Type="http://schemas.openxmlformats.org/officeDocument/2006/relationships/notesMaster" Target="/ppt/notesMasters/notesMaster1.xml" Id="R84eb6d77be0a4a36" /></Relationships>
</file>

<file path=ppt/notesSlides/_rels/notesSlide3.xml.rels>&#65279;<?xml version="1.0" encoding="utf-8"?><Relationships xmlns="http://schemas.openxmlformats.org/package/2006/relationships"><Relationship Type="http://schemas.openxmlformats.org/officeDocument/2006/relationships/slide" Target="/ppt/slides/slide3.xml" Id="R1a219444c7244db0" /><Relationship Type="http://schemas.openxmlformats.org/officeDocument/2006/relationships/notesMaster" Target="/ppt/notesMasters/notesMaster1.xml" Id="R3388320ab0874eca" /></Relationships>
</file>

<file path=ppt/notesSlides/_rels/notesSlide4.xml.rels>&#65279;<?xml version="1.0" encoding="utf-8"?><Relationships xmlns="http://schemas.openxmlformats.org/package/2006/relationships"><Relationship Type="http://schemas.openxmlformats.org/officeDocument/2006/relationships/slide" Target="/ppt/slides/slide4.xml" Id="R14f5ae6ad41b4516" /><Relationship Type="http://schemas.openxmlformats.org/officeDocument/2006/relationships/notesMaster" Target="/ppt/notesMasters/notesMaster1.xml" Id="Ra43f653616954669" /></Relationships>
</file>

<file path=ppt/notesSlides/_rels/notesSlide5.xml.rels>&#65279;<?xml version="1.0" encoding="utf-8"?><Relationships xmlns="http://schemas.openxmlformats.org/package/2006/relationships"><Relationship Type="http://schemas.openxmlformats.org/officeDocument/2006/relationships/slide" Target="/ppt/slides/slide5.xml" Id="R9c83fc28228646bd" /><Relationship Type="http://schemas.openxmlformats.org/officeDocument/2006/relationships/notesMaster" Target="/ppt/notesMasters/notesMaster1.xml" Id="Ra69288c1660e43d7" /></Relationships>
</file>

<file path=ppt/notesSlides/_rels/notesSlide6.xml.rels>&#65279;<?xml version="1.0" encoding="utf-8"?><Relationships xmlns="http://schemas.openxmlformats.org/package/2006/relationships"><Relationship Type="http://schemas.openxmlformats.org/officeDocument/2006/relationships/slide" Target="/ppt/slides/slide6.xml" Id="R1dbb803701824c5c" /><Relationship Type="http://schemas.openxmlformats.org/officeDocument/2006/relationships/notesMaster" Target="/ppt/notesMasters/notesMaster1.xml" Id="Rd29b475708ec44c5" /></Relationships>
</file>

<file path=ppt/notesSlides/_rels/notesSlide7.xml.rels>&#65279;<?xml version="1.0" encoding="utf-8"?><Relationships xmlns="http://schemas.openxmlformats.org/package/2006/relationships"><Relationship Type="http://schemas.openxmlformats.org/officeDocument/2006/relationships/slide" Target="/ppt/slides/slide7.xml" Id="Rc33e8845da60427e" /><Relationship Type="http://schemas.openxmlformats.org/officeDocument/2006/relationships/notesMaster" Target="/ppt/notesMasters/notesMaster1.xml" Id="R52254ed358654f31" /></Relationships>
</file>

<file path=ppt/notesSlides/_rels/notesSlide8.xml.rels>&#65279;<?xml version="1.0" encoding="utf-8"?><Relationships xmlns="http://schemas.openxmlformats.org/package/2006/relationships"><Relationship Type="http://schemas.openxmlformats.org/officeDocument/2006/relationships/slide" Target="/ppt/slides/slide8.xml" Id="R5f454bab916840ec" /><Relationship Type="http://schemas.openxmlformats.org/officeDocument/2006/relationships/notesMaster" Target="/ppt/notesMasters/notesMaster1.xml" Id="Rb8b564f0ba0349ee" /></Relationships>
</file>

<file path=ppt/notesSlides/_rels/notesSlide9.xml.rels>&#65279;<?xml version="1.0" encoding="utf-8"?><Relationships xmlns="http://schemas.openxmlformats.org/package/2006/relationships"><Relationship Type="http://schemas.openxmlformats.org/officeDocument/2006/relationships/slide" Target="/ppt/slides/slide9.xml" Id="R97f5154d1a734793" /><Relationship Type="http://schemas.openxmlformats.org/officeDocument/2006/relationships/notesMaster" Target="/ppt/notesMasters/notesMaster1.xml" Id="Rb24f18db2242473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78572401d094aa4" /><Relationship Type="http://schemas.openxmlformats.org/officeDocument/2006/relationships/notesMaster" Target="/ppt/notesMasters/notesMaster1.xml" Id="Rbb975f12a43a4a9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a40b3b6181c43a2" /><Relationship Type="http://schemas.openxmlformats.org/officeDocument/2006/relationships/notesMaster" Target="/ppt/notesMasters/notesMaster1.xml" Id="R0dcb338187aa40a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e5070e9f0d74099" /><Relationship Type="http://schemas.openxmlformats.org/officeDocument/2006/relationships/notesMaster" Target="/ppt/notesMasters/notesMaster1.xml" Id="Rcf331c660cc34ed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0:30</a:t>
            </a:r>
          </a:p>
          <a:p xmlns:a="http://schemas.openxmlformats.org/drawingml/2006/main">
            <a:r>
              <a:t>Open with the clinic evaluator as the origin story, not the platform definition. The broader opportunity is a reusable way to explore regional opportunities across sectors and channels while keeping evidence quality and human ownership visible.</a:t>
            </a:r>
          </a:p>
          <a:p xmlns:a="http://schemas.openxmlformats.org/drawingml/2006/main">
            <a:r>
              <a:t/>
            </a:r>
          </a:p>
          <a:p xmlns:a="http://schemas.openxmlformats.org/drawingml/2006/main">
            <a:r>
              <a:t>[Sources]</a:t>
            </a:r>
          </a:p>
          <a:p xmlns:a="http://schemas.openxmlformats.org/drawingml/2006/main">
            <a:r>
              <a:t>- User direction, August 5, 2026</a:t>
            </a:r>
          </a:p>
          <a:p xmlns:a="http://schemas.openxmlformats.org/drawingml/2006/main">
            <a:r>
              <a:t>- /Users/nnair/Documents/Market Opportunity Platform/market-opportunity-platform-transition-brief.md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1:15</a:t>
            </a:r>
          </a:p>
          <a:p xmlns:a="http://schemas.openxmlformats.org/drawingml/2006/main">
            <a:r>
              <a:t>Explain that discovery initially converged on two promising problems. User Profile Studio addressed customer and pet information that is collected but not consistently connected to action. Clinic expansion addressed fragmented market, property, and feasibility evidence. Clinic expansion became the first wedge because it offered a focused decision that could be prototyped with transparent boundaries.</a:t>
            </a:r>
          </a:p>
          <a:p xmlns:a="http://schemas.openxmlformats.org/drawingml/2006/main">
            <a:r>
              <a:t/>
            </a:r>
          </a:p>
          <a:p xmlns:a="http://schemas.openxmlformats.org/drawingml/2006/main">
            <a:r>
              <a:t>[Sources]</a:t>
            </a:r>
          </a:p>
          <a:p xmlns:a="http://schemas.openxmlformats.org/drawingml/2006/main">
            <a:r>
              <a:t>- https://chewyinc.atlassian.net/wiki/spaces/AUS/pages/5325357932/TOP+5+IDEAS</a:t>
            </a:r>
          </a:p>
          <a:p xmlns:a="http://schemas.openxmlformats.org/drawingml/2006/main">
            <a:r>
              <a:t>- https://chewyinc.atlassian.net/wiki/spaces/AUS/pages/5330470157/01+Contacts+Conversations</a:t>
            </a:r>
          </a:p>
          <a:p xmlns:a="http://schemas.openxmlformats.org/drawingml/2006/main">
            <a:r>
              <a:t>- https://chewyinc.atlassian.net/wiki/spaces/AUS/pages/5352818031/Check-in+With+Matt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a:t>
            </a:r>
          </a:p>
          <a:p xmlns:a="http://schemas.openxmlformats.org/drawingml/2006/main">
            <a:r>
              <a:t>Name only completed conversations that are documented. Cathy Harley, Mike Cammarota, Krista Bardelli, and Lana Lee informed the broader CVC and user-context problem space. Matt Merrill and Cale Harrington sharpened the clinic expansion opportunity. Their combined input showed that important tools already exist, while evidence and rationale fragment across decision stages.</a:t>
            </a:r>
          </a:p>
          <a:p xmlns:a="http://schemas.openxmlformats.org/drawingml/2006/main">
            <a:r>
              <a:t/>
            </a:r>
          </a:p>
          <a:p xmlns:a="http://schemas.openxmlformats.org/drawingml/2006/main">
            <a:r>
              <a:t>[Sources]</a:t>
            </a:r>
          </a:p>
          <a:p xmlns:a="http://schemas.openxmlformats.org/drawingml/2006/main">
            <a:r>
              <a:t>- https://chewyinc.atlassian.net/wiki/spaces/AUS/pages/5330470157/01+Contacts+Conversations</a:t>
            </a:r>
          </a:p>
          <a:p xmlns:a="http://schemas.openxmlformats.org/drawingml/2006/main">
            <a:r>
              <a:t>- https://chewyinc.atlassian.net/wiki/spaces/AUS/pages/5352949587/Cale</a:t>
            </a:r>
          </a:p>
          <a:p xmlns:a="http://schemas.openxmlformats.org/drawingml/2006/main">
            <a:r>
              <a:t>- https://chewyinc.atlassian.net/wiki/spaces/AUS/pages/5352818031/Check-in+With+Matt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1:00</a:t>
            </a:r>
          </a:p>
          <a:p xmlns:a="http://schemas.openxmlformats.org/drawingml/2006/main">
            <a:r>
              <a:t>This is the core product insight. A geography can be attractive while a specific property is infeasible. A feasible property may still be a poor near-term execution choice. One composite score would hide those tradeoffs.</a:t>
            </a:r>
          </a:p>
          <a:p xmlns:a="http://schemas.openxmlformats.org/drawingml/2006/main">
            <a:r>
              <a:t/>
            </a:r>
          </a:p>
          <a:p xmlns:a="http://schemas.openxmlformats.org/drawingml/2006/main">
            <a:r>
              <a:t>[Sources]</a:t>
            </a:r>
          </a:p>
          <a:p xmlns:a="http://schemas.openxmlformats.org/drawingml/2006/main">
            <a:r>
              <a:t>- docs/strategy/market-opportunity-platform-transition-brief.md</a:t>
            </a:r>
          </a:p>
          <a:p xmlns:a="http://schemas.openxmlformats.org/drawingml/2006/main">
            <a:r>
              <a:t>- docs/product/open-questions.md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a:t>
            </a:r>
          </a:p>
          <a:p xmlns:a="http://schemas.openxmlformats.org/drawingml/2006/main">
            <a:r>
              <a:t>State exactly what is real in the current demo and what is not. Public Census context is non-scored. Market scoring is synthetic. Esri evidence is descriptive and ineligible for scoring. The agent and sandbox are human-gated prototype tools. This is not a legitimate national locator.</a:t>
            </a:r>
          </a:p>
          <a:p xmlns:a="http://schemas.openxmlformats.org/drawingml/2006/main">
            <a:r>
              <a:t/>
            </a:r>
          </a:p>
          <a:p xmlns:a="http://schemas.openxmlformats.org/drawingml/2006/main">
            <a:r>
              <a:t>[Sources]</a:t>
            </a:r>
          </a:p>
          <a:p xmlns:a="http://schemas.openxmlformats.org/drawingml/2006/main">
            <a:r>
              <a:t>- docs/product/mvp-scope.md</a:t>
            </a:r>
          </a:p>
          <a:p xmlns:a="http://schemas.openxmlformats.org/drawingml/2006/main">
            <a:r>
              <a:t>- docs/product/user-workflows.md</a:t>
            </a:r>
          </a:p>
          <a:p xmlns:a="http://schemas.openxmlformats.org/drawingml/2006/main">
            <a:r>
              <a:t>- docs/technical/data-contracts.md</a:t>
            </a:r>
          </a:p>
          <a:p xmlns:a="http://schemas.openxmlformats.org/drawingml/2006/main">
            <a:r>
              <a:t>- docs/technical/ai-boundaries.md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a:t>
            </a:r>
          </a:p>
          <a:p xmlns:a="http://schemas.openxmlformats.org/drawingml/2006/main">
            <a:r>
              <a:t>These are the visible current capabilities. Clarify that the comparison supports two to five same-cohort markets or audited locations. Ask AI explains structured results only. The Seattle deep dive is synthetic and requires analyst confirmation before comparison.</a:t>
            </a:r>
          </a:p>
          <a:p xmlns:a="http://schemas.openxmlformats.org/drawingml/2006/main">
            <a:r>
              <a:t/>
            </a:r>
          </a:p>
          <a:p xmlns:a="http://schemas.openxmlformats.org/drawingml/2006/main">
            <a:r>
              <a:t>[Sources]</a:t>
            </a:r>
          </a:p>
          <a:p xmlns:a="http://schemas.openxmlformats.org/drawingml/2006/main">
            <a:r>
              <a:t>- app/page.tsx</a:t>
            </a:r>
          </a:p>
          <a:p xmlns:a="http://schemas.openxmlformats.org/drawingml/2006/main">
            <a:r>
              <a:t>- components/market-attractiveness/MarketAttractivenessRanking.tsx</a:t>
            </a:r>
          </a:p>
          <a:p xmlns:a="http://schemas.openxmlformats.org/drawingml/2006/main">
            <a:r>
              <a:t>- components/location-workspace/CandidateBriefsWorkspace.tsx</a:t>
            </a:r>
          </a:p>
          <a:p xmlns:a="http://schemas.openxmlformats.org/drawingml/2006/main">
            <a:r>
              <a:t>- components/agent-workspace/CandidateReviewAgent.tsx</a:t>
            </a:r>
          </a:p>
          <a:p xmlns:a="http://schemas.openxmlformats.org/drawingml/2006/main">
            <a:r>
              <a:t>- components/market-deep-dive/SeattleMarketDeepDive.tsx</a:t>
            </a:r>
          </a:p>
          <a:p xmlns:a="http://schemas.openxmlformats.org/drawingml/2006/main">
            <a:r>
              <a:t>- components/scoring-sandbox/ScoringSandbox.tsx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7:00 including live demo</a:t>
            </a:r>
          </a:p>
          <a:p xmlns:a="http://schemas.openxmlformats.org/drawingml/2006/main">
            <a:r>
              <a:t>Suggested clicks: start in Markets, select a scored metropolitan market, add two same-cohort markets, open comparison and Ask AI, open Seattle and confirm the illustrative segmentation, switch to Locations for Candidate briefs and raw comparison, then open the scoring sandbox. If time is tight, skip the full agent run and show its visible pause and evidence receipts.</a:t>
            </a:r>
          </a:p>
          <a:p xmlns:a="http://schemas.openxmlformats.org/drawingml/2006/main">
            <a:r>
              <a:t/>
            </a:r>
          </a:p>
          <a:p xmlns:a="http://schemas.openxmlformats.org/drawingml/2006/main">
            <a:r>
              <a:t>Boundary line to say out loud: everything scored here is synthetic and unapproved; public context and Esri demo evidence are not scoring inputs; no lease, opening, or market-entry recommendation is produced.</a:t>
            </a:r>
          </a:p>
          <a:p xmlns:a="http://schemas.openxmlformats.org/drawingml/2006/main">
            <a:r>
              <a:t/>
            </a:r>
          </a:p>
          <a:p xmlns:a="http://schemas.openxmlformats.org/drawingml/2006/main">
            <a:r>
              <a:t>[Sources]</a:t>
            </a:r>
          </a:p>
          <a:p xmlns:a="http://schemas.openxmlformats.org/drawingml/2006/main">
            <a:r>
              <a:t>- docs/product/user-workflows.md</a:t>
            </a:r>
          </a:p>
          <a:p xmlns:a="http://schemas.openxmlformats.org/drawingml/2006/main">
            <a:r>
              <a:t>- docs/product/mvp-scope.md</a:t>
            </a:r>
          </a:p>
          <a:p xmlns:a="http://schemas.openxmlformats.org/drawingml/2006/main">
            <a:r>
              <a:t>- tests/market-comparison-rendered.test.mjs</a:t>
            </a:r>
          </a:p>
          <a:p xmlns:a="http://schemas.openxmlformats.org/drawingml/2006/main">
            <a:r>
              <a:t>- tests/agent-workspace-rendered.test.mjs</a:t>
            </a:r>
          </a:p>
          <a:p xmlns:a="http://schemas.openxmlformats.org/drawingml/2006/main">
            <a:r>
              <a:t>- tests/seattle-market-deep-dive-rendered.test.mjs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1:15</a:t>
            </a:r>
          </a:p>
          <a:p xmlns:a="http://schemas.openxmlformats.org/drawingml/2006/main">
            <a:r>
              <a:t>This is the corrected platform mission. Clinic location evaluation supplied the first focused workflow, but the platform is intended to support multiple business sectors and online, offline, and hybrid opportunities by regional market.</a:t>
            </a:r>
          </a:p>
          <a:p xmlns:a="http://schemas.openxmlformats.org/drawingml/2006/main">
            <a:r>
              <a:t/>
            </a:r>
          </a:p>
          <a:p xmlns:a="http://schemas.openxmlformats.org/drawingml/2006/main">
            <a:r>
              <a:t>Mission statement:</a:t>
            </a:r>
          </a:p>
          <a:p xmlns:a="http://schemas.openxmlformats.org/drawingml/2006/main">
            <a:r>
              <a:t>Our mission began with clinic location evaluation because it offered a focused, high-value way to improve how teams assemble evidence, compare opportunities, and prepare decisions. By bringing together a broad range of internal and external data, we learned that the greater opportunity is a transparent, governed platform that generates new insights across the sectors we hope to impact. The platform helps teams compare regional opportunities across online, offline, and hybrid channels, identify gaps in available evidence, and focus data collection before people make the final decision.</a:t>
            </a:r>
          </a:p>
          <a:p xmlns:a="http://schemas.openxmlformats.org/drawingml/2006/main">
            <a:r>
              <a:t/>
            </a:r>
          </a:p>
          <a:p xmlns:a="http://schemas.openxmlformats.org/drawingml/2006/main">
            <a:r>
              <a:t>[Sources]</a:t>
            </a:r>
          </a:p>
          <a:p xmlns:a="http://schemas.openxmlformats.org/drawingml/2006/main">
            <a:r>
              <a:t>- User direction, August 5, 2026</a:t>
            </a:r>
          </a:p>
          <a:p xmlns:a="http://schemas.openxmlformats.org/drawingml/2006/main">
            <a:r>
              <a:t>- /Users/nnair/Documents/Market Opportunity Platform/market-opportunity-platform-transition-brief.md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1:15</a:t>
            </a:r>
          </a:p>
          <a:p xmlns:a="http://schemas.openxmlformats.org/drawingml/2006/main">
            <a:r>
              <a:t>Walk left to right. Every use case starts by defining the sector, customer, region, and channel mode. The platform assembles governed regional evidence, surfaces opportunity signals and evidence gaps, and helps teams decide what to investigate, collect, or test next. The workflow is common even when sector-specific evidence differs.</a:t>
            </a:r>
          </a:p>
          <a:p xmlns:a="http://schemas.openxmlformats.org/drawingml/2006/main">
            <a:r>
              <a:t/>
            </a:r>
          </a:p>
          <a:p xmlns:a="http://schemas.openxmlformats.org/drawingml/2006/main">
            <a:r>
              <a:t>[Sources]</a:t>
            </a:r>
          </a:p>
          <a:p xmlns:a="http://schemas.openxmlformats.org/drawingml/2006/main">
            <a:r>
              <a:t>- User direction, August 5, 2026</a:t>
            </a:r>
          </a:p>
          <a:p xmlns:a="http://schemas.openxmlformats.org/drawingml/2006/main">
            <a:r>
              <a:t>- /Users/nnair/Documents/Market Opportunity Platform/market-opportunity-platform-transition-brief.md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0:45</a:t>
            </a:r>
          </a:p>
          <a:p xmlns:a="http://schemas.openxmlformats.org/drawingml/2006/main">
            <a:r>
              <a:t>This is an illustrative future-state concept, not a current product screenshot. It shows a sector-neutral regional opportunity map, online and offline opportunity modes, cross-sector signals, evidence coverage, and explicit data collection priorities. All labels and examples are synthetic.</a:t>
            </a:r>
          </a:p>
          <a:p xmlns:a="http://schemas.openxmlformats.org/drawingml/2006/main">
            <a:r>
              <a:t/>
            </a:r>
          </a:p>
          <a:p xmlns:a="http://schemas.openxmlformats.org/drawingml/2006/main">
            <a:r>
              <a:t>[Sources]</a:t>
            </a:r>
          </a:p>
          <a:p xmlns:a="http://schemas.openxmlformats.org/drawingml/2006/main">
            <a:r>
              <a:t>- Generated concept asset: /Users/nnair/Documents/Market Opportunity Platform/assets/market-opportunity-platform-home-concept-v2.png</a:t>
            </a:r>
          </a:p>
          <a:p xmlns:a="http://schemas.openxmlformats.org/drawingml/2006/main">
            <a:r>
              <a:t>- User direction, August 5,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1:15</a:t>
            </a:r>
          </a:p>
          <a:p xmlns:a="http://schemas.openxmlformats.org/drawingml/2006/main">
            <a:r>
              <a:t>The platform vision is intentionally broad, so the pilot must remain bounded. Choose one regional opportunity question, define the regional universe and channel meanings, approve the data contracts and collection plan, and measure whether the shared workflow improves insight and evidence readiness.</a:t>
            </a:r>
          </a:p>
          <a:p xmlns:a="http://schemas.openxmlformats.org/drawingml/2006/main">
            <a:r>
              <a:t/>
            </a:r>
          </a:p>
          <a:p xmlns:a="http://schemas.openxmlformats.org/drawingml/2006/main">
            <a:r>
              <a:t>[Sources]</a:t>
            </a:r>
          </a:p>
          <a:p xmlns:a="http://schemas.openxmlformats.org/drawingml/2006/main">
            <a:r>
              <a:t>- User direction, August 5, 2026</a:t>
            </a:r>
          </a:p>
          <a:p xmlns:a="http://schemas.openxmlformats.org/drawingml/2006/main">
            <a:r>
              <a:t>- /Users/nnair/Documents/Market Opportunity Platform/market-opportunity-platform-transition-brief.md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0:45</a:t>
            </a:r>
          </a:p>
          <a:p xmlns:a="http://schemas.openxmlformats.org/drawingml/2006/main">
            <a:r>
              <a:t>Close with one pilot question, not one permanent sector. The pilot should validate a reusable evidence workflow that can later expand to other sectors, regions, and online, offline, or hybrid opportunity types.</a:t>
            </a:r>
          </a:p>
          <a:p xmlns:a="http://schemas.openxmlformats.org/drawingml/2006/main">
            <a:r>
              <a:t/>
            </a:r>
          </a:p>
          <a:p xmlns:a="http://schemas.openxmlformats.org/drawingml/2006/main">
            <a:r>
              <a:t>[Sources]</a:t>
            </a:r>
          </a:p>
          <a:p xmlns:a="http://schemas.openxmlformats.org/drawingml/2006/main">
            <a:r>
              <a:t>- User direction, August 5, 2026</a:t>
            </a:r>
          </a:p>
          <a:p xmlns:a="http://schemas.openxmlformats.org/drawingml/2006/main">
            <a:r>
              <a:t>- /Users/nnair/Documents/Market Opportunity Platform/market-opportunity-platform-transition-brief.md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1ddab8316294b4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8da8b922de54fce" /><Relationship Type="http://schemas.openxmlformats.org/officeDocument/2006/relationships/slideLayout" Target="/ppt/slideLayouts/slideLayout1.xml" Id="R03679876887f466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679876887f466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9d18f80cf924537" /><Relationship Type="http://schemas.openxmlformats.org/officeDocument/2006/relationships/notesSlide" Target="/ppt/notesSlides/notesSlide1.xml" Id="R058dc30c958c4fb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13392d5ae8d427d" /><Relationship Type="http://schemas.openxmlformats.org/officeDocument/2006/relationships/notesSlide" Target="/ppt/notesSlides/notesSlide2.xml" Id="Rcc0c21ccc5f24f5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7a2c3f9a8084c40" /><Relationship Type="http://schemas.openxmlformats.org/officeDocument/2006/relationships/notesSlide" Target="/ppt/notesSlides/notesSlide3.xml" Id="R40c72642d4cc484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ce3a034b53c4db1" /><Relationship Type="http://schemas.openxmlformats.org/officeDocument/2006/relationships/notesSlide" Target="/ppt/notesSlides/notesSlide4.xml" Id="R9fa595e176d94fe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87588464fd24ed6" /><Relationship Type="http://schemas.openxmlformats.org/officeDocument/2006/relationships/notesSlide" Target="/ppt/notesSlides/notesSlide5.xml" Id="R056bb9f7bc73430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e11a128050b4e6e" /><Relationship Type="http://schemas.openxmlformats.org/officeDocument/2006/relationships/notesSlide" Target="/ppt/notesSlides/notesSlide6.xml" Id="Rc927b0958e864ff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30304371f95431d" /><Relationship Type="http://schemas.openxmlformats.org/officeDocument/2006/relationships/notesSlide" Target="/ppt/notesSlides/notesSlide7.xml" Id="Re64a2941f96d421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20d500e0f2f4446" /><Relationship Type="http://schemas.openxmlformats.org/officeDocument/2006/relationships/notesSlide" Target="/ppt/notesSlides/notesSlide8.xml" Id="R26e9ef48ba96437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3c12e6bbfc94e20" /><Relationship Type="http://schemas.openxmlformats.org/officeDocument/2006/relationships/notesSlide" Target="/ppt/notesSlides/notesSlide9.xml" Id="Rfd835d8ecae8498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d92de036f294bbb" /><Relationship Type="http://schemas.openxmlformats.org/officeDocument/2006/relationships/image" Target="/ppt/media/image.png" Id="Rcf9c86c34b6b49a5" /><Relationship Type="http://schemas.openxmlformats.org/officeDocument/2006/relationships/notesSlide" Target="/ppt/notesSlides/notesSlide10.xml" Id="Ra589940e999d40d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017706675f14141" /><Relationship Type="http://schemas.openxmlformats.org/officeDocument/2006/relationships/notesSlide" Target="/ppt/notesSlides/notesSlide11.xml" Id="Rf15138b1d8c149f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6ac1d0ae0d44d94" /><Relationship Type="http://schemas.openxmlformats.org/officeDocument/2006/relationships/notesSlide" Target="/ppt/notesSlides/notesSlide12.xml" Id="Rb099b7e305a240d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08DFE6D-620F-4692-95D8-0C4B37EB04D9}"/>
              </a:ext>
            </a:extLst>
          </p:cNvPr>
          <p:cNvSpPr>
            <a:spLocks xmlns:a="http://schemas.openxmlformats.org/drawingml/2006/main" noGrp="1"/>
          </p:cNvSpPr>
          <p:nvPr/>
        </p:nvSpPr>
        <p:spPr>
          <a:xfrm xmlns:a="http://schemas.openxmlformats.org/drawingml/2006/main">
            <a:off x="400050" y="36195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buNone/>
              <a:defRPr sz="1350" b="1">
                <a:solidFill>
                  <a:srgbClr val="2D5BFF"/>
                </a:solidFill>
                <a:latin typeface="Aptos"/>
                <a:ea typeface="Aptos"/>
                <a:cs typeface="Aptos"/>
              </a:defRPr>
            </a:pPr>
            <a:r>
              <a:rPr sz="1350" b="1">
                <a:solidFill>
                  <a:srgbClr val="2D5BFF"/>
                </a:solidFill>
                <a:latin typeface="Aptos"/>
                <a:ea typeface="Aptos"/>
                <a:cs typeface="Aptos"/>
              </a:rPr>
              <a:t>MARKET OPPORTUNITY PLATFORM</a:t>
            </a:r>
          </a:p>
        </p:txBody>
      </p:sp>
      <p:sp>
        <p:nvSpPr>
          <p:cNvPr id="2" name="">
            <a:extLst xmlns:a="http://schemas.openxmlformats.org/drawingml/2006/main">
              <a:ext uri="{FF2B5EF4-FFF2-40B4-BE49-F238E27FC236}">
                <a16:creationId xmlns:a16="http://schemas.microsoft.com/office/drawing/2014/main" id="{95E6B219-F69C-439C-9BF4-C1C5D2777631}"/>
              </a:ext>
            </a:extLst>
          </p:cNvPr>
          <p:cNvSpPr>
            <a:spLocks xmlns:a="http://schemas.openxmlformats.org/drawingml/2006/main" noGrp="1"/>
          </p:cNvSpPr>
          <p:nvPr/>
        </p:nvSpPr>
        <p:spPr>
          <a:xfrm xmlns:a="http://schemas.openxmlformats.org/drawingml/2006/main">
            <a:off x="400050" y="1524000"/>
            <a:ext cx="8858250" cy="2324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100000"/>
          </a:bodyPr>
          <a:lstStyle xmlns:a="http://schemas.openxmlformats.org/drawingml/2006/main"/>
          <a:p xmlns:a="http://schemas.openxmlformats.org/drawingml/2006/main">
            <a:pPr algn="l">
              <a:buNone/>
              <a:defRPr sz="4950" b="1">
                <a:solidFill>
                  <a:srgbClr val="13213A"/>
                </a:solidFill>
                <a:latin typeface="Aptos"/>
                <a:ea typeface="Aptos"/>
                <a:cs typeface="Aptos"/>
              </a:defRPr>
            </a:pPr>
            <a:r>
              <a:rPr sz="4950" b="1">
                <a:solidFill>
                  <a:srgbClr val="13213A"/>
                </a:solidFill>
                <a:latin typeface="Aptos"/>
                <a:ea typeface="Aptos"/>
                <a:cs typeface="Aptos"/>
              </a:rPr>
              <a:t>From Clinic Discovery to a</a:t>
            </a:r>
          </a:p>
          <a:p xmlns:a="http://schemas.openxmlformats.org/drawingml/2006/main">
            <a:pPr algn="l">
              <a:buNone/>
              <a:defRPr sz="4950" b="1">
                <a:solidFill>
                  <a:srgbClr val="13213A"/>
                </a:solidFill>
                <a:latin typeface="Aptos"/>
                <a:ea typeface="Aptos"/>
                <a:cs typeface="Aptos"/>
              </a:defRPr>
            </a:pPr>
            <a:r>
              <a:rPr sz="4950" b="1">
                <a:solidFill>
                  <a:srgbClr val="13213A"/>
                </a:solidFill>
                <a:latin typeface="Aptos"/>
                <a:ea typeface="Aptos"/>
                <a:cs typeface="Aptos"/>
              </a:rPr>
              <a:t>Market Opportunity Platform</a:t>
            </a:r>
          </a:p>
        </p:txBody>
      </p:sp>
      <p:sp>
        <p:nvSpPr>
          <p:cNvPr id="3" name="">
            <a:extLst xmlns:a="http://schemas.openxmlformats.org/drawingml/2006/main">
              <a:ext uri="{FF2B5EF4-FFF2-40B4-BE49-F238E27FC236}">
                <a16:creationId xmlns:a16="http://schemas.microsoft.com/office/drawing/2014/main" id="{9F7AB941-9A84-416B-A04C-AC2676777DAD}"/>
              </a:ext>
            </a:extLst>
          </p:cNvPr>
          <p:cNvSpPr>
            <a:spLocks xmlns:a="http://schemas.openxmlformats.org/drawingml/2006/main" noGrp="1"/>
          </p:cNvSpPr>
          <p:nvPr/>
        </p:nvSpPr>
        <p:spPr>
          <a:xfrm xmlns:a="http://schemas.openxmlformats.org/drawingml/2006/main">
            <a:off x="400050" y="4400550"/>
            <a:ext cx="8096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75" b="0">
                <a:solidFill>
                  <a:srgbClr val="39455A"/>
                </a:solidFill>
                <a:latin typeface="Aptos"/>
                <a:ea typeface="Aptos"/>
                <a:cs typeface="Aptos"/>
              </a:defRPr>
            </a:pPr>
            <a:r>
              <a:rPr sz="2175" b="0">
                <a:solidFill>
                  <a:srgbClr val="39455A"/>
                </a:solidFill>
                <a:latin typeface="Aptos"/>
                <a:ea typeface="Aptos"/>
                <a:cs typeface="Aptos"/>
              </a:rPr>
              <a:t>Regional insights across business sectors, online and offline</a:t>
            </a:r>
          </a:p>
        </p:txBody>
      </p:sp>
      <p:sp>
        <p:nvSpPr>
          <p:cNvPr id="4" name="">
            <a:extLst xmlns:a="http://schemas.openxmlformats.org/drawingml/2006/main">
              <a:ext uri="{FF2B5EF4-FFF2-40B4-BE49-F238E27FC236}">
                <a16:creationId xmlns:a16="http://schemas.microsoft.com/office/drawing/2014/main" id="{9F21ABA6-F7BC-4C3D-A666-2814363BD756}"/>
              </a:ext>
            </a:extLst>
          </p:cNvPr>
          <p:cNvSpPr>
            <a:spLocks xmlns:a="http://schemas.openxmlformats.org/drawingml/2006/main" noGrp="1"/>
          </p:cNvSpPr>
          <p:nvPr/>
        </p:nvSpPr>
        <p:spPr>
          <a:xfrm xmlns:a="http://schemas.openxmlformats.org/drawingml/2006/main">
            <a:off x="400050" y="581025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759"/>
          </a:bodyPr>
          <a:lstStyle xmlns:a="http://schemas.openxmlformats.org/drawingml/2006/main"/>
          <a:p xmlns:a="http://schemas.openxmlformats.org/drawingml/2006/main">
            <a:pPr algn="l">
              <a:buNone/>
              <a:defRPr sz="1200" b="1">
                <a:solidFill>
                  <a:srgbClr val="A56A00"/>
                </a:solidFill>
                <a:latin typeface="Aptos"/>
                <a:ea typeface="Aptos"/>
                <a:cs typeface="Aptos"/>
              </a:defRPr>
            </a:pPr>
            <a:r>
              <a:rPr sz="1200" b="1">
                <a:solidFill>
                  <a:srgbClr val="A56A00"/>
                </a:solidFill>
                <a:latin typeface="Aptos"/>
                <a:ea typeface="Aptos"/>
                <a:cs typeface="Aptos"/>
              </a:rPr>
              <a:t>DISCOVERY JOURNEY | CURRENT DEMO | FUTURE PLATFORM</a:t>
            </a:r>
          </a:p>
        </p:txBody>
      </p:sp>
      <p:sp>
        <p:nvSpPr>
          <p:cNvPr id="5" name="">
            <a:extLst xmlns:a="http://schemas.openxmlformats.org/drawingml/2006/main">
              <a:ext uri="{FF2B5EF4-FFF2-40B4-BE49-F238E27FC236}">
                <a16:creationId xmlns:a16="http://schemas.microsoft.com/office/drawing/2014/main" id="{D5E507C1-DAC9-4107-89C7-DF7C0A00B819}"/>
              </a:ext>
            </a:extLst>
          </p:cNvPr>
          <p:cNvSpPr>
            <a:spLocks xmlns:a="http://schemas.openxmlformats.org/drawingml/2006/main" noGrp="1"/>
          </p:cNvSpPr>
          <p:nvPr/>
        </p:nvSpPr>
        <p:spPr>
          <a:xfrm xmlns:a="http://schemas.openxmlformats.org/drawingml/2006/main">
            <a:off x="9906000" y="685800"/>
            <a:ext cx="1371600" cy="1371600"/>
          </a:xfrm>
          <a:prstGeom xmlns:a="http://schemas.openxmlformats.org/drawingml/2006/main" prst="roundRect">
            <a:avLst>
              <a:gd name="adj" fmla="val 22222"/>
            </a:avLst>
          </a:prstGeom>
          <a:solidFill xmlns:a="http://schemas.openxmlformats.org/drawingml/2006/main">
            <a:srgbClr val="2D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31B196F-D5A1-42E5-A274-4AE661DFCBD0}"/>
              </a:ext>
            </a:extLst>
          </p:cNvPr>
          <p:cNvSpPr>
            <a:spLocks xmlns:a="http://schemas.openxmlformats.org/drawingml/2006/main" noGrp="1"/>
          </p:cNvSpPr>
          <p:nvPr/>
        </p:nvSpPr>
        <p:spPr>
          <a:xfrm xmlns:a="http://schemas.openxmlformats.org/drawingml/2006/main">
            <a:off x="9906000" y="685800"/>
            <a:ext cx="137160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3150" b="1">
                <a:solidFill>
                  <a:srgbClr val="FFFFFF"/>
                </a:solidFill>
                <a:latin typeface="Aptos"/>
                <a:ea typeface="Aptos"/>
                <a:cs typeface="Aptos"/>
              </a:defRPr>
            </a:pPr>
            <a:r>
              <a:rPr sz="3150" b="1">
                <a:solidFill>
                  <a:srgbClr val="FFFFFF"/>
                </a:solidFill>
                <a:latin typeface="Aptos"/>
                <a:ea typeface="Aptos"/>
                <a:cs typeface="Aptos"/>
              </a:rPr>
              <a:t>MOP</a:t>
            </a:r>
          </a:p>
        </p:txBody>
      </p:sp>
    </p:spTree>
    <p:extLst>
      <p:ext uri="{BB962C8B-B14F-4D97-AF65-F5344CB8AC3E}">
        <p14:creationId xmlns:p14="http://schemas.microsoft.com/office/powerpoint/2010/main" val="168526440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E2C7431-9AE7-4D75-A2AB-86C53EBEA0F3}"/>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WHERE WE STARTED</a:t>
            </a:r>
          </a:p>
        </p:txBody>
      </p:sp>
      <p:sp>
        <p:nvSpPr>
          <p:cNvPr id="2" name="">
            <a:extLst xmlns:a="http://schemas.openxmlformats.org/drawingml/2006/main">
              <a:ext uri="{FF2B5EF4-FFF2-40B4-BE49-F238E27FC236}">
                <a16:creationId xmlns:a16="http://schemas.microsoft.com/office/drawing/2014/main" id="{8EE88497-2EA0-4D4F-9828-68961409332A}"/>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We started with two high-value problem spaces</a:t>
            </a:r>
          </a:p>
        </p:txBody>
      </p:sp>
      <p:sp>
        <p:nvSpPr>
          <p:cNvPr id="3" name="">
            <a:extLst xmlns:a="http://schemas.openxmlformats.org/drawingml/2006/main">
              <a:ext uri="{FF2B5EF4-FFF2-40B4-BE49-F238E27FC236}">
                <a16:creationId xmlns:a16="http://schemas.microsoft.com/office/drawing/2014/main" id="{DE35256D-9652-4060-87E3-A7E8BC2E4C85}"/>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0BAE681-CABB-46DA-BB82-49432F711D11}"/>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Sources: Top 5 Ideas; Contacts &amp; Conversations; Matt check-in</a:t>
            </a:r>
          </a:p>
        </p:txBody>
      </p:sp>
      <p:sp>
        <p:nvSpPr>
          <p:cNvPr id="5" name="">
            <a:extLst xmlns:a="http://schemas.openxmlformats.org/drawingml/2006/main">
              <a:ext uri="{FF2B5EF4-FFF2-40B4-BE49-F238E27FC236}">
                <a16:creationId xmlns:a16="http://schemas.microsoft.com/office/drawing/2014/main" id="{34F0A317-F7F8-41CC-8681-CB10C4C8C6D8}"/>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02</a:t>
            </a:r>
          </a:p>
        </p:txBody>
      </p:sp>
      <p:sp>
        <p:nvSpPr>
          <p:cNvPr id="6" name="">
            <a:extLst xmlns:a="http://schemas.openxmlformats.org/drawingml/2006/main">
              <a:ext uri="{FF2B5EF4-FFF2-40B4-BE49-F238E27FC236}">
                <a16:creationId xmlns:a16="http://schemas.microsoft.com/office/drawing/2014/main" id="{E225081B-98FC-4EB1-9527-C8B73DB2162F}"/>
              </a:ext>
            </a:extLst>
          </p:cNvPr>
          <p:cNvSpPr>
            <a:spLocks xmlns:a="http://schemas.openxmlformats.org/drawingml/2006/main" noGrp="1"/>
          </p:cNvSpPr>
          <p:nvPr/>
        </p:nvSpPr>
        <p:spPr>
          <a:xfrm xmlns:a="http://schemas.openxmlformats.org/drawingml/2006/main">
            <a:off x="400050" y="1676400"/>
            <a:ext cx="3476625" cy="3467100"/>
          </a:xfrm>
          <a:prstGeom xmlns:a="http://schemas.openxmlformats.org/drawingml/2006/main" prst="roundRect">
            <a:avLst>
              <a:gd name="adj" fmla="val 4945"/>
            </a:avLst>
          </a:prstGeom>
          <a:solidFill xmlns:a="http://schemas.openxmlformats.org/drawingml/2006/main">
            <a:srgbClr val="EDF3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388BED9-52B8-42BC-9814-64A721D78F28}"/>
              </a:ext>
            </a:extLst>
          </p:cNvPr>
          <p:cNvSpPr>
            <a:spLocks xmlns:a="http://schemas.openxmlformats.org/drawingml/2006/main" noGrp="1"/>
          </p:cNvSpPr>
          <p:nvPr/>
        </p:nvSpPr>
        <p:spPr>
          <a:xfrm xmlns:a="http://schemas.openxmlformats.org/drawingml/2006/main">
            <a:off x="628650" y="1866900"/>
            <a:ext cx="30194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2D5BFF"/>
                </a:solidFill>
                <a:latin typeface="Aptos"/>
                <a:ea typeface="Aptos"/>
                <a:cs typeface="Aptos"/>
              </a:defRPr>
            </a:pPr>
            <a:r>
              <a:rPr sz="1050" b="1">
                <a:solidFill>
                  <a:srgbClr val="2D5BFF"/>
                </a:solidFill>
                <a:latin typeface="Aptos"/>
                <a:ea typeface="Aptos"/>
                <a:cs typeface="Aptos"/>
              </a:rPr>
              <a:t>CLINIC EXPANSION</a:t>
            </a:r>
          </a:p>
        </p:txBody>
      </p:sp>
      <p:sp>
        <p:nvSpPr>
          <p:cNvPr id="8" name="">
            <a:extLst xmlns:a="http://schemas.openxmlformats.org/drawingml/2006/main">
              <a:ext uri="{FF2B5EF4-FFF2-40B4-BE49-F238E27FC236}">
                <a16:creationId xmlns:a16="http://schemas.microsoft.com/office/drawing/2014/main" id="{CA726E2F-6034-4134-B789-F41A40D091EF}"/>
              </a:ext>
            </a:extLst>
          </p:cNvPr>
          <p:cNvSpPr>
            <a:spLocks xmlns:a="http://schemas.openxmlformats.org/drawingml/2006/main" noGrp="1"/>
          </p:cNvSpPr>
          <p:nvPr/>
        </p:nvSpPr>
        <p:spPr>
          <a:xfrm xmlns:a="http://schemas.openxmlformats.org/drawingml/2006/main">
            <a:off x="628650" y="2228850"/>
            <a:ext cx="30194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00" b="1">
                <a:solidFill>
                  <a:srgbClr val="13213A"/>
                </a:solidFill>
                <a:latin typeface="Aptos"/>
                <a:ea typeface="Aptos"/>
                <a:cs typeface="Aptos"/>
              </a:defRPr>
            </a:pPr>
            <a:r>
              <a:rPr sz="2100" b="1">
                <a:solidFill>
                  <a:srgbClr val="13213A"/>
                </a:solidFill>
                <a:latin typeface="Aptos"/>
                <a:ea typeface="Aptos"/>
                <a:cs typeface="Aptos"/>
              </a:rPr>
              <a:t>Location evaluation</a:t>
            </a:r>
          </a:p>
        </p:txBody>
      </p:sp>
      <p:sp>
        <p:nvSpPr>
          <p:cNvPr id="9" name="">
            <a:extLst xmlns:a="http://schemas.openxmlformats.org/drawingml/2006/main">
              <a:ext uri="{FF2B5EF4-FFF2-40B4-BE49-F238E27FC236}">
                <a16:creationId xmlns:a16="http://schemas.microsoft.com/office/drawing/2014/main" id="{2EEA48DF-F467-4638-9D70-27F4D2016B68}"/>
              </a:ext>
            </a:extLst>
          </p:cNvPr>
          <p:cNvSpPr>
            <a:spLocks xmlns:a="http://schemas.openxmlformats.org/drawingml/2006/main" noGrp="1"/>
          </p:cNvSpPr>
          <p:nvPr/>
        </p:nvSpPr>
        <p:spPr>
          <a:xfrm xmlns:a="http://schemas.openxmlformats.org/drawingml/2006/main">
            <a:off x="628650" y="2990850"/>
            <a:ext cx="3019425" cy="1962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39455A"/>
                </a:solidFill>
                <a:latin typeface="Aptos"/>
                <a:ea typeface="Aptos"/>
                <a:cs typeface="Aptos"/>
              </a:defRPr>
            </a:pPr>
            <a:r>
              <a:rPr sz="1500" b="0">
                <a:solidFill>
                  <a:srgbClr val="39455A"/>
                </a:solidFill>
                <a:latin typeface="Aptos"/>
                <a:ea typeface="Aptos"/>
                <a:cs typeface="Aptos"/>
              </a:rPr>
              <a:t>Teams combine fragmented market, site, and feasibility evidence to compare opportunities and prepare human decisions.</a:t>
            </a:r>
          </a:p>
        </p:txBody>
      </p:sp>
      <p:sp>
        <p:nvSpPr>
          <p:cNvPr id="10" name="">
            <a:extLst xmlns:a="http://schemas.openxmlformats.org/drawingml/2006/main">
              <a:ext uri="{FF2B5EF4-FFF2-40B4-BE49-F238E27FC236}">
                <a16:creationId xmlns:a16="http://schemas.microsoft.com/office/drawing/2014/main" id="{70DA8DC6-1404-43F1-BC68-0739C01277AE}"/>
              </a:ext>
            </a:extLst>
          </p:cNvPr>
          <p:cNvSpPr>
            <a:spLocks xmlns:a="http://schemas.openxmlformats.org/drawingml/2006/main" noGrp="1"/>
          </p:cNvSpPr>
          <p:nvPr/>
        </p:nvSpPr>
        <p:spPr>
          <a:xfrm xmlns:a="http://schemas.openxmlformats.org/drawingml/2006/main">
            <a:off x="4362450" y="1676400"/>
            <a:ext cx="3476625" cy="3467100"/>
          </a:xfrm>
          <a:prstGeom xmlns:a="http://schemas.openxmlformats.org/drawingml/2006/main" prst="roundRect">
            <a:avLst>
              <a:gd name="adj" fmla="val 4945"/>
            </a:avLst>
          </a:prstGeom>
          <a:solidFill xmlns:a="http://schemas.openxmlformats.org/drawingml/2006/main">
            <a:srgbClr val="FFF5D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143D723-FE65-4C54-9C4C-2D6CBA2FE4EA}"/>
              </a:ext>
            </a:extLst>
          </p:cNvPr>
          <p:cNvSpPr>
            <a:spLocks xmlns:a="http://schemas.openxmlformats.org/drawingml/2006/main" noGrp="1"/>
          </p:cNvSpPr>
          <p:nvPr/>
        </p:nvSpPr>
        <p:spPr>
          <a:xfrm xmlns:a="http://schemas.openxmlformats.org/drawingml/2006/main">
            <a:off x="4591050" y="1866900"/>
            <a:ext cx="30194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A56A00"/>
                </a:solidFill>
                <a:latin typeface="Aptos"/>
                <a:ea typeface="Aptos"/>
                <a:cs typeface="Aptos"/>
              </a:defRPr>
            </a:pPr>
            <a:r>
              <a:rPr sz="1050" b="1">
                <a:solidFill>
                  <a:srgbClr val="A56A00"/>
                </a:solidFill>
                <a:latin typeface="Aptos"/>
                <a:ea typeface="Aptos"/>
                <a:cs typeface="Aptos"/>
              </a:rPr>
              <a:t>USER CONTEXT</a:t>
            </a:r>
          </a:p>
        </p:txBody>
      </p:sp>
      <p:sp>
        <p:nvSpPr>
          <p:cNvPr id="12" name="">
            <a:extLst xmlns:a="http://schemas.openxmlformats.org/drawingml/2006/main">
              <a:ext uri="{FF2B5EF4-FFF2-40B4-BE49-F238E27FC236}">
                <a16:creationId xmlns:a16="http://schemas.microsoft.com/office/drawing/2014/main" id="{3545A279-B429-4964-8553-7F4CED6B523A}"/>
              </a:ext>
            </a:extLst>
          </p:cNvPr>
          <p:cNvSpPr>
            <a:spLocks xmlns:a="http://schemas.openxmlformats.org/drawingml/2006/main" noGrp="1"/>
          </p:cNvSpPr>
          <p:nvPr/>
        </p:nvSpPr>
        <p:spPr>
          <a:xfrm xmlns:a="http://schemas.openxmlformats.org/drawingml/2006/main">
            <a:off x="4591050" y="2228850"/>
            <a:ext cx="30194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00" b="1">
                <a:solidFill>
                  <a:srgbClr val="13213A"/>
                </a:solidFill>
                <a:latin typeface="Aptos"/>
                <a:ea typeface="Aptos"/>
                <a:cs typeface="Aptos"/>
              </a:defRPr>
            </a:pPr>
            <a:r>
              <a:rPr sz="2100" b="1">
                <a:solidFill>
                  <a:srgbClr val="13213A"/>
                </a:solidFill>
                <a:latin typeface="Aptos"/>
                <a:ea typeface="Aptos"/>
                <a:cs typeface="Aptos"/>
              </a:rPr>
              <a:t>User Profile Studio</a:t>
            </a:r>
          </a:p>
        </p:txBody>
      </p:sp>
      <p:sp>
        <p:nvSpPr>
          <p:cNvPr id="13" name="">
            <a:extLst xmlns:a="http://schemas.openxmlformats.org/drawingml/2006/main">
              <a:ext uri="{FF2B5EF4-FFF2-40B4-BE49-F238E27FC236}">
                <a16:creationId xmlns:a16="http://schemas.microsoft.com/office/drawing/2014/main" id="{1220633C-70F2-4518-8B46-39F9C9D98803}"/>
              </a:ext>
            </a:extLst>
          </p:cNvPr>
          <p:cNvSpPr>
            <a:spLocks xmlns:a="http://schemas.openxmlformats.org/drawingml/2006/main" noGrp="1"/>
          </p:cNvSpPr>
          <p:nvPr/>
        </p:nvSpPr>
        <p:spPr>
          <a:xfrm xmlns:a="http://schemas.openxmlformats.org/drawingml/2006/main">
            <a:off x="4591050" y="2990850"/>
            <a:ext cx="3019425" cy="1962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39455A"/>
                </a:solidFill>
                <a:latin typeface="Aptos"/>
                <a:ea typeface="Aptos"/>
                <a:cs typeface="Aptos"/>
              </a:defRPr>
            </a:pPr>
            <a:r>
              <a:rPr sz="1500" b="0">
                <a:solidFill>
                  <a:srgbClr val="39455A"/>
                </a:solidFill>
                <a:latin typeface="Aptos"/>
                <a:ea typeface="Aptos"/>
                <a:cs typeface="Aptos"/>
              </a:rPr>
              <a:t>Useful customer and pet information is collected, but not always connected to the next helpful action across experiences.</a:t>
            </a:r>
          </a:p>
        </p:txBody>
      </p:sp>
      <p:sp>
        <p:nvSpPr>
          <p:cNvPr id="14" name="">
            <a:extLst xmlns:a="http://schemas.openxmlformats.org/drawingml/2006/main">
              <a:ext uri="{FF2B5EF4-FFF2-40B4-BE49-F238E27FC236}">
                <a16:creationId xmlns:a16="http://schemas.microsoft.com/office/drawing/2014/main" id="{38DC3DD6-1547-4A74-9E64-2A142B86EE9C}"/>
              </a:ext>
            </a:extLst>
          </p:cNvPr>
          <p:cNvSpPr>
            <a:spLocks xmlns:a="http://schemas.openxmlformats.org/drawingml/2006/main" noGrp="1"/>
          </p:cNvSpPr>
          <p:nvPr/>
        </p:nvSpPr>
        <p:spPr>
          <a:xfrm xmlns:a="http://schemas.openxmlformats.org/drawingml/2006/main">
            <a:off x="8324850" y="1676400"/>
            <a:ext cx="3467100" cy="3467100"/>
          </a:xfrm>
          <a:prstGeom xmlns:a="http://schemas.openxmlformats.org/drawingml/2006/main" prst="roundRect">
            <a:avLst>
              <a:gd name="adj" fmla="val 4945"/>
            </a:avLst>
          </a:prstGeom>
          <a:solidFill xmlns:a="http://schemas.openxmlformats.org/drawingml/2006/main">
            <a:srgbClr val="EDF7F0"/>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A0B7562-8D16-4A06-AE96-B6227B9DCA58}"/>
              </a:ext>
            </a:extLst>
          </p:cNvPr>
          <p:cNvSpPr>
            <a:spLocks xmlns:a="http://schemas.openxmlformats.org/drawingml/2006/main" noGrp="1"/>
          </p:cNvSpPr>
          <p:nvPr/>
        </p:nvSpPr>
        <p:spPr>
          <a:xfrm xmlns:a="http://schemas.openxmlformats.org/drawingml/2006/main">
            <a:off x="8553450" y="186690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347A4A"/>
                </a:solidFill>
                <a:latin typeface="Aptos"/>
                <a:ea typeface="Aptos"/>
                <a:cs typeface="Aptos"/>
              </a:defRPr>
            </a:pPr>
            <a:r>
              <a:rPr sz="1050" b="1">
                <a:solidFill>
                  <a:srgbClr val="347A4A"/>
                </a:solidFill>
                <a:latin typeface="Aptos"/>
                <a:ea typeface="Aptos"/>
                <a:cs typeface="Aptos"/>
              </a:rPr>
              <a:t>WHY THESE</a:t>
            </a:r>
          </a:p>
        </p:txBody>
      </p:sp>
      <p:sp>
        <p:nvSpPr>
          <p:cNvPr id="16" name="">
            <a:extLst xmlns:a="http://schemas.openxmlformats.org/drawingml/2006/main">
              <a:ext uri="{FF2B5EF4-FFF2-40B4-BE49-F238E27FC236}">
                <a16:creationId xmlns:a16="http://schemas.microsoft.com/office/drawing/2014/main" id="{60168C7E-B461-4896-B1A7-58817412C3D1}"/>
              </a:ext>
            </a:extLst>
          </p:cNvPr>
          <p:cNvSpPr>
            <a:spLocks xmlns:a="http://schemas.openxmlformats.org/drawingml/2006/main" noGrp="1"/>
          </p:cNvSpPr>
          <p:nvPr/>
        </p:nvSpPr>
        <p:spPr>
          <a:xfrm xmlns:a="http://schemas.openxmlformats.org/drawingml/2006/main">
            <a:off x="8553450" y="2228850"/>
            <a:ext cx="3009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00" b="1">
                <a:solidFill>
                  <a:srgbClr val="13213A"/>
                </a:solidFill>
                <a:latin typeface="Aptos"/>
                <a:ea typeface="Aptos"/>
                <a:cs typeface="Aptos"/>
              </a:defRPr>
            </a:pPr>
            <a:r>
              <a:rPr sz="2100" b="1">
                <a:solidFill>
                  <a:srgbClr val="13213A"/>
                </a:solidFill>
                <a:latin typeface="Aptos"/>
                <a:ea typeface="Aptos"/>
                <a:cs typeface="Aptos"/>
              </a:rPr>
              <a:t>Governed decisions</a:t>
            </a:r>
          </a:p>
        </p:txBody>
      </p:sp>
      <p:sp>
        <p:nvSpPr>
          <p:cNvPr id="17" name="">
            <a:extLst xmlns:a="http://schemas.openxmlformats.org/drawingml/2006/main">
              <a:ext uri="{FF2B5EF4-FFF2-40B4-BE49-F238E27FC236}">
                <a16:creationId xmlns:a16="http://schemas.microsoft.com/office/drawing/2014/main" id="{E3DB3EEE-736A-4AD4-A77D-9C34AEA958B2}"/>
              </a:ext>
            </a:extLst>
          </p:cNvPr>
          <p:cNvSpPr>
            <a:spLocks xmlns:a="http://schemas.openxmlformats.org/drawingml/2006/main" noGrp="1"/>
          </p:cNvSpPr>
          <p:nvPr/>
        </p:nvSpPr>
        <p:spPr>
          <a:xfrm xmlns:a="http://schemas.openxmlformats.org/drawingml/2006/main">
            <a:off x="8553450" y="2990850"/>
            <a:ext cx="3009900" cy="1962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39455A"/>
                </a:solidFill>
                <a:latin typeface="Aptos"/>
                <a:ea typeface="Aptos"/>
                <a:cs typeface="Aptos"/>
              </a:defRPr>
            </a:pPr>
            <a:r>
              <a:rPr sz="1500" b="0">
                <a:solidFill>
                  <a:srgbClr val="39455A"/>
                </a:solidFill>
                <a:latin typeface="Aptos"/>
                <a:ea typeface="Aptos"/>
                <a:cs typeface="Aptos"/>
              </a:rPr>
              <a:t>Both offered a clear role for AI: organize validated evidence and explain tradeoffs without taking ownership from people.</a:t>
            </a:r>
          </a:p>
        </p:txBody>
      </p:sp>
      <p:sp>
        <p:nvSpPr>
          <p:cNvPr id="18" name="">
            <a:extLst xmlns:a="http://schemas.openxmlformats.org/drawingml/2006/main">
              <a:ext uri="{FF2B5EF4-FFF2-40B4-BE49-F238E27FC236}">
                <a16:creationId xmlns:a16="http://schemas.microsoft.com/office/drawing/2014/main" id="{B892211A-2941-4F0C-95D3-45B88841352C}"/>
              </a:ext>
            </a:extLst>
          </p:cNvPr>
          <p:cNvSpPr>
            <a:spLocks xmlns:a="http://schemas.openxmlformats.org/drawingml/2006/main" noGrp="1"/>
          </p:cNvSpPr>
          <p:nvPr/>
        </p:nvSpPr>
        <p:spPr>
          <a:xfrm xmlns:a="http://schemas.openxmlformats.org/drawingml/2006/main">
            <a:off x="1524000" y="5476875"/>
            <a:ext cx="914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730"/>
          </a:bodyPr>
          <a:lstStyle xmlns:a="http://schemas.openxmlformats.org/drawingml/2006/main"/>
          <a:p xmlns:a="http://schemas.openxmlformats.org/drawingml/2006/main">
            <a:pPr algn="ctr">
              <a:buNone/>
              <a:defRPr sz="2100" b="1">
                <a:solidFill>
                  <a:srgbClr val="1E43C8"/>
                </a:solidFill>
                <a:latin typeface="Aptos"/>
                <a:ea typeface="Aptos"/>
                <a:cs typeface="Aptos"/>
              </a:defRPr>
            </a:pPr>
            <a:r>
              <a:rPr sz="2100" b="1">
                <a:solidFill>
                  <a:srgbClr val="1E43C8"/>
                </a:solidFill>
                <a:latin typeface="Aptos"/>
                <a:ea typeface="Aptos"/>
                <a:cs typeface="Aptos"/>
              </a:rPr>
              <a:t>Clinic expansion became the first wedge because it offered a focused, high-value decision we could prototype.</a:t>
            </a:r>
          </a:p>
        </p:txBody>
      </p:sp>
    </p:spTree>
    <p:extLst>
      <p:ext uri="{BB962C8B-B14F-4D97-AF65-F5344CB8AC3E}">
        <p14:creationId xmlns:p14="http://schemas.microsoft.com/office/powerpoint/2010/main" val="151070730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CD123C35-CA7A-4346-AB97-EBAF20C31050}"/>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DISCOVERY JOURNEY</a:t>
            </a:r>
          </a:p>
        </p:txBody>
      </p:sp>
      <p:sp>
        <p:nvSpPr>
          <p:cNvPr id="2" name="">
            <a:extLst xmlns:a="http://schemas.openxmlformats.org/drawingml/2006/main">
              <a:ext uri="{FF2B5EF4-FFF2-40B4-BE49-F238E27FC236}">
                <a16:creationId xmlns:a16="http://schemas.microsoft.com/office/drawing/2014/main" id="{36C8429C-DFCA-437D-B13A-F4ABF1840A4B}"/>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214"/>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Conversations moved us from broad ideas to a sharper clinic opportunity</a:t>
            </a:r>
          </a:p>
        </p:txBody>
      </p:sp>
      <p:sp>
        <p:nvSpPr>
          <p:cNvPr id="3" name="">
            <a:extLst xmlns:a="http://schemas.openxmlformats.org/drawingml/2006/main">
              <a:ext uri="{FF2B5EF4-FFF2-40B4-BE49-F238E27FC236}">
                <a16:creationId xmlns:a16="http://schemas.microsoft.com/office/drawing/2014/main" id="{7962740E-3D83-4F82-BCBC-E4182F5F4B50}"/>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1318562-918A-47C9-8C07-AB4D7E4F1E21}"/>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Sources: Contacts &amp; Conversations; Cale notes; Matt check-in</a:t>
            </a:r>
          </a:p>
        </p:txBody>
      </p:sp>
      <p:sp>
        <p:nvSpPr>
          <p:cNvPr id="5" name="">
            <a:extLst xmlns:a="http://schemas.openxmlformats.org/drawingml/2006/main">
              <a:ext uri="{FF2B5EF4-FFF2-40B4-BE49-F238E27FC236}">
                <a16:creationId xmlns:a16="http://schemas.microsoft.com/office/drawing/2014/main" id="{2DAA3926-EB77-4942-BFB3-31145C4E35DD}"/>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03</a:t>
            </a:r>
          </a:p>
        </p:txBody>
      </p:sp>
      <p:sp>
        <p:nvSpPr>
          <p:cNvPr id="6" name="">
            <a:extLst xmlns:a="http://schemas.openxmlformats.org/drawingml/2006/main">
              <a:ext uri="{FF2B5EF4-FFF2-40B4-BE49-F238E27FC236}">
                <a16:creationId xmlns:a16="http://schemas.microsoft.com/office/drawing/2014/main" id="{BE24006A-B13E-408A-8166-2804DC4F81BB}"/>
              </a:ext>
            </a:extLst>
          </p:cNvPr>
          <p:cNvSpPr>
            <a:spLocks xmlns:a="http://schemas.openxmlformats.org/drawingml/2006/main" noGrp="1"/>
          </p:cNvSpPr>
          <p:nvPr/>
        </p:nvSpPr>
        <p:spPr>
          <a:xfrm xmlns:a="http://schemas.openxmlformats.org/drawingml/2006/main">
            <a:off x="400050" y="15811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284"/>
          </a:bodyPr>
          <a:lstStyle xmlns:a="http://schemas.openxmlformats.org/drawingml/2006/main"/>
          <a:p xmlns:a="http://schemas.openxmlformats.org/drawingml/2006/main">
            <a:pPr algn="l">
              <a:buNone/>
              <a:defRPr sz="1200" b="1">
                <a:solidFill>
                  <a:srgbClr val="687386"/>
                </a:solidFill>
                <a:latin typeface="Aptos"/>
                <a:ea typeface="Aptos"/>
                <a:cs typeface="Aptos"/>
              </a:defRPr>
            </a:pPr>
            <a:r>
              <a:rPr sz="1200" b="1">
                <a:solidFill>
                  <a:srgbClr val="687386"/>
                </a:solidFill>
                <a:latin typeface="Aptos"/>
                <a:ea typeface="Aptos"/>
                <a:cs typeface="Aptos"/>
              </a:rPr>
              <a:t>WHO WE HEARD FROM</a:t>
            </a:r>
          </a:p>
        </p:txBody>
      </p:sp>
      <p:sp>
        <p:nvSpPr>
          <p:cNvPr id="7" name="">
            <a:extLst xmlns:a="http://schemas.openxmlformats.org/drawingml/2006/main">
              <a:ext uri="{FF2B5EF4-FFF2-40B4-BE49-F238E27FC236}">
                <a16:creationId xmlns:a16="http://schemas.microsoft.com/office/drawing/2014/main" id="{9E73ACEB-5F59-456E-AE2D-A69CF8DCB931}"/>
              </a:ext>
            </a:extLst>
          </p:cNvPr>
          <p:cNvSpPr>
            <a:spLocks xmlns:a="http://schemas.openxmlformats.org/drawingml/2006/main" noGrp="1"/>
          </p:cNvSpPr>
          <p:nvPr/>
        </p:nvSpPr>
        <p:spPr>
          <a:xfrm xmlns:a="http://schemas.openxmlformats.org/drawingml/2006/main">
            <a:off x="6381750" y="15811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WHAT WE LEARNED</a:t>
            </a:r>
          </a:p>
        </p:txBody>
      </p:sp>
      <p:sp>
        <p:nvSpPr>
          <p:cNvPr id="8" name="">
            <a:extLst xmlns:a="http://schemas.openxmlformats.org/drawingml/2006/main">
              <a:ext uri="{FF2B5EF4-FFF2-40B4-BE49-F238E27FC236}">
                <a16:creationId xmlns:a16="http://schemas.microsoft.com/office/drawing/2014/main" id="{714EE83A-03C7-47F1-9AB8-2C41456ABF03}"/>
              </a:ext>
            </a:extLst>
          </p:cNvPr>
          <p:cNvSpPr>
            <a:spLocks xmlns:a="http://schemas.openxmlformats.org/drawingml/2006/main" noGrp="1"/>
          </p:cNvSpPr>
          <p:nvPr/>
        </p:nvSpPr>
        <p:spPr>
          <a:xfrm xmlns:a="http://schemas.openxmlformats.org/drawingml/2006/main">
            <a:off x="400050" y="2038350"/>
            <a:ext cx="4819650" cy="552450"/>
          </a:xfrm>
          <a:prstGeom xmlns:a="http://schemas.openxmlformats.org/drawingml/2006/main" prst="roundRect">
            <a:avLst>
              <a:gd name="adj" fmla="val 20690"/>
            </a:avLst>
          </a:prstGeom>
          <a:solidFill xmlns:a="http://schemas.openxmlformats.org/drawingml/2006/main">
            <a:srgbClr val="F5F7F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5F9FF14-8975-4ECB-81B1-4A224D68FC7A}"/>
              </a:ext>
            </a:extLst>
          </p:cNvPr>
          <p:cNvSpPr>
            <a:spLocks xmlns:a="http://schemas.openxmlformats.org/drawingml/2006/main" noGrp="1"/>
          </p:cNvSpPr>
          <p:nvPr/>
        </p:nvSpPr>
        <p:spPr>
          <a:xfrm xmlns:a="http://schemas.openxmlformats.org/drawingml/2006/main">
            <a:off x="628650" y="217170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Cathy Harley • CVC / hybrid care</a:t>
            </a:r>
          </a:p>
        </p:txBody>
      </p:sp>
      <p:sp>
        <p:nvSpPr>
          <p:cNvPr id="10" name="">
            <a:extLst xmlns:a="http://schemas.openxmlformats.org/drawingml/2006/main">
              <a:ext uri="{FF2B5EF4-FFF2-40B4-BE49-F238E27FC236}">
                <a16:creationId xmlns:a16="http://schemas.microsoft.com/office/drawing/2014/main" id="{EAEFAB8D-DDE8-4EAE-AAFC-6EE4F53DFE36}"/>
              </a:ext>
            </a:extLst>
          </p:cNvPr>
          <p:cNvSpPr>
            <a:spLocks xmlns:a="http://schemas.openxmlformats.org/drawingml/2006/main" noGrp="1"/>
          </p:cNvSpPr>
          <p:nvPr/>
        </p:nvSpPr>
        <p:spPr>
          <a:xfrm xmlns:a="http://schemas.openxmlformats.org/drawingml/2006/main">
            <a:off x="400050" y="2781300"/>
            <a:ext cx="4819650" cy="552450"/>
          </a:xfrm>
          <a:prstGeom xmlns:a="http://schemas.openxmlformats.org/drawingml/2006/main" prst="roundRect">
            <a:avLst>
              <a:gd name="adj" fmla="val 20690"/>
            </a:avLst>
          </a:prstGeom>
          <a:solidFill xmlns:a="http://schemas.openxmlformats.org/drawingml/2006/main">
            <a:srgbClr val="F5F7F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E9AB7BC-28B4-499C-BA9D-04A4292AC11C}"/>
              </a:ext>
            </a:extLst>
          </p:cNvPr>
          <p:cNvSpPr>
            <a:spLocks xmlns:a="http://schemas.openxmlformats.org/drawingml/2006/main" noGrp="1"/>
          </p:cNvSpPr>
          <p:nvPr/>
        </p:nvSpPr>
        <p:spPr>
          <a:xfrm xmlns:a="http://schemas.openxmlformats.org/drawingml/2006/main">
            <a:off x="628650" y="291465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Mike Cammarota • CVC operations</a:t>
            </a:r>
          </a:p>
        </p:txBody>
      </p:sp>
      <p:sp>
        <p:nvSpPr>
          <p:cNvPr id="12" name="">
            <a:extLst xmlns:a="http://schemas.openxmlformats.org/drawingml/2006/main">
              <a:ext uri="{FF2B5EF4-FFF2-40B4-BE49-F238E27FC236}">
                <a16:creationId xmlns:a16="http://schemas.microsoft.com/office/drawing/2014/main" id="{96CCF0F9-9016-499B-97E0-256474A5E23A}"/>
              </a:ext>
            </a:extLst>
          </p:cNvPr>
          <p:cNvSpPr>
            <a:spLocks xmlns:a="http://schemas.openxmlformats.org/drawingml/2006/main" noGrp="1"/>
          </p:cNvSpPr>
          <p:nvPr/>
        </p:nvSpPr>
        <p:spPr>
          <a:xfrm xmlns:a="http://schemas.openxmlformats.org/drawingml/2006/main">
            <a:off x="400050" y="3524250"/>
            <a:ext cx="4819650" cy="552450"/>
          </a:xfrm>
          <a:prstGeom xmlns:a="http://schemas.openxmlformats.org/drawingml/2006/main" prst="roundRect">
            <a:avLst>
              <a:gd name="adj" fmla="val 20690"/>
            </a:avLst>
          </a:prstGeom>
          <a:solidFill xmlns:a="http://schemas.openxmlformats.org/drawingml/2006/main">
            <a:srgbClr val="F5F7F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9888673-E2AA-42C7-9E8D-9BBD583D7B7C}"/>
              </a:ext>
            </a:extLst>
          </p:cNvPr>
          <p:cNvSpPr>
            <a:spLocks xmlns:a="http://schemas.openxmlformats.org/drawingml/2006/main" noGrp="1"/>
          </p:cNvSpPr>
          <p:nvPr/>
        </p:nvSpPr>
        <p:spPr>
          <a:xfrm xmlns:a="http://schemas.openxmlformats.org/drawingml/2006/main">
            <a:off x="628650" y="365760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Krista Bardelli • CVC CRM</a:t>
            </a:r>
          </a:p>
        </p:txBody>
      </p:sp>
      <p:sp>
        <p:nvSpPr>
          <p:cNvPr id="14" name="">
            <a:extLst xmlns:a="http://schemas.openxmlformats.org/drawingml/2006/main">
              <a:ext uri="{FF2B5EF4-FFF2-40B4-BE49-F238E27FC236}">
                <a16:creationId xmlns:a16="http://schemas.microsoft.com/office/drawing/2014/main" id="{46DE9599-04E3-4A6A-B157-C1EE31E5411A}"/>
              </a:ext>
            </a:extLst>
          </p:cNvPr>
          <p:cNvSpPr>
            <a:spLocks xmlns:a="http://schemas.openxmlformats.org/drawingml/2006/main" noGrp="1"/>
          </p:cNvSpPr>
          <p:nvPr/>
        </p:nvSpPr>
        <p:spPr>
          <a:xfrm xmlns:a="http://schemas.openxmlformats.org/drawingml/2006/main">
            <a:off x="400050" y="4267200"/>
            <a:ext cx="4819650" cy="552450"/>
          </a:xfrm>
          <a:prstGeom xmlns:a="http://schemas.openxmlformats.org/drawingml/2006/main" prst="roundRect">
            <a:avLst>
              <a:gd name="adj" fmla="val 20690"/>
            </a:avLst>
          </a:prstGeom>
          <a:solidFill xmlns:a="http://schemas.openxmlformats.org/drawingml/2006/main">
            <a:srgbClr val="F5F7F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8209976-E5EB-4619-BE3F-069746EB6FDB}"/>
              </a:ext>
            </a:extLst>
          </p:cNvPr>
          <p:cNvSpPr>
            <a:spLocks xmlns:a="http://schemas.openxmlformats.org/drawingml/2006/main" noGrp="1"/>
          </p:cNvSpPr>
          <p:nvPr/>
        </p:nvSpPr>
        <p:spPr>
          <a:xfrm xmlns:a="http://schemas.openxmlformats.org/drawingml/2006/main">
            <a:off x="628650" y="440055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Lana Lee • search + personalization</a:t>
            </a:r>
          </a:p>
        </p:txBody>
      </p:sp>
      <p:sp>
        <p:nvSpPr>
          <p:cNvPr id="16" name="">
            <a:extLst xmlns:a="http://schemas.openxmlformats.org/drawingml/2006/main">
              <a:ext uri="{FF2B5EF4-FFF2-40B4-BE49-F238E27FC236}">
                <a16:creationId xmlns:a16="http://schemas.microsoft.com/office/drawing/2014/main" id="{794DF697-9416-4B5F-8E62-F1632339BD44}"/>
              </a:ext>
            </a:extLst>
          </p:cNvPr>
          <p:cNvSpPr>
            <a:spLocks xmlns:a="http://schemas.openxmlformats.org/drawingml/2006/main" noGrp="1"/>
          </p:cNvSpPr>
          <p:nvPr/>
        </p:nvSpPr>
        <p:spPr>
          <a:xfrm xmlns:a="http://schemas.openxmlformats.org/drawingml/2006/main">
            <a:off x="400050" y="5010150"/>
            <a:ext cx="4819650" cy="552450"/>
          </a:xfrm>
          <a:prstGeom xmlns:a="http://schemas.openxmlformats.org/drawingml/2006/main" prst="roundRect">
            <a:avLst>
              <a:gd name="adj" fmla="val 20690"/>
            </a:avLst>
          </a:prstGeom>
          <a:solidFill xmlns:a="http://schemas.openxmlformats.org/drawingml/2006/main">
            <a:srgbClr val="F5F7F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FFAAC09-D66F-43C6-842B-B6883EF2053F}"/>
              </a:ext>
            </a:extLst>
          </p:cNvPr>
          <p:cNvSpPr>
            <a:spLocks xmlns:a="http://schemas.openxmlformats.org/drawingml/2006/main" noGrp="1"/>
          </p:cNvSpPr>
          <p:nvPr/>
        </p:nvSpPr>
        <p:spPr>
          <a:xfrm xmlns:a="http://schemas.openxmlformats.org/drawingml/2006/main">
            <a:off x="628650" y="514350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Matt Merrill + Cale Harrington • expansion</a:t>
            </a:r>
          </a:p>
        </p:txBody>
      </p:sp>
      <p:sp>
        <p:nvSpPr>
          <p:cNvPr id="18" name="">
            <a:extLst xmlns:a="http://schemas.openxmlformats.org/drawingml/2006/main">
              <a:ext uri="{FF2B5EF4-FFF2-40B4-BE49-F238E27FC236}">
                <a16:creationId xmlns:a16="http://schemas.microsoft.com/office/drawing/2014/main" id="{81EF9541-D5C0-42C0-8751-8B4ECC3C2D98}"/>
              </a:ext>
            </a:extLst>
          </p:cNvPr>
          <p:cNvSpPr>
            <a:spLocks xmlns:a="http://schemas.openxmlformats.org/drawingml/2006/main" noGrp="1"/>
          </p:cNvSpPr>
          <p:nvPr/>
        </p:nvSpPr>
        <p:spPr>
          <a:xfrm xmlns:a="http://schemas.openxmlformats.org/drawingml/2006/main">
            <a:off x="6381750" y="2038350"/>
            <a:ext cx="5410200" cy="552450"/>
          </a:xfrm>
          <a:prstGeom xmlns:a="http://schemas.openxmlformats.org/drawingml/2006/main" prst="roundRect">
            <a:avLst>
              <a:gd name="adj" fmla="val 20690"/>
            </a:avLst>
          </a:prstGeom>
          <a:solidFill xmlns:a="http://schemas.openxmlformats.org/drawingml/2006/main">
            <a:srgbClr val="EDF3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6F25BEE-CDCC-4502-8546-88E865562164}"/>
              </a:ext>
            </a:extLst>
          </p:cNvPr>
          <p:cNvSpPr>
            <a:spLocks xmlns:a="http://schemas.openxmlformats.org/drawingml/2006/main" noGrp="1"/>
          </p:cNvSpPr>
          <p:nvPr/>
        </p:nvSpPr>
        <p:spPr>
          <a:xfrm xmlns:a="http://schemas.openxmlformats.org/drawingml/2006/main">
            <a:off x="6610350" y="2171700"/>
            <a:ext cx="4895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1">
                <a:solidFill>
                  <a:srgbClr val="13213A"/>
                </a:solidFill>
                <a:latin typeface="Aptos"/>
                <a:ea typeface="Aptos"/>
                <a:cs typeface="Aptos"/>
              </a:defRPr>
            </a:pPr>
            <a:r>
              <a:rPr sz="1575" b="1">
                <a:solidFill>
                  <a:srgbClr val="13213A"/>
                </a:solidFill>
                <a:latin typeface="Aptos"/>
                <a:ea typeface="Aptos"/>
                <a:cs typeface="Aptos"/>
              </a:rPr>
              <a:t>Customer and pet context is not always connected to action</a:t>
            </a:r>
          </a:p>
        </p:txBody>
      </p:sp>
      <p:sp>
        <p:nvSpPr>
          <p:cNvPr id="20" name="">
            <a:extLst xmlns:a="http://schemas.openxmlformats.org/drawingml/2006/main">
              <a:ext uri="{FF2B5EF4-FFF2-40B4-BE49-F238E27FC236}">
                <a16:creationId xmlns:a16="http://schemas.microsoft.com/office/drawing/2014/main" id="{4A622566-F47C-4AC1-882E-EFDC6A7D5DC7}"/>
              </a:ext>
            </a:extLst>
          </p:cNvPr>
          <p:cNvSpPr>
            <a:spLocks xmlns:a="http://schemas.openxmlformats.org/drawingml/2006/main" noGrp="1"/>
          </p:cNvSpPr>
          <p:nvPr/>
        </p:nvSpPr>
        <p:spPr>
          <a:xfrm xmlns:a="http://schemas.openxmlformats.org/drawingml/2006/main">
            <a:off x="6381750" y="2781300"/>
            <a:ext cx="5410200" cy="552450"/>
          </a:xfrm>
          <a:prstGeom xmlns:a="http://schemas.openxmlformats.org/drawingml/2006/main" prst="roundRect">
            <a:avLst>
              <a:gd name="adj" fmla="val 20690"/>
            </a:avLst>
          </a:prstGeom>
          <a:solidFill xmlns:a="http://schemas.openxmlformats.org/drawingml/2006/main">
            <a:srgbClr val="EDF3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4206EEC-2097-457D-B8B0-0F7D0F018FB2}"/>
              </a:ext>
            </a:extLst>
          </p:cNvPr>
          <p:cNvSpPr>
            <a:spLocks xmlns:a="http://schemas.openxmlformats.org/drawingml/2006/main" noGrp="1"/>
          </p:cNvSpPr>
          <p:nvPr/>
        </p:nvSpPr>
        <p:spPr>
          <a:xfrm xmlns:a="http://schemas.openxmlformats.org/drawingml/2006/main">
            <a:off x="6610350" y="2914650"/>
            <a:ext cx="4895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1">
                <a:solidFill>
                  <a:srgbClr val="13213A"/>
                </a:solidFill>
                <a:latin typeface="Aptos"/>
                <a:ea typeface="Aptos"/>
                <a:cs typeface="Aptos"/>
              </a:defRPr>
            </a:pPr>
            <a:r>
              <a:rPr sz="1575" b="1">
                <a:solidFill>
                  <a:srgbClr val="13213A"/>
                </a:solidFill>
                <a:latin typeface="Aptos"/>
                <a:ea typeface="Aptos"/>
                <a:cs typeface="Aptos"/>
              </a:rPr>
              <a:t>Clinic work crosses systems, owners, and handoffs</a:t>
            </a:r>
          </a:p>
        </p:txBody>
      </p:sp>
      <p:sp>
        <p:nvSpPr>
          <p:cNvPr id="22" name="">
            <a:extLst xmlns:a="http://schemas.openxmlformats.org/drawingml/2006/main">
              <a:ext uri="{FF2B5EF4-FFF2-40B4-BE49-F238E27FC236}">
                <a16:creationId xmlns:a16="http://schemas.microsoft.com/office/drawing/2014/main" id="{2BE04B81-52E9-44FA-995B-E52EDFEC5B92}"/>
              </a:ext>
            </a:extLst>
          </p:cNvPr>
          <p:cNvSpPr>
            <a:spLocks xmlns:a="http://schemas.openxmlformats.org/drawingml/2006/main" noGrp="1"/>
          </p:cNvSpPr>
          <p:nvPr/>
        </p:nvSpPr>
        <p:spPr>
          <a:xfrm xmlns:a="http://schemas.openxmlformats.org/drawingml/2006/main">
            <a:off x="6381750" y="3524250"/>
            <a:ext cx="5410200" cy="552450"/>
          </a:xfrm>
          <a:prstGeom xmlns:a="http://schemas.openxmlformats.org/drawingml/2006/main" prst="roundRect">
            <a:avLst>
              <a:gd name="adj" fmla="val 20690"/>
            </a:avLst>
          </a:prstGeom>
          <a:solidFill xmlns:a="http://schemas.openxmlformats.org/drawingml/2006/main">
            <a:srgbClr val="EDF3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C3210CC-FC7F-4D0A-AE2F-44C3917A3DA8}"/>
              </a:ext>
            </a:extLst>
          </p:cNvPr>
          <p:cNvSpPr>
            <a:spLocks xmlns:a="http://schemas.openxmlformats.org/drawingml/2006/main" noGrp="1"/>
          </p:cNvSpPr>
          <p:nvPr/>
        </p:nvSpPr>
        <p:spPr>
          <a:xfrm xmlns:a="http://schemas.openxmlformats.org/drawingml/2006/main">
            <a:off x="6610350" y="3657600"/>
            <a:ext cx="4895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1">
                <a:solidFill>
                  <a:srgbClr val="13213A"/>
                </a:solidFill>
                <a:latin typeface="Aptos"/>
                <a:ea typeface="Aptos"/>
                <a:cs typeface="Aptos"/>
              </a:defRPr>
            </a:pPr>
            <a:r>
              <a:rPr sz="1575" b="1">
                <a:solidFill>
                  <a:srgbClr val="13213A"/>
                </a:solidFill>
                <a:latin typeface="Aptos"/>
                <a:ea typeface="Aptos"/>
                <a:cs typeface="Aptos"/>
              </a:rPr>
              <a:t>Esri and Excel already cover major parts of analysis</a:t>
            </a:r>
          </a:p>
        </p:txBody>
      </p:sp>
      <p:sp>
        <p:nvSpPr>
          <p:cNvPr id="24" name="">
            <a:extLst xmlns:a="http://schemas.openxmlformats.org/drawingml/2006/main">
              <a:ext uri="{FF2B5EF4-FFF2-40B4-BE49-F238E27FC236}">
                <a16:creationId xmlns:a16="http://schemas.microsoft.com/office/drawing/2014/main" id="{76CAFD62-374E-4856-A91E-0363D15A67D8}"/>
              </a:ext>
            </a:extLst>
          </p:cNvPr>
          <p:cNvSpPr>
            <a:spLocks xmlns:a="http://schemas.openxmlformats.org/drawingml/2006/main" noGrp="1"/>
          </p:cNvSpPr>
          <p:nvPr/>
        </p:nvSpPr>
        <p:spPr>
          <a:xfrm xmlns:a="http://schemas.openxmlformats.org/drawingml/2006/main">
            <a:off x="6381750" y="4267200"/>
            <a:ext cx="5410200" cy="552450"/>
          </a:xfrm>
          <a:prstGeom xmlns:a="http://schemas.openxmlformats.org/drawingml/2006/main" prst="roundRect">
            <a:avLst>
              <a:gd name="adj" fmla="val 20690"/>
            </a:avLst>
          </a:prstGeom>
          <a:solidFill xmlns:a="http://schemas.openxmlformats.org/drawingml/2006/main">
            <a:srgbClr val="EDF3FF"/>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CEBBF17-9A25-4B88-84B9-2CEC759CBC18}"/>
              </a:ext>
            </a:extLst>
          </p:cNvPr>
          <p:cNvSpPr>
            <a:spLocks xmlns:a="http://schemas.openxmlformats.org/drawingml/2006/main" noGrp="1"/>
          </p:cNvSpPr>
          <p:nvPr/>
        </p:nvSpPr>
        <p:spPr>
          <a:xfrm xmlns:a="http://schemas.openxmlformats.org/drawingml/2006/main">
            <a:off x="6610350" y="4400550"/>
            <a:ext cx="4895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1">
                <a:solidFill>
                  <a:srgbClr val="13213A"/>
                </a:solidFill>
                <a:latin typeface="Aptos"/>
                <a:ea typeface="Aptos"/>
                <a:cs typeface="Aptos"/>
              </a:defRPr>
            </a:pPr>
            <a:r>
              <a:rPr sz="1575" b="1">
                <a:solidFill>
                  <a:srgbClr val="13213A"/>
                </a:solidFill>
                <a:latin typeface="Aptos"/>
                <a:ea typeface="Aptos"/>
                <a:cs typeface="Aptos"/>
              </a:rPr>
              <a:t>Market, property, and sequence are different decisions</a:t>
            </a:r>
          </a:p>
        </p:txBody>
      </p:sp>
      <p:sp>
        <p:nvSpPr>
          <p:cNvPr id="26" name="">
            <a:extLst xmlns:a="http://schemas.openxmlformats.org/drawingml/2006/main">
              <a:ext uri="{FF2B5EF4-FFF2-40B4-BE49-F238E27FC236}">
                <a16:creationId xmlns:a16="http://schemas.microsoft.com/office/drawing/2014/main" id="{AD27ED43-5ECA-4CE6-A895-FEF471F9368B}"/>
              </a:ext>
            </a:extLst>
          </p:cNvPr>
          <p:cNvSpPr>
            <a:spLocks xmlns:a="http://schemas.openxmlformats.org/drawingml/2006/main" noGrp="1"/>
          </p:cNvSpPr>
          <p:nvPr/>
        </p:nvSpPr>
        <p:spPr>
          <a:xfrm xmlns:a="http://schemas.openxmlformats.org/drawingml/2006/main">
            <a:off x="6381750" y="5010150"/>
            <a:ext cx="5410200" cy="552450"/>
          </a:xfrm>
          <a:prstGeom xmlns:a="http://schemas.openxmlformats.org/drawingml/2006/main" prst="roundRect">
            <a:avLst>
              <a:gd name="adj" fmla="val 20690"/>
            </a:avLst>
          </a:prstGeom>
          <a:solidFill xmlns:a="http://schemas.openxmlformats.org/drawingml/2006/main">
            <a:srgbClr val="EDF7F0"/>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ABF7D7A0-E097-4A2F-B4D3-664A7B63C409}"/>
              </a:ext>
            </a:extLst>
          </p:cNvPr>
          <p:cNvSpPr>
            <a:spLocks xmlns:a="http://schemas.openxmlformats.org/drawingml/2006/main" noGrp="1"/>
          </p:cNvSpPr>
          <p:nvPr/>
        </p:nvSpPr>
        <p:spPr>
          <a:xfrm xmlns:a="http://schemas.openxmlformats.org/drawingml/2006/main">
            <a:off x="6610350" y="5143500"/>
            <a:ext cx="4895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1">
                <a:solidFill>
                  <a:srgbClr val="13213A"/>
                </a:solidFill>
                <a:latin typeface="Aptos"/>
                <a:ea typeface="Aptos"/>
                <a:cs typeface="Aptos"/>
              </a:defRPr>
            </a:pPr>
            <a:r>
              <a:rPr sz="1575" b="1">
                <a:solidFill>
                  <a:srgbClr val="13213A"/>
                </a:solidFill>
                <a:latin typeface="Aptos"/>
                <a:ea typeface="Aptos"/>
                <a:cs typeface="Aptos"/>
              </a:rPr>
              <a:t>The gap is a shared, reviewable decision trace</a:t>
            </a:r>
          </a:p>
        </p:txBody>
      </p:sp>
      <p:sp>
        <p:nvSpPr>
          <p:cNvPr id="28" name="">
            <a:extLst xmlns:a="http://schemas.openxmlformats.org/drawingml/2006/main">
              <a:ext uri="{FF2B5EF4-FFF2-40B4-BE49-F238E27FC236}">
                <a16:creationId xmlns:a16="http://schemas.microsoft.com/office/drawing/2014/main" id="{8FADFEAB-3C09-441F-B32B-540BEBE36274}"/>
              </a:ext>
            </a:extLst>
          </p:cNvPr>
          <p:cNvSpPr>
            <a:spLocks xmlns:a="http://schemas.openxmlformats.org/drawingml/2006/main" noGrp="1"/>
          </p:cNvSpPr>
          <p:nvPr/>
        </p:nvSpPr>
        <p:spPr>
          <a:xfrm xmlns:a="http://schemas.openxmlformats.org/drawingml/2006/main">
            <a:off x="5305425" y="3333750"/>
            <a:ext cx="1000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200" b="1">
                <a:solidFill>
                  <a:srgbClr val="A56A00"/>
                </a:solidFill>
                <a:latin typeface="Aptos"/>
                <a:ea typeface="Aptos"/>
                <a:cs typeface="Aptos"/>
              </a:defRPr>
            </a:pPr>
            <a:r>
              <a:rPr sz="1200" b="1">
                <a:solidFill>
                  <a:srgbClr val="A56A00"/>
                </a:solidFill>
                <a:latin typeface="Aptos"/>
                <a:ea typeface="Aptos"/>
                <a:cs typeface="Aptos"/>
              </a:rPr>
              <a:t>synthesis</a:t>
            </a:r>
          </a:p>
        </p:txBody>
      </p:sp>
    </p:spTree>
    <p:extLst>
      <p:ext uri="{BB962C8B-B14F-4D97-AF65-F5344CB8AC3E}">
        <p14:creationId xmlns:p14="http://schemas.microsoft.com/office/powerpoint/2010/main" val="21031407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B7672B6-F32D-4A8C-9D1D-D2A54DF8CC5F}"/>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WHAT WE LEARNED</a:t>
            </a:r>
          </a:p>
        </p:txBody>
      </p:sp>
      <p:sp>
        <p:nvSpPr>
          <p:cNvPr id="2" name="">
            <a:extLst xmlns:a="http://schemas.openxmlformats.org/drawingml/2006/main">
              <a:ext uri="{FF2B5EF4-FFF2-40B4-BE49-F238E27FC236}">
                <a16:creationId xmlns:a16="http://schemas.microsoft.com/office/drawing/2014/main" id="{6BDD2111-6573-43D8-877F-48241BEEDE54}"/>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64"/>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Attractiveness, feasibility, and execution priority are different decisions</a:t>
            </a:r>
          </a:p>
        </p:txBody>
      </p:sp>
      <p:sp>
        <p:nvSpPr>
          <p:cNvPr id="3" name="">
            <a:extLst xmlns:a="http://schemas.openxmlformats.org/drawingml/2006/main">
              <a:ext uri="{FF2B5EF4-FFF2-40B4-BE49-F238E27FC236}">
                <a16:creationId xmlns:a16="http://schemas.microsoft.com/office/drawing/2014/main" id="{9041FF62-1481-473C-804F-535A1C05D3DB}"/>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F706176-D641-414F-ADCF-DE15899D3C2B}"/>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Sources: transition brief; MVP scope; open questions</a:t>
            </a:r>
          </a:p>
        </p:txBody>
      </p:sp>
      <p:sp>
        <p:nvSpPr>
          <p:cNvPr id="5" name="">
            <a:extLst xmlns:a="http://schemas.openxmlformats.org/drawingml/2006/main">
              <a:ext uri="{FF2B5EF4-FFF2-40B4-BE49-F238E27FC236}">
                <a16:creationId xmlns:a16="http://schemas.microsoft.com/office/drawing/2014/main" id="{8B6AB315-2EE1-4FB0-9A42-3F88C5338606}"/>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04</a:t>
            </a:r>
          </a:p>
        </p:txBody>
      </p:sp>
      <p:sp>
        <p:nvSpPr>
          <p:cNvPr id="6" name="">
            <a:extLst xmlns:a="http://schemas.openxmlformats.org/drawingml/2006/main">
              <a:ext uri="{FF2B5EF4-FFF2-40B4-BE49-F238E27FC236}">
                <a16:creationId xmlns:a16="http://schemas.microsoft.com/office/drawing/2014/main" id="{62A8619D-5DC1-409F-B08E-1E0F4BFCF6B8}"/>
              </a:ext>
            </a:extLst>
          </p:cNvPr>
          <p:cNvSpPr>
            <a:spLocks xmlns:a="http://schemas.openxmlformats.org/drawingml/2006/main" noGrp="1"/>
          </p:cNvSpPr>
          <p:nvPr/>
        </p:nvSpPr>
        <p:spPr>
          <a:xfrm xmlns:a="http://schemas.openxmlformats.org/drawingml/2006/main">
            <a:off x="400050" y="1695450"/>
            <a:ext cx="3476625" cy="3714750"/>
          </a:xfrm>
          <a:prstGeom xmlns:a="http://schemas.openxmlformats.org/drawingml/2006/main" prst="roundRect">
            <a:avLst>
              <a:gd name="adj" fmla="val 4932"/>
            </a:avLst>
          </a:prstGeom>
          <a:solidFill xmlns:a="http://schemas.openxmlformats.org/drawingml/2006/main">
            <a:srgbClr val="EDF3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B11367E-5DE5-4C1D-8520-A86C6BB4C898}"/>
              </a:ext>
            </a:extLst>
          </p:cNvPr>
          <p:cNvSpPr>
            <a:spLocks xmlns:a="http://schemas.openxmlformats.org/drawingml/2006/main" noGrp="1"/>
          </p:cNvSpPr>
          <p:nvPr/>
        </p:nvSpPr>
        <p:spPr>
          <a:xfrm xmlns:a="http://schemas.openxmlformats.org/drawingml/2006/main">
            <a:off x="628650" y="1885950"/>
            <a:ext cx="30194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2D5BFF"/>
                </a:solidFill>
                <a:latin typeface="Aptos"/>
                <a:ea typeface="Aptos"/>
                <a:cs typeface="Aptos"/>
              </a:defRPr>
            </a:pPr>
            <a:r>
              <a:rPr sz="1050" b="1">
                <a:solidFill>
                  <a:srgbClr val="2D5BFF"/>
                </a:solidFill>
                <a:latin typeface="Aptos"/>
                <a:ea typeface="Aptos"/>
                <a:cs typeface="Aptos"/>
              </a:rPr>
              <a:t>GEOGRAPHY</a:t>
            </a:r>
          </a:p>
        </p:txBody>
      </p:sp>
      <p:sp>
        <p:nvSpPr>
          <p:cNvPr id="8" name="">
            <a:extLst xmlns:a="http://schemas.openxmlformats.org/drawingml/2006/main">
              <a:ext uri="{FF2B5EF4-FFF2-40B4-BE49-F238E27FC236}">
                <a16:creationId xmlns:a16="http://schemas.microsoft.com/office/drawing/2014/main" id="{578A8500-C3CE-4E41-BD12-F00D5DC1A077}"/>
              </a:ext>
            </a:extLst>
          </p:cNvPr>
          <p:cNvSpPr>
            <a:spLocks xmlns:a="http://schemas.openxmlformats.org/drawingml/2006/main" noGrp="1"/>
          </p:cNvSpPr>
          <p:nvPr/>
        </p:nvSpPr>
        <p:spPr>
          <a:xfrm xmlns:a="http://schemas.openxmlformats.org/drawingml/2006/main">
            <a:off x="628650" y="2247900"/>
            <a:ext cx="30194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00" b="1">
                <a:solidFill>
                  <a:srgbClr val="13213A"/>
                </a:solidFill>
                <a:latin typeface="Aptos"/>
                <a:ea typeface="Aptos"/>
                <a:cs typeface="Aptos"/>
              </a:defRPr>
            </a:pPr>
            <a:r>
              <a:rPr sz="2100" b="1">
                <a:solidFill>
                  <a:srgbClr val="13213A"/>
                </a:solidFill>
                <a:latin typeface="Aptos"/>
                <a:ea typeface="Aptos"/>
                <a:cs typeface="Aptos"/>
              </a:rPr>
              <a:t>Attractiveness</a:t>
            </a:r>
          </a:p>
        </p:txBody>
      </p:sp>
      <p:sp>
        <p:nvSpPr>
          <p:cNvPr id="9" name="">
            <a:extLst xmlns:a="http://schemas.openxmlformats.org/drawingml/2006/main">
              <a:ext uri="{FF2B5EF4-FFF2-40B4-BE49-F238E27FC236}">
                <a16:creationId xmlns:a16="http://schemas.microsoft.com/office/drawing/2014/main" id="{5C031DD4-E75C-473A-B6A1-9B402DF0C63E}"/>
              </a:ext>
            </a:extLst>
          </p:cNvPr>
          <p:cNvSpPr>
            <a:spLocks xmlns:a="http://schemas.openxmlformats.org/drawingml/2006/main" noGrp="1"/>
          </p:cNvSpPr>
          <p:nvPr/>
        </p:nvSpPr>
        <p:spPr>
          <a:xfrm xmlns:a="http://schemas.openxmlformats.org/drawingml/2006/main">
            <a:off x="628650" y="3009900"/>
            <a:ext cx="3019425"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39455A"/>
                </a:solidFill>
                <a:latin typeface="Aptos"/>
                <a:ea typeface="Aptos"/>
                <a:cs typeface="Aptos"/>
              </a:defRPr>
            </a:pPr>
            <a:r>
              <a:rPr sz="1500" b="0">
                <a:solidFill>
                  <a:srgbClr val="39455A"/>
                </a:solidFill>
                <a:latin typeface="Aptos"/>
                <a:ea typeface="Aptos"/>
                <a:cs typeface="Aptos"/>
              </a:rPr>
              <a:t>Is this market or submarket appealing enough to justify deeper diligence?</a:t>
            </a:r>
          </a:p>
        </p:txBody>
      </p:sp>
      <p:sp>
        <p:nvSpPr>
          <p:cNvPr id="10" name="">
            <a:extLst xmlns:a="http://schemas.openxmlformats.org/drawingml/2006/main">
              <a:ext uri="{FF2B5EF4-FFF2-40B4-BE49-F238E27FC236}">
                <a16:creationId xmlns:a16="http://schemas.microsoft.com/office/drawing/2014/main" id="{F2AC62A9-BAD9-4750-A571-0EF35DBA5A88}"/>
              </a:ext>
            </a:extLst>
          </p:cNvPr>
          <p:cNvSpPr>
            <a:spLocks xmlns:a="http://schemas.openxmlformats.org/drawingml/2006/main" noGrp="1"/>
          </p:cNvSpPr>
          <p:nvPr/>
        </p:nvSpPr>
        <p:spPr>
          <a:xfrm xmlns:a="http://schemas.openxmlformats.org/drawingml/2006/main">
            <a:off x="4362450" y="1695450"/>
            <a:ext cx="3476625" cy="3714750"/>
          </a:xfrm>
          <a:prstGeom xmlns:a="http://schemas.openxmlformats.org/drawingml/2006/main" prst="roundRect">
            <a:avLst>
              <a:gd name="adj" fmla="val 4932"/>
            </a:avLst>
          </a:prstGeom>
          <a:solidFill xmlns:a="http://schemas.openxmlformats.org/drawingml/2006/main">
            <a:srgbClr val="FFF5D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850ABA5-C068-4D2A-BC04-928A6CCBA1E1}"/>
              </a:ext>
            </a:extLst>
          </p:cNvPr>
          <p:cNvSpPr>
            <a:spLocks xmlns:a="http://schemas.openxmlformats.org/drawingml/2006/main" noGrp="1"/>
          </p:cNvSpPr>
          <p:nvPr/>
        </p:nvSpPr>
        <p:spPr>
          <a:xfrm xmlns:a="http://schemas.openxmlformats.org/drawingml/2006/main">
            <a:off x="4591050" y="1885950"/>
            <a:ext cx="30194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A56A00"/>
                </a:solidFill>
                <a:latin typeface="Aptos"/>
                <a:ea typeface="Aptos"/>
                <a:cs typeface="Aptos"/>
              </a:defRPr>
            </a:pPr>
            <a:r>
              <a:rPr sz="1050" b="1">
                <a:solidFill>
                  <a:srgbClr val="A56A00"/>
                </a:solidFill>
                <a:latin typeface="Aptos"/>
                <a:ea typeface="Aptos"/>
                <a:cs typeface="Aptos"/>
              </a:rPr>
              <a:t>PROPERTY</a:t>
            </a:r>
          </a:p>
        </p:txBody>
      </p:sp>
      <p:sp>
        <p:nvSpPr>
          <p:cNvPr id="12" name="">
            <a:extLst xmlns:a="http://schemas.openxmlformats.org/drawingml/2006/main">
              <a:ext uri="{FF2B5EF4-FFF2-40B4-BE49-F238E27FC236}">
                <a16:creationId xmlns:a16="http://schemas.microsoft.com/office/drawing/2014/main" id="{9688F99F-DAA4-4530-AF27-7DEC89BA78CD}"/>
              </a:ext>
            </a:extLst>
          </p:cNvPr>
          <p:cNvSpPr>
            <a:spLocks xmlns:a="http://schemas.openxmlformats.org/drawingml/2006/main" noGrp="1"/>
          </p:cNvSpPr>
          <p:nvPr/>
        </p:nvSpPr>
        <p:spPr>
          <a:xfrm xmlns:a="http://schemas.openxmlformats.org/drawingml/2006/main">
            <a:off x="4591050" y="2247900"/>
            <a:ext cx="30194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00" b="1">
                <a:solidFill>
                  <a:srgbClr val="13213A"/>
                </a:solidFill>
                <a:latin typeface="Aptos"/>
                <a:ea typeface="Aptos"/>
                <a:cs typeface="Aptos"/>
              </a:defRPr>
            </a:pPr>
            <a:r>
              <a:rPr sz="2100" b="1">
                <a:solidFill>
                  <a:srgbClr val="13213A"/>
                </a:solidFill>
                <a:latin typeface="Aptos"/>
                <a:ea typeface="Aptos"/>
                <a:cs typeface="Aptos"/>
              </a:rPr>
              <a:t>Feasibility</a:t>
            </a:r>
          </a:p>
        </p:txBody>
      </p:sp>
      <p:sp>
        <p:nvSpPr>
          <p:cNvPr id="13" name="">
            <a:extLst xmlns:a="http://schemas.openxmlformats.org/drawingml/2006/main">
              <a:ext uri="{FF2B5EF4-FFF2-40B4-BE49-F238E27FC236}">
                <a16:creationId xmlns:a16="http://schemas.microsoft.com/office/drawing/2014/main" id="{8A23B56E-4076-4882-8DBF-CD2F90E858C2}"/>
              </a:ext>
            </a:extLst>
          </p:cNvPr>
          <p:cNvSpPr>
            <a:spLocks xmlns:a="http://schemas.openxmlformats.org/drawingml/2006/main" noGrp="1"/>
          </p:cNvSpPr>
          <p:nvPr/>
        </p:nvSpPr>
        <p:spPr>
          <a:xfrm xmlns:a="http://schemas.openxmlformats.org/drawingml/2006/main">
            <a:off x="4591050" y="3009900"/>
            <a:ext cx="3019425"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39455A"/>
                </a:solidFill>
                <a:latin typeface="Aptos"/>
                <a:ea typeface="Aptos"/>
                <a:cs typeface="Aptos"/>
              </a:defRPr>
            </a:pPr>
            <a:r>
              <a:rPr sz="1500" b="0">
                <a:solidFill>
                  <a:srgbClr val="39455A"/>
                </a:solidFill>
                <a:latin typeface="Aptos"/>
                <a:ea typeface="Aptos"/>
                <a:cs typeface="Aptos"/>
              </a:rPr>
              <a:t>Can this available property pass mandatory physical, legal, operational, and financial constraints?</a:t>
            </a:r>
          </a:p>
        </p:txBody>
      </p:sp>
      <p:sp>
        <p:nvSpPr>
          <p:cNvPr id="14" name="">
            <a:extLst xmlns:a="http://schemas.openxmlformats.org/drawingml/2006/main">
              <a:ext uri="{FF2B5EF4-FFF2-40B4-BE49-F238E27FC236}">
                <a16:creationId xmlns:a16="http://schemas.microsoft.com/office/drawing/2014/main" id="{8A54B65E-EFE3-4A4D-8EA4-653A8437C81C}"/>
              </a:ext>
            </a:extLst>
          </p:cNvPr>
          <p:cNvSpPr>
            <a:spLocks xmlns:a="http://schemas.openxmlformats.org/drawingml/2006/main" noGrp="1"/>
          </p:cNvSpPr>
          <p:nvPr/>
        </p:nvSpPr>
        <p:spPr>
          <a:xfrm xmlns:a="http://schemas.openxmlformats.org/drawingml/2006/main">
            <a:off x="8324850" y="1695450"/>
            <a:ext cx="3467100" cy="3714750"/>
          </a:xfrm>
          <a:prstGeom xmlns:a="http://schemas.openxmlformats.org/drawingml/2006/main" prst="roundRect">
            <a:avLst>
              <a:gd name="adj" fmla="val 4945"/>
            </a:avLst>
          </a:prstGeom>
          <a:solidFill xmlns:a="http://schemas.openxmlformats.org/drawingml/2006/main">
            <a:srgbClr val="EDF7F0"/>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42124D9-97A8-4400-9DB5-0CCB8CED83AE}"/>
              </a:ext>
            </a:extLst>
          </p:cNvPr>
          <p:cNvSpPr>
            <a:spLocks xmlns:a="http://schemas.openxmlformats.org/drawingml/2006/main" noGrp="1"/>
          </p:cNvSpPr>
          <p:nvPr/>
        </p:nvSpPr>
        <p:spPr>
          <a:xfrm xmlns:a="http://schemas.openxmlformats.org/drawingml/2006/main">
            <a:off x="8553450" y="18859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347A4A"/>
                </a:solidFill>
                <a:latin typeface="Aptos"/>
                <a:ea typeface="Aptos"/>
                <a:cs typeface="Aptos"/>
              </a:defRPr>
            </a:pPr>
            <a:r>
              <a:rPr sz="1050" b="1">
                <a:solidFill>
                  <a:srgbClr val="347A4A"/>
                </a:solidFill>
                <a:latin typeface="Aptos"/>
                <a:ea typeface="Aptos"/>
                <a:cs typeface="Aptos"/>
              </a:rPr>
              <a:t>PORTFOLIO</a:t>
            </a:r>
          </a:p>
        </p:txBody>
      </p:sp>
      <p:sp>
        <p:nvSpPr>
          <p:cNvPr id="16" name="">
            <a:extLst xmlns:a="http://schemas.openxmlformats.org/drawingml/2006/main">
              <a:ext uri="{FF2B5EF4-FFF2-40B4-BE49-F238E27FC236}">
                <a16:creationId xmlns:a16="http://schemas.microsoft.com/office/drawing/2014/main" id="{805EE36A-F9E7-4EA9-BCB6-10610A1C036B}"/>
              </a:ext>
            </a:extLst>
          </p:cNvPr>
          <p:cNvSpPr>
            <a:spLocks xmlns:a="http://schemas.openxmlformats.org/drawingml/2006/main" noGrp="1"/>
          </p:cNvSpPr>
          <p:nvPr/>
        </p:nvSpPr>
        <p:spPr>
          <a:xfrm xmlns:a="http://schemas.openxmlformats.org/drawingml/2006/main">
            <a:off x="8553450" y="2247900"/>
            <a:ext cx="3009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00" b="1">
                <a:solidFill>
                  <a:srgbClr val="13213A"/>
                </a:solidFill>
                <a:latin typeface="Aptos"/>
                <a:ea typeface="Aptos"/>
                <a:cs typeface="Aptos"/>
              </a:defRPr>
            </a:pPr>
            <a:r>
              <a:rPr sz="2100" b="1">
                <a:solidFill>
                  <a:srgbClr val="13213A"/>
                </a:solidFill>
                <a:latin typeface="Aptos"/>
                <a:ea typeface="Aptos"/>
                <a:cs typeface="Aptos"/>
              </a:rPr>
              <a:t>Execution priority</a:t>
            </a:r>
          </a:p>
        </p:txBody>
      </p:sp>
      <p:sp>
        <p:nvSpPr>
          <p:cNvPr id="17" name="">
            <a:extLst xmlns:a="http://schemas.openxmlformats.org/drawingml/2006/main">
              <a:ext uri="{FF2B5EF4-FFF2-40B4-BE49-F238E27FC236}">
                <a16:creationId xmlns:a16="http://schemas.microsoft.com/office/drawing/2014/main" id="{4470D03A-E4FE-4039-A0CE-AD6D6E395342}"/>
              </a:ext>
            </a:extLst>
          </p:cNvPr>
          <p:cNvSpPr>
            <a:spLocks xmlns:a="http://schemas.openxmlformats.org/drawingml/2006/main" noGrp="1"/>
          </p:cNvSpPr>
          <p:nvPr/>
        </p:nvSpPr>
        <p:spPr>
          <a:xfrm xmlns:a="http://schemas.openxmlformats.org/drawingml/2006/main">
            <a:off x="8553450" y="3009900"/>
            <a:ext cx="30099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39455A"/>
                </a:solidFill>
                <a:latin typeface="Aptos"/>
                <a:ea typeface="Aptos"/>
                <a:cs typeface="Aptos"/>
              </a:defRPr>
            </a:pPr>
            <a:r>
              <a:rPr sz="1500" b="0">
                <a:solidFill>
                  <a:srgbClr val="39455A"/>
                </a:solidFill>
                <a:latin typeface="Aptos"/>
                <a:ea typeface="Aptos"/>
                <a:cs typeface="Aptos"/>
              </a:rPr>
              <a:t>Given availability, staffing, economics, timing, and dependencies, what should be reviewed first?</a:t>
            </a:r>
          </a:p>
        </p:txBody>
      </p:sp>
    </p:spTree>
    <p:extLst>
      <p:ext uri="{BB962C8B-B14F-4D97-AF65-F5344CB8AC3E}">
        <p14:creationId xmlns:p14="http://schemas.microsoft.com/office/powerpoint/2010/main" val="183804361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FFA66B7B-BFE2-4F60-9BD8-B0BD38CE31BE}"/>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OUR CURRENT PROJECT</a:t>
            </a:r>
          </a:p>
        </p:txBody>
      </p:sp>
      <p:sp>
        <p:nvSpPr>
          <p:cNvPr id="2" name="">
            <a:extLst xmlns:a="http://schemas.openxmlformats.org/drawingml/2006/main">
              <a:ext uri="{FF2B5EF4-FFF2-40B4-BE49-F238E27FC236}">
                <a16:creationId xmlns:a16="http://schemas.microsoft.com/office/drawing/2014/main" id="{7864C70A-2B3B-4CBB-BC3A-A8E53346131B}"/>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516"/>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The current demo is governed decision support, not a production locator</a:t>
            </a:r>
          </a:p>
        </p:txBody>
      </p:sp>
      <p:sp>
        <p:nvSpPr>
          <p:cNvPr id="3" name="">
            <a:extLst xmlns:a="http://schemas.openxmlformats.org/drawingml/2006/main">
              <a:ext uri="{FF2B5EF4-FFF2-40B4-BE49-F238E27FC236}">
                <a16:creationId xmlns:a16="http://schemas.microsoft.com/office/drawing/2014/main" id="{372DCE9B-D701-4901-9B20-B751518B733F}"/>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3EAE360-68D8-454E-A4A3-82697D75BB31}"/>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Sources: current implementation; MVP scope; user workflows</a:t>
            </a:r>
          </a:p>
        </p:txBody>
      </p:sp>
      <p:sp>
        <p:nvSpPr>
          <p:cNvPr id="5" name="">
            <a:extLst xmlns:a="http://schemas.openxmlformats.org/drawingml/2006/main">
              <a:ext uri="{FF2B5EF4-FFF2-40B4-BE49-F238E27FC236}">
                <a16:creationId xmlns:a16="http://schemas.microsoft.com/office/drawing/2014/main" id="{FC184A43-440C-43AB-8BA2-4403B3CD84B6}"/>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05</a:t>
            </a:r>
          </a:p>
        </p:txBody>
      </p:sp>
      <p:sp>
        <p:nvSpPr>
          <p:cNvPr id="6" name="">
            <a:extLst xmlns:a="http://schemas.openxmlformats.org/drawingml/2006/main">
              <a:ext uri="{FF2B5EF4-FFF2-40B4-BE49-F238E27FC236}">
                <a16:creationId xmlns:a16="http://schemas.microsoft.com/office/drawing/2014/main" id="{12EAC6BE-B217-4FEC-84C9-5D4AE65B733D}"/>
              </a:ext>
            </a:extLst>
          </p:cNvPr>
          <p:cNvSpPr>
            <a:spLocks xmlns:a="http://schemas.openxmlformats.org/drawingml/2006/main" noGrp="1"/>
          </p:cNvSpPr>
          <p:nvPr/>
        </p:nvSpPr>
        <p:spPr>
          <a:xfrm xmlns:a="http://schemas.openxmlformats.org/drawingml/2006/main">
            <a:off x="400050" y="1714500"/>
            <a:ext cx="2609850" cy="3638550"/>
          </a:xfrm>
          <a:prstGeom xmlns:a="http://schemas.openxmlformats.org/drawingml/2006/main" prst="roundRect">
            <a:avLst>
              <a:gd name="adj" fmla="val 6569"/>
            </a:avLst>
          </a:prstGeom>
          <a:solidFill xmlns:a="http://schemas.openxmlformats.org/drawingml/2006/main">
            <a:srgbClr val="EDF3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57B3E6B-68FF-45B5-A0C0-4FA2742EA7D6}"/>
              </a:ext>
            </a:extLst>
          </p:cNvPr>
          <p:cNvSpPr>
            <a:spLocks xmlns:a="http://schemas.openxmlformats.org/drawingml/2006/main" noGrp="1"/>
          </p:cNvSpPr>
          <p:nvPr/>
        </p:nvSpPr>
        <p:spPr>
          <a:xfrm xmlns:a="http://schemas.openxmlformats.org/drawingml/2006/main">
            <a:off x="628650" y="1905000"/>
            <a:ext cx="215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2D5BFF"/>
                </a:solidFill>
                <a:latin typeface="Aptos"/>
                <a:ea typeface="Aptos"/>
                <a:cs typeface="Aptos"/>
              </a:defRPr>
            </a:pPr>
            <a:r>
              <a:rPr sz="1050" b="1">
                <a:solidFill>
                  <a:srgbClr val="2D5BFF"/>
                </a:solidFill>
                <a:latin typeface="Aptos"/>
                <a:ea typeface="Aptos"/>
                <a:cs typeface="Aptos"/>
              </a:rPr>
              <a:t>PUBLIC FOUNDATION</a:t>
            </a:r>
          </a:p>
        </p:txBody>
      </p:sp>
      <p:sp>
        <p:nvSpPr>
          <p:cNvPr id="8" name="">
            <a:extLst xmlns:a="http://schemas.openxmlformats.org/drawingml/2006/main">
              <a:ext uri="{FF2B5EF4-FFF2-40B4-BE49-F238E27FC236}">
                <a16:creationId xmlns:a16="http://schemas.microsoft.com/office/drawing/2014/main" id="{62802C3C-1C33-4121-A6BC-6C3BE7364E7E}"/>
              </a:ext>
            </a:extLst>
          </p:cNvPr>
          <p:cNvSpPr>
            <a:spLocks xmlns:a="http://schemas.openxmlformats.org/drawingml/2006/main" noGrp="1"/>
          </p:cNvSpPr>
          <p:nvPr/>
        </p:nvSpPr>
        <p:spPr>
          <a:xfrm xmlns:a="http://schemas.openxmlformats.org/drawingml/2006/main">
            <a:off x="628650" y="2266950"/>
            <a:ext cx="21526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75" b="1">
                <a:solidFill>
                  <a:srgbClr val="13213A"/>
                </a:solidFill>
                <a:latin typeface="Aptos"/>
                <a:ea typeface="Aptos"/>
                <a:cs typeface="Aptos"/>
              </a:defRPr>
            </a:pPr>
            <a:r>
              <a:rPr sz="2175" b="1">
                <a:solidFill>
                  <a:srgbClr val="13213A"/>
                </a:solidFill>
                <a:latin typeface="Aptos"/>
                <a:ea typeface="Aptos"/>
                <a:cs typeface="Aptos"/>
              </a:rPr>
              <a:t>Census + ACS</a:t>
            </a:r>
          </a:p>
        </p:txBody>
      </p:sp>
      <p:sp>
        <p:nvSpPr>
          <p:cNvPr id="9" name="">
            <a:extLst xmlns:a="http://schemas.openxmlformats.org/drawingml/2006/main">
              <a:ext uri="{FF2B5EF4-FFF2-40B4-BE49-F238E27FC236}">
                <a16:creationId xmlns:a16="http://schemas.microsoft.com/office/drawing/2014/main" id="{37BEF042-3D68-423A-B6E1-503E25019A70}"/>
              </a:ext>
            </a:extLst>
          </p:cNvPr>
          <p:cNvSpPr>
            <a:spLocks xmlns:a="http://schemas.openxmlformats.org/drawingml/2006/main" noGrp="1"/>
          </p:cNvSpPr>
          <p:nvPr/>
        </p:nvSpPr>
        <p:spPr>
          <a:xfrm xmlns:a="http://schemas.openxmlformats.org/drawingml/2006/main">
            <a:off x="628650" y="3028950"/>
            <a:ext cx="215265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39455A"/>
                </a:solidFill>
                <a:latin typeface="Aptos"/>
                <a:ea typeface="Aptos"/>
                <a:cs typeface="Aptos"/>
              </a:defRPr>
            </a:pPr>
            <a:r>
              <a:rPr sz="1425" b="0">
                <a:solidFill>
                  <a:srgbClr val="39455A"/>
                </a:solidFill>
                <a:latin typeface="Aptos"/>
                <a:ea typeface="Aptos"/>
                <a:cs typeface="Aptos"/>
              </a:rPr>
              <a:t>Versioned CBSA universe, boundaries, and public context. Explicitly non-scored.</a:t>
            </a:r>
          </a:p>
        </p:txBody>
      </p:sp>
      <p:sp>
        <p:nvSpPr>
          <p:cNvPr id="10" name="">
            <a:extLst xmlns:a="http://schemas.openxmlformats.org/drawingml/2006/main">
              <a:ext uri="{FF2B5EF4-FFF2-40B4-BE49-F238E27FC236}">
                <a16:creationId xmlns:a16="http://schemas.microsoft.com/office/drawing/2014/main" id="{0AD45134-7E95-4E9C-94E8-9A8368F8AAAB}"/>
              </a:ext>
            </a:extLst>
          </p:cNvPr>
          <p:cNvSpPr>
            <a:spLocks xmlns:a="http://schemas.openxmlformats.org/drawingml/2006/main" noGrp="1"/>
          </p:cNvSpPr>
          <p:nvPr/>
        </p:nvSpPr>
        <p:spPr>
          <a:xfrm xmlns:a="http://schemas.openxmlformats.org/drawingml/2006/main">
            <a:off x="3248025" y="1714500"/>
            <a:ext cx="2609850" cy="3638550"/>
          </a:xfrm>
          <a:prstGeom xmlns:a="http://schemas.openxmlformats.org/drawingml/2006/main" prst="roundRect">
            <a:avLst>
              <a:gd name="adj" fmla="val 6569"/>
            </a:avLst>
          </a:prstGeom>
          <a:solidFill xmlns:a="http://schemas.openxmlformats.org/drawingml/2006/main">
            <a:srgbClr val="EDF7F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449C125-1A19-4FE3-9E54-E6409C4BE4FD}"/>
              </a:ext>
            </a:extLst>
          </p:cNvPr>
          <p:cNvSpPr>
            <a:spLocks xmlns:a="http://schemas.openxmlformats.org/drawingml/2006/main" noGrp="1"/>
          </p:cNvSpPr>
          <p:nvPr/>
        </p:nvSpPr>
        <p:spPr>
          <a:xfrm xmlns:a="http://schemas.openxmlformats.org/drawingml/2006/main">
            <a:off x="3476625" y="1905000"/>
            <a:ext cx="215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347A4A"/>
                </a:solidFill>
                <a:latin typeface="Aptos"/>
                <a:ea typeface="Aptos"/>
                <a:cs typeface="Aptos"/>
              </a:defRPr>
            </a:pPr>
            <a:r>
              <a:rPr sz="1050" b="1">
                <a:solidFill>
                  <a:srgbClr val="347A4A"/>
                </a:solidFill>
                <a:latin typeface="Aptos"/>
                <a:ea typeface="Aptos"/>
                <a:cs typeface="Aptos"/>
              </a:rPr>
              <a:t>SYNTHETIC MARKETS</a:t>
            </a:r>
          </a:p>
        </p:txBody>
      </p:sp>
      <p:sp>
        <p:nvSpPr>
          <p:cNvPr id="12" name="">
            <a:extLst xmlns:a="http://schemas.openxmlformats.org/drawingml/2006/main">
              <a:ext uri="{FF2B5EF4-FFF2-40B4-BE49-F238E27FC236}">
                <a16:creationId xmlns:a16="http://schemas.microsoft.com/office/drawing/2014/main" id="{4EDE3C16-9DE9-4754-8BA9-32ECC4F2904B}"/>
              </a:ext>
            </a:extLst>
          </p:cNvPr>
          <p:cNvSpPr>
            <a:spLocks xmlns:a="http://schemas.openxmlformats.org/drawingml/2006/main" noGrp="1"/>
          </p:cNvSpPr>
          <p:nvPr/>
        </p:nvSpPr>
        <p:spPr>
          <a:xfrm xmlns:a="http://schemas.openxmlformats.org/drawingml/2006/main">
            <a:off x="3476625" y="2266950"/>
            <a:ext cx="21526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460"/>
          </a:bodyPr>
          <a:lstStyle xmlns:a="http://schemas.openxmlformats.org/drawingml/2006/main"/>
          <a:p xmlns:a="http://schemas.openxmlformats.org/drawingml/2006/main">
            <a:pPr algn="l">
              <a:buNone/>
              <a:defRPr sz="2175" b="1">
                <a:solidFill>
                  <a:srgbClr val="13213A"/>
                </a:solidFill>
                <a:latin typeface="Aptos"/>
                <a:ea typeface="Aptos"/>
                <a:cs typeface="Aptos"/>
              </a:defRPr>
            </a:pPr>
            <a:r>
              <a:rPr sz="2175" b="1">
                <a:solidFill>
                  <a:srgbClr val="13213A"/>
                </a:solidFill>
                <a:latin typeface="Aptos"/>
                <a:ea typeface="Aptos"/>
                <a:cs typeface="Aptos"/>
              </a:rPr>
              <a:t>Map + compare</a:t>
            </a:r>
          </a:p>
        </p:txBody>
      </p:sp>
      <p:sp>
        <p:nvSpPr>
          <p:cNvPr id="13" name="">
            <a:extLst xmlns:a="http://schemas.openxmlformats.org/drawingml/2006/main">
              <a:ext uri="{FF2B5EF4-FFF2-40B4-BE49-F238E27FC236}">
                <a16:creationId xmlns:a16="http://schemas.microsoft.com/office/drawing/2014/main" id="{D41F2BC3-811C-42D6-A097-C1B8F7062AA2}"/>
              </a:ext>
            </a:extLst>
          </p:cNvPr>
          <p:cNvSpPr>
            <a:spLocks xmlns:a="http://schemas.openxmlformats.org/drawingml/2006/main" noGrp="1"/>
          </p:cNvSpPr>
          <p:nvPr/>
        </p:nvSpPr>
        <p:spPr>
          <a:xfrm xmlns:a="http://schemas.openxmlformats.org/drawingml/2006/main">
            <a:off x="3476625" y="3028950"/>
            <a:ext cx="215265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39455A"/>
                </a:solidFill>
                <a:latin typeface="Aptos"/>
                <a:ea typeface="Aptos"/>
                <a:cs typeface="Aptos"/>
              </a:defRPr>
            </a:pPr>
            <a:r>
              <a:rPr sz="1425" b="0">
                <a:solidFill>
                  <a:srgbClr val="39455A"/>
                </a:solidFill>
                <a:latin typeface="Aptos"/>
                <a:ea typeface="Aptos"/>
                <a:cs typeface="Aptos"/>
              </a:rPr>
              <a:t>Synthetic attractiveness map and rank; compare 2 to 5 same-cohort markets with sensitivity.</a:t>
            </a:r>
          </a:p>
        </p:txBody>
      </p:sp>
      <p:sp>
        <p:nvSpPr>
          <p:cNvPr id="14" name="">
            <a:extLst xmlns:a="http://schemas.openxmlformats.org/drawingml/2006/main">
              <a:ext uri="{FF2B5EF4-FFF2-40B4-BE49-F238E27FC236}">
                <a16:creationId xmlns:a16="http://schemas.microsoft.com/office/drawing/2014/main" id="{0B02026C-AD0E-43BB-A1F8-E9677242068F}"/>
              </a:ext>
            </a:extLst>
          </p:cNvPr>
          <p:cNvSpPr>
            <a:spLocks xmlns:a="http://schemas.openxmlformats.org/drawingml/2006/main" noGrp="1"/>
          </p:cNvSpPr>
          <p:nvPr/>
        </p:nvSpPr>
        <p:spPr>
          <a:xfrm xmlns:a="http://schemas.openxmlformats.org/drawingml/2006/main">
            <a:off x="6096000" y="1714500"/>
            <a:ext cx="2609850" cy="3638550"/>
          </a:xfrm>
          <a:prstGeom xmlns:a="http://schemas.openxmlformats.org/drawingml/2006/main" prst="roundRect">
            <a:avLst>
              <a:gd name="adj" fmla="val 6569"/>
            </a:avLst>
          </a:prstGeom>
          <a:solidFill xmlns:a="http://schemas.openxmlformats.org/drawingml/2006/main">
            <a:srgbClr val="FFF5D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BA6FB62-0699-464F-B062-F45C768EBFB0}"/>
              </a:ext>
            </a:extLst>
          </p:cNvPr>
          <p:cNvSpPr>
            <a:spLocks xmlns:a="http://schemas.openxmlformats.org/drawingml/2006/main" noGrp="1"/>
          </p:cNvSpPr>
          <p:nvPr/>
        </p:nvSpPr>
        <p:spPr>
          <a:xfrm xmlns:a="http://schemas.openxmlformats.org/drawingml/2006/main">
            <a:off x="6324600" y="1905000"/>
            <a:ext cx="215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A56A00"/>
                </a:solidFill>
                <a:latin typeface="Aptos"/>
                <a:ea typeface="Aptos"/>
                <a:cs typeface="Aptos"/>
              </a:defRPr>
            </a:pPr>
            <a:r>
              <a:rPr sz="1050" b="1">
                <a:solidFill>
                  <a:srgbClr val="A56A00"/>
                </a:solidFill>
                <a:latin typeface="Aptos"/>
                <a:ea typeface="Aptos"/>
                <a:cs typeface="Aptos"/>
              </a:rPr>
              <a:t>REPORTED SITE EVIDENCE</a:t>
            </a:r>
          </a:p>
        </p:txBody>
      </p:sp>
      <p:sp>
        <p:nvSpPr>
          <p:cNvPr id="16" name="">
            <a:extLst xmlns:a="http://schemas.openxmlformats.org/drawingml/2006/main">
              <a:ext uri="{FF2B5EF4-FFF2-40B4-BE49-F238E27FC236}">
                <a16:creationId xmlns:a16="http://schemas.microsoft.com/office/drawing/2014/main" id="{B869455E-1D34-4539-B9AC-75C40BD9206E}"/>
              </a:ext>
            </a:extLst>
          </p:cNvPr>
          <p:cNvSpPr>
            <a:spLocks xmlns:a="http://schemas.openxmlformats.org/drawingml/2006/main" noGrp="1"/>
          </p:cNvSpPr>
          <p:nvPr/>
        </p:nvSpPr>
        <p:spPr>
          <a:xfrm xmlns:a="http://schemas.openxmlformats.org/drawingml/2006/main">
            <a:off x="6324600" y="2266950"/>
            <a:ext cx="21526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655"/>
          </a:bodyPr>
          <a:lstStyle xmlns:a="http://schemas.openxmlformats.org/drawingml/2006/main"/>
          <a:p xmlns:a="http://schemas.openxmlformats.org/drawingml/2006/main">
            <a:pPr algn="l">
              <a:buNone/>
              <a:defRPr sz="2175" b="1">
                <a:solidFill>
                  <a:srgbClr val="13213A"/>
                </a:solidFill>
                <a:latin typeface="Aptos"/>
                <a:ea typeface="Aptos"/>
                <a:cs typeface="Aptos"/>
              </a:defRPr>
            </a:pPr>
            <a:r>
              <a:rPr sz="2175" b="1">
                <a:solidFill>
                  <a:srgbClr val="13213A"/>
                </a:solidFill>
                <a:latin typeface="Aptos"/>
                <a:ea typeface="Aptos"/>
                <a:cs typeface="Aptos"/>
              </a:rPr>
              <a:t>Briefs + compare</a:t>
            </a:r>
          </a:p>
        </p:txBody>
      </p:sp>
      <p:sp>
        <p:nvSpPr>
          <p:cNvPr id="17" name="">
            <a:extLst xmlns:a="http://schemas.openxmlformats.org/drawingml/2006/main">
              <a:ext uri="{FF2B5EF4-FFF2-40B4-BE49-F238E27FC236}">
                <a16:creationId xmlns:a16="http://schemas.microsoft.com/office/drawing/2014/main" id="{40353E46-39D2-41F3-8DF1-566DE08216CD}"/>
              </a:ext>
            </a:extLst>
          </p:cNvPr>
          <p:cNvSpPr>
            <a:spLocks xmlns:a="http://schemas.openxmlformats.org/drawingml/2006/main" noGrp="1"/>
          </p:cNvSpPr>
          <p:nvPr/>
        </p:nvSpPr>
        <p:spPr>
          <a:xfrm xmlns:a="http://schemas.openxmlformats.org/drawingml/2006/main">
            <a:off x="6324600" y="3028950"/>
            <a:ext cx="215265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39455A"/>
                </a:solidFill>
                <a:latin typeface="Aptos"/>
                <a:ea typeface="Aptos"/>
                <a:cs typeface="Aptos"/>
              </a:defRPr>
            </a:pPr>
            <a:r>
              <a:rPr sz="1425" b="0">
                <a:solidFill>
                  <a:srgbClr val="39455A"/>
                </a:solidFill>
                <a:latin typeface="Aptos"/>
                <a:ea typeface="Aptos"/>
                <a:cs typeface="Aptos"/>
              </a:rPr>
              <a:t>Minimized Esri demo evidence, provenance, missingness, and raw comparison. Not scored.</a:t>
            </a:r>
          </a:p>
        </p:txBody>
      </p:sp>
      <p:sp>
        <p:nvSpPr>
          <p:cNvPr id="18" name="">
            <a:extLst xmlns:a="http://schemas.openxmlformats.org/drawingml/2006/main">
              <a:ext uri="{FF2B5EF4-FFF2-40B4-BE49-F238E27FC236}">
                <a16:creationId xmlns:a16="http://schemas.microsoft.com/office/drawing/2014/main" id="{68A09FD8-AA77-4BBC-9320-268EBFF84149}"/>
              </a:ext>
            </a:extLst>
          </p:cNvPr>
          <p:cNvSpPr>
            <a:spLocks xmlns:a="http://schemas.openxmlformats.org/drawingml/2006/main" noGrp="1"/>
          </p:cNvSpPr>
          <p:nvPr/>
        </p:nvSpPr>
        <p:spPr>
          <a:xfrm xmlns:a="http://schemas.openxmlformats.org/drawingml/2006/main">
            <a:off x="8943975" y="1714500"/>
            <a:ext cx="2609850" cy="3638550"/>
          </a:xfrm>
          <a:prstGeom xmlns:a="http://schemas.openxmlformats.org/drawingml/2006/main" prst="roundRect">
            <a:avLst>
              <a:gd name="adj" fmla="val 6569"/>
            </a:avLst>
          </a:prstGeom>
          <a:solidFill xmlns:a="http://schemas.openxmlformats.org/drawingml/2006/main">
            <a:srgbClr val="FCEEEE"/>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2E7A170-9123-4523-9293-1AB63A25E31C}"/>
              </a:ext>
            </a:extLst>
          </p:cNvPr>
          <p:cNvSpPr>
            <a:spLocks xmlns:a="http://schemas.openxmlformats.org/drawingml/2006/main" noGrp="1"/>
          </p:cNvSpPr>
          <p:nvPr/>
        </p:nvSpPr>
        <p:spPr>
          <a:xfrm xmlns:a="http://schemas.openxmlformats.org/drawingml/2006/main">
            <a:off x="9172575" y="1905000"/>
            <a:ext cx="215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9A4040"/>
                </a:solidFill>
                <a:latin typeface="Aptos"/>
                <a:ea typeface="Aptos"/>
                <a:cs typeface="Aptos"/>
              </a:defRPr>
            </a:pPr>
            <a:r>
              <a:rPr sz="1050" b="1">
                <a:solidFill>
                  <a:srgbClr val="9A4040"/>
                </a:solidFill>
                <a:latin typeface="Aptos"/>
                <a:ea typeface="Aptos"/>
                <a:cs typeface="Aptos"/>
              </a:rPr>
              <a:t>HUMAN-GATED TOOLS</a:t>
            </a:r>
          </a:p>
        </p:txBody>
      </p:sp>
      <p:sp>
        <p:nvSpPr>
          <p:cNvPr id="20" name="">
            <a:extLst xmlns:a="http://schemas.openxmlformats.org/drawingml/2006/main">
              <a:ext uri="{FF2B5EF4-FFF2-40B4-BE49-F238E27FC236}">
                <a16:creationId xmlns:a16="http://schemas.microsoft.com/office/drawing/2014/main" id="{5AF8640E-615D-4CA7-87F5-CF8E77227F47}"/>
              </a:ext>
            </a:extLst>
          </p:cNvPr>
          <p:cNvSpPr>
            <a:spLocks xmlns:a="http://schemas.openxmlformats.org/drawingml/2006/main" noGrp="1"/>
          </p:cNvSpPr>
          <p:nvPr/>
        </p:nvSpPr>
        <p:spPr>
          <a:xfrm xmlns:a="http://schemas.openxmlformats.org/drawingml/2006/main">
            <a:off x="9172575" y="2266950"/>
            <a:ext cx="21526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655"/>
          </a:bodyPr>
          <a:lstStyle xmlns:a="http://schemas.openxmlformats.org/drawingml/2006/main"/>
          <a:p xmlns:a="http://schemas.openxmlformats.org/drawingml/2006/main">
            <a:pPr algn="l">
              <a:buNone/>
              <a:defRPr sz="2175" b="1">
                <a:solidFill>
                  <a:srgbClr val="13213A"/>
                </a:solidFill>
                <a:latin typeface="Aptos"/>
                <a:ea typeface="Aptos"/>
                <a:cs typeface="Aptos"/>
              </a:defRPr>
            </a:pPr>
            <a:r>
              <a:rPr sz="2175" b="1">
                <a:solidFill>
                  <a:srgbClr val="13213A"/>
                </a:solidFill>
                <a:latin typeface="Aptos"/>
                <a:ea typeface="Aptos"/>
                <a:cs typeface="Aptos"/>
              </a:rPr>
              <a:t>Agent + sandbox</a:t>
            </a:r>
          </a:p>
        </p:txBody>
      </p:sp>
      <p:sp>
        <p:nvSpPr>
          <p:cNvPr id="21" name="">
            <a:extLst xmlns:a="http://schemas.openxmlformats.org/drawingml/2006/main">
              <a:ext uri="{FF2B5EF4-FFF2-40B4-BE49-F238E27FC236}">
                <a16:creationId xmlns:a16="http://schemas.microsoft.com/office/drawing/2014/main" id="{C89B21F0-71AD-4163-8E9E-5A42DBC3CDCA}"/>
              </a:ext>
            </a:extLst>
          </p:cNvPr>
          <p:cNvSpPr>
            <a:spLocks xmlns:a="http://schemas.openxmlformats.org/drawingml/2006/main" noGrp="1"/>
          </p:cNvSpPr>
          <p:nvPr/>
        </p:nvSpPr>
        <p:spPr>
          <a:xfrm xmlns:a="http://schemas.openxmlformats.org/drawingml/2006/main">
            <a:off x="9172575" y="3028950"/>
            <a:ext cx="215265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39455A"/>
                </a:solidFill>
                <a:latin typeface="Aptos"/>
                <a:ea typeface="Aptos"/>
                <a:cs typeface="Aptos"/>
              </a:defRPr>
            </a:pPr>
            <a:r>
              <a:rPr sz="1425" b="0">
                <a:solidFill>
                  <a:srgbClr val="39455A"/>
                </a:solidFill>
                <a:latin typeface="Aptos"/>
                <a:ea typeface="Aptos"/>
                <a:cs typeface="Aptos"/>
              </a:rPr>
              <a:t>The agent pauses on ambiguity; the sandbox tests constraints and weights. No recommendation.</a:t>
            </a:r>
          </a:p>
        </p:txBody>
      </p:sp>
      <p:sp>
        <p:nvSpPr>
          <p:cNvPr id="22" name="">
            <a:extLst xmlns:a="http://schemas.openxmlformats.org/drawingml/2006/main">
              <a:ext uri="{FF2B5EF4-FFF2-40B4-BE49-F238E27FC236}">
                <a16:creationId xmlns:a16="http://schemas.microsoft.com/office/drawing/2014/main" id="{6FE09820-38CB-46F6-88A0-751AA589A8CD}"/>
              </a:ext>
            </a:extLst>
          </p:cNvPr>
          <p:cNvSpPr>
            <a:spLocks xmlns:a="http://schemas.openxmlformats.org/drawingml/2006/main" noGrp="1"/>
          </p:cNvSpPr>
          <p:nvPr/>
        </p:nvSpPr>
        <p:spPr>
          <a:xfrm xmlns:a="http://schemas.openxmlformats.org/drawingml/2006/main">
            <a:off x="1333500" y="5638800"/>
            <a:ext cx="952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730"/>
          </a:bodyPr>
          <a:lstStyle xmlns:a="http://schemas.openxmlformats.org/drawingml/2006/main"/>
          <a:p xmlns:a="http://schemas.openxmlformats.org/drawingml/2006/main">
            <a:pPr algn="ctr">
              <a:buNone/>
              <a:defRPr sz="1875" b="1">
                <a:solidFill>
                  <a:srgbClr val="1E43C8"/>
                </a:solidFill>
                <a:latin typeface="Aptos"/>
                <a:ea typeface="Aptos"/>
                <a:cs typeface="Aptos"/>
              </a:defRPr>
            </a:pPr>
            <a:r>
              <a:rPr sz="1875" b="1">
                <a:solidFill>
                  <a:srgbClr val="1E43C8"/>
                </a:solidFill>
                <a:latin typeface="Aptos"/>
                <a:ea typeface="Aptos"/>
                <a:cs typeface="Aptos"/>
              </a:rPr>
              <a:t>Demonstrable now: traceable workflows and boundaries. Production inputs and ownership remain unresolved.</a:t>
            </a:r>
          </a:p>
        </p:txBody>
      </p:sp>
    </p:spTree>
    <p:extLst>
      <p:ext uri="{BB962C8B-B14F-4D97-AF65-F5344CB8AC3E}">
        <p14:creationId xmlns:p14="http://schemas.microsoft.com/office/powerpoint/2010/main" val="141787804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1E6FCDAF-377F-42CA-B09E-841EC4236985}"/>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CURRENT DEMO CAPABILITIES</a:t>
            </a:r>
          </a:p>
        </p:txBody>
      </p:sp>
      <p:sp>
        <p:nvSpPr>
          <p:cNvPr id="2" name="">
            <a:extLst xmlns:a="http://schemas.openxmlformats.org/drawingml/2006/main">
              <a:ext uri="{FF2B5EF4-FFF2-40B4-BE49-F238E27FC236}">
                <a16:creationId xmlns:a16="http://schemas.microsoft.com/office/drawing/2014/main" id="{AFC68CFC-C54E-4CA7-9E9E-42EA6F9B7846}"/>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What the prototype can demonstrate today</a:t>
            </a:r>
          </a:p>
        </p:txBody>
      </p:sp>
      <p:sp>
        <p:nvSpPr>
          <p:cNvPr id="3" name="">
            <a:extLst xmlns:a="http://schemas.openxmlformats.org/drawingml/2006/main">
              <a:ext uri="{FF2B5EF4-FFF2-40B4-BE49-F238E27FC236}">
                <a16:creationId xmlns:a16="http://schemas.microsoft.com/office/drawing/2014/main" id="{D6D04595-10F2-4A51-BC2A-22A6A4477307}"/>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A0E76AE-9AA7-442F-8E4B-B4DC4D9D763B}"/>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Sources: current implementation and automated tests</a:t>
            </a:r>
          </a:p>
        </p:txBody>
      </p:sp>
      <p:sp>
        <p:nvSpPr>
          <p:cNvPr id="5" name="">
            <a:extLst xmlns:a="http://schemas.openxmlformats.org/drawingml/2006/main">
              <a:ext uri="{FF2B5EF4-FFF2-40B4-BE49-F238E27FC236}">
                <a16:creationId xmlns:a16="http://schemas.microsoft.com/office/drawing/2014/main" id="{31891780-F9A1-4FFB-B663-6D0B90E39C1F}"/>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06</a:t>
            </a:r>
          </a:p>
        </p:txBody>
      </p:sp>
      <p:sp>
        <p:nvSpPr>
          <p:cNvPr id="6" name="">
            <a:extLst xmlns:a="http://schemas.openxmlformats.org/drawingml/2006/main">
              <a:ext uri="{FF2B5EF4-FFF2-40B4-BE49-F238E27FC236}">
                <a16:creationId xmlns:a16="http://schemas.microsoft.com/office/drawing/2014/main" id="{DE12DA04-103F-4985-A5FC-AAFE4FC65976}"/>
              </a:ext>
            </a:extLst>
          </p:cNvPr>
          <p:cNvSpPr>
            <a:spLocks xmlns:a="http://schemas.openxmlformats.org/drawingml/2006/main" noGrp="1"/>
          </p:cNvSpPr>
          <p:nvPr/>
        </p:nvSpPr>
        <p:spPr>
          <a:xfrm xmlns:a="http://schemas.openxmlformats.org/drawingml/2006/main">
            <a:off x="400050" y="1619250"/>
            <a:ext cx="11391900" cy="819150"/>
          </a:xfrm>
          <a:prstGeom xmlns:a="http://schemas.openxmlformats.org/drawingml/2006/main" prst="roundRect">
            <a:avLst>
              <a:gd name="adj" fmla="val 18605"/>
            </a:avLst>
          </a:prstGeom>
          <a:solidFill xmlns:a="http://schemas.openxmlformats.org/drawingml/2006/main">
            <a:srgbClr val="13213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1569777-F9A6-4FE4-800D-B431E0DA5A12}"/>
              </a:ext>
            </a:extLst>
          </p:cNvPr>
          <p:cNvSpPr>
            <a:spLocks xmlns:a="http://schemas.openxmlformats.org/drawingml/2006/main" noGrp="1"/>
          </p:cNvSpPr>
          <p:nvPr/>
        </p:nvSpPr>
        <p:spPr>
          <a:xfrm xmlns:a="http://schemas.openxmlformats.org/drawingml/2006/main">
            <a:off x="685800" y="1847850"/>
            <a:ext cx="161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FFFFFF"/>
                </a:solidFill>
                <a:latin typeface="Aptos"/>
                <a:ea typeface="Aptos"/>
                <a:cs typeface="Aptos"/>
              </a:defRPr>
            </a:pPr>
            <a:r>
              <a:rPr sz="1350" b="1">
                <a:solidFill>
                  <a:srgbClr val="FFFFFF"/>
                </a:solidFill>
                <a:latin typeface="Aptos"/>
                <a:ea typeface="Aptos"/>
                <a:cs typeface="Aptos"/>
              </a:rPr>
              <a:t>MARKETS</a:t>
            </a:r>
          </a:p>
        </p:txBody>
      </p:sp>
      <p:sp>
        <p:nvSpPr>
          <p:cNvPr id="8" name="">
            <a:extLst xmlns:a="http://schemas.openxmlformats.org/drawingml/2006/main">
              <a:ext uri="{FF2B5EF4-FFF2-40B4-BE49-F238E27FC236}">
                <a16:creationId xmlns:a16="http://schemas.microsoft.com/office/drawing/2014/main" id="{6F6BFDFB-2AC6-4663-B06F-60A5C84DC354}"/>
              </a:ext>
            </a:extLst>
          </p:cNvPr>
          <p:cNvSpPr>
            <a:spLocks xmlns:a="http://schemas.openxmlformats.org/drawingml/2006/main" noGrp="1"/>
          </p:cNvSpPr>
          <p:nvPr/>
        </p:nvSpPr>
        <p:spPr>
          <a:xfrm xmlns:a="http://schemas.openxmlformats.org/drawingml/2006/main">
            <a:off x="3695700" y="1847850"/>
            <a:ext cx="161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247"/>
          </a:bodyPr>
          <a:lstStyle xmlns:a="http://schemas.openxmlformats.org/drawingml/2006/main"/>
          <a:p xmlns:a="http://schemas.openxmlformats.org/drawingml/2006/main">
            <a:pPr algn="l">
              <a:buNone/>
              <a:defRPr sz="1350" b="1">
                <a:solidFill>
                  <a:srgbClr val="FFFFFF"/>
                </a:solidFill>
                <a:latin typeface="Aptos"/>
                <a:ea typeface="Aptos"/>
                <a:cs typeface="Aptos"/>
              </a:defRPr>
            </a:pPr>
            <a:r>
              <a:rPr sz="1350" b="1">
                <a:solidFill>
                  <a:srgbClr val="FFFFFF"/>
                </a:solidFill>
                <a:latin typeface="Aptos"/>
                <a:ea typeface="Aptos"/>
                <a:cs typeface="Aptos"/>
              </a:rPr>
              <a:t>MARKET REVIEW</a:t>
            </a:r>
          </a:p>
        </p:txBody>
      </p:sp>
      <p:sp>
        <p:nvSpPr>
          <p:cNvPr id="9" name="">
            <a:extLst xmlns:a="http://schemas.openxmlformats.org/drawingml/2006/main">
              <a:ext uri="{FF2B5EF4-FFF2-40B4-BE49-F238E27FC236}">
                <a16:creationId xmlns:a16="http://schemas.microsoft.com/office/drawing/2014/main" id="{4DD6114A-D5DC-4077-86E8-32F7EA58F0C7}"/>
              </a:ext>
            </a:extLst>
          </p:cNvPr>
          <p:cNvSpPr>
            <a:spLocks xmlns:a="http://schemas.openxmlformats.org/drawingml/2006/main" noGrp="1"/>
          </p:cNvSpPr>
          <p:nvPr/>
        </p:nvSpPr>
        <p:spPr>
          <a:xfrm xmlns:a="http://schemas.openxmlformats.org/drawingml/2006/main">
            <a:off x="6705600" y="1847850"/>
            <a:ext cx="161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FFFFFF"/>
                </a:solidFill>
                <a:latin typeface="Aptos"/>
                <a:ea typeface="Aptos"/>
                <a:cs typeface="Aptos"/>
              </a:defRPr>
            </a:pPr>
            <a:r>
              <a:rPr sz="1350" b="1">
                <a:solidFill>
                  <a:srgbClr val="FFFFFF"/>
                </a:solidFill>
                <a:latin typeface="Aptos"/>
                <a:ea typeface="Aptos"/>
                <a:cs typeface="Aptos"/>
              </a:rPr>
              <a:t>LOCATIONS</a:t>
            </a:r>
          </a:p>
        </p:txBody>
      </p:sp>
      <p:sp>
        <p:nvSpPr>
          <p:cNvPr id="10" name="">
            <a:extLst xmlns:a="http://schemas.openxmlformats.org/drawingml/2006/main">
              <a:ext uri="{FF2B5EF4-FFF2-40B4-BE49-F238E27FC236}">
                <a16:creationId xmlns:a16="http://schemas.microsoft.com/office/drawing/2014/main" id="{CBF603BA-7A30-4197-9F82-DF0550A07FA9}"/>
              </a:ext>
            </a:extLst>
          </p:cNvPr>
          <p:cNvSpPr>
            <a:spLocks xmlns:a="http://schemas.openxmlformats.org/drawingml/2006/main" noGrp="1"/>
          </p:cNvSpPr>
          <p:nvPr/>
        </p:nvSpPr>
        <p:spPr>
          <a:xfrm xmlns:a="http://schemas.openxmlformats.org/drawingml/2006/main">
            <a:off x="9525000" y="1847850"/>
            <a:ext cx="180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r">
              <a:buNone/>
              <a:defRPr sz="1350" b="1">
                <a:solidFill>
                  <a:srgbClr val="FFFFFF"/>
                </a:solidFill>
                <a:latin typeface="Aptos"/>
                <a:ea typeface="Aptos"/>
                <a:cs typeface="Aptos"/>
              </a:defRPr>
            </a:pPr>
            <a:r>
              <a:rPr sz="1350" b="1">
                <a:solidFill>
                  <a:srgbClr val="FFFFFF"/>
                </a:solidFill>
                <a:latin typeface="Aptos"/>
                <a:ea typeface="Aptos"/>
                <a:cs typeface="Aptos"/>
              </a:rPr>
              <a:t>CONTROL</a:t>
            </a:r>
          </a:p>
        </p:txBody>
      </p:sp>
      <p:sp>
        <p:nvSpPr>
          <p:cNvPr id="11" name="">
            <a:extLst xmlns:a="http://schemas.openxmlformats.org/drawingml/2006/main">
              <a:ext uri="{FF2B5EF4-FFF2-40B4-BE49-F238E27FC236}">
                <a16:creationId xmlns:a16="http://schemas.microsoft.com/office/drawing/2014/main" id="{615760A3-2D25-42DE-9B1F-C523F79A3998}"/>
              </a:ext>
            </a:extLst>
          </p:cNvPr>
          <p:cNvSpPr>
            <a:spLocks xmlns:a="http://schemas.openxmlformats.org/drawingml/2006/main" noGrp="1"/>
          </p:cNvSpPr>
          <p:nvPr/>
        </p:nvSpPr>
        <p:spPr>
          <a:xfrm xmlns:a="http://schemas.openxmlformats.org/drawingml/2006/main">
            <a:off x="400050" y="2762250"/>
            <a:ext cx="3552825" cy="1123950"/>
          </a:xfrm>
          <a:prstGeom xmlns:a="http://schemas.openxmlformats.org/drawingml/2006/main" prst="roundRect">
            <a:avLst>
              <a:gd name="adj" fmla="val 15254"/>
            </a:avLst>
          </a:prstGeom>
          <a:solidFill xmlns:a="http://schemas.openxmlformats.org/drawingml/2006/main">
            <a:srgbClr val="EDF3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A9BA09D-5459-43B7-88C7-83F039DA8DD2}"/>
              </a:ext>
            </a:extLst>
          </p:cNvPr>
          <p:cNvSpPr>
            <a:spLocks xmlns:a="http://schemas.openxmlformats.org/drawingml/2006/main" noGrp="1"/>
          </p:cNvSpPr>
          <p:nvPr/>
        </p:nvSpPr>
        <p:spPr>
          <a:xfrm xmlns:a="http://schemas.openxmlformats.org/drawingml/2006/main">
            <a:off x="628650" y="2933700"/>
            <a:ext cx="3095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652"/>
          </a:bodyPr>
          <a:lstStyle xmlns:a="http://schemas.openxmlformats.org/drawingml/2006/main"/>
          <a:p xmlns:a="http://schemas.openxmlformats.org/drawingml/2006/main">
            <a:pPr algn="l">
              <a:buNone/>
              <a:defRPr sz="1725" b="1">
                <a:solidFill>
                  <a:srgbClr val="13213A"/>
                </a:solidFill>
                <a:latin typeface="Aptos"/>
                <a:ea typeface="Aptos"/>
                <a:cs typeface="Aptos"/>
              </a:defRPr>
            </a:pPr>
            <a:r>
              <a:rPr sz="1725" b="1">
                <a:solidFill>
                  <a:srgbClr val="13213A"/>
                </a:solidFill>
                <a:latin typeface="Aptos"/>
                <a:ea typeface="Aptos"/>
                <a:cs typeface="Aptos"/>
              </a:rPr>
              <a:t>Map and context</a:t>
            </a:r>
          </a:p>
        </p:txBody>
      </p:sp>
      <p:sp>
        <p:nvSpPr>
          <p:cNvPr id="13" name="">
            <a:extLst xmlns:a="http://schemas.openxmlformats.org/drawingml/2006/main">
              <a:ext uri="{FF2B5EF4-FFF2-40B4-BE49-F238E27FC236}">
                <a16:creationId xmlns:a16="http://schemas.microsoft.com/office/drawing/2014/main" id="{9D98E6FC-8DBD-4AC6-B2A8-1EDEBD7EDEB7}"/>
              </a:ext>
            </a:extLst>
          </p:cNvPr>
          <p:cNvSpPr>
            <a:spLocks xmlns:a="http://schemas.openxmlformats.org/drawingml/2006/main" noGrp="1"/>
          </p:cNvSpPr>
          <p:nvPr/>
        </p:nvSpPr>
        <p:spPr>
          <a:xfrm xmlns:a="http://schemas.openxmlformats.org/drawingml/2006/main">
            <a:off x="628650" y="3371850"/>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510"/>
          </a:bodyPr>
          <a:lstStyle xmlns:a="http://schemas.openxmlformats.org/drawingml/2006/main"/>
          <a:p xmlns:a="http://schemas.openxmlformats.org/drawingml/2006/main">
            <a:pPr algn="l">
              <a:buNone/>
              <a:defRPr sz="1275" b="0">
                <a:solidFill>
                  <a:srgbClr val="39455A"/>
                </a:solidFill>
                <a:latin typeface="Aptos"/>
                <a:ea typeface="Aptos"/>
                <a:cs typeface="Aptos"/>
              </a:defRPr>
            </a:pPr>
            <a:r>
              <a:rPr sz="1275" b="0">
                <a:solidFill>
                  <a:srgbClr val="39455A"/>
                </a:solidFill>
                <a:latin typeface="Aptos"/>
                <a:ea typeface="Aptos"/>
                <a:cs typeface="Aptos"/>
              </a:rPr>
              <a:t>Explore public CBSA boundaries, ACS context, workflow states, and selection.</a:t>
            </a:r>
          </a:p>
        </p:txBody>
      </p:sp>
      <p:sp>
        <p:nvSpPr>
          <p:cNvPr id="14" name="">
            <a:extLst xmlns:a="http://schemas.openxmlformats.org/drawingml/2006/main">
              <a:ext uri="{FF2B5EF4-FFF2-40B4-BE49-F238E27FC236}">
                <a16:creationId xmlns:a16="http://schemas.microsoft.com/office/drawing/2014/main" id="{065AABCF-7D1F-4009-AB32-11EFD12C5A71}"/>
              </a:ext>
            </a:extLst>
          </p:cNvPr>
          <p:cNvSpPr>
            <a:spLocks xmlns:a="http://schemas.openxmlformats.org/drawingml/2006/main" noGrp="1"/>
          </p:cNvSpPr>
          <p:nvPr/>
        </p:nvSpPr>
        <p:spPr>
          <a:xfrm xmlns:a="http://schemas.openxmlformats.org/drawingml/2006/main">
            <a:off x="4219575" y="2762250"/>
            <a:ext cx="3552825" cy="1123950"/>
          </a:xfrm>
          <a:prstGeom xmlns:a="http://schemas.openxmlformats.org/drawingml/2006/main" prst="roundRect">
            <a:avLst>
              <a:gd name="adj" fmla="val 15254"/>
            </a:avLst>
          </a:prstGeom>
          <a:solidFill xmlns:a="http://schemas.openxmlformats.org/drawingml/2006/main">
            <a:srgbClr val="EDF3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A2F2ABA-0B84-463B-8F39-4562ECCAD915}"/>
              </a:ext>
            </a:extLst>
          </p:cNvPr>
          <p:cNvSpPr>
            <a:spLocks xmlns:a="http://schemas.openxmlformats.org/drawingml/2006/main" noGrp="1"/>
          </p:cNvSpPr>
          <p:nvPr/>
        </p:nvSpPr>
        <p:spPr>
          <a:xfrm xmlns:a="http://schemas.openxmlformats.org/drawingml/2006/main">
            <a:off x="4448175" y="2933700"/>
            <a:ext cx="3095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652"/>
          </a:bodyPr>
          <a:lstStyle xmlns:a="http://schemas.openxmlformats.org/drawingml/2006/main"/>
          <a:p xmlns:a="http://schemas.openxmlformats.org/drawingml/2006/main">
            <a:pPr algn="l">
              <a:buNone/>
              <a:defRPr sz="1725" b="1">
                <a:solidFill>
                  <a:srgbClr val="13213A"/>
                </a:solidFill>
                <a:latin typeface="Aptos"/>
                <a:ea typeface="Aptos"/>
                <a:cs typeface="Aptos"/>
              </a:defRPr>
            </a:pPr>
            <a:r>
              <a:rPr sz="1725" b="1">
                <a:solidFill>
                  <a:srgbClr val="13213A"/>
                </a:solidFill>
                <a:latin typeface="Aptos"/>
                <a:ea typeface="Aptos"/>
                <a:cs typeface="Aptos"/>
              </a:rPr>
              <a:t>Synthetic market compare</a:t>
            </a:r>
          </a:p>
        </p:txBody>
      </p:sp>
      <p:sp>
        <p:nvSpPr>
          <p:cNvPr id="16" name="">
            <a:extLst xmlns:a="http://schemas.openxmlformats.org/drawingml/2006/main">
              <a:ext uri="{FF2B5EF4-FFF2-40B4-BE49-F238E27FC236}">
                <a16:creationId xmlns:a16="http://schemas.microsoft.com/office/drawing/2014/main" id="{E4C40C49-1618-464E-B442-C6969DDEFA2B}"/>
              </a:ext>
            </a:extLst>
          </p:cNvPr>
          <p:cNvSpPr>
            <a:spLocks xmlns:a="http://schemas.openxmlformats.org/drawingml/2006/main" noGrp="1"/>
          </p:cNvSpPr>
          <p:nvPr/>
        </p:nvSpPr>
        <p:spPr>
          <a:xfrm xmlns:a="http://schemas.openxmlformats.org/drawingml/2006/main">
            <a:off x="4448175" y="3371850"/>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510"/>
          </a:bodyPr>
          <a:lstStyle xmlns:a="http://schemas.openxmlformats.org/drawingml/2006/main"/>
          <a:p xmlns:a="http://schemas.openxmlformats.org/drawingml/2006/main">
            <a:pPr algn="l">
              <a:buNone/>
              <a:defRPr sz="1275" b="0">
                <a:solidFill>
                  <a:srgbClr val="39455A"/>
                </a:solidFill>
                <a:latin typeface="Aptos"/>
                <a:ea typeface="Aptos"/>
                <a:cs typeface="Aptos"/>
              </a:defRPr>
            </a:pPr>
            <a:r>
              <a:rPr sz="1275" b="0">
                <a:solidFill>
                  <a:srgbClr val="39455A"/>
                </a:solidFill>
                <a:latin typeface="Aptos"/>
                <a:ea typeface="Aptos"/>
                <a:cs typeface="Aptos"/>
              </a:rPr>
              <a:t>Compare 2 to 5 same-cohort results with rank, gaps, warnings, and sensitivity.</a:t>
            </a:r>
          </a:p>
        </p:txBody>
      </p:sp>
      <p:sp>
        <p:nvSpPr>
          <p:cNvPr id="17" name="">
            <a:extLst xmlns:a="http://schemas.openxmlformats.org/drawingml/2006/main">
              <a:ext uri="{FF2B5EF4-FFF2-40B4-BE49-F238E27FC236}">
                <a16:creationId xmlns:a16="http://schemas.microsoft.com/office/drawing/2014/main" id="{1287D8FE-B772-43F4-A143-DE8913916895}"/>
              </a:ext>
            </a:extLst>
          </p:cNvPr>
          <p:cNvSpPr>
            <a:spLocks xmlns:a="http://schemas.openxmlformats.org/drawingml/2006/main" noGrp="1"/>
          </p:cNvSpPr>
          <p:nvPr/>
        </p:nvSpPr>
        <p:spPr>
          <a:xfrm xmlns:a="http://schemas.openxmlformats.org/drawingml/2006/main">
            <a:off x="8039100" y="2762250"/>
            <a:ext cx="3552825" cy="1123950"/>
          </a:xfrm>
          <a:prstGeom xmlns:a="http://schemas.openxmlformats.org/drawingml/2006/main" prst="roundRect">
            <a:avLst>
              <a:gd name="adj" fmla="val 15254"/>
            </a:avLst>
          </a:prstGeom>
          <a:solidFill xmlns:a="http://schemas.openxmlformats.org/drawingml/2006/main">
            <a:srgbClr val="EDF3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17A19EF-0290-463B-B7B4-F39725AF6107}"/>
              </a:ext>
            </a:extLst>
          </p:cNvPr>
          <p:cNvSpPr>
            <a:spLocks xmlns:a="http://schemas.openxmlformats.org/drawingml/2006/main" noGrp="1"/>
          </p:cNvSpPr>
          <p:nvPr/>
        </p:nvSpPr>
        <p:spPr>
          <a:xfrm xmlns:a="http://schemas.openxmlformats.org/drawingml/2006/main">
            <a:off x="8267700" y="2933700"/>
            <a:ext cx="3095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652"/>
          </a:bodyPr>
          <a:lstStyle xmlns:a="http://schemas.openxmlformats.org/drawingml/2006/main"/>
          <a:p xmlns:a="http://schemas.openxmlformats.org/drawingml/2006/main">
            <a:pPr algn="l">
              <a:buNone/>
              <a:defRPr sz="1725" b="1">
                <a:solidFill>
                  <a:srgbClr val="13213A"/>
                </a:solidFill>
                <a:latin typeface="Aptos"/>
                <a:ea typeface="Aptos"/>
                <a:cs typeface="Aptos"/>
              </a:defRPr>
            </a:pPr>
            <a:r>
              <a:rPr sz="1725" b="1">
                <a:solidFill>
                  <a:srgbClr val="13213A"/>
                </a:solidFill>
                <a:latin typeface="Aptos"/>
                <a:ea typeface="Aptos"/>
                <a:cs typeface="Aptos"/>
              </a:rPr>
              <a:t>Bounded Ask AI</a:t>
            </a:r>
          </a:p>
        </p:txBody>
      </p:sp>
      <p:sp>
        <p:nvSpPr>
          <p:cNvPr id="19" name="">
            <a:extLst xmlns:a="http://schemas.openxmlformats.org/drawingml/2006/main">
              <a:ext uri="{FF2B5EF4-FFF2-40B4-BE49-F238E27FC236}">
                <a16:creationId xmlns:a16="http://schemas.microsoft.com/office/drawing/2014/main" id="{4985F1AB-3FAF-47B6-8F4C-D034AA300571}"/>
              </a:ext>
            </a:extLst>
          </p:cNvPr>
          <p:cNvSpPr>
            <a:spLocks xmlns:a="http://schemas.openxmlformats.org/drawingml/2006/main" noGrp="1"/>
          </p:cNvSpPr>
          <p:nvPr/>
        </p:nvSpPr>
        <p:spPr>
          <a:xfrm xmlns:a="http://schemas.openxmlformats.org/drawingml/2006/main">
            <a:off x="8267700" y="3371850"/>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510"/>
          </a:bodyPr>
          <a:lstStyle xmlns:a="http://schemas.openxmlformats.org/drawingml/2006/main"/>
          <a:p xmlns:a="http://schemas.openxmlformats.org/drawingml/2006/main">
            <a:pPr algn="l">
              <a:buNone/>
              <a:defRPr sz="1275" b="0">
                <a:solidFill>
                  <a:srgbClr val="39455A"/>
                </a:solidFill>
                <a:latin typeface="Aptos"/>
                <a:ea typeface="Aptos"/>
                <a:cs typeface="Aptos"/>
              </a:defRPr>
            </a:pPr>
            <a:r>
              <a:rPr sz="1275" b="0">
                <a:solidFill>
                  <a:srgbClr val="39455A"/>
                </a:solidFill>
                <a:latin typeface="Aptos"/>
                <a:ea typeface="Aptos"/>
                <a:cs typeface="Aptos"/>
              </a:rPr>
              <a:t>Explain supplied structured results without changing scores or choosing a market.</a:t>
            </a:r>
          </a:p>
        </p:txBody>
      </p:sp>
      <p:sp>
        <p:nvSpPr>
          <p:cNvPr id="20" name="">
            <a:extLst xmlns:a="http://schemas.openxmlformats.org/drawingml/2006/main">
              <a:ext uri="{FF2B5EF4-FFF2-40B4-BE49-F238E27FC236}">
                <a16:creationId xmlns:a16="http://schemas.microsoft.com/office/drawing/2014/main" id="{5F739610-1BB9-4524-AD73-7D2E7D88216F}"/>
              </a:ext>
            </a:extLst>
          </p:cNvPr>
          <p:cNvSpPr>
            <a:spLocks xmlns:a="http://schemas.openxmlformats.org/drawingml/2006/main" noGrp="1"/>
          </p:cNvSpPr>
          <p:nvPr/>
        </p:nvSpPr>
        <p:spPr>
          <a:xfrm xmlns:a="http://schemas.openxmlformats.org/drawingml/2006/main">
            <a:off x="400050" y="4143375"/>
            <a:ext cx="3552825" cy="1123950"/>
          </a:xfrm>
          <a:prstGeom xmlns:a="http://schemas.openxmlformats.org/drawingml/2006/main" prst="roundRect">
            <a:avLst>
              <a:gd name="adj" fmla="val 15254"/>
            </a:avLst>
          </a:prstGeom>
          <a:solidFill xmlns:a="http://schemas.openxmlformats.org/drawingml/2006/main">
            <a:srgbClr val="EDF7F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C6A128A-CCD8-4C25-BA97-97B3FA0D1AA2}"/>
              </a:ext>
            </a:extLst>
          </p:cNvPr>
          <p:cNvSpPr>
            <a:spLocks xmlns:a="http://schemas.openxmlformats.org/drawingml/2006/main" noGrp="1"/>
          </p:cNvSpPr>
          <p:nvPr/>
        </p:nvSpPr>
        <p:spPr>
          <a:xfrm xmlns:a="http://schemas.openxmlformats.org/drawingml/2006/main">
            <a:off x="628650" y="4314825"/>
            <a:ext cx="3095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652"/>
          </a:bodyPr>
          <a:lstStyle xmlns:a="http://schemas.openxmlformats.org/drawingml/2006/main"/>
          <a:p xmlns:a="http://schemas.openxmlformats.org/drawingml/2006/main">
            <a:pPr algn="l">
              <a:buNone/>
              <a:defRPr sz="1725" b="1">
                <a:solidFill>
                  <a:srgbClr val="13213A"/>
                </a:solidFill>
                <a:latin typeface="Aptos"/>
                <a:ea typeface="Aptos"/>
                <a:cs typeface="Aptos"/>
              </a:defRPr>
            </a:pPr>
            <a:r>
              <a:rPr sz="1725" b="1">
                <a:solidFill>
                  <a:srgbClr val="13213A"/>
                </a:solidFill>
                <a:latin typeface="Aptos"/>
                <a:ea typeface="Aptos"/>
                <a:cs typeface="Aptos"/>
              </a:rPr>
              <a:t>Candidate briefs</a:t>
            </a:r>
          </a:p>
        </p:txBody>
      </p:sp>
      <p:sp>
        <p:nvSpPr>
          <p:cNvPr id="22" name="">
            <a:extLst xmlns:a="http://schemas.openxmlformats.org/drawingml/2006/main">
              <a:ext uri="{FF2B5EF4-FFF2-40B4-BE49-F238E27FC236}">
                <a16:creationId xmlns:a16="http://schemas.microsoft.com/office/drawing/2014/main" id="{37D9D443-7DED-48C9-89F4-4E1E9E788DFD}"/>
              </a:ext>
            </a:extLst>
          </p:cNvPr>
          <p:cNvSpPr>
            <a:spLocks xmlns:a="http://schemas.openxmlformats.org/drawingml/2006/main" noGrp="1"/>
          </p:cNvSpPr>
          <p:nvPr/>
        </p:nvSpPr>
        <p:spPr>
          <a:xfrm xmlns:a="http://schemas.openxmlformats.org/drawingml/2006/main">
            <a:off x="628650" y="4752975"/>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510"/>
          </a:bodyPr>
          <a:lstStyle xmlns:a="http://schemas.openxmlformats.org/drawingml/2006/main"/>
          <a:p xmlns:a="http://schemas.openxmlformats.org/drawingml/2006/main">
            <a:pPr algn="l">
              <a:buNone/>
              <a:defRPr sz="1275" b="0">
                <a:solidFill>
                  <a:srgbClr val="39455A"/>
                </a:solidFill>
                <a:latin typeface="Aptos"/>
                <a:ea typeface="Aptos"/>
                <a:cs typeface="Aptos"/>
              </a:defRPr>
            </a:pPr>
            <a:r>
              <a:rPr sz="1275" b="0">
                <a:solidFill>
                  <a:srgbClr val="39455A"/>
                </a:solidFill>
                <a:latin typeface="Aptos"/>
                <a:ea typeface="Aptos"/>
                <a:cs typeface="Aptos"/>
              </a:rPr>
              <a:t>Prepare source-linked drafts and show missing or conflicting demo evidence.</a:t>
            </a:r>
          </a:p>
        </p:txBody>
      </p:sp>
      <p:sp>
        <p:nvSpPr>
          <p:cNvPr id="23" name="">
            <a:extLst xmlns:a="http://schemas.openxmlformats.org/drawingml/2006/main">
              <a:ext uri="{FF2B5EF4-FFF2-40B4-BE49-F238E27FC236}">
                <a16:creationId xmlns:a16="http://schemas.microsoft.com/office/drawing/2014/main" id="{4CE77BDE-4A89-41F4-BCB2-434E5BDE78F8}"/>
              </a:ext>
            </a:extLst>
          </p:cNvPr>
          <p:cNvSpPr>
            <a:spLocks xmlns:a="http://schemas.openxmlformats.org/drawingml/2006/main" noGrp="1"/>
          </p:cNvSpPr>
          <p:nvPr/>
        </p:nvSpPr>
        <p:spPr>
          <a:xfrm xmlns:a="http://schemas.openxmlformats.org/drawingml/2006/main">
            <a:off x="4219575" y="4143375"/>
            <a:ext cx="3552825" cy="1123950"/>
          </a:xfrm>
          <a:prstGeom xmlns:a="http://schemas.openxmlformats.org/drawingml/2006/main" prst="roundRect">
            <a:avLst>
              <a:gd name="adj" fmla="val 15254"/>
            </a:avLst>
          </a:prstGeom>
          <a:solidFill xmlns:a="http://schemas.openxmlformats.org/drawingml/2006/main">
            <a:srgbClr val="EDF7F0"/>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DE711EE-9429-4C2A-B489-38311138D608}"/>
              </a:ext>
            </a:extLst>
          </p:cNvPr>
          <p:cNvSpPr>
            <a:spLocks xmlns:a="http://schemas.openxmlformats.org/drawingml/2006/main" noGrp="1"/>
          </p:cNvSpPr>
          <p:nvPr/>
        </p:nvSpPr>
        <p:spPr>
          <a:xfrm xmlns:a="http://schemas.openxmlformats.org/drawingml/2006/main">
            <a:off x="4448175" y="4314825"/>
            <a:ext cx="3095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652"/>
          </a:bodyPr>
          <a:lstStyle xmlns:a="http://schemas.openxmlformats.org/drawingml/2006/main"/>
          <a:p xmlns:a="http://schemas.openxmlformats.org/drawingml/2006/main">
            <a:pPr algn="l">
              <a:buNone/>
              <a:defRPr sz="1725" b="1">
                <a:solidFill>
                  <a:srgbClr val="13213A"/>
                </a:solidFill>
                <a:latin typeface="Aptos"/>
                <a:ea typeface="Aptos"/>
                <a:cs typeface="Aptos"/>
              </a:defRPr>
            </a:pPr>
            <a:r>
              <a:rPr sz="1725" b="1">
                <a:solidFill>
                  <a:srgbClr val="13213A"/>
                </a:solidFill>
                <a:latin typeface="Aptos"/>
                <a:ea typeface="Aptos"/>
                <a:cs typeface="Aptos"/>
              </a:rPr>
              <a:t>Raw location compare</a:t>
            </a:r>
          </a:p>
        </p:txBody>
      </p:sp>
      <p:sp>
        <p:nvSpPr>
          <p:cNvPr id="25" name="">
            <a:extLst xmlns:a="http://schemas.openxmlformats.org/drawingml/2006/main">
              <a:ext uri="{FF2B5EF4-FFF2-40B4-BE49-F238E27FC236}">
                <a16:creationId xmlns:a16="http://schemas.microsoft.com/office/drawing/2014/main" id="{7577CA3A-0F4E-47CE-8DEB-40A9403C29DA}"/>
              </a:ext>
            </a:extLst>
          </p:cNvPr>
          <p:cNvSpPr>
            <a:spLocks xmlns:a="http://schemas.openxmlformats.org/drawingml/2006/main" noGrp="1"/>
          </p:cNvSpPr>
          <p:nvPr/>
        </p:nvSpPr>
        <p:spPr>
          <a:xfrm xmlns:a="http://schemas.openxmlformats.org/drawingml/2006/main">
            <a:off x="4448175" y="4752975"/>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510"/>
          </a:bodyPr>
          <a:lstStyle xmlns:a="http://schemas.openxmlformats.org/drawingml/2006/main"/>
          <a:p xmlns:a="http://schemas.openxmlformats.org/drawingml/2006/main">
            <a:pPr algn="l">
              <a:buNone/>
              <a:defRPr sz="1275" b="0">
                <a:solidFill>
                  <a:srgbClr val="39455A"/>
                </a:solidFill>
                <a:latin typeface="Aptos"/>
                <a:ea typeface="Aptos"/>
                <a:cs typeface="Aptos"/>
              </a:defRPr>
            </a:pPr>
            <a:r>
              <a:rPr sz="1275" b="0">
                <a:solidFill>
                  <a:srgbClr val="39455A"/>
                </a:solidFill>
                <a:latin typeface="Aptos"/>
                <a:ea typeface="Aptos"/>
                <a:cs typeface="Aptos"/>
              </a:rPr>
              <a:t>Compare 2 to 5 audited candidates field by field, with no composite or winner.</a:t>
            </a:r>
          </a:p>
        </p:txBody>
      </p:sp>
      <p:sp>
        <p:nvSpPr>
          <p:cNvPr id="26" name="">
            <a:extLst xmlns:a="http://schemas.openxmlformats.org/drawingml/2006/main">
              <a:ext uri="{FF2B5EF4-FFF2-40B4-BE49-F238E27FC236}">
                <a16:creationId xmlns:a16="http://schemas.microsoft.com/office/drawing/2014/main" id="{2AE12088-D006-49DC-BAC4-321FB0799009}"/>
              </a:ext>
            </a:extLst>
          </p:cNvPr>
          <p:cNvSpPr>
            <a:spLocks xmlns:a="http://schemas.openxmlformats.org/drawingml/2006/main" noGrp="1"/>
          </p:cNvSpPr>
          <p:nvPr/>
        </p:nvSpPr>
        <p:spPr>
          <a:xfrm xmlns:a="http://schemas.openxmlformats.org/drawingml/2006/main">
            <a:off x="8039100" y="4143375"/>
            <a:ext cx="3552825" cy="1123950"/>
          </a:xfrm>
          <a:prstGeom xmlns:a="http://schemas.openxmlformats.org/drawingml/2006/main" prst="roundRect">
            <a:avLst>
              <a:gd name="adj" fmla="val 15254"/>
            </a:avLst>
          </a:prstGeom>
          <a:solidFill xmlns:a="http://schemas.openxmlformats.org/drawingml/2006/main">
            <a:srgbClr val="EDF7F0"/>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2DB82333-CA85-4E20-867D-1A3B69ADB622}"/>
              </a:ext>
            </a:extLst>
          </p:cNvPr>
          <p:cNvSpPr>
            <a:spLocks xmlns:a="http://schemas.openxmlformats.org/drawingml/2006/main" noGrp="1"/>
          </p:cNvSpPr>
          <p:nvPr/>
        </p:nvSpPr>
        <p:spPr>
          <a:xfrm xmlns:a="http://schemas.openxmlformats.org/drawingml/2006/main">
            <a:off x="8267700" y="4314825"/>
            <a:ext cx="3095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652"/>
          </a:bodyPr>
          <a:lstStyle xmlns:a="http://schemas.openxmlformats.org/drawingml/2006/main"/>
          <a:p xmlns:a="http://schemas.openxmlformats.org/drawingml/2006/main">
            <a:pPr algn="l">
              <a:buNone/>
              <a:defRPr sz="1725" b="1">
                <a:solidFill>
                  <a:srgbClr val="13213A"/>
                </a:solidFill>
                <a:latin typeface="Aptos"/>
                <a:ea typeface="Aptos"/>
                <a:cs typeface="Aptos"/>
              </a:defRPr>
            </a:pPr>
            <a:r>
              <a:rPr sz="1725" b="1">
                <a:solidFill>
                  <a:srgbClr val="13213A"/>
                </a:solidFill>
                <a:latin typeface="Aptos"/>
                <a:ea typeface="Aptos"/>
                <a:cs typeface="Aptos"/>
              </a:rPr>
              <a:t>Sandbox + Seattle</a:t>
            </a:r>
          </a:p>
        </p:txBody>
      </p:sp>
      <p:sp>
        <p:nvSpPr>
          <p:cNvPr id="28" name="">
            <a:extLst xmlns:a="http://schemas.openxmlformats.org/drawingml/2006/main">
              <a:ext uri="{FF2B5EF4-FFF2-40B4-BE49-F238E27FC236}">
                <a16:creationId xmlns:a16="http://schemas.microsoft.com/office/drawing/2014/main" id="{F0BEDC39-4185-40B2-B3A5-0282CDE005F2}"/>
              </a:ext>
            </a:extLst>
          </p:cNvPr>
          <p:cNvSpPr>
            <a:spLocks xmlns:a="http://schemas.openxmlformats.org/drawingml/2006/main" noGrp="1"/>
          </p:cNvSpPr>
          <p:nvPr/>
        </p:nvSpPr>
        <p:spPr>
          <a:xfrm xmlns:a="http://schemas.openxmlformats.org/drawingml/2006/main">
            <a:off x="8267700" y="4752975"/>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510"/>
          </a:bodyPr>
          <a:lstStyle xmlns:a="http://schemas.openxmlformats.org/drawingml/2006/main"/>
          <a:p xmlns:a="http://schemas.openxmlformats.org/drawingml/2006/main">
            <a:pPr algn="l">
              <a:buNone/>
              <a:defRPr sz="1275" b="0">
                <a:solidFill>
                  <a:srgbClr val="39455A"/>
                </a:solidFill>
                <a:latin typeface="Aptos"/>
                <a:ea typeface="Aptos"/>
                <a:cs typeface="Aptos"/>
              </a:defRPr>
            </a:pPr>
            <a:r>
              <a:rPr sz="1275" b="0">
                <a:solidFill>
                  <a:srgbClr val="39455A"/>
                </a:solidFill>
                <a:latin typeface="Aptos"/>
                <a:ea typeface="Aptos"/>
                <a:cs typeface="Aptos"/>
              </a:rPr>
              <a:t>Test synthetic weights and constraints; run one human-confirmed synthetic deep dive.</a:t>
            </a:r>
          </a:p>
        </p:txBody>
      </p:sp>
    </p:spTree>
    <p:extLst>
      <p:ext uri="{BB962C8B-B14F-4D97-AF65-F5344CB8AC3E}">
        <p14:creationId xmlns:p14="http://schemas.microsoft.com/office/powerpoint/2010/main" val="103322781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12592F96-0EE8-41DD-AD31-C6021EE989E4}"/>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LIVE DEMO</a:t>
            </a:r>
          </a:p>
        </p:txBody>
      </p:sp>
      <p:sp>
        <p:nvSpPr>
          <p:cNvPr id="2" name="">
            <a:extLst xmlns:a="http://schemas.openxmlformats.org/drawingml/2006/main">
              <a:ext uri="{FF2B5EF4-FFF2-40B4-BE49-F238E27FC236}">
                <a16:creationId xmlns:a16="http://schemas.microsoft.com/office/drawing/2014/main" id="{E674DBC7-6E33-4724-8ECB-A8B80DD4EF26}"/>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42"/>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A seven-minute demo shows what the prototype can do today</a:t>
            </a:r>
          </a:p>
        </p:txBody>
      </p:sp>
      <p:sp>
        <p:nvSpPr>
          <p:cNvPr id="3" name="">
            <a:extLst xmlns:a="http://schemas.openxmlformats.org/drawingml/2006/main">
              <a:ext uri="{FF2B5EF4-FFF2-40B4-BE49-F238E27FC236}">
                <a16:creationId xmlns:a16="http://schemas.microsoft.com/office/drawing/2014/main" id="{E16340C0-B064-4033-864E-00A18F22D4D0}"/>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C9FC375-17F9-4FB9-B3BC-740284050E40}"/>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Sources: current local prototype; user workflows; automated tests</a:t>
            </a:r>
          </a:p>
        </p:txBody>
      </p:sp>
      <p:sp>
        <p:nvSpPr>
          <p:cNvPr id="5" name="">
            <a:extLst xmlns:a="http://schemas.openxmlformats.org/drawingml/2006/main">
              <a:ext uri="{FF2B5EF4-FFF2-40B4-BE49-F238E27FC236}">
                <a16:creationId xmlns:a16="http://schemas.microsoft.com/office/drawing/2014/main" id="{841E72F8-F91C-4AB1-A276-12AF5C3566DD}"/>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07</a:t>
            </a:r>
          </a:p>
        </p:txBody>
      </p:sp>
      <p:sp>
        <p:nvSpPr>
          <p:cNvPr id="6" name="">
            <a:extLst xmlns:a="http://schemas.openxmlformats.org/drawingml/2006/main">
              <a:ext uri="{FF2B5EF4-FFF2-40B4-BE49-F238E27FC236}">
                <a16:creationId xmlns:a16="http://schemas.microsoft.com/office/drawing/2014/main" id="{57F2238E-CA6B-4F68-907B-54801E8BCDF5}"/>
              </a:ext>
            </a:extLst>
          </p:cNvPr>
          <p:cNvSpPr>
            <a:spLocks xmlns:a="http://schemas.openxmlformats.org/drawingml/2006/main" noGrp="1"/>
          </p:cNvSpPr>
          <p:nvPr/>
        </p:nvSpPr>
        <p:spPr>
          <a:xfrm xmlns:a="http://schemas.openxmlformats.org/drawingml/2006/main">
            <a:off x="400050" y="1504950"/>
            <a:ext cx="819150" cy="685800"/>
          </a:xfrm>
          <a:prstGeom xmlns:a="http://schemas.openxmlformats.org/drawingml/2006/main" prst="roundRect">
            <a:avLst>
              <a:gd name="adj" fmla="val 22222"/>
            </a:avLst>
          </a:prstGeom>
          <a:solidFill xmlns:a="http://schemas.openxmlformats.org/drawingml/2006/main">
            <a:srgbClr val="2D5B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B7EA097-F3F8-4B6F-8B20-13880193029C}"/>
              </a:ext>
            </a:extLst>
          </p:cNvPr>
          <p:cNvSpPr>
            <a:spLocks xmlns:a="http://schemas.openxmlformats.org/drawingml/2006/main" noGrp="1"/>
          </p:cNvSpPr>
          <p:nvPr/>
        </p:nvSpPr>
        <p:spPr>
          <a:xfrm xmlns:a="http://schemas.openxmlformats.org/drawingml/2006/main">
            <a:off x="400050" y="1504950"/>
            <a:ext cx="8191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CCE9B40E-6B38-4B9B-84D8-548D14E3420E}"/>
              </a:ext>
            </a:extLst>
          </p:cNvPr>
          <p:cNvSpPr>
            <a:spLocks xmlns:a="http://schemas.openxmlformats.org/drawingml/2006/main" noGrp="1"/>
          </p:cNvSpPr>
          <p:nvPr/>
        </p:nvSpPr>
        <p:spPr>
          <a:xfrm xmlns:a="http://schemas.openxmlformats.org/drawingml/2006/main">
            <a:off x="1485900" y="1552575"/>
            <a:ext cx="316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1800" b="1">
                <a:solidFill>
                  <a:srgbClr val="13213A"/>
                </a:solidFill>
                <a:latin typeface="Aptos"/>
                <a:ea typeface="Aptos"/>
                <a:cs typeface="Aptos"/>
              </a:defRPr>
            </a:pPr>
            <a:r>
              <a:rPr sz="1800" b="1">
                <a:solidFill>
                  <a:srgbClr val="13213A"/>
                </a:solidFill>
                <a:latin typeface="Aptos"/>
                <a:ea typeface="Aptos"/>
                <a:cs typeface="Aptos"/>
              </a:rPr>
              <a:t>Markets workspace</a:t>
            </a:r>
          </a:p>
        </p:txBody>
      </p:sp>
      <p:sp>
        <p:nvSpPr>
          <p:cNvPr id="9" name="">
            <a:extLst xmlns:a="http://schemas.openxmlformats.org/drawingml/2006/main">
              <a:ext uri="{FF2B5EF4-FFF2-40B4-BE49-F238E27FC236}">
                <a16:creationId xmlns:a16="http://schemas.microsoft.com/office/drawing/2014/main" id="{6285EDDD-F477-4996-8726-C11B7AFB8803}"/>
              </a:ext>
            </a:extLst>
          </p:cNvPr>
          <p:cNvSpPr>
            <a:spLocks xmlns:a="http://schemas.openxmlformats.org/drawingml/2006/main" noGrp="1"/>
          </p:cNvSpPr>
          <p:nvPr/>
        </p:nvSpPr>
        <p:spPr>
          <a:xfrm xmlns:a="http://schemas.openxmlformats.org/drawingml/2006/main">
            <a:off x="4762500" y="1552575"/>
            <a:ext cx="666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979"/>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Select a market; show public context, synthetic score, and workflow-state separation</a:t>
            </a:r>
          </a:p>
        </p:txBody>
      </p:sp>
      <p:sp>
        <p:nvSpPr>
          <p:cNvPr id="10" name="">
            <a:extLst xmlns:a="http://schemas.openxmlformats.org/drawingml/2006/main">
              <a:ext uri="{FF2B5EF4-FFF2-40B4-BE49-F238E27FC236}">
                <a16:creationId xmlns:a16="http://schemas.microsoft.com/office/drawing/2014/main" id="{EFE7680A-BF2C-4EE0-BEBE-A32956369C77}"/>
              </a:ext>
            </a:extLst>
          </p:cNvPr>
          <p:cNvSpPr>
            <a:spLocks xmlns:a="http://schemas.openxmlformats.org/drawingml/2006/main" noGrp="1"/>
          </p:cNvSpPr>
          <p:nvPr/>
        </p:nvSpPr>
        <p:spPr>
          <a:xfrm xmlns:a="http://schemas.openxmlformats.org/drawingml/2006/main">
            <a:off x="400050" y="2381250"/>
            <a:ext cx="819150" cy="685800"/>
          </a:xfrm>
          <a:prstGeom xmlns:a="http://schemas.openxmlformats.org/drawingml/2006/main" prst="roundRect">
            <a:avLst>
              <a:gd name="adj" fmla="val 22222"/>
            </a:avLst>
          </a:prstGeom>
          <a:solidFill xmlns:a="http://schemas.openxmlformats.org/drawingml/2006/main">
            <a:srgbClr val="2D5B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E6B2A1A-FBAF-44DE-A325-DD621D0AFA33}"/>
              </a:ext>
            </a:extLst>
          </p:cNvPr>
          <p:cNvSpPr>
            <a:spLocks xmlns:a="http://schemas.openxmlformats.org/drawingml/2006/main" noGrp="1"/>
          </p:cNvSpPr>
          <p:nvPr/>
        </p:nvSpPr>
        <p:spPr>
          <a:xfrm xmlns:a="http://schemas.openxmlformats.org/drawingml/2006/main">
            <a:off x="400050" y="2381250"/>
            <a:ext cx="8191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2210A367-79B3-4AE8-AE7A-B6D1DB29520A}"/>
              </a:ext>
            </a:extLst>
          </p:cNvPr>
          <p:cNvSpPr>
            <a:spLocks xmlns:a="http://schemas.openxmlformats.org/drawingml/2006/main" noGrp="1"/>
          </p:cNvSpPr>
          <p:nvPr/>
        </p:nvSpPr>
        <p:spPr>
          <a:xfrm xmlns:a="http://schemas.openxmlformats.org/drawingml/2006/main">
            <a:off x="1485900" y="2428875"/>
            <a:ext cx="316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1800" b="1">
                <a:solidFill>
                  <a:srgbClr val="13213A"/>
                </a:solidFill>
                <a:latin typeface="Aptos"/>
                <a:ea typeface="Aptos"/>
                <a:cs typeface="Aptos"/>
              </a:defRPr>
            </a:pPr>
            <a:r>
              <a:rPr sz="1800" b="1">
                <a:solidFill>
                  <a:srgbClr val="13213A"/>
                </a:solidFill>
                <a:latin typeface="Aptos"/>
                <a:ea typeface="Aptos"/>
                <a:cs typeface="Aptos"/>
              </a:rPr>
              <a:t>Market comparison</a:t>
            </a:r>
          </a:p>
        </p:txBody>
      </p:sp>
      <p:sp>
        <p:nvSpPr>
          <p:cNvPr id="13" name="">
            <a:extLst xmlns:a="http://schemas.openxmlformats.org/drawingml/2006/main">
              <a:ext uri="{FF2B5EF4-FFF2-40B4-BE49-F238E27FC236}">
                <a16:creationId xmlns:a16="http://schemas.microsoft.com/office/drawing/2014/main" id="{D1E161BA-91C3-4C42-BCE9-88BF30776DBC}"/>
              </a:ext>
            </a:extLst>
          </p:cNvPr>
          <p:cNvSpPr>
            <a:spLocks xmlns:a="http://schemas.openxmlformats.org/drawingml/2006/main" noGrp="1"/>
          </p:cNvSpPr>
          <p:nvPr/>
        </p:nvSpPr>
        <p:spPr>
          <a:xfrm xmlns:a="http://schemas.openxmlformats.org/drawingml/2006/main">
            <a:off x="4762500" y="2428875"/>
            <a:ext cx="666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3979"/>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Add two same-cohort markets; inspect subscores, missingness, sensitivity, and Ask AI</a:t>
            </a:r>
          </a:p>
        </p:txBody>
      </p:sp>
      <p:sp>
        <p:nvSpPr>
          <p:cNvPr id="14" name="">
            <a:extLst xmlns:a="http://schemas.openxmlformats.org/drawingml/2006/main">
              <a:ext uri="{FF2B5EF4-FFF2-40B4-BE49-F238E27FC236}">
                <a16:creationId xmlns:a16="http://schemas.microsoft.com/office/drawing/2014/main" id="{F46E2D66-A242-4045-94DA-C18D3AAE8F58}"/>
              </a:ext>
            </a:extLst>
          </p:cNvPr>
          <p:cNvSpPr>
            <a:spLocks xmlns:a="http://schemas.openxmlformats.org/drawingml/2006/main" noGrp="1"/>
          </p:cNvSpPr>
          <p:nvPr/>
        </p:nvSpPr>
        <p:spPr>
          <a:xfrm xmlns:a="http://schemas.openxmlformats.org/drawingml/2006/main">
            <a:off x="400050" y="3257550"/>
            <a:ext cx="819150" cy="685800"/>
          </a:xfrm>
          <a:prstGeom xmlns:a="http://schemas.openxmlformats.org/drawingml/2006/main" prst="roundRect">
            <a:avLst>
              <a:gd name="adj" fmla="val 22222"/>
            </a:avLst>
          </a:prstGeom>
          <a:solidFill xmlns:a="http://schemas.openxmlformats.org/drawingml/2006/main">
            <a:srgbClr val="2D5B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855F5A4-B6AF-4D40-B43D-B4776C15394F}"/>
              </a:ext>
            </a:extLst>
          </p:cNvPr>
          <p:cNvSpPr>
            <a:spLocks xmlns:a="http://schemas.openxmlformats.org/drawingml/2006/main" noGrp="1"/>
          </p:cNvSpPr>
          <p:nvPr/>
        </p:nvSpPr>
        <p:spPr>
          <a:xfrm xmlns:a="http://schemas.openxmlformats.org/drawingml/2006/main">
            <a:off x="400050" y="3257550"/>
            <a:ext cx="8191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03</a:t>
            </a:r>
          </a:p>
        </p:txBody>
      </p:sp>
      <p:sp>
        <p:nvSpPr>
          <p:cNvPr id="16" name="">
            <a:extLst xmlns:a="http://schemas.openxmlformats.org/drawingml/2006/main">
              <a:ext uri="{FF2B5EF4-FFF2-40B4-BE49-F238E27FC236}">
                <a16:creationId xmlns:a16="http://schemas.microsoft.com/office/drawing/2014/main" id="{6C47BC9E-D8B1-43FA-9C39-4079CDFF17E7}"/>
              </a:ext>
            </a:extLst>
          </p:cNvPr>
          <p:cNvSpPr>
            <a:spLocks xmlns:a="http://schemas.openxmlformats.org/drawingml/2006/main" noGrp="1"/>
          </p:cNvSpPr>
          <p:nvPr/>
        </p:nvSpPr>
        <p:spPr>
          <a:xfrm xmlns:a="http://schemas.openxmlformats.org/drawingml/2006/main">
            <a:off x="1485900" y="3305175"/>
            <a:ext cx="316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1800" b="1">
                <a:solidFill>
                  <a:srgbClr val="13213A"/>
                </a:solidFill>
                <a:latin typeface="Aptos"/>
                <a:ea typeface="Aptos"/>
                <a:cs typeface="Aptos"/>
              </a:defRPr>
            </a:pPr>
            <a:r>
              <a:rPr sz="1800" b="1">
                <a:solidFill>
                  <a:srgbClr val="13213A"/>
                </a:solidFill>
                <a:latin typeface="Aptos"/>
                <a:ea typeface="Aptos"/>
                <a:cs typeface="Aptos"/>
              </a:rPr>
              <a:t>Seattle deep dive</a:t>
            </a:r>
          </a:p>
        </p:txBody>
      </p:sp>
      <p:sp>
        <p:nvSpPr>
          <p:cNvPr id="17" name="">
            <a:extLst xmlns:a="http://schemas.openxmlformats.org/drawingml/2006/main">
              <a:ext uri="{FF2B5EF4-FFF2-40B4-BE49-F238E27FC236}">
                <a16:creationId xmlns:a16="http://schemas.microsoft.com/office/drawing/2014/main" id="{904EFD15-C6A7-4E04-B28E-C2A029C80069}"/>
              </a:ext>
            </a:extLst>
          </p:cNvPr>
          <p:cNvSpPr>
            <a:spLocks xmlns:a="http://schemas.openxmlformats.org/drawingml/2006/main" noGrp="1"/>
          </p:cNvSpPr>
          <p:nvPr/>
        </p:nvSpPr>
        <p:spPr>
          <a:xfrm xmlns:a="http://schemas.openxmlformats.org/drawingml/2006/main">
            <a:off x="4762500" y="3305175"/>
            <a:ext cx="666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531"/>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Confirm synthetic segmentation before comparison; show tool activity and evidence receipts</a:t>
            </a:r>
          </a:p>
        </p:txBody>
      </p:sp>
      <p:sp>
        <p:nvSpPr>
          <p:cNvPr id="18" name="">
            <a:extLst xmlns:a="http://schemas.openxmlformats.org/drawingml/2006/main">
              <a:ext uri="{FF2B5EF4-FFF2-40B4-BE49-F238E27FC236}">
                <a16:creationId xmlns:a16="http://schemas.microsoft.com/office/drawing/2014/main" id="{3FBFDA91-77C8-4D1E-8FE6-12F073B2F6E9}"/>
              </a:ext>
            </a:extLst>
          </p:cNvPr>
          <p:cNvSpPr>
            <a:spLocks xmlns:a="http://schemas.openxmlformats.org/drawingml/2006/main" noGrp="1"/>
          </p:cNvSpPr>
          <p:nvPr/>
        </p:nvSpPr>
        <p:spPr>
          <a:xfrm xmlns:a="http://schemas.openxmlformats.org/drawingml/2006/main">
            <a:off x="400050" y="4133850"/>
            <a:ext cx="819150" cy="685800"/>
          </a:xfrm>
          <a:prstGeom xmlns:a="http://schemas.openxmlformats.org/drawingml/2006/main" prst="roundRect">
            <a:avLst>
              <a:gd name="adj" fmla="val 22222"/>
            </a:avLst>
          </a:prstGeom>
          <a:solidFill xmlns:a="http://schemas.openxmlformats.org/drawingml/2006/main">
            <a:srgbClr val="2D5B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A44139C-2A21-4A5F-B357-641A794D1D58}"/>
              </a:ext>
            </a:extLst>
          </p:cNvPr>
          <p:cNvSpPr>
            <a:spLocks xmlns:a="http://schemas.openxmlformats.org/drawingml/2006/main" noGrp="1"/>
          </p:cNvSpPr>
          <p:nvPr/>
        </p:nvSpPr>
        <p:spPr>
          <a:xfrm xmlns:a="http://schemas.openxmlformats.org/drawingml/2006/main">
            <a:off x="400050" y="4133850"/>
            <a:ext cx="8191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04</a:t>
            </a:r>
          </a:p>
        </p:txBody>
      </p:sp>
      <p:sp>
        <p:nvSpPr>
          <p:cNvPr id="20" name="">
            <a:extLst xmlns:a="http://schemas.openxmlformats.org/drawingml/2006/main">
              <a:ext uri="{FF2B5EF4-FFF2-40B4-BE49-F238E27FC236}">
                <a16:creationId xmlns:a16="http://schemas.microsoft.com/office/drawing/2014/main" id="{652A535D-491D-44D8-9422-4920856FC41C}"/>
              </a:ext>
            </a:extLst>
          </p:cNvPr>
          <p:cNvSpPr>
            <a:spLocks xmlns:a="http://schemas.openxmlformats.org/drawingml/2006/main" noGrp="1"/>
          </p:cNvSpPr>
          <p:nvPr/>
        </p:nvSpPr>
        <p:spPr>
          <a:xfrm xmlns:a="http://schemas.openxmlformats.org/drawingml/2006/main">
            <a:off x="1485900" y="4181475"/>
            <a:ext cx="316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1800" b="1">
                <a:solidFill>
                  <a:srgbClr val="13213A"/>
                </a:solidFill>
                <a:latin typeface="Aptos"/>
                <a:ea typeface="Aptos"/>
                <a:cs typeface="Aptos"/>
              </a:defRPr>
            </a:pPr>
            <a:r>
              <a:rPr sz="1800" b="1">
                <a:solidFill>
                  <a:srgbClr val="13213A"/>
                </a:solidFill>
                <a:latin typeface="Aptos"/>
                <a:ea typeface="Aptos"/>
                <a:cs typeface="Aptos"/>
              </a:rPr>
              <a:t>Candidate briefs</a:t>
            </a:r>
          </a:p>
        </p:txBody>
      </p:sp>
      <p:sp>
        <p:nvSpPr>
          <p:cNvPr id="21" name="">
            <a:extLst xmlns:a="http://schemas.openxmlformats.org/drawingml/2006/main">
              <a:ext uri="{FF2B5EF4-FFF2-40B4-BE49-F238E27FC236}">
                <a16:creationId xmlns:a16="http://schemas.microsoft.com/office/drawing/2014/main" id="{AF3F7939-FEE6-4721-BA25-9E88E3988562}"/>
              </a:ext>
            </a:extLst>
          </p:cNvPr>
          <p:cNvSpPr>
            <a:spLocks xmlns:a="http://schemas.openxmlformats.org/drawingml/2006/main" noGrp="1"/>
          </p:cNvSpPr>
          <p:nvPr/>
        </p:nvSpPr>
        <p:spPr>
          <a:xfrm xmlns:a="http://schemas.openxmlformats.org/drawingml/2006/main">
            <a:off x="4762500" y="4181475"/>
            <a:ext cx="666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845"/>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Prepare a bounded brief, then compare audited locations without a winner or recommendation</a:t>
            </a:r>
          </a:p>
        </p:txBody>
      </p:sp>
      <p:sp>
        <p:nvSpPr>
          <p:cNvPr id="22" name="">
            <a:extLst xmlns:a="http://schemas.openxmlformats.org/drawingml/2006/main">
              <a:ext uri="{FF2B5EF4-FFF2-40B4-BE49-F238E27FC236}">
                <a16:creationId xmlns:a16="http://schemas.microsoft.com/office/drawing/2014/main" id="{A88F2160-350F-4BAE-82C1-902ED016E9B9}"/>
              </a:ext>
            </a:extLst>
          </p:cNvPr>
          <p:cNvSpPr>
            <a:spLocks xmlns:a="http://schemas.openxmlformats.org/drawingml/2006/main" noGrp="1"/>
          </p:cNvSpPr>
          <p:nvPr/>
        </p:nvSpPr>
        <p:spPr>
          <a:xfrm xmlns:a="http://schemas.openxmlformats.org/drawingml/2006/main">
            <a:off x="400050" y="5010150"/>
            <a:ext cx="819150" cy="685800"/>
          </a:xfrm>
          <a:prstGeom xmlns:a="http://schemas.openxmlformats.org/drawingml/2006/main" prst="roundRect">
            <a:avLst>
              <a:gd name="adj" fmla="val 22222"/>
            </a:avLst>
          </a:prstGeom>
          <a:solidFill xmlns:a="http://schemas.openxmlformats.org/drawingml/2006/main">
            <a:srgbClr val="347A4A"/>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E97CFF4-6CC0-4CC0-A501-BE73903280A1}"/>
              </a:ext>
            </a:extLst>
          </p:cNvPr>
          <p:cNvSpPr>
            <a:spLocks xmlns:a="http://schemas.openxmlformats.org/drawingml/2006/main" noGrp="1"/>
          </p:cNvSpPr>
          <p:nvPr/>
        </p:nvSpPr>
        <p:spPr>
          <a:xfrm xmlns:a="http://schemas.openxmlformats.org/drawingml/2006/main">
            <a:off x="400050" y="5010150"/>
            <a:ext cx="8191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05</a:t>
            </a:r>
          </a:p>
        </p:txBody>
      </p:sp>
      <p:sp>
        <p:nvSpPr>
          <p:cNvPr id="24" name="">
            <a:extLst xmlns:a="http://schemas.openxmlformats.org/drawingml/2006/main">
              <a:ext uri="{FF2B5EF4-FFF2-40B4-BE49-F238E27FC236}">
                <a16:creationId xmlns:a16="http://schemas.microsoft.com/office/drawing/2014/main" id="{C5B8DA6B-9AD6-4D4E-929E-84E76998057C}"/>
              </a:ext>
            </a:extLst>
          </p:cNvPr>
          <p:cNvSpPr>
            <a:spLocks xmlns:a="http://schemas.openxmlformats.org/drawingml/2006/main" noGrp="1"/>
          </p:cNvSpPr>
          <p:nvPr/>
        </p:nvSpPr>
        <p:spPr>
          <a:xfrm xmlns:a="http://schemas.openxmlformats.org/drawingml/2006/main">
            <a:off x="1485900" y="5057775"/>
            <a:ext cx="316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1800" b="1">
                <a:solidFill>
                  <a:srgbClr val="13213A"/>
                </a:solidFill>
                <a:latin typeface="Aptos"/>
                <a:ea typeface="Aptos"/>
                <a:cs typeface="Aptos"/>
              </a:defRPr>
            </a:pPr>
            <a:r>
              <a:rPr sz="1800" b="1">
                <a:solidFill>
                  <a:srgbClr val="13213A"/>
                </a:solidFill>
                <a:latin typeface="Aptos"/>
                <a:ea typeface="Aptos"/>
                <a:cs typeface="Aptos"/>
              </a:rPr>
              <a:t>Sandbox + boundary</a:t>
            </a:r>
          </a:p>
        </p:txBody>
      </p:sp>
      <p:sp>
        <p:nvSpPr>
          <p:cNvPr id="25" name="">
            <a:extLst xmlns:a="http://schemas.openxmlformats.org/drawingml/2006/main">
              <a:ext uri="{FF2B5EF4-FFF2-40B4-BE49-F238E27FC236}">
                <a16:creationId xmlns:a16="http://schemas.microsoft.com/office/drawing/2014/main" id="{51686262-87AD-44B0-BB97-F0D233BC8C02}"/>
              </a:ext>
            </a:extLst>
          </p:cNvPr>
          <p:cNvSpPr>
            <a:spLocks xmlns:a="http://schemas.openxmlformats.org/drawingml/2006/main" noGrp="1"/>
          </p:cNvSpPr>
          <p:nvPr/>
        </p:nvSpPr>
        <p:spPr>
          <a:xfrm xmlns:a="http://schemas.openxmlformats.org/drawingml/2006/main">
            <a:off x="4762500" y="5057775"/>
            <a:ext cx="666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926"/>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Adjust synthetic weights and constraints; name what is non-scored, process-local, or unresolved</a:t>
            </a:r>
          </a:p>
        </p:txBody>
      </p:sp>
    </p:spTree>
    <p:extLst>
      <p:ext uri="{BB962C8B-B14F-4D97-AF65-F5344CB8AC3E}">
        <p14:creationId xmlns:p14="http://schemas.microsoft.com/office/powerpoint/2010/main" val="157090805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081473F-28FD-4EDF-BBB7-F4094496879C}"/>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FUTURE DIRECTION</a:t>
            </a:r>
          </a:p>
        </p:txBody>
      </p:sp>
      <p:sp>
        <p:nvSpPr>
          <p:cNvPr id="2" name="">
            <a:extLst xmlns:a="http://schemas.openxmlformats.org/drawingml/2006/main">
              <a:ext uri="{FF2B5EF4-FFF2-40B4-BE49-F238E27FC236}">
                <a16:creationId xmlns:a16="http://schemas.microsoft.com/office/drawing/2014/main" id="{04FBAC3C-B014-44EA-8759-1B53733E6D42}"/>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664"/>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One platform connects sectors, regions, and channels</a:t>
            </a:r>
          </a:p>
        </p:txBody>
      </p:sp>
      <p:sp>
        <p:nvSpPr>
          <p:cNvPr id="3" name="">
            <a:extLst xmlns:a="http://schemas.openxmlformats.org/drawingml/2006/main">
              <a:ext uri="{FF2B5EF4-FFF2-40B4-BE49-F238E27FC236}">
                <a16:creationId xmlns:a16="http://schemas.microsoft.com/office/drawing/2014/main" id="{3772D625-0E87-42AD-A135-74F48924A46A}"/>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C5EB327-9774-4920-85C3-DB49205E4B8F}"/>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Sources: user direction; market opportunity transition brief</a:t>
            </a:r>
          </a:p>
        </p:txBody>
      </p:sp>
      <p:sp>
        <p:nvSpPr>
          <p:cNvPr id="5" name="">
            <a:extLst xmlns:a="http://schemas.openxmlformats.org/drawingml/2006/main">
              <a:ext uri="{FF2B5EF4-FFF2-40B4-BE49-F238E27FC236}">
                <a16:creationId xmlns:a16="http://schemas.microsoft.com/office/drawing/2014/main" id="{8C024F67-35E1-41A1-82BF-27E15EF15331}"/>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08</a:t>
            </a:r>
          </a:p>
        </p:txBody>
      </p:sp>
      <p:sp>
        <p:nvSpPr>
          <p:cNvPr id="6" name="">
            <a:extLst xmlns:a="http://schemas.openxmlformats.org/drawingml/2006/main">
              <a:ext uri="{FF2B5EF4-FFF2-40B4-BE49-F238E27FC236}">
                <a16:creationId xmlns:a16="http://schemas.microsoft.com/office/drawing/2014/main" id="{4D765BED-EA33-40D9-9D46-7202819594B3}"/>
              </a:ext>
            </a:extLst>
          </p:cNvPr>
          <p:cNvSpPr>
            <a:spLocks xmlns:a="http://schemas.openxmlformats.org/drawingml/2006/main" noGrp="1"/>
          </p:cNvSpPr>
          <p:nvPr/>
        </p:nvSpPr>
        <p:spPr>
          <a:xfrm xmlns:a="http://schemas.openxmlformats.org/drawingml/2006/main">
            <a:off x="400050" y="1657350"/>
            <a:ext cx="819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625" b="1">
                <a:solidFill>
                  <a:srgbClr val="1E43C8"/>
                </a:solidFill>
                <a:latin typeface="Aptos"/>
                <a:ea typeface="Aptos"/>
                <a:cs typeface="Aptos"/>
              </a:defRPr>
            </a:pPr>
            <a:r>
              <a:rPr sz="2625" b="1">
                <a:solidFill>
                  <a:srgbClr val="1E43C8"/>
                </a:solidFill>
                <a:latin typeface="Aptos"/>
                <a:ea typeface="Aptos"/>
                <a:cs typeface="Aptos"/>
              </a:rPr>
              <a:t>Market Opportunity Platform</a:t>
            </a:r>
          </a:p>
        </p:txBody>
      </p:sp>
      <p:sp>
        <p:nvSpPr>
          <p:cNvPr id="7" name="">
            <a:extLst xmlns:a="http://schemas.openxmlformats.org/drawingml/2006/main">
              <a:ext uri="{FF2B5EF4-FFF2-40B4-BE49-F238E27FC236}">
                <a16:creationId xmlns:a16="http://schemas.microsoft.com/office/drawing/2014/main" id="{04B121C2-CDD5-43F8-BB39-5ABF8A4AF73B}"/>
              </a:ext>
            </a:extLst>
          </p:cNvPr>
          <p:cNvSpPr>
            <a:spLocks xmlns:a="http://schemas.openxmlformats.org/drawingml/2006/main" noGrp="1"/>
          </p:cNvSpPr>
          <p:nvPr/>
        </p:nvSpPr>
        <p:spPr>
          <a:xfrm xmlns:a="http://schemas.openxmlformats.org/drawingml/2006/main">
            <a:off x="400050" y="2362200"/>
            <a:ext cx="723900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325" b="1">
                <a:solidFill>
                  <a:srgbClr val="13213A"/>
                </a:solidFill>
                <a:latin typeface="Aptos"/>
                <a:ea typeface="Aptos"/>
                <a:cs typeface="Aptos"/>
              </a:defRPr>
            </a:pPr>
            <a:r>
              <a:rPr sz="2325" b="1">
                <a:solidFill>
                  <a:srgbClr val="13213A"/>
                </a:solidFill>
                <a:latin typeface="Aptos"/>
                <a:ea typeface="Aptos"/>
                <a:cs typeface="Aptos"/>
              </a:rPr>
              <a:t>connects internal and external data to surface regional opportunities across business sectors and online, offline, and hybrid channels.</a:t>
            </a:r>
          </a:p>
        </p:txBody>
      </p:sp>
      <p:sp>
        <p:nvSpPr>
          <p:cNvPr id="8" name="">
            <a:extLst xmlns:a="http://schemas.openxmlformats.org/drawingml/2006/main">
              <a:ext uri="{FF2B5EF4-FFF2-40B4-BE49-F238E27FC236}">
                <a16:creationId xmlns:a16="http://schemas.microsoft.com/office/drawing/2014/main" id="{40D8D9B3-EF0F-4589-96D8-69E3DC45D750}"/>
              </a:ext>
            </a:extLst>
          </p:cNvPr>
          <p:cNvSpPr>
            <a:spLocks xmlns:a="http://schemas.openxmlformats.org/drawingml/2006/main" noGrp="1"/>
          </p:cNvSpPr>
          <p:nvPr/>
        </p:nvSpPr>
        <p:spPr>
          <a:xfrm xmlns:a="http://schemas.openxmlformats.org/drawingml/2006/main">
            <a:off x="8305800" y="1638300"/>
            <a:ext cx="3486150" cy="3733800"/>
          </a:xfrm>
          <a:prstGeom xmlns:a="http://schemas.openxmlformats.org/drawingml/2006/main" prst="roundRect">
            <a:avLst>
              <a:gd name="adj" fmla="val 6011"/>
            </a:avLst>
          </a:prstGeom>
          <a:solidFill xmlns:a="http://schemas.openxmlformats.org/drawingml/2006/main">
            <a:srgbClr val="EDF3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A3F6C76-4B60-487D-8267-C227015B3D7D}"/>
              </a:ext>
            </a:extLst>
          </p:cNvPr>
          <p:cNvSpPr>
            <a:spLocks xmlns:a="http://schemas.openxmlformats.org/drawingml/2006/main" noGrp="1"/>
          </p:cNvSpPr>
          <p:nvPr/>
        </p:nvSpPr>
        <p:spPr>
          <a:xfrm xmlns:a="http://schemas.openxmlformats.org/drawingml/2006/main">
            <a:off x="8591550" y="19621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1">
                <a:solidFill>
                  <a:srgbClr val="2D5BFF"/>
                </a:solidFill>
                <a:latin typeface="Aptos"/>
                <a:ea typeface="Aptos"/>
                <a:cs typeface="Aptos"/>
              </a:defRPr>
            </a:pPr>
            <a:r>
              <a:rPr sz="1125" b="1">
                <a:solidFill>
                  <a:srgbClr val="2D5BFF"/>
                </a:solidFill>
                <a:latin typeface="Aptos"/>
                <a:ea typeface="Aptos"/>
                <a:cs typeface="Aptos"/>
              </a:rPr>
              <a:t>IT WOULD HELP TEAMS</a:t>
            </a:r>
          </a:p>
        </p:txBody>
      </p:sp>
      <p:sp>
        <p:nvSpPr>
          <p:cNvPr id="10" name="">
            <a:extLst xmlns:a="http://schemas.openxmlformats.org/drawingml/2006/main">
              <a:ext uri="{FF2B5EF4-FFF2-40B4-BE49-F238E27FC236}">
                <a16:creationId xmlns:a16="http://schemas.microsoft.com/office/drawing/2014/main" id="{DEA7C227-C048-46B2-9812-C2110E18EE45}"/>
              </a:ext>
            </a:extLst>
          </p:cNvPr>
          <p:cNvSpPr>
            <a:spLocks xmlns:a="http://schemas.openxmlformats.org/drawingml/2006/main" noGrp="1"/>
          </p:cNvSpPr>
          <p:nvPr/>
        </p:nvSpPr>
        <p:spPr>
          <a:xfrm xmlns:a="http://schemas.openxmlformats.org/drawingml/2006/main">
            <a:off x="8591550" y="2543175"/>
            <a:ext cx="95250" cy="9525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33B3DD8-1CBC-4169-981E-EB90C3F8B90E}"/>
              </a:ext>
            </a:extLst>
          </p:cNvPr>
          <p:cNvSpPr>
            <a:spLocks xmlns:a="http://schemas.openxmlformats.org/drawingml/2006/main" noGrp="1"/>
          </p:cNvSpPr>
          <p:nvPr/>
        </p:nvSpPr>
        <p:spPr>
          <a:xfrm xmlns:a="http://schemas.openxmlformats.org/drawingml/2006/main">
            <a:off x="8820150" y="2476500"/>
            <a:ext cx="2476500" cy="4048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00" b="0">
                <a:solidFill>
                  <a:srgbClr val="39455A"/>
                </a:solidFill>
                <a:latin typeface="Aptos"/>
                <a:ea typeface="Aptos"/>
                <a:cs typeface="Aptos"/>
              </a:defRPr>
            </a:pPr>
            <a:r>
              <a:rPr sz="1800" b="0">
                <a:solidFill>
                  <a:srgbClr val="39455A"/>
                </a:solidFill>
                <a:latin typeface="Aptos"/>
                <a:ea typeface="Aptos"/>
                <a:cs typeface="Aptos"/>
              </a:rPr>
              <a:t>Compare regions</a:t>
            </a:r>
          </a:p>
        </p:txBody>
      </p:sp>
      <p:sp>
        <p:nvSpPr>
          <p:cNvPr id="12" name="">
            <a:extLst xmlns:a="http://schemas.openxmlformats.org/drawingml/2006/main">
              <a:ext uri="{FF2B5EF4-FFF2-40B4-BE49-F238E27FC236}">
                <a16:creationId xmlns:a16="http://schemas.microsoft.com/office/drawing/2014/main" id="{96209D78-743C-4E37-8853-C16CA74439CC}"/>
              </a:ext>
            </a:extLst>
          </p:cNvPr>
          <p:cNvSpPr>
            <a:spLocks xmlns:a="http://schemas.openxmlformats.org/drawingml/2006/main" noGrp="1"/>
          </p:cNvSpPr>
          <p:nvPr/>
        </p:nvSpPr>
        <p:spPr>
          <a:xfrm xmlns:a="http://schemas.openxmlformats.org/drawingml/2006/main">
            <a:off x="8591550" y="3119438"/>
            <a:ext cx="95250" cy="9525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F7D13E9-7C8D-4D01-BFC0-8A1CA210F644}"/>
              </a:ext>
            </a:extLst>
          </p:cNvPr>
          <p:cNvSpPr>
            <a:spLocks xmlns:a="http://schemas.openxmlformats.org/drawingml/2006/main" noGrp="1"/>
          </p:cNvSpPr>
          <p:nvPr/>
        </p:nvSpPr>
        <p:spPr>
          <a:xfrm xmlns:a="http://schemas.openxmlformats.org/drawingml/2006/main">
            <a:off x="8820150" y="3052763"/>
            <a:ext cx="2476500" cy="4048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00" b="0">
                <a:solidFill>
                  <a:srgbClr val="39455A"/>
                </a:solidFill>
                <a:latin typeface="Aptos"/>
                <a:ea typeface="Aptos"/>
                <a:cs typeface="Aptos"/>
              </a:defRPr>
            </a:pPr>
            <a:r>
              <a:rPr sz="1800" b="0">
                <a:solidFill>
                  <a:srgbClr val="39455A"/>
                </a:solidFill>
                <a:latin typeface="Aptos"/>
                <a:ea typeface="Aptos"/>
                <a:cs typeface="Aptos"/>
              </a:rPr>
              <a:t>Explore sectors</a:t>
            </a:r>
          </a:p>
        </p:txBody>
      </p:sp>
      <p:sp>
        <p:nvSpPr>
          <p:cNvPr id="14" name="">
            <a:extLst xmlns:a="http://schemas.openxmlformats.org/drawingml/2006/main">
              <a:ext uri="{FF2B5EF4-FFF2-40B4-BE49-F238E27FC236}">
                <a16:creationId xmlns:a16="http://schemas.microsoft.com/office/drawing/2014/main" id="{CF093611-712A-41FF-B14C-3DBA470AE16C}"/>
              </a:ext>
            </a:extLst>
          </p:cNvPr>
          <p:cNvSpPr>
            <a:spLocks xmlns:a="http://schemas.openxmlformats.org/drawingml/2006/main" noGrp="1"/>
          </p:cNvSpPr>
          <p:nvPr/>
        </p:nvSpPr>
        <p:spPr>
          <a:xfrm xmlns:a="http://schemas.openxmlformats.org/drawingml/2006/main">
            <a:off x="8591550" y="3695700"/>
            <a:ext cx="95250" cy="9525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FC7D60D-6D45-4DD8-861A-DC097354E1B3}"/>
              </a:ext>
            </a:extLst>
          </p:cNvPr>
          <p:cNvSpPr>
            <a:spLocks xmlns:a="http://schemas.openxmlformats.org/drawingml/2006/main" noGrp="1"/>
          </p:cNvSpPr>
          <p:nvPr/>
        </p:nvSpPr>
        <p:spPr>
          <a:xfrm xmlns:a="http://schemas.openxmlformats.org/drawingml/2006/main">
            <a:off x="8820150" y="3629025"/>
            <a:ext cx="2476500" cy="4048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00" b="0">
                <a:solidFill>
                  <a:srgbClr val="39455A"/>
                </a:solidFill>
                <a:latin typeface="Aptos"/>
                <a:ea typeface="Aptos"/>
                <a:cs typeface="Aptos"/>
              </a:defRPr>
            </a:pPr>
            <a:r>
              <a:rPr sz="1800" b="0">
                <a:solidFill>
                  <a:srgbClr val="39455A"/>
                </a:solidFill>
                <a:latin typeface="Aptos"/>
                <a:ea typeface="Aptos"/>
                <a:cs typeface="Aptos"/>
              </a:rPr>
              <a:t>See coverage gaps</a:t>
            </a:r>
          </a:p>
        </p:txBody>
      </p:sp>
      <p:sp>
        <p:nvSpPr>
          <p:cNvPr id="16" name="">
            <a:extLst xmlns:a="http://schemas.openxmlformats.org/drawingml/2006/main">
              <a:ext uri="{FF2B5EF4-FFF2-40B4-BE49-F238E27FC236}">
                <a16:creationId xmlns:a16="http://schemas.microsoft.com/office/drawing/2014/main" id="{2BB00392-71BC-4E82-9786-A32B1D7F1E3A}"/>
              </a:ext>
            </a:extLst>
          </p:cNvPr>
          <p:cNvSpPr>
            <a:spLocks xmlns:a="http://schemas.openxmlformats.org/drawingml/2006/main" noGrp="1"/>
          </p:cNvSpPr>
          <p:nvPr/>
        </p:nvSpPr>
        <p:spPr>
          <a:xfrm xmlns:a="http://schemas.openxmlformats.org/drawingml/2006/main">
            <a:off x="8591550" y="4271963"/>
            <a:ext cx="95250" cy="9525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25AE1BD-110A-4A6D-B6F6-D88B8EFE81AF}"/>
              </a:ext>
            </a:extLst>
          </p:cNvPr>
          <p:cNvSpPr>
            <a:spLocks xmlns:a="http://schemas.openxmlformats.org/drawingml/2006/main" noGrp="1"/>
          </p:cNvSpPr>
          <p:nvPr/>
        </p:nvSpPr>
        <p:spPr>
          <a:xfrm xmlns:a="http://schemas.openxmlformats.org/drawingml/2006/main">
            <a:off x="8820150" y="4205288"/>
            <a:ext cx="2476500" cy="4048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00" b="0">
                <a:solidFill>
                  <a:srgbClr val="39455A"/>
                </a:solidFill>
                <a:latin typeface="Aptos"/>
                <a:ea typeface="Aptos"/>
                <a:cs typeface="Aptos"/>
              </a:defRPr>
            </a:pPr>
            <a:r>
              <a:rPr sz="1800" b="0">
                <a:solidFill>
                  <a:srgbClr val="39455A"/>
                </a:solidFill>
                <a:latin typeface="Aptos"/>
                <a:ea typeface="Aptos"/>
                <a:cs typeface="Aptos"/>
              </a:rPr>
              <a:t>Plan data collection</a:t>
            </a:r>
          </a:p>
        </p:txBody>
      </p:sp>
      <p:sp>
        <p:nvSpPr>
          <p:cNvPr id="18" name="">
            <a:extLst xmlns:a="http://schemas.openxmlformats.org/drawingml/2006/main">
              <a:ext uri="{FF2B5EF4-FFF2-40B4-BE49-F238E27FC236}">
                <a16:creationId xmlns:a16="http://schemas.microsoft.com/office/drawing/2014/main" id="{69474008-DCBA-4868-9698-CF917834D14F}"/>
              </a:ext>
            </a:extLst>
          </p:cNvPr>
          <p:cNvSpPr>
            <a:spLocks xmlns:a="http://schemas.openxmlformats.org/drawingml/2006/main" noGrp="1"/>
          </p:cNvSpPr>
          <p:nvPr/>
        </p:nvSpPr>
        <p:spPr>
          <a:xfrm xmlns:a="http://schemas.openxmlformats.org/drawingml/2006/main">
            <a:off x="400050" y="5257800"/>
            <a:ext cx="7524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691"/>
          </a:bodyPr>
          <a:lstStyle xmlns:a="http://schemas.openxmlformats.org/drawingml/2006/main"/>
          <a:p xmlns:a="http://schemas.openxmlformats.org/drawingml/2006/main">
            <a:pPr algn="l">
              <a:buNone/>
              <a:defRPr sz="2025" b="1">
                <a:solidFill>
                  <a:srgbClr val="347A4A"/>
                </a:solidFill>
                <a:latin typeface="Aptos"/>
                <a:ea typeface="Aptos"/>
                <a:cs typeface="Aptos"/>
              </a:defRPr>
            </a:pPr>
            <a:r>
              <a:rPr sz="2025" b="1">
                <a:solidFill>
                  <a:srgbClr val="347A4A"/>
                </a:solidFill>
                <a:latin typeface="Aptos"/>
                <a:ea typeface="Aptos"/>
                <a:cs typeface="Aptos"/>
              </a:rPr>
              <a:t>Clinic location evaluation is the reference use case, not the boundary of the platform.</a:t>
            </a:r>
          </a:p>
        </p:txBody>
      </p:sp>
    </p:spTree>
    <p:extLst>
      <p:ext uri="{BB962C8B-B14F-4D97-AF65-F5344CB8AC3E}">
        <p14:creationId xmlns:p14="http://schemas.microsoft.com/office/powerpoint/2010/main" val="26302310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F6BDA6EF-7C78-4062-8B50-8CAEC27BEBA0}"/>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FUTURE OPERATING MODEL</a:t>
            </a:r>
          </a:p>
        </p:txBody>
      </p:sp>
      <p:sp>
        <p:nvSpPr>
          <p:cNvPr id="2" name="">
            <a:extLst xmlns:a="http://schemas.openxmlformats.org/drawingml/2006/main">
              <a:ext uri="{FF2B5EF4-FFF2-40B4-BE49-F238E27FC236}">
                <a16:creationId xmlns:a16="http://schemas.microsoft.com/office/drawing/2014/main" id="{FE158C76-52EC-42F0-B662-83D181328F1E}"/>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3516"/>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A common evidence workflow supports many opportunity types</a:t>
            </a:r>
          </a:p>
        </p:txBody>
      </p:sp>
      <p:sp>
        <p:nvSpPr>
          <p:cNvPr id="3" name="">
            <a:extLst xmlns:a="http://schemas.openxmlformats.org/drawingml/2006/main">
              <a:ext uri="{FF2B5EF4-FFF2-40B4-BE49-F238E27FC236}">
                <a16:creationId xmlns:a16="http://schemas.microsoft.com/office/drawing/2014/main" id="{22E681D0-5E6E-43B5-B2E0-E7B32636206E}"/>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FE5B145-D984-4BE5-A7E4-878875BFD0A0}"/>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Sources: user direction; market opportunity transition brief</a:t>
            </a:r>
          </a:p>
        </p:txBody>
      </p:sp>
      <p:sp>
        <p:nvSpPr>
          <p:cNvPr id="5" name="">
            <a:extLst xmlns:a="http://schemas.openxmlformats.org/drawingml/2006/main">
              <a:ext uri="{FF2B5EF4-FFF2-40B4-BE49-F238E27FC236}">
                <a16:creationId xmlns:a16="http://schemas.microsoft.com/office/drawing/2014/main" id="{442A5705-58A4-4E93-BC9C-902C6540CFDF}"/>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09</a:t>
            </a:r>
          </a:p>
        </p:txBody>
      </p:sp>
      <p:sp>
        <p:nvSpPr>
          <p:cNvPr id="6" name="">
            <a:extLst xmlns:a="http://schemas.openxmlformats.org/drawingml/2006/main">
              <a:ext uri="{FF2B5EF4-FFF2-40B4-BE49-F238E27FC236}">
                <a16:creationId xmlns:a16="http://schemas.microsoft.com/office/drawing/2014/main" id="{928633C5-4708-4B28-A4A8-9C37C7C309A6}"/>
              </a:ext>
            </a:extLst>
          </p:cNvPr>
          <p:cNvSpPr>
            <a:spLocks xmlns:a="http://schemas.openxmlformats.org/drawingml/2006/main" noGrp="1"/>
          </p:cNvSpPr>
          <p:nvPr/>
        </p:nvSpPr>
        <p:spPr>
          <a:xfrm xmlns:a="http://schemas.openxmlformats.org/drawingml/2006/main">
            <a:off x="400050" y="2038350"/>
            <a:ext cx="2505075" cy="1790700"/>
          </a:xfrm>
          <a:prstGeom xmlns:a="http://schemas.openxmlformats.org/drawingml/2006/main" prst="roundRect">
            <a:avLst>
              <a:gd name="adj" fmla="val 9574"/>
            </a:avLst>
          </a:prstGeom>
          <a:solidFill xmlns:a="http://schemas.openxmlformats.org/drawingml/2006/main">
            <a:srgbClr val="EDF3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7E01C4C-8163-4642-9E79-0CF305684765}"/>
              </a:ext>
            </a:extLst>
          </p:cNvPr>
          <p:cNvSpPr>
            <a:spLocks xmlns:a="http://schemas.openxmlformats.org/drawingml/2006/main" noGrp="1"/>
          </p:cNvSpPr>
          <p:nvPr/>
        </p:nvSpPr>
        <p:spPr>
          <a:xfrm xmlns:a="http://schemas.openxmlformats.org/drawingml/2006/main">
            <a:off x="609600" y="22098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1">
                <a:solidFill>
                  <a:srgbClr val="2D5BFF"/>
                </a:solidFill>
                <a:latin typeface="Aptos"/>
                <a:ea typeface="Aptos"/>
                <a:cs typeface="Aptos"/>
              </a:defRPr>
            </a:pPr>
            <a:r>
              <a:rPr sz="1125" b="1">
                <a:solidFill>
                  <a:srgbClr val="2D5BFF"/>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53FD5CEE-7D1C-488E-90CF-DBAF807A43A8}"/>
              </a:ext>
            </a:extLst>
          </p:cNvPr>
          <p:cNvSpPr>
            <a:spLocks xmlns:a="http://schemas.openxmlformats.org/drawingml/2006/main" noGrp="1"/>
          </p:cNvSpPr>
          <p:nvPr/>
        </p:nvSpPr>
        <p:spPr>
          <a:xfrm xmlns:a="http://schemas.openxmlformats.org/drawingml/2006/main">
            <a:off x="609600" y="2628900"/>
            <a:ext cx="20859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025" b="1">
                <a:solidFill>
                  <a:srgbClr val="13213A"/>
                </a:solidFill>
                <a:latin typeface="Aptos"/>
                <a:ea typeface="Aptos"/>
                <a:cs typeface="Aptos"/>
              </a:defRPr>
            </a:pPr>
            <a:r>
              <a:rPr sz="2025" b="1">
                <a:solidFill>
                  <a:srgbClr val="13213A"/>
                </a:solidFill>
                <a:latin typeface="Aptos"/>
                <a:ea typeface="Aptos"/>
                <a:cs typeface="Aptos"/>
              </a:rPr>
              <a:t>Opportunity</a:t>
            </a:r>
          </a:p>
        </p:txBody>
      </p:sp>
      <p:sp>
        <p:nvSpPr>
          <p:cNvPr id="9" name="">
            <a:extLst xmlns:a="http://schemas.openxmlformats.org/drawingml/2006/main">
              <a:ext uri="{FF2B5EF4-FFF2-40B4-BE49-F238E27FC236}">
                <a16:creationId xmlns:a16="http://schemas.microsoft.com/office/drawing/2014/main" id="{03741E1E-7531-4E80-8536-8A64D157D044}"/>
              </a:ext>
            </a:extLst>
          </p:cNvPr>
          <p:cNvSpPr>
            <a:spLocks xmlns:a="http://schemas.openxmlformats.org/drawingml/2006/main" noGrp="1"/>
          </p:cNvSpPr>
          <p:nvPr/>
        </p:nvSpPr>
        <p:spPr>
          <a:xfrm xmlns:a="http://schemas.openxmlformats.org/drawingml/2006/main">
            <a:off x="609600" y="3219450"/>
            <a:ext cx="20859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103"/>
          </a:bodyPr>
          <a:lstStyle xmlns:a="http://schemas.openxmlformats.org/drawingml/2006/main"/>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Define the sector, customer, region,</a:t>
            </a:r>
          </a:p>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and online, offline, or hybrid mode</a:t>
            </a:r>
          </a:p>
        </p:txBody>
      </p:sp>
      <p:sp>
        <p:nvSpPr>
          <p:cNvPr id="10" name="">
            <a:extLst xmlns:a="http://schemas.openxmlformats.org/drawingml/2006/main">
              <a:ext uri="{FF2B5EF4-FFF2-40B4-BE49-F238E27FC236}">
                <a16:creationId xmlns:a16="http://schemas.microsoft.com/office/drawing/2014/main" id="{9EC65A94-9245-4C1B-A179-921F54577920}"/>
              </a:ext>
            </a:extLst>
          </p:cNvPr>
          <p:cNvSpPr>
            <a:spLocks xmlns:a="http://schemas.openxmlformats.org/drawingml/2006/main" noGrp="1"/>
          </p:cNvSpPr>
          <p:nvPr/>
        </p:nvSpPr>
        <p:spPr>
          <a:xfrm xmlns:a="http://schemas.openxmlformats.org/drawingml/2006/main">
            <a:off x="3209925" y="2038350"/>
            <a:ext cx="2505075" cy="1790700"/>
          </a:xfrm>
          <a:prstGeom xmlns:a="http://schemas.openxmlformats.org/drawingml/2006/main" prst="roundRect">
            <a:avLst>
              <a:gd name="adj" fmla="val 9574"/>
            </a:avLst>
          </a:prstGeom>
          <a:solidFill xmlns:a="http://schemas.openxmlformats.org/drawingml/2006/main">
            <a:srgbClr val="EDF7F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2784922-C9AD-4FAA-A815-1590FFC1C687}"/>
              </a:ext>
            </a:extLst>
          </p:cNvPr>
          <p:cNvSpPr>
            <a:spLocks xmlns:a="http://schemas.openxmlformats.org/drawingml/2006/main" noGrp="1"/>
          </p:cNvSpPr>
          <p:nvPr/>
        </p:nvSpPr>
        <p:spPr>
          <a:xfrm xmlns:a="http://schemas.openxmlformats.org/drawingml/2006/main">
            <a:off x="3419475" y="22098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1">
                <a:solidFill>
                  <a:srgbClr val="347A4A"/>
                </a:solidFill>
                <a:latin typeface="Aptos"/>
                <a:ea typeface="Aptos"/>
                <a:cs typeface="Aptos"/>
              </a:defRPr>
            </a:pPr>
            <a:r>
              <a:rPr sz="1125" b="1">
                <a:solidFill>
                  <a:srgbClr val="347A4A"/>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FA32448B-FAD2-46F8-8DEB-E1511038198A}"/>
              </a:ext>
            </a:extLst>
          </p:cNvPr>
          <p:cNvSpPr>
            <a:spLocks xmlns:a="http://schemas.openxmlformats.org/drawingml/2006/main" noGrp="1"/>
          </p:cNvSpPr>
          <p:nvPr/>
        </p:nvSpPr>
        <p:spPr>
          <a:xfrm xmlns:a="http://schemas.openxmlformats.org/drawingml/2006/main">
            <a:off x="3419475" y="2628900"/>
            <a:ext cx="20859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435"/>
          </a:bodyPr>
          <a:lstStyle xmlns:a="http://schemas.openxmlformats.org/drawingml/2006/main"/>
          <a:p xmlns:a="http://schemas.openxmlformats.org/drawingml/2006/main">
            <a:pPr algn="l">
              <a:buNone/>
              <a:defRPr sz="2025" b="1">
                <a:solidFill>
                  <a:srgbClr val="13213A"/>
                </a:solidFill>
                <a:latin typeface="Aptos"/>
                <a:ea typeface="Aptos"/>
                <a:cs typeface="Aptos"/>
              </a:defRPr>
            </a:pPr>
            <a:r>
              <a:rPr sz="2025" b="1">
                <a:solidFill>
                  <a:srgbClr val="13213A"/>
                </a:solidFill>
                <a:latin typeface="Aptos"/>
                <a:ea typeface="Aptos"/>
                <a:cs typeface="Aptos"/>
              </a:rPr>
              <a:t>Regional evidence</a:t>
            </a:r>
          </a:p>
        </p:txBody>
      </p:sp>
      <p:sp>
        <p:nvSpPr>
          <p:cNvPr id="13" name="">
            <a:extLst xmlns:a="http://schemas.openxmlformats.org/drawingml/2006/main">
              <a:ext uri="{FF2B5EF4-FFF2-40B4-BE49-F238E27FC236}">
                <a16:creationId xmlns:a16="http://schemas.microsoft.com/office/drawing/2014/main" id="{3C6C5224-D7D2-48C7-A85B-2C816BF3736D}"/>
              </a:ext>
            </a:extLst>
          </p:cNvPr>
          <p:cNvSpPr>
            <a:spLocks xmlns:a="http://schemas.openxmlformats.org/drawingml/2006/main" noGrp="1"/>
          </p:cNvSpPr>
          <p:nvPr/>
        </p:nvSpPr>
        <p:spPr>
          <a:xfrm xmlns:a="http://schemas.openxmlformats.org/drawingml/2006/main">
            <a:off x="3419475" y="3219450"/>
            <a:ext cx="20859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114"/>
          </a:bodyPr>
          <a:lstStyle xmlns:a="http://schemas.openxmlformats.org/drawingml/2006/main"/>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Join governed internal and external</a:t>
            </a:r>
          </a:p>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sources with provenance</a:t>
            </a:r>
          </a:p>
        </p:txBody>
      </p:sp>
      <p:sp>
        <p:nvSpPr>
          <p:cNvPr id="14" name="">
            <a:extLst xmlns:a="http://schemas.openxmlformats.org/drawingml/2006/main">
              <a:ext uri="{FF2B5EF4-FFF2-40B4-BE49-F238E27FC236}">
                <a16:creationId xmlns:a16="http://schemas.microsoft.com/office/drawing/2014/main" id="{017CF458-7B56-45AF-975D-9E7C55834755}"/>
              </a:ext>
            </a:extLst>
          </p:cNvPr>
          <p:cNvSpPr>
            <a:spLocks xmlns:a="http://schemas.openxmlformats.org/drawingml/2006/main" noGrp="1"/>
          </p:cNvSpPr>
          <p:nvPr/>
        </p:nvSpPr>
        <p:spPr>
          <a:xfrm xmlns:a="http://schemas.openxmlformats.org/drawingml/2006/main">
            <a:off x="6019800" y="2038350"/>
            <a:ext cx="2505075" cy="1790700"/>
          </a:xfrm>
          <a:prstGeom xmlns:a="http://schemas.openxmlformats.org/drawingml/2006/main" prst="roundRect">
            <a:avLst>
              <a:gd name="adj" fmla="val 9574"/>
            </a:avLst>
          </a:prstGeom>
          <a:solidFill xmlns:a="http://schemas.openxmlformats.org/drawingml/2006/main">
            <a:srgbClr val="FFF5D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5C99FE9-D4B2-489C-B683-8E0B0E0F2EEB}"/>
              </a:ext>
            </a:extLst>
          </p:cNvPr>
          <p:cNvSpPr>
            <a:spLocks xmlns:a="http://schemas.openxmlformats.org/drawingml/2006/main" noGrp="1"/>
          </p:cNvSpPr>
          <p:nvPr/>
        </p:nvSpPr>
        <p:spPr>
          <a:xfrm xmlns:a="http://schemas.openxmlformats.org/drawingml/2006/main">
            <a:off x="6229350" y="22098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1">
                <a:solidFill>
                  <a:srgbClr val="A56A00"/>
                </a:solidFill>
                <a:latin typeface="Aptos"/>
                <a:ea typeface="Aptos"/>
                <a:cs typeface="Aptos"/>
              </a:defRPr>
            </a:pPr>
            <a:r>
              <a:rPr sz="1125" b="1">
                <a:solidFill>
                  <a:srgbClr val="A56A00"/>
                </a:solidFill>
                <a:latin typeface="Aptos"/>
                <a:ea typeface="Aptos"/>
                <a:cs typeface="Aptos"/>
              </a:rPr>
              <a:t>03</a:t>
            </a:r>
          </a:p>
        </p:txBody>
      </p:sp>
      <p:sp>
        <p:nvSpPr>
          <p:cNvPr id="16" name="">
            <a:extLst xmlns:a="http://schemas.openxmlformats.org/drawingml/2006/main">
              <a:ext uri="{FF2B5EF4-FFF2-40B4-BE49-F238E27FC236}">
                <a16:creationId xmlns:a16="http://schemas.microsoft.com/office/drawing/2014/main" id="{4380A42B-00DD-44D4-B6CE-BDF29406968F}"/>
              </a:ext>
            </a:extLst>
          </p:cNvPr>
          <p:cNvSpPr>
            <a:spLocks xmlns:a="http://schemas.openxmlformats.org/drawingml/2006/main" noGrp="1"/>
          </p:cNvSpPr>
          <p:nvPr/>
        </p:nvSpPr>
        <p:spPr>
          <a:xfrm xmlns:a="http://schemas.openxmlformats.org/drawingml/2006/main">
            <a:off x="6229350" y="2628900"/>
            <a:ext cx="20859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025" b="1">
                <a:solidFill>
                  <a:srgbClr val="13213A"/>
                </a:solidFill>
                <a:latin typeface="Aptos"/>
                <a:ea typeface="Aptos"/>
                <a:cs typeface="Aptos"/>
              </a:defRPr>
            </a:pPr>
            <a:r>
              <a:rPr sz="2025" b="1">
                <a:solidFill>
                  <a:srgbClr val="13213A"/>
                </a:solidFill>
                <a:latin typeface="Aptos"/>
                <a:ea typeface="Aptos"/>
                <a:cs typeface="Aptos"/>
              </a:rPr>
              <a:t>Insights + gaps</a:t>
            </a:r>
          </a:p>
        </p:txBody>
      </p:sp>
      <p:sp>
        <p:nvSpPr>
          <p:cNvPr id="17" name="">
            <a:extLst xmlns:a="http://schemas.openxmlformats.org/drawingml/2006/main">
              <a:ext uri="{FF2B5EF4-FFF2-40B4-BE49-F238E27FC236}">
                <a16:creationId xmlns:a16="http://schemas.microsoft.com/office/drawing/2014/main" id="{713035BE-4012-4B10-98C9-D89DC0D6BB7D}"/>
              </a:ext>
            </a:extLst>
          </p:cNvPr>
          <p:cNvSpPr>
            <a:spLocks xmlns:a="http://schemas.openxmlformats.org/drawingml/2006/main" noGrp="1"/>
          </p:cNvSpPr>
          <p:nvPr/>
        </p:nvSpPr>
        <p:spPr>
          <a:xfrm xmlns:a="http://schemas.openxmlformats.org/drawingml/2006/main">
            <a:off x="6229350" y="3219450"/>
            <a:ext cx="20859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442"/>
          </a:bodyPr>
          <a:lstStyle xmlns:a="http://schemas.openxmlformats.org/drawingml/2006/main"/>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Surface signals, evidence gaps,</a:t>
            </a:r>
          </a:p>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and data collection priorities</a:t>
            </a:r>
          </a:p>
        </p:txBody>
      </p:sp>
      <p:sp>
        <p:nvSpPr>
          <p:cNvPr id="18" name="">
            <a:extLst xmlns:a="http://schemas.openxmlformats.org/drawingml/2006/main">
              <a:ext uri="{FF2B5EF4-FFF2-40B4-BE49-F238E27FC236}">
                <a16:creationId xmlns:a16="http://schemas.microsoft.com/office/drawing/2014/main" id="{D68DA382-7DF0-4B45-94A2-B179AEB4CC01}"/>
              </a:ext>
            </a:extLst>
          </p:cNvPr>
          <p:cNvSpPr>
            <a:spLocks xmlns:a="http://schemas.openxmlformats.org/drawingml/2006/main" noGrp="1"/>
          </p:cNvSpPr>
          <p:nvPr/>
        </p:nvSpPr>
        <p:spPr>
          <a:xfrm xmlns:a="http://schemas.openxmlformats.org/drawingml/2006/main">
            <a:off x="8829675" y="2038350"/>
            <a:ext cx="2962275" cy="1790700"/>
          </a:xfrm>
          <a:prstGeom xmlns:a="http://schemas.openxmlformats.org/drawingml/2006/main" prst="roundRect">
            <a:avLst>
              <a:gd name="adj" fmla="val 9574"/>
            </a:avLst>
          </a:prstGeom>
          <a:solidFill xmlns:a="http://schemas.openxmlformats.org/drawingml/2006/main">
            <a:srgbClr val="FCEEEE"/>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90F6561-9C17-4DD9-B000-DFFC056555C2}"/>
              </a:ext>
            </a:extLst>
          </p:cNvPr>
          <p:cNvSpPr>
            <a:spLocks xmlns:a="http://schemas.openxmlformats.org/drawingml/2006/main" noGrp="1"/>
          </p:cNvSpPr>
          <p:nvPr/>
        </p:nvSpPr>
        <p:spPr>
          <a:xfrm xmlns:a="http://schemas.openxmlformats.org/drawingml/2006/main">
            <a:off x="9039225" y="22098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1">
                <a:solidFill>
                  <a:srgbClr val="9A4040"/>
                </a:solidFill>
                <a:latin typeface="Aptos"/>
                <a:ea typeface="Aptos"/>
                <a:cs typeface="Aptos"/>
              </a:defRPr>
            </a:pPr>
            <a:r>
              <a:rPr sz="1125" b="1">
                <a:solidFill>
                  <a:srgbClr val="9A4040"/>
                </a:solidFill>
                <a:latin typeface="Aptos"/>
                <a:ea typeface="Aptos"/>
                <a:cs typeface="Aptos"/>
              </a:rPr>
              <a:t>04</a:t>
            </a:r>
          </a:p>
        </p:txBody>
      </p:sp>
      <p:sp>
        <p:nvSpPr>
          <p:cNvPr id="20" name="">
            <a:extLst xmlns:a="http://schemas.openxmlformats.org/drawingml/2006/main">
              <a:ext uri="{FF2B5EF4-FFF2-40B4-BE49-F238E27FC236}">
                <a16:creationId xmlns:a16="http://schemas.microsoft.com/office/drawing/2014/main" id="{E2A5AF32-3FFB-47E6-8425-FABBED6CF501}"/>
              </a:ext>
            </a:extLst>
          </p:cNvPr>
          <p:cNvSpPr>
            <a:spLocks xmlns:a="http://schemas.openxmlformats.org/drawingml/2006/main" noGrp="1"/>
          </p:cNvSpPr>
          <p:nvPr/>
        </p:nvSpPr>
        <p:spPr>
          <a:xfrm xmlns:a="http://schemas.openxmlformats.org/drawingml/2006/main">
            <a:off x="9039225" y="2628900"/>
            <a:ext cx="25431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025" b="1">
                <a:solidFill>
                  <a:srgbClr val="13213A"/>
                </a:solidFill>
                <a:latin typeface="Aptos"/>
                <a:ea typeface="Aptos"/>
                <a:cs typeface="Aptos"/>
              </a:defRPr>
            </a:pPr>
            <a:r>
              <a:rPr sz="2025" b="1">
                <a:solidFill>
                  <a:srgbClr val="13213A"/>
                </a:solidFill>
                <a:latin typeface="Aptos"/>
                <a:ea typeface="Aptos"/>
                <a:cs typeface="Aptos"/>
              </a:rPr>
              <a:t>Action</a:t>
            </a:r>
          </a:p>
        </p:txBody>
      </p:sp>
      <p:sp>
        <p:nvSpPr>
          <p:cNvPr id="21" name="">
            <a:extLst xmlns:a="http://schemas.openxmlformats.org/drawingml/2006/main">
              <a:ext uri="{FF2B5EF4-FFF2-40B4-BE49-F238E27FC236}">
                <a16:creationId xmlns:a16="http://schemas.microsoft.com/office/drawing/2014/main" id="{FE1BE5E3-F862-41C7-BCA0-E7A41DFFD172}"/>
              </a:ext>
            </a:extLst>
          </p:cNvPr>
          <p:cNvSpPr>
            <a:spLocks xmlns:a="http://schemas.openxmlformats.org/drawingml/2006/main" noGrp="1"/>
          </p:cNvSpPr>
          <p:nvPr/>
        </p:nvSpPr>
        <p:spPr>
          <a:xfrm xmlns:a="http://schemas.openxmlformats.org/drawingml/2006/main">
            <a:off x="9039225" y="3219450"/>
            <a:ext cx="25431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889"/>
          </a:bodyPr>
          <a:lstStyle xmlns:a="http://schemas.openxmlformats.org/drawingml/2006/main"/>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Compare options and prepare</a:t>
            </a:r>
          </a:p>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a human-reviewed next step</a:t>
            </a:r>
          </a:p>
        </p:txBody>
      </p:sp>
      <p:sp>
        <p:nvSpPr>
          <p:cNvPr id="22" name="">
            <a:extLst xmlns:a="http://schemas.openxmlformats.org/drawingml/2006/main">
              <a:ext uri="{FF2B5EF4-FFF2-40B4-BE49-F238E27FC236}">
                <a16:creationId xmlns:a16="http://schemas.microsoft.com/office/drawing/2014/main" id="{0814DDA9-E6DF-44ED-AE3A-F4EBB182E7BD}"/>
              </a:ext>
            </a:extLst>
          </p:cNvPr>
          <p:cNvSpPr>
            <a:spLocks xmlns:a="http://schemas.openxmlformats.org/drawingml/2006/main" noGrp="1"/>
          </p:cNvSpPr>
          <p:nvPr/>
        </p:nvSpPr>
        <p:spPr>
          <a:xfrm xmlns:a="http://schemas.openxmlformats.org/drawingml/2006/main">
            <a:off x="3009900" y="2914650"/>
            <a:ext cx="95250" cy="38100"/>
          </a:xfrm>
          <a:prstGeom xmlns:a="http://schemas.openxmlformats.org/drawingml/2006/main" prst="rect">
            <a:avLst/>
          </a:prstGeom>
          <a:solidFill xmlns:a="http://schemas.openxmlformats.org/drawingml/2006/main">
            <a:srgbClr val="687386"/>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C75400DD-5371-443E-B728-7769B714BB28}"/>
              </a:ext>
            </a:extLst>
          </p:cNvPr>
          <p:cNvSpPr>
            <a:spLocks xmlns:a="http://schemas.openxmlformats.org/drawingml/2006/main" noGrp="1"/>
          </p:cNvSpPr>
          <p:nvPr/>
        </p:nvSpPr>
        <p:spPr>
          <a:xfrm xmlns:a="http://schemas.openxmlformats.org/drawingml/2006/main">
            <a:off x="3105150" y="2838450"/>
            <a:ext cx="114300" cy="190500"/>
          </a:xfrm>
          <a:prstGeom xmlns:a="http://schemas.openxmlformats.org/drawingml/2006/main" prst="rect">
            <a:avLst/>
          </a:prstGeom>
          <a:solidFill xmlns:a="http://schemas.openxmlformats.org/drawingml/2006/main">
            <a:srgbClr val="687386"/>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AF4445C-A64D-4882-8DDF-F053870AD260}"/>
              </a:ext>
            </a:extLst>
          </p:cNvPr>
          <p:cNvSpPr>
            <a:spLocks xmlns:a="http://schemas.openxmlformats.org/drawingml/2006/main" noGrp="1"/>
          </p:cNvSpPr>
          <p:nvPr/>
        </p:nvSpPr>
        <p:spPr>
          <a:xfrm xmlns:a="http://schemas.openxmlformats.org/drawingml/2006/main">
            <a:off x="5819775" y="2914650"/>
            <a:ext cx="95250" cy="38100"/>
          </a:xfrm>
          <a:prstGeom xmlns:a="http://schemas.openxmlformats.org/drawingml/2006/main" prst="rect">
            <a:avLst/>
          </a:prstGeom>
          <a:solidFill xmlns:a="http://schemas.openxmlformats.org/drawingml/2006/main">
            <a:srgbClr val="68738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D805317A-88A1-43E9-92BD-EDE7FCE54BD6}"/>
              </a:ext>
            </a:extLst>
          </p:cNvPr>
          <p:cNvSpPr>
            <a:spLocks xmlns:a="http://schemas.openxmlformats.org/drawingml/2006/main" noGrp="1"/>
          </p:cNvSpPr>
          <p:nvPr/>
        </p:nvSpPr>
        <p:spPr>
          <a:xfrm xmlns:a="http://schemas.openxmlformats.org/drawingml/2006/main">
            <a:off x="5915025" y="2838450"/>
            <a:ext cx="114300" cy="190500"/>
          </a:xfrm>
          <a:prstGeom xmlns:a="http://schemas.openxmlformats.org/drawingml/2006/main" prst="rect">
            <a:avLst/>
          </a:prstGeom>
          <a:solidFill xmlns:a="http://schemas.openxmlformats.org/drawingml/2006/main">
            <a:srgbClr val="687386"/>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6246114-8DE9-47C8-9804-CA0F20EC945B}"/>
              </a:ext>
            </a:extLst>
          </p:cNvPr>
          <p:cNvSpPr>
            <a:spLocks xmlns:a="http://schemas.openxmlformats.org/drawingml/2006/main" noGrp="1"/>
          </p:cNvSpPr>
          <p:nvPr/>
        </p:nvSpPr>
        <p:spPr>
          <a:xfrm xmlns:a="http://schemas.openxmlformats.org/drawingml/2006/main">
            <a:off x="8629650" y="2914650"/>
            <a:ext cx="95250" cy="38100"/>
          </a:xfrm>
          <a:prstGeom xmlns:a="http://schemas.openxmlformats.org/drawingml/2006/main" prst="rect">
            <a:avLst/>
          </a:prstGeom>
          <a:solidFill xmlns:a="http://schemas.openxmlformats.org/drawingml/2006/main">
            <a:srgbClr val="687386"/>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CEA74166-780E-4886-AE68-010B1A87D08E}"/>
              </a:ext>
            </a:extLst>
          </p:cNvPr>
          <p:cNvSpPr>
            <a:spLocks xmlns:a="http://schemas.openxmlformats.org/drawingml/2006/main" noGrp="1"/>
          </p:cNvSpPr>
          <p:nvPr/>
        </p:nvSpPr>
        <p:spPr>
          <a:xfrm xmlns:a="http://schemas.openxmlformats.org/drawingml/2006/main">
            <a:off x="8724900" y="2838450"/>
            <a:ext cx="114300" cy="190500"/>
          </a:xfrm>
          <a:prstGeom xmlns:a="http://schemas.openxmlformats.org/drawingml/2006/main" prst="rect">
            <a:avLst/>
          </a:prstGeom>
          <a:solidFill xmlns:a="http://schemas.openxmlformats.org/drawingml/2006/main">
            <a:srgbClr val="687386"/>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9D170B89-F1DE-4060-97B4-C45B4BC9D5C4}"/>
              </a:ext>
            </a:extLst>
          </p:cNvPr>
          <p:cNvSpPr>
            <a:spLocks xmlns:a="http://schemas.openxmlformats.org/drawingml/2006/main" noGrp="1"/>
          </p:cNvSpPr>
          <p:nvPr/>
        </p:nvSpPr>
        <p:spPr>
          <a:xfrm xmlns:a="http://schemas.openxmlformats.org/drawingml/2006/main">
            <a:off x="1047750" y="4476750"/>
            <a:ext cx="10096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760"/>
          </a:bodyPr>
          <a:lstStyle xmlns:a="http://schemas.openxmlformats.org/drawingml/2006/main"/>
          <a:p xmlns:a="http://schemas.openxmlformats.org/drawingml/2006/main">
            <a:pPr algn="ctr">
              <a:buNone/>
              <a:defRPr sz="2175" b="1">
                <a:solidFill>
                  <a:srgbClr val="1E43C8"/>
                </a:solidFill>
                <a:latin typeface="Aptos"/>
                <a:ea typeface="Aptos"/>
                <a:cs typeface="Aptos"/>
              </a:defRPr>
            </a:pPr>
            <a:r>
              <a:rPr sz="2175" b="1">
                <a:solidFill>
                  <a:srgbClr val="1E43C8"/>
                </a:solidFill>
                <a:latin typeface="Aptos"/>
                <a:ea typeface="Aptos"/>
                <a:cs typeface="Aptos"/>
              </a:rPr>
              <a:t>One workflow can support commerce, healthcare, services, operations, and future sectors.</a:t>
            </a:r>
          </a:p>
        </p:txBody>
      </p:sp>
    </p:spTree>
    <p:extLst>
      <p:ext uri="{BB962C8B-B14F-4D97-AF65-F5344CB8AC3E}">
        <p14:creationId xmlns:p14="http://schemas.microsoft.com/office/powerpoint/2010/main" val="23076650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4CDB08C1-9EFB-4D76-A463-3D9336B935DB}"/>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FUTURE HOME PAGE</a:t>
            </a:r>
          </a:p>
        </p:txBody>
      </p:sp>
      <p:sp>
        <p:nvSpPr>
          <p:cNvPr id="2" name="">
            <a:extLst xmlns:a="http://schemas.openxmlformats.org/drawingml/2006/main">
              <a:ext uri="{FF2B5EF4-FFF2-40B4-BE49-F238E27FC236}">
                <a16:creationId xmlns:a16="http://schemas.microsoft.com/office/drawing/2014/main" id="{67A1947D-2816-4D7B-994F-965D92843603}"/>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379"/>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One workspace connects regional opportunities, channels, and data gaps</a:t>
            </a:r>
          </a:p>
        </p:txBody>
      </p:sp>
      <p:sp>
        <p:nvSpPr>
          <p:cNvPr id="3" name="">
            <a:extLst xmlns:a="http://schemas.openxmlformats.org/drawingml/2006/main">
              <a:ext uri="{FF2B5EF4-FFF2-40B4-BE49-F238E27FC236}">
                <a16:creationId xmlns:a16="http://schemas.microsoft.com/office/drawing/2014/main" id="{D0AEB474-BD0C-4E86-9E89-ACC4CB06C2EA}"/>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08E33C0-E90D-46A1-AFD5-4069BCE07049}"/>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Illustrative future-state concept. Example sectors and signals only.</a:t>
            </a:r>
          </a:p>
        </p:txBody>
      </p:sp>
      <p:sp>
        <p:nvSpPr>
          <p:cNvPr id="5" name="">
            <a:extLst xmlns:a="http://schemas.openxmlformats.org/drawingml/2006/main">
              <a:ext uri="{FF2B5EF4-FFF2-40B4-BE49-F238E27FC236}">
                <a16:creationId xmlns:a16="http://schemas.microsoft.com/office/drawing/2014/main" id="{F2D06FB1-AE1D-4FFD-8A7D-C7EED75FF21C}"/>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10</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cf9c86c34b6b49a5"/>
          <a:stretch xmlns:a="http://schemas.openxmlformats.org/drawingml/2006/main"/>
        </p:blipFill>
        <p:spPr>
          <a:xfrm xmlns:a="http://schemas.openxmlformats.org/drawingml/2006/main" flipH="0" flipV="0">
            <a:off x="1636438" y="1333500"/>
            <a:ext cx="8919125" cy="5019675"/>
          </a:xfrm>
          <a:prstGeom xmlns:a="http://schemas.openxmlformats.org/drawingml/2006/main" prst="rect">
            <a:avLst/>
          </a:prstGeom>
        </p:spPr>
      </p:pic>
    </p:spTree>
    <p:extLst>
      <p:ext uri="{BB962C8B-B14F-4D97-AF65-F5344CB8AC3E}">
        <p14:creationId xmlns:p14="http://schemas.microsoft.com/office/powerpoint/2010/main" val="54985143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74099AD7-B488-4452-9AB6-374CF4A680FD}"/>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WHAT WE NEED TO VALIDATE</a:t>
            </a:r>
          </a:p>
        </p:txBody>
      </p:sp>
      <p:sp>
        <p:nvSpPr>
          <p:cNvPr id="2" name="">
            <a:extLst xmlns:a="http://schemas.openxmlformats.org/drawingml/2006/main">
              <a:ext uri="{FF2B5EF4-FFF2-40B4-BE49-F238E27FC236}">
                <a16:creationId xmlns:a16="http://schemas.microsoft.com/office/drawing/2014/main" id="{D916E7AB-13D1-4B35-A1C1-202519C20FAA}"/>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Five decisions define a bounded platform pilot</a:t>
            </a:r>
          </a:p>
        </p:txBody>
      </p:sp>
      <p:sp>
        <p:nvSpPr>
          <p:cNvPr id="3" name="">
            <a:extLst xmlns:a="http://schemas.openxmlformats.org/drawingml/2006/main">
              <a:ext uri="{FF2B5EF4-FFF2-40B4-BE49-F238E27FC236}">
                <a16:creationId xmlns:a16="http://schemas.microsoft.com/office/drawing/2014/main" id="{C1D0621C-D75B-41C8-B6E0-5AA5A2ECBBF8}"/>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9C90B3F-6D10-4F7F-B837-5C745ADA4A25}"/>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Sources: user direction; market opportunity transition brief</a:t>
            </a:r>
          </a:p>
        </p:txBody>
      </p:sp>
      <p:sp>
        <p:nvSpPr>
          <p:cNvPr id="5" name="">
            <a:extLst xmlns:a="http://schemas.openxmlformats.org/drawingml/2006/main">
              <a:ext uri="{FF2B5EF4-FFF2-40B4-BE49-F238E27FC236}">
                <a16:creationId xmlns:a16="http://schemas.microsoft.com/office/drawing/2014/main" id="{14C3E8BC-C82A-4E20-9B03-BB19CF27B40B}"/>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11</a:t>
            </a:r>
          </a:p>
        </p:txBody>
      </p:sp>
      <p:sp>
        <p:nvSpPr>
          <p:cNvPr id="6" name="">
            <a:extLst xmlns:a="http://schemas.openxmlformats.org/drawingml/2006/main">
              <a:ext uri="{FF2B5EF4-FFF2-40B4-BE49-F238E27FC236}">
                <a16:creationId xmlns:a16="http://schemas.microsoft.com/office/drawing/2014/main" id="{9D4F7F4E-3D17-48B5-AFDD-03CC583EE040}"/>
              </a:ext>
            </a:extLst>
          </p:cNvPr>
          <p:cNvSpPr>
            <a:spLocks xmlns:a="http://schemas.openxmlformats.org/drawingml/2006/main" noGrp="1"/>
          </p:cNvSpPr>
          <p:nvPr/>
        </p:nvSpPr>
        <p:spPr>
          <a:xfrm xmlns:a="http://schemas.openxmlformats.org/drawingml/2006/main">
            <a:off x="400050" y="1809750"/>
            <a:ext cx="1943100" cy="3333750"/>
          </a:xfrm>
          <a:prstGeom xmlns:a="http://schemas.openxmlformats.org/drawingml/2006/main" prst="roundRect">
            <a:avLst>
              <a:gd name="adj" fmla="val 8824"/>
            </a:avLst>
          </a:prstGeom>
          <a:solidFill xmlns:a="http://schemas.openxmlformats.org/drawingml/2006/main">
            <a:srgbClr val="EDF3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0F8AD2A-EBBD-4D40-AE11-2FAAEE74B06F}"/>
              </a:ext>
            </a:extLst>
          </p:cNvPr>
          <p:cNvSpPr>
            <a:spLocks xmlns:a="http://schemas.openxmlformats.org/drawingml/2006/main" noGrp="1"/>
          </p:cNvSpPr>
          <p:nvPr/>
        </p:nvSpPr>
        <p:spPr>
          <a:xfrm xmlns:a="http://schemas.openxmlformats.org/drawingml/2006/main">
            <a:off x="609600" y="2019300"/>
            <a:ext cx="419100" cy="41910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txBody>
          <a:bodyPr xmlns:a="http://schemas.openxmlformats.org/drawingml/2006/main" anchor="ctr">
            <a:normAutofit fontScale="81488"/>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DA280A53-F24F-4902-8F41-6DB8A4D8F360}"/>
              </a:ext>
            </a:extLst>
          </p:cNvPr>
          <p:cNvSpPr>
            <a:spLocks xmlns:a="http://schemas.openxmlformats.org/drawingml/2006/main" noGrp="1"/>
          </p:cNvSpPr>
          <p:nvPr/>
        </p:nvSpPr>
        <p:spPr>
          <a:xfrm xmlns:a="http://schemas.openxmlformats.org/drawingml/2006/main">
            <a:off x="609600" y="2724150"/>
            <a:ext cx="1524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75" b="1">
                <a:solidFill>
                  <a:srgbClr val="13213A"/>
                </a:solidFill>
                <a:latin typeface="Aptos"/>
                <a:ea typeface="Aptos"/>
                <a:cs typeface="Aptos"/>
              </a:defRPr>
            </a:pPr>
            <a:r>
              <a:rPr sz="1875" b="1">
                <a:solidFill>
                  <a:srgbClr val="13213A"/>
                </a:solidFill>
                <a:latin typeface="Aptos"/>
                <a:ea typeface="Aptos"/>
                <a:cs typeface="Aptos"/>
              </a:rPr>
              <a:t>Pilot</a:t>
            </a:r>
          </a:p>
          <a:p xmlns:a="http://schemas.openxmlformats.org/drawingml/2006/main">
            <a:pPr algn="l">
              <a:buNone/>
              <a:defRPr sz="1875" b="1">
                <a:solidFill>
                  <a:srgbClr val="13213A"/>
                </a:solidFill>
                <a:latin typeface="Aptos"/>
                <a:ea typeface="Aptos"/>
                <a:cs typeface="Aptos"/>
              </a:defRPr>
            </a:pPr>
            <a:r>
              <a:rPr sz="1875" b="1">
                <a:solidFill>
                  <a:srgbClr val="13213A"/>
                </a:solidFill>
                <a:latin typeface="Aptos"/>
                <a:ea typeface="Aptos"/>
                <a:cs typeface="Aptos"/>
              </a:rPr>
              <a:t>question</a:t>
            </a:r>
          </a:p>
        </p:txBody>
      </p:sp>
      <p:sp>
        <p:nvSpPr>
          <p:cNvPr id="9" name="">
            <a:extLst xmlns:a="http://schemas.openxmlformats.org/drawingml/2006/main">
              <a:ext uri="{FF2B5EF4-FFF2-40B4-BE49-F238E27FC236}">
                <a16:creationId xmlns:a16="http://schemas.microsoft.com/office/drawing/2014/main" id="{ADF18E7E-D3EC-4485-9491-C7C31ECECD48}"/>
              </a:ext>
            </a:extLst>
          </p:cNvPr>
          <p:cNvSpPr>
            <a:spLocks xmlns:a="http://schemas.openxmlformats.org/drawingml/2006/main" noGrp="1"/>
          </p:cNvSpPr>
          <p:nvPr/>
        </p:nvSpPr>
        <p:spPr>
          <a:xfrm xmlns:a="http://schemas.openxmlformats.org/drawingml/2006/main">
            <a:off x="609600" y="3695700"/>
            <a:ext cx="1524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One sector, one regional decision, and one accountable user</a:t>
            </a:r>
          </a:p>
        </p:txBody>
      </p:sp>
      <p:sp>
        <p:nvSpPr>
          <p:cNvPr id="10" name="">
            <a:extLst xmlns:a="http://schemas.openxmlformats.org/drawingml/2006/main">
              <a:ext uri="{FF2B5EF4-FFF2-40B4-BE49-F238E27FC236}">
                <a16:creationId xmlns:a16="http://schemas.microsoft.com/office/drawing/2014/main" id="{DC4FFE19-7E36-44DA-9152-729D5A710B79}"/>
              </a:ext>
            </a:extLst>
          </p:cNvPr>
          <p:cNvSpPr>
            <a:spLocks xmlns:a="http://schemas.openxmlformats.org/drawingml/2006/main" noGrp="1"/>
          </p:cNvSpPr>
          <p:nvPr/>
        </p:nvSpPr>
        <p:spPr>
          <a:xfrm xmlns:a="http://schemas.openxmlformats.org/drawingml/2006/main">
            <a:off x="2676525" y="1809750"/>
            <a:ext cx="1943100" cy="3333750"/>
          </a:xfrm>
          <a:prstGeom xmlns:a="http://schemas.openxmlformats.org/drawingml/2006/main" prst="roundRect">
            <a:avLst>
              <a:gd name="adj" fmla="val 8824"/>
            </a:avLst>
          </a:prstGeom>
          <a:solidFill xmlns:a="http://schemas.openxmlformats.org/drawingml/2006/main">
            <a:srgbClr val="EDF3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2DFAC32-18F9-44A4-AFCC-7166ADD0AFB4}"/>
              </a:ext>
            </a:extLst>
          </p:cNvPr>
          <p:cNvSpPr>
            <a:spLocks xmlns:a="http://schemas.openxmlformats.org/drawingml/2006/main" noGrp="1"/>
          </p:cNvSpPr>
          <p:nvPr/>
        </p:nvSpPr>
        <p:spPr>
          <a:xfrm xmlns:a="http://schemas.openxmlformats.org/drawingml/2006/main">
            <a:off x="2886075" y="2019300"/>
            <a:ext cx="419100" cy="41910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txBody>
          <a:bodyPr xmlns:a="http://schemas.openxmlformats.org/drawingml/2006/main" anchor="ctr">
            <a:normAutofit fontScale="81488"/>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2</a:t>
            </a:r>
          </a:p>
        </p:txBody>
      </p:sp>
      <p:sp>
        <p:nvSpPr>
          <p:cNvPr id="12" name="">
            <a:extLst xmlns:a="http://schemas.openxmlformats.org/drawingml/2006/main">
              <a:ext uri="{FF2B5EF4-FFF2-40B4-BE49-F238E27FC236}">
                <a16:creationId xmlns:a16="http://schemas.microsoft.com/office/drawing/2014/main" id="{F6D0E7EB-FB7B-446A-BEF6-65312FCD6E22}"/>
              </a:ext>
            </a:extLst>
          </p:cNvPr>
          <p:cNvSpPr>
            <a:spLocks xmlns:a="http://schemas.openxmlformats.org/drawingml/2006/main" noGrp="1"/>
          </p:cNvSpPr>
          <p:nvPr/>
        </p:nvSpPr>
        <p:spPr>
          <a:xfrm xmlns:a="http://schemas.openxmlformats.org/drawingml/2006/main">
            <a:off x="2886075" y="2724150"/>
            <a:ext cx="1524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75" b="1">
                <a:solidFill>
                  <a:srgbClr val="13213A"/>
                </a:solidFill>
                <a:latin typeface="Aptos"/>
                <a:ea typeface="Aptos"/>
                <a:cs typeface="Aptos"/>
              </a:defRPr>
            </a:pPr>
            <a:r>
              <a:rPr sz="1875" b="1">
                <a:solidFill>
                  <a:srgbClr val="13213A"/>
                </a:solidFill>
                <a:latin typeface="Aptos"/>
                <a:ea typeface="Aptos"/>
                <a:cs typeface="Aptos"/>
              </a:rPr>
              <a:t>Market</a:t>
            </a:r>
          </a:p>
          <a:p xmlns:a="http://schemas.openxmlformats.org/drawingml/2006/main">
            <a:pPr algn="l">
              <a:buNone/>
              <a:defRPr sz="1875" b="1">
                <a:solidFill>
                  <a:srgbClr val="13213A"/>
                </a:solidFill>
                <a:latin typeface="Aptos"/>
                <a:ea typeface="Aptos"/>
                <a:cs typeface="Aptos"/>
              </a:defRPr>
            </a:pPr>
            <a:r>
              <a:rPr sz="1875" b="1">
                <a:solidFill>
                  <a:srgbClr val="13213A"/>
                </a:solidFill>
                <a:latin typeface="Aptos"/>
                <a:ea typeface="Aptos"/>
                <a:cs typeface="Aptos"/>
              </a:rPr>
              <a:t>definition</a:t>
            </a:r>
          </a:p>
        </p:txBody>
      </p:sp>
      <p:sp>
        <p:nvSpPr>
          <p:cNvPr id="13" name="">
            <a:extLst xmlns:a="http://schemas.openxmlformats.org/drawingml/2006/main">
              <a:ext uri="{FF2B5EF4-FFF2-40B4-BE49-F238E27FC236}">
                <a16:creationId xmlns:a16="http://schemas.microsoft.com/office/drawing/2014/main" id="{34A0C56A-F998-4684-AD38-755F03552A81}"/>
              </a:ext>
            </a:extLst>
          </p:cNvPr>
          <p:cNvSpPr>
            <a:spLocks xmlns:a="http://schemas.openxmlformats.org/drawingml/2006/main" noGrp="1"/>
          </p:cNvSpPr>
          <p:nvPr/>
        </p:nvSpPr>
        <p:spPr>
          <a:xfrm xmlns:a="http://schemas.openxmlformats.org/drawingml/2006/main">
            <a:off x="2886075" y="3695700"/>
            <a:ext cx="1524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Approved regions, hierarchy, and comparison universe</a:t>
            </a:r>
          </a:p>
        </p:txBody>
      </p:sp>
      <p:sp>
        <p:nvSpPr>
          <p:cNvPr id="14" name="">
            <a:extLst xmlns:a="http://schemas.openxmlformats.org/drawingml/2006/main">
              <a:ext uri="{FF2B5EF4-FFF2-40B4-BE49-F238E27FC236}">
                <a16:creationId xmlns:a16="http://schemas.microsoft.com/office/drawing/2014/main" id="{8662E46C-7F53-4103-AB18-4EE3217C87A3}"/>
              </a:ext>
            </a:extLst>
          </p:cNvPr>
          <p:cNvSpPr>
            <a:spLocks xmlns:a="http://schemas.openxmlformats.org/drawingml/2006/main" noGrp="1"/>
          </p:cNvSpPr>
          <p:nvPr/>
        </p:nvSpPr>
        <p:spPr>
          <a:xfrm xmlns:a="http://schemas.openxmlformats.org/drawingml/2006/main">
            <a:off x="4953000" y="1809750"/>
            <a:ext cx="1943100" cy="3333750"/>
          </a:xfrm>
          <a:prstGeom xmlns:a="http://schemas.openxmlformats.org/drawingml/2006/main" prst="roundRect">
            <a:avLst>
              <a:gd name="adj" fmla="val 8824"/>
            </a:avLst>
          </a:prstGeom>
          <a:solidFill xmlns:a="http://schemas.openxmlformats.org/drawingml/2006/main">
            <a:srgbClr val="FFF5D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7887ECE-1A51-44AE-8ACA-A759E3667688}"/>
              </a:ext>
            </a:extLst>
          </p:cNvPr>
          <p:cNvSpPr>
            <a:spLocks xmlns:a="http://schemas.openxmlformats.org/drawingml/2006/main" noGrp="1"/>
          </p:cNvSpPr>
          <p:nvPr/>
        </p:nvSpPr>
        <p:spPr>
          <a:xfrm xmlns:a="http://schemas.openxmlformats.org/drawingml/2006/main">
            <a:off x="5162550" y="2019300"/>
            <a:ext cx="419100" cy="41910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txBody>
          <a:bodyPr xmlns:a="http://schemas.openxmlformats.org/drawingml/2006/main" anchor="ctr">
            <a:normAutofit fontScale="81488"/>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3</a:t>
            </a:r>
          </a:p>
        </p:txBody>
      </p:sp>
      <p:sp>
        <p:nvSpPr>
          <p:cNvPr id="16" name="">
            <a:extLst xmlns:a="http://schemas.openxmlformats.org/drawingml/2006/main">
              <a:ext uri="{FF2B5EF4-FFF2-40B4-BE49-F238E27FC236}">
                <a16:creationId xmlns:a16="http://schemas.microsoft.com/office/drawing/2014/main" id="{5F165645-74B3-4479-9F9E-0C9C12348830}"/>
              </a:ext>
            </a:extLst>
          </p:cNvPr>
          <p:cNvSpPr>
            <a:spLocks xmlns:a="http://schemas.openxmlformats.org/drawingml/2006/main" noGrp="1"/>
          </p:cNvSpPr>
          <p:nvPr/>
        </p:nvSpPr>
        <p:spPr>
          <a:xfrm xmlns:a="http://schemas.openxmlformats.org/drawingml/2006/main">
            <a:off x="5162550" y="2724150"/>
            <a:ext cx="1524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75" b="1">
                <a:solidFill>
                  <a:srgbClr val="13213A"/>
                </a:solidFill>
                <a:latin typeface="Aptos"/>
                <a:ea typeface="Aptos"/>
                <a:cs typeface="Aptos"/>
              </a:defRPr>
            </a:pPr>
            <a:r>
              <a:rPr sz="1875" b="1">
                <a:solidFill>
                  <a:srgbClr val="13213A"/>
                </a:solidFill>
                <a:latin typeface="Aptos"/>
                <a:ea typeface="Aptos"/>
                <a:cs typeface="Aptos"/>
              </a:rPr>
              <a:t>Channel</a:t>
            </a:r>
          </a:p>
          <a:p xmlns:a="http://schemas.openxmlformats.org/drawingml/2006/main">
            <a:pPr algn="l">
              <a:buNone/>
              <a:defRPr sz="1875" b="1">
                <a:solidFill>
                  <a:srgbClr val="13213A"/>
                </a:solidFill>
                <a:latin typeface="Aptos"/>
                <a:ea typeface="Aptos"/>
                <a:cs typeface="Aptos"/>
              </a:defRPr>
            </a:pPr>
            <a:r>
              <a:rPr sz="1875" b="1">
                <a:solidFill>
                  <a:srgbClr val="13213A"/>
                </a:solidFill>
                <a:latin typeface="Aptos"/>
                <a:ea typeface="Aptos"/>
                <a:cs typeface="Aptos"/>
              </a:rPr>
              <a:t>model</a:t>
            </a:r>
          </a:p>
        </p:txBody>
      </p:sp>
      <p:sp>
        <p:nvSpPr>
          <p:cNvPr id="17" name="">
            <a:extLst xmlns:a="http://schemas.openxmlformats.org/drawingml/2006/main">
              <a:ext uri="{FF2B5EF4-FFF2-40B4-BE49-F238E27FC236}">
                <a16:creationId xmlns:a16="http://schemas.microsoft.com/office/drawing/2014/main" id="{D5EC6784-0C91-4F06-93B7-3A06BCAE84FF}"/>
              </a:ext>
            </a:extLst>
          </p:cNvPr>
          <p:cNvSpPr>
            <a:spLocks xmlns:a="http://schemas.openxmlformats.org/drawingml/2006/main" noGrp="1"/>
          </p:cNvSpPr>
          <p:nvPr/>
        </p:nvSpPr>
        <p:spPr>
          <a:xfrm xmlns:a="http://schemas.openxmlformats.org/drawingml/2006/main">
            <a:off x="5162550" y="3695700"/>
            <a:ext cx="1524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Clear meanings for online, offline, and hybrid signals</a:t>
            </a:r>
          </a:p>
        </p:txBody>
      </p:sp>
      <p:sp>
        <p:nvSpPr>
          <p:cNvPr id="18" name="">
            <a:extLst xmlns:a="http://schemas.openxmlformats.org/drawingml/2006/main">
              <a:ext uri="{FF2B5EF4-FFF2-40B4-BE49-F238E27FC236}">
                <a16:creationId xmlns:a16="http://schemas.microsoft.com/office/drawing/2014/main" id="{D67DD66B-DA13-4F5F-8B2C-2D87ECD10B1A}"/>
              </a:ext>
            </a:extLst>
          </p:cNvPr>
          <p:cNvSpPr>
            <a:spLocks xmlns:a="http://schemas.openxmlformats.org/drawingml/2006/main" noGrp="1"/>
          </p:cNvSpPr>
          <p:nvPr/>
        </p:nvSpPr>
        <p:spPr>
          <a:xfrm xmlns:a="http://schemas.openxmlformats.org/drawingml/2006/main">
            <a:off x="7229475" y="1809750"/>
            <a:ext cx="1943100" cy="3333750"/>
          </a:xfrm>
          <a:prstGeom xmlns:a="http://schemas.openxmlformats.org/drawingml/2006/main" prst="roundRect">
            <a:avLst>
              <a:gd name="adj" fmla="val 8824"/>
            </a:avLst>
          </a:prstGeom>
          <a:solidFill xmlns:a="http://schemas.openxmlformats.org/drawingml/2006/main">
            <a:srgbClr val="FFF5D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69627BC-C9AF-4C2E-B0F1-1FB3A2789061}"/>
              </a:ext>
            </a:extLst>
          </p:cNvPr>
          <p:cNvSpPr>
            <a:spLocks xmlns:a="http://schemas.openxmlformats.org/drawingml/2006/main" noGrp="1"/>
          </p:cNvSpPr>
          <p:nvPr/>
        </p:nvSpPr>
        <p:spPr>
          <a:xfrm xmlns:a="http://schemas.openxmlformats.org/drawingml/2006/main">
            <a:off x="7439025" y="2019300"/>
            <a:ext cx="419100" cy="41910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txBody>
          <a:bodyPr xmlns:a="http://schemas.openxmlformats.org/drawingml/2006/main" anchor="ctr">
            <a:normAutofit fontScale="81488"/>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4</a:t>
            </a:r>
          </a:p>
        </p:txBody>
      </p:sp>
      <p:sp>
        <p:nvSpPr>
          <p:cNvPr id="20" name="">
            <a:extLst xmlns:a="http://schemas.openxmlformats.org/drawingml/2006/main">
              <a:ext uri="{FF2B5EF4-FFF2-40B4-BE49-F238E27FC236}">
                <a16:creationId xmlns:a16="http://schemas.microsoft.com/office/drawing/2014/main" id="{FE1E4B9B-1B7B-4FB8-8D81-EEBEE0FB5DC4}"/>
              </a:ext>
            </a:extLst>
          </p:cNvPr>
          <p:cNvSpPr>
            <a:spLocks xmlns:a="http://schemas.openxmlformats.org/drawingml/2006/main" noGrp="1"/>
          </p:cNvSpPr>
          <p:nvPr/>
        </p:nvSpPr>
        <p:spPr>
          <a:xfrm xmlns:a="http://schemas.openxmlformats.org/drawingml/2006/main">
            <a:off x="7439025" y="2724150"/>
            <a:ext cx="1524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75" b="1">
                <a:solidFill>
                  <a:srgbClr val="13213A"/>
                </a:solidFill>
                <a:latin typeface="Aptos"/>
                <a:ea typeface="Aptos"/>
                <a:cs typeface="Aptos"/>
              </a:defRPr>
            </a:pPr>
            <a:r>
              <a:rPr sz="1875" b="1">
                <a:solidFill>
                  <a:srgbClr val="13213A"/>
                </a:solidFill>
                <a:latin typeface="Aptos"/>
                <a:ea typeface="Aptos"/>
                <a:cs typeface="Aptos"/>
              </a:rPr>
              <a:t>Data</a:t>
            </a:r>
          </a:p>
          <a:p xmlns:a="http://schemas.openxmlformats.org/drawingml/2006/main">
            <a:pPr algn="l">
              <a:buNone/>
              <a:defRPr sz="1875" b="1">
                <a:solidFill>
                  <a:srgbClr val="13213A"/>
                </a:solidFill>
                <a:latin typeface="Aptos"/>
                <a:ea typeface="Aptos"/>
                <a:cs typeface="Aptos"/>
              </a:defRPr>
            </a:pPr>
            <a:r>
              <a:rPr sz="1875" b="1">
                <a:solidFill>
                  <a:srgbClr val="13213A"/>
                </a:solidFill>
                <a:latin typeface="Aptos"/>
                <a:ea typeface="Aptos"/>
                <a:cs typeface="Aptos"/>
              </a:rPr>
              <a:t>contracts</a:t>
            </a:r>
          </a:p>
        </p:txBody>
      </p:sp>
      <p:sp>
        <p:nvSpPr>
          <p:cNvPr id="21" name="">
            <a:extLst xmlns:a="http://schemas.openxmlformats.org/drawingml/2006/main">
              <a:ext uri="{FF2B5EF4-FFF2-40B4-BE49-F238E27FC236}">
                <a16:creationId xmlns:a16="http://schemas.microsoft.com/office/drawing/2014/main" id="{693B819A-0EFE-40B8-B398-BC3E66F6C92A}"/>
              </a:ext>
            </a:extLst>
          </p:cNvPr>
          <p:cNvSpPr>
            <a:spLocks xmlns:a="http://schemas.openxmlformats.org/drawingml/2006/main" noGrp="1"/>
          </p:cNvSpPr>
          <p:nvPr/>
        </p:nvSpPr>
        <p:spPr>
          <a:xfrm xmlns:a="http://schemas.openxmlformats.org/drawingml/2006/main">
            <a:off x="7439025" y="3695700"/>
            <a:ext cx="1524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Sources, permissions, freshness, gaps, and collection plan</a:t>
            </a:r>
          </a:p>
        </p:txBody>
      </p:sp>
      <p:sp>
        <p:nvSpPr>
          <p:cNvPr id="22" name="">
            <a:extLst xmlns:a="http://schemas.openxmlformats.org/drawingml/2006/main">
              <a:ext uri="{FF2B5EF4-FFF2-40B4-BE49-F238E27FC236}">
                <a16:creationId xmlns:a16="http://schemas.microsoft.com/office/drawing/2014/main" id="{68152077-3D05-4BD4-AE31-EE71B85093DC}"/>
              </a:ext>
            </a:extLst>
          </p:cNvPr>
          <p:cNvSpPr>
            <a:spLocks xmlns:a="http://schemas.openxmlformats.org/drawingml/2006/main" noGrp="1"/>
          </p:cNvSpPr>
          <p:nvPr/>
        </p:nvSpPr>
        <p:spPr>
          <a:xfrm xmlns:a="http://schemas.openxmlformats.org/drawingml/2006/main">
            <a:off x="9505950" y="1809750"/>
            <a:ext cx="1943100" cy="3333750"/>
          </a:xfrm>
          <a:prstGeom xmlns:a="http://schemas.openxmlformats.org/drawingml/2006/main" prst="roundRect">
            <a:avLst>
              <a:gd name="adj" fmla="val 8824"/>
            </a:avLst>
          </a:prstGeom>
          <a:solidFill xmlns:a="http://schemas.openxmlformats.org/drawingml/2006/main">
            <a:srgbClr val="EDF7F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627B79E-648E-40D8-B370-B2D336903EB9}"/>
              </a:ext>
            </a:extLst>
          </p:cNvPr>
          <p:cNvSpPr>
            <a:spLocks xmlns:a="http://schemas.openxmlformats.org/drawingml/2006/main" noGrp="1"/>
          </p:cNvSpPr>
          <p:nvPr/>
        </p:nvSpPr>
        <p:spPr>
          <a:xfrm xmlns:a="http://schemas.openxmlformats.org/drawingml/2006/main">
            <a:off x="9715500" y="2019300"/>
            <a:ext cx="419100" cy="419100"/>
          </a:xfrm>
          <a:prstGeom xmlns:a="http://schemas.openxmlformats.org/drawingml/2006/main" prst="roundRect">
            <a:avLst>
              <a:gd name="adj" fmla="val 50000"/>
            </a:avLst>
          </a:prstGeom>
          <a:solidFill xmlns:a="http://schemas.openxmlformats.org/drawingml/2006/main">
            <a:srgbClr val="347A4A"/>
          </a:solidFill>
          <a:ln xmlns:a="http://schemas.openxmlformats.org/drawingml/2006/main" w="0">
            <a:noFill/>
            <a:prstDash val="solid"/>
          </a:ln>
        </p:spPr>
        <p:txBody>
          <a:bodyPr xmlns:a="http://schemas.openxmlformats.org/drawingml/2006/main" anchor="ctr">
            <a:normAutofit fontScale="81488"/>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5</a:t>
            </a:r>
          </a:p>
        </p:txBody>
      </p:sp>
      <p:sp>
        <p:nvSpPr>
          <p:cNvPr id="24" name="">
            <a:extLst xmlns:a="http://schemas.openxmlformats.org/drawingml/2006/main">
              <a:ext uri="{FF2B5EF4-FFF2-40B4-BE49-F238E27FC236}">
                <a16:creationId xmlns:a16="http://schemas.microsoft.com/office/drawing/2014/main" id="{E993BEA8-0954-4AD4-83BE-957EE1DA77E3}"/>
              </a:ext>
            </a:extLst>
          </p:cNvPr>
          <p:cNvSpPr>
            <a:spLocks xmlns:a="http://schemas.openxmlformats.org/drawingml/2006/main" noGrp="1"/>
          </p:cNvSpPr>
          <p:nvPr/>
        </p:nvSpPr>
        <p:spPr>
          <a:xfrm xmlns:a="http://schemas.openxmlformats.org/drawingml/2006/main">
            <a:off x="9715500" y="2724150"/>
            <a:ext cx="1524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75" b="1">
                <a:solidFill>
                  <a:srgbClr val="13213A"/>
                </a:solidFill>
                <a:latin typeface="Aptos"/>
                <a:ea typeface="Aptos"/>
                <a:cs typeface="Aptos"/>
              </a:defRPr>
            </a:pPr>
            <a:r>
              <a:rPr sz="1875" b="1">
                <a:solidFill>
                  <a:srgbClr val="13213A"/>
                </a:solidFill>
                <a:latin typeface="Aptos"/>
                <a:ea typeface="Aptos"/>
                <a:cs typeface="Aptos"/>
              </a:rPr>
              <a:t>Pilot</a:t>
            </a:r>
          </a:p>
          <a:p xmlns:a="http://schemas.openxmlformats.org/drawingml/2006/main">
            <a:pPr algn="l">
              <a:buNone/>
              <a:defRPr sz="1875" b="1">
                <a:solidFill>
                  <a:srgbClr val="13213A"/>
                </a:solidFill>
                <a:latin typeface="Aptos"/>
                <a:ea typeface="Aptos"/>
                <a:cs typeface="Aptos"/>
              </a:defRPr>
            </a:pPr>
            <a:r>
              <a:rPr sz="1875" b="1">
                <a:solidFill>
                  <a:srgbClr val="13213A"/>
                </a:solidFill>
                <a:latin typeface="Aptos"/>
                <a:ea typeface="Aptos"/>
                <a:cs typeface="Aptos"/>
              </a:rPr>
              <a:t>measure</a:t>
            </a:r>
          </a:p>
        </p:txBody>
      </p:sp>
      <p:sp>
        <p:nvSpPr>
          <p:cNvPr id="25" name="">
            <a:extLst xmlns:a="http://schemas.openxmlformats.org/drawingml/2006/main">
              <a:ext uri="{FF2B5EF4-FFF2-40B4-BE49-F238E27FC236}">
                <a16:creationId xmlns:a16="http://schemas.microsoft.com/office/drawing/2014/main" id="{87963F3F-C759-4ACD-9499-649023E14298}"/>
              </a:ext>
            </a:extLst>
          </p:cNvPr>
          <p:cNvSpPr>
            <a:spLocks xmlns:a="http://schemas.openxmlformats.org/drawingml/2006/main" noGrp="1"/>
          </p:cNvSpPr>
          <p:nvPr/>
        </p:nvSpPr>
        <p:spPr>
          <a:xfrm xmlns:a="http://schemas.openxmlformats.org/drawingml/2006/main">
            <a:off x="9715500" y="3695700"/>
            <a:ext cx="1524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Baseline for insight quality, speed, and evidence readiness</a:t>
            </a:r>
          </a:p>
        </p:txBody>
      </p:sp>
      <p:sp>
        <p:nvSpPr>
          <p:cNvPr id="26" name="">
            <a:extLst xmlns:a="http://schemas.openxmlformats.org/drawingml/2006/main">
              <a:ext uri="{FF2B5EF4-FFF2-40B4-BE49-F238E27FC236}">
                <a16:creationId xmlns:a16="http://schemas.microsoft.com/office/drawing/2014/main" id="{5419564B-299C-4393-9E78-BB9648219313}"/>
              </a:ext>
            </a:extLst>
          </p:cNvPr>
          <p:cNvSpPr>
            <a:spLocks xmlns:a="http://schemas.openxmlformats.org/drawingml/2006/main" noGrp="1"/>
          </p:cNvSpPr>
          <p:nvPr/>
        </p:nvSpPr>
        <p:spPr>
          <a:xfrm xmlns:a="http://schemas.openxmlformats.org/drawingml/2006/main">
            <a:off x="1009650" y="5524500"/>
            <a:ext cx="10172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a:solidFill>
                  <a:srgbClr val="9A4040"/>
                </a:solidFill>
                <a:latin typeface="Aptos"/>
                <a:ea typeface="Aptos"/>
                <a:cs typeface="Aptos"/>
              </a:defRPr>
            </a:pPr>
            <a:r>
              <a:rPr sz="1650" b="1">
                <a:solidFill>
                  <a:srgbClr val="9A4040"/>
                </a:solidFill>
                <a:latin typeface="Aptos"/>
                <a:ea typeface="Aptos"/>
                <a:cs typeface="Aptos"/>
              </a:rPr>
              <a:t>Start with one question, but design the evidence model to travel across sectors.</a:t>
            </a:r>
          </a:p>
        </p:txBody>
      </p:sp>
    </p:spTree>
    <p:extLst>
      <p:ext uri="{BB962C8B-B14F-4D97-AF65-F5344CB8AC3E}">
        <p14:creationId xmlns:p14="http://schemas.microsoft.com/office/powerpoint/2010/main" val="1220267390"/>
      </p:ext>
    </p:extLst>
  </p:cSld>
</p:sld>
</file>

<file path=ppt/slides/slide12.xml><?xml version="1.0" encoding="utf-8"?>
<p:sld xmlns:p="http://schemas.openxmlformats.org/presentationml/2006/main">
  <p:cSld>
    <p:bg>
      <p:bgPr>
        <a:solidFill xmlns:a="http://schemas.openxmlformats.org/drawingml/2006/main">
          <a:srgbClr val="13213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8147F49-94A7-4E8E-A6EA-0CD2EDFAB4A4}"/>
              </a:ext>
            </a:extLst>
          </p:cNvPr>
          <p:cNvSpPr>
            <a:spLocks xmlns:a="http://schemas.openxmlformats.org/drawingml/2006/main" noGrp="1"/>
          </p:cNvSpPr>
          <p:nvPr/>
        </p:nvSpPr>
        <p:spPr>
          <a:xfrm xmlns:a="http://schemas.openxmlformats.org/drawingml/2006/main">
            <a:off x="400050" y="4000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1">
                <a:solidFill>
                  <a:srgbClr val="9AB1FF"/>
                </a:solidFill>
                <a:latin typeface="Aptos"/>
                <a:ea typeface="Aptos"/>
                <a:cs typeface="Aptos"/>
              </a:defRPr>
            </a:pPr>
            <a:r>
              <a:rPr sz="1200" b="1">
                <a:solidFill>
                  <a:srgbClr val="9AB1FF"/>
                </a:solidFill>
                <a:latin typeface="Aptos"/>
                <a:ea typeface="Aptos"/>
                <a:cs typeface="Aptos"/>
              </a:rPr>
              <a:t>THE ASK</a:t>
            </a:r>
          </a:p>
        </p:txBody>
      </p:sp>
      <p:sp>
        <p:nvSpPr>
          <p:cNvPr id="2" name="">
            <a:extLst xmlns:a="http://schemas.openxmlformats.org/drawingml/2006/main">
              <a:ext uri="{FF2B5EF4-FFF2-40B4-BE49-F238E27FC236}">
                <a16:creationId xmlns:a16="http://schemas.microsoft.com/office/drawing/2014/main" id="{5853D337-3A40-4605-A81C-0DB33CCAFD30}"/>
              </a:ext>
            </a:extLst>
          </p:cNvPr>
          <p:cNvSpPr>
            <a:spLocks xmlns:a="http://schemas.openxmlformats.org/drawingml/2006/main" noGrp="1"/>
          </p:cNvSpPr>
          <p:nvPr/>
        </p:nvSpPr>
        <p:spPr>
          <a:xfrm xmlns:a="http://schemas.openxmlformats.org/drawingml/2006/main">
            <a:off x="400050" y="1428750"/>
            <a:ext cx="847725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4500" b="1">
                <a:solidFill>
                  <a:srgbClr val="FFFFFF"/>
                </a:solidFill>
                <a:latin typeface="Aptos"/>
                <a:ea typeface="Aptos"/>
                <a:cs typeface="Aptos"/>
              </a:defRPr>
            </a:pPr>
            <a:r>
              <a:rPr sz="4500" b="1">
                <a:solidFill>
                  <a:srgbClr val="FFFFFF"/>
                </a:solidFill>
                <a:latin typeface="Aptos"/>
                <a:ea typeface="Aptos"/>
                <a:cs typeface="Aptos"/>
              </a:rPr>
              <a:t>Choose one regional question. Prove the workflow. Expand by sector.</a:t>
            </a:r>
          </a:p>
        </p:txBody>
      </p:sp>
      <p:sp>
        <p:nvSpPr>
          <p:cNvPr id="3" name="">
            <a:extLst xmlns:a="http://schemas.openxmlformats.org/drawingml/2006/main">
              <a:ext uri="{FF2B5EF4-FFF2-40B4-BE49-F238E27FC236}">
                <a16:creationId xmlns:a16="http://schemas.microsoft.com/office/drawing/2014/main" id="{EE9F1EA6-0BB4-442A-BB7D-65BA40A055DE}"/>
              </a:ext>
            </a:extLst>
          </p:cNvPr>
          <p:cNvSpPr>
            <a:spLocks xmlns:a="http://schemas.openxmlformats.org/drawingml/2006/main" noGrp="1"/>
          </p:cNvSpPr>
          <p:nvPr/>
        </p:nvSpPr>
        <p:spPr>
          <a:xfrm xmlns:a="http://schemas.openxmlformats.org/drawingml/2006/main">
            <a:off x="400050" y="4762500"/>
            <a:ext cx="8286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004"/>
          </a:bodyPr>
          <a:lstStyle xmlns:a="http://schemas.openxmlformats.org/drawingml/2006/main"/>
          <a:p xmlns:a="http://schemas.openxmlformats.org/drawingml/2006/main">
            <a:pPr algn="l">
              <a:buNone/>
              <a:defRPr sz="2025" b="0">
                <a:solidFill>
                  <a:srgbClr val="DCE5FF"/>
                </a:solidFill>
                <a:latin typeface="Aptos"/>
                <a:ea typeface="Aptos"/>
                <a:cs typeface="Aptos"/>
              </a:defRPr>
            </a:pPr>
            <a:r>
              <a:rPr sz="2025" b="0">
                <a:solidFill>
                  <a:srgbClr val="DCE5FF"/>
                </a:solidFill>
                <a:latin typeface="Aptos"/>
                <a:ea typeface="Aptos"/>
                <a:cs typeface="Aptos"/>
              </a:rPr>
              <a:t>Next step: select one regional opportunity and accountable user. Define the market universe and test whether the platform improves insight, evidence coverage, and decision preparation.</a:t>
            </a:r>
          </a:p>
        </p:txBody>
      </p:sp>
      <p:sp>
        <p:nvSpPr>
          <p:cNvPr id="4" name="">
            <a:extLst xmlns:a="http://schemas.openxmlformats.org/drawingml/2006/main">
              <a:ext uri="{FF2B5EF4-FFF2-40B4-BE49-F238E27FC236}">
                <a16:creationId xmlns:a16="http://schemas.microsoft.com/office/drawing/2014/main" id="{F348AE29-FAD7-4EC8-875A-D75A26F69CE9}"/>
              </a:ext>
            </a:extLst>
          </p:cNvPr>
          <p:cNvSpPr>
            <a:spLocks xmlns:a="http://schemas.openxmlformats.org/drawingml/2006/main" noGrp="1"/>
          </p:cNvSpPr>
          <p:nvPr/>
        </p:nvSpPr>
        <p:spPr>
          <a:xfrm xmlns:a="http://schemas.openxmlformats.org/drawingml/2006/main">
            <a:off x="9791700" y="685800"/>
            <a:ext cx="1485900" cy="1485900"/>
          </a:xfrm>
          <a:prstGeom xmlns:a="http://schemas.openxmlformats.org/drawingml/2006/main" prst="roundRect">
            <a:avLst>
              <a:gd name="adj" fmla="val 21795"/>
            </a:avLst>
          </a:prstGeom>
          <a:solidFill xmlns:a="http://schemas.openxmlformats.org/drawingml/2006/main">
            <a:srgbClr val="2D5B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49A0CAD-F9A5-4D1C-A91F-4CE5FA12C1C9}"/>
              </a:ext>
            </a:extLst>
          </p:cNvPr>
          <p:cNvSpPr>
            <a:spLocks xmlns:a="http://schemas.openxmlformats.org/drawingml/2006/main" noGrp="1"/>
          </p:cNvSpPr>
          <p:nvPr/>
        </p:nvSpPr>
        <p:spPr>
          <a:xfrm xmlns:a="http://schemas.openxmlformats.org/drawingml/2006/main">
            <a:off x="9791700" y="685800"/>
            <a:ext cx="14859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3300" b="1">
                <a:solidFill>
                  <a:srgbClr val="FFFFFF"/>
                </a:solidFill>
                <a:latin typeface="Aptos"/>
                <a:ea typeface="Aptos"/>
                <a:cs typeface="Aptos"/>
              </a:defRPr>
            </a:pPr>
            <a:r>
              <a:rPr sz="3300" b="1">
                <a:solidFill>
                  <a:srgbClr val="FFFFFF"/>
                </a:solidFill>
                <a:latin typeface="Aptos"/>
                <a:ea typeface="Aptos"/>
                <a:cs typeface="Aptos"/>
              </a:rPr>
              <a:t>MOP</a:t>
            </a:r>
          </a:p>
        </p:txBody>
      </p:sp>
    </p:spTree>
    <p:extLst>
      <p:ext uri="{BB962C8B-B14F-4D97-AF65-F5344CB8AC3E}">
        <p14:creationId xmlns:p14="http://schemas.microsoft.com/office/powerpoint/2010/main" val="14404180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2026-08-06T21:16:00.8750000Z</dcterms:created>
  <dcterms:modified xsi:type="dcterms:W3CDTF">2026-08-06T21:16:00.8750000Z</dcterms:modified>
</coreProperties>
</file>
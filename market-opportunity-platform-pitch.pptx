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cffe05366534ee6" /><Relationship Type="http://schemas.openxmlformats.org/officeDocument/2006/relationships/extended-properties" Target="/docProps/app.xml" Id="R0ef71d75903d4593" /><Relationship Type="http://schemas.openxmlformats.org/officeDocument/2006/relationships/officeDocument" Target="/ppt/presentation.xml" Id="R328cf30d30ea40f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acd3be3b43c4d16"/>
  </p:sldMasterIdLst>
  <p:notesMasterIdLst>
    <p:notesMasterId xmlns:r="http://schemas.openxmlformats.org/officeDocument/2006/relationships" r:id="R02368eff0ad14654"/>
  </p:notesMasterIdLst>
  <p:sldIdLst>
    <p:sldId xmlns:r="http://schemas.openxmlformats.org/officeDocument/2006/relationships" id="256" r:id="R4230b49c2f8440e7"/>
    <p:sldId xmlns:r="http://schemas.openxmlformats.org/officeDocument/2006/relationships" id="257" r:id="R7e27b9cd07d5411a"/>
    <p:sldId xmlns:r="http://schemas.openxmlformats.org/officeDocument/2006/relationships" id="258" r:id="R170c6f21b7b547b3"/>
    <p:sldId xmlns:r="http://schemas.openxmlformats.org/officeDocument/2006/relationships" id="259" r:id="Rd1d22c44377e4cfc"/>
    <p:sldId xmlns:r="http://schemas.openxmlformats.org/officeDocument/2006/relationships" id="260" r:id="R522669c82add4e7b"/>
    <p:sldId xmlns:r="http://schemas.openxmlformats.org/officeDocument/2006/relationships" id="261" r:id="R223fe00e3cdb4479"/>
    <p:sldId xmlns:r="http://schemas.openxmlformats.org/officeDocument/2006/relationships" id="262" r:id="R7d15d1637d5a493a"/>
    <p:sldId xmlns:r="http://schemas.openxmlformats.org/officeDocument/2006/relationships" id="263" r:id="R1f8737af2fb44d45"/>
    <p:sldId xmlns:r="http://schemas.openxmlformats.org/officeDocument/2006/relationships" id="264" r:id="Rc320ba82f6604764"/>
  </p:sldIdLst>
  <p:sldSz cx="9144000" cy="5143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cc8227bed3e4ed9" /><Relationship Type="http://schemas.openxmlformats.org/officeDocument/2006/relationships/slideMaster" Target="/ppt/slideMasters/slideMaster1.xml" Id="R8acd3be3b43c4d16" /><Relationship Type="http://schemas.openxmlformats.org/officeDocument/2006/relationships/notesMaster" Target="/ppt/notesMasters/notesMaster1.xml" Id="R02368eff0ad14654" /><Relationship Type="http://schemas.openxmlformats.org/officeDocument/2006/relationships/presProps" Target="/ppt/presProps.xml" Id="Ra630ad35dbb84a99" /><Relationship Type="http://schemas.openxmlformats.org/officeDocument/2006/relationships/tableStyles" Target="/ppt/tableStyles.xml" Id="R1c84494c0b84465c" /><Relationship Type="http://schemas.openxmlformats.org/officeDocument/2006/relationships/slide" Target="/ppt/slides/slide1.xml" Id="R4230b49c2f8440e7" /><Relationship Type="http://schemas.openxmlformats.org/officeDocument/2006/relationships/slide" Target="/ppt/slides/slide2.xml" Id="R7e27b9cd07d5411a" /><Relationship Type="http://schemas.openxmlformats.org/officeDocument/2006/relationships/slide" Target="/ppt/slides/slide3.xml" Id="R170c6f21b7b547b3" /><Relationship Type="http://schemas.openxmlformats.org/officeDocument/2006/relationships/slide" Target="/ppt/slides/slide4.xml" Id="Rd1d22c44377e4cfc" /><Relationship Type="http://schemas.openxmlformats.org/officeDocument/2006/relationships/slide" Target="/ppt/slides/slide5.xml" Id="R522669c82add4e7b" /><Relationship Type="http://schemas.openxmlformats.org/officeDocument/2006/relationships/slide" Target="/ppt/slides/slide6.xml" Id="R223fe00e3cdb4479" /><Relationship Type="http://schemas.openxmlformats.org/officeDocument/2006/relationships/slide" Target="/ppt/slides/slide7.xml" Id="R7d15d1637d5a493a" /><Relationship Type="http://schemas.openxmlformats.org/officeDocument/2006/relationships/slide" Target="/ppt/slides/slide8.xml" Id="R1f8737af2fb44d45" /><Relationship Type="http://schemas.openxmlformats.org/officeDocument/2006/relationships/slide" Target="/ppt/slides/slide9.xml" Id="Rc320ba82f660476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14fc623e3bb4c2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6012e0b1b3340e6" /><Relationship Type="http://schemas.openxmlformats.org/officeDocument/2006/relationships/notesMaster" Target="/ppt/notesMasters/notesMaster1.xml" Id="R04bb1d97221a403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a608ff3f4a94911" /><Relationship Type="http://schemas.openxmlformats.org/officeDocument/2006/relationships/notesMaster" Target="/ppt/notesMasters/notesMaster1.xml" Id="R56eca6a10e4a49e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5b6287cbec6442e" /><Relationship Type="http://schemas.openxmlformats.org/officeDocument/2006/relationships/notesMaster" Target="/ppt/notesMasters/notesMaster1.xml" Id="Rb53838b98f13424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b2def32a7d24f7a" /><Relationship Type="http://schemas.openxmlformats.org/officeDocument/2006/relationships/notesMaster" Target="/ppt/notesMasters/notesMaster1.xml" Id="Re94f1316ee024b3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77fa0064cb5432b" /><Relationship Type="http://schemas.openxmlformats.org/officeDocument/2006/relationships/notesMaster" Target="/ppt/notesMasters/notesMaster1.xml" Id="R0ff9f675aa94489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eef16b7dc6f4c2d" /><Relationship Type="http://schemas.openxmlformats.org/officeDocument/2006/relationships/notesMaster" Target="/ppt/notesMasters/notesMaster1.xml" Id="R16939375cf8642b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f72538f6b8e4666" /><Relationship Type="http://schemas.openxmlformats.org/officeDocument/2006/relationships/notesMaster" Target="/ppt/notesMasters/notesMaster1.xml" Id="R4525fc332e564ba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7d367e1a4814f9c" /><Relationship Type="http://schemas.openxmlformats.org/officeDocument/2006/relationships/notesMaster" Target="/ppt/notesMasters/notesMaster1.xml" Id="Rc833f7e3709746f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7d6757917bd47b8" /><Relationship Type="http://schemas.openxmlformats.org/officeDocument/2006/relationships/notesMaster" Target="/ppt/notesMasters/notesMaster1.xml" Id="R7da373aad2a9428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5b4c802b234b7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20e76dfabce4a1a" /><Relationship Type="http://schemas.openxmlformats.org/officeDocument/2006/relationships/slideLayout" Target="/ppt/slideLayouts/slideLayout1.xml" Id="R5202e4c610f246a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202e4c610f246a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53b863f16d4d78" /><Relationship Type="http://schemas.openxmlformats.org/officeDocument/2006/relationships/notesSlide" Target="/ppt/notesSlides/notesSlide1.xml" Id="R51f77cd61eda46f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bf265292ae4fd4" /><Relationship Type="http://schemas.openxmlformats.org/officeDocument/2006/relationships/notesSlide" Target="/ppt/notesSlides/notesSlide2.xml" Id="R28e8f3ba2806438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31d54095604de1" /><Relationship Type="http://schemas.openxmlformats.org/officeDocument/2006/relationships/notesSlide" Target="/ppt/notesSlides/notesSlide3.xml" Id="R387ff36eb40b4a8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70ea5315354d55" /><Relationship Type="http://schemas.openxmlformats.org/officeDocument/2006/relationships/notesSlide" Target="/ppt/notesSlides/notesSlide4.xml" Id="R279ec767806b467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33538a995d48be" /><Relationship Type="http://schemas.openxmlformats.org/officeDocument/2006/relationships/notesSlide" Target="/ppt/notesSlides/notesSlide5.xml" Id="R95b161b83ffe434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b3a7b677ac420d" /><Relationship Type="http://schemas.openxmlformats.org/officeDocument/2006/relationships/notesSlide" Target="/ppt/notesSlides/notesSlide6.xml" Id="R48ca80142e7d4a2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10a08092654e6d" /><Relationship Type="http://schemas.openxmlformats.org/officeDocument/2006/relationships/notesSlide" Target="/ppt/notesSlides/notesSlide7.xml" Id="R031b3f754e7847b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8ddd04b5c1480c" /><Relationship Type="http://schemas.openxmlformats.org/officeDocument/2006/relationships/notesSlide" Target="/ppt/notesSlides/notesSlide8.xml" Id="R83e9b29c90984a0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d7bbfa402e4709" /><Relationship Type="http://schemas.openxmlformats.org/officeDocument/2006/relationships/notesSlide" Target="/ppt/notesSlides/notesSlide9.xml" Id="R771a11d2858e4f3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CFB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8060FE9-064B-4BF2-8A88-DF46C49B9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4619625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0" i="0">
                <a:solidFill>
                  <a:srgbClr val="0B3FB8"/>
                </a:solidFill>
                <a:latin typeface="Georgia"/>
                <a:ea typeface="Georgia"/>
                <a:cs typeface="Georgia"/>
              </a:defRPr>
            </a:pPr>
            <a:r>
              <a:rPr sz="2550" b="0" i="0">
                <a:solidFill>
                  <a:srgbClr val="0B3FB8"/>
                </a:solidFill>
                <a:latin typeface="Georgia"/>
                <a:ea typeface="Georgia"/>
                <a:cs typeface="Georgia"/>
              </a:rPr>
              <a:t>Chewy has the signals.</a:t>
            </a:r>
          </a:p>
          <a:p xmlns:a="http://schemas.openxmlformats.org/drawingml/2006/main">
            <a:pPr algn="l">
              <a:defRPr sz="2550" b="0" i="0">
                <a:solidFill>
                  <a:srgbClr val="0B3FB8"/>
                </a:solidFill>
                <a:latin typeface="Georgia"/>
                <a:ea typeface="Georgia"/>
                <a:cs typeface="Georgia"/>
              </a:defRPr>
            </a:pPr>
            <a:r>
              <a:rPr sz="2550" b="0" i="0">
                <a:solidFill>
                  <a:srgbClr val="0B3FB8"/>
                </a:solidFill>
                <a:latin typeface="Georgia"/>
                <a:ea typeface="Georgia"/>
                <a:cs typeface="Georgia"/>
              </a:rPr>
              <a:t>The opportunity is making</a:t>
            </a:r>
          </a:p>
          <a:p xmlns:a="http://schemas.openxmlformats.org/drawingml/2006/main">
            <a:pPr algn="l">
              <a:defRPr sz="2550" b="0" i="0">
                <a:solidFill>
                  <a:srgbClr val="0B3FB8"/>
                </a:solidFill>
                <a:latin typeface="Georgia"/>
                <a:ea typeface="Georgia"/>
                <a:cs typeface="Georgia"/>
              </a:defRPr>
            </a:pPr>
            <a:r>
              <a:rPr sz="2550" b="0" i="0">
                <a:solidFill>
                  <a:srgbClr val="0B3FB8"/>
                </a:solidFill>
                <a:latin typeface="Georgia"/>
                <a:ea typeface="Georgia"/>
                <a:cs typeface="Georgia"/>
              </a:rPr>
              <a:t>them usable in decisions.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5F7C30-5CC3-4170-AEC0-D039F906F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24150"/>
            <a:ext cx="400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4603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101827"/>
                </a:solidFill>
                <a:latin typeface="Aptos"/>
                <a:ea typeface="Aptos"/>
                <a:cs typeface="Aptos"/>
              </a:rPr>
              <a:t>A governed market opportunity platform for turning fragmented evidence into measurable, human-reviewed action.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F5B28A-3AC4-4C1B-B0F5-062226244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67100"/>
            <a:ext cx="16764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7620">
            <a:solidFill>
              <a:srgbClr val="BFD0F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947973-0EDE-4547-9547-FBDF0F26B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05200"/>
            <a:ext cx="16764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0741"/>
          </a:bodyPr>
          <a:lstStyle xmlns:a="http://schemas.openxmlformats.org/drawingml/2006/main"/>
          <a:p xmlns:a="http://schemas.openxmlformats.org/drawingml/2006/main">
            <a:pPr algn="ctr">
              <a:defRPr sz="675" b="1" i="0">
                <a:solidFill>
                  <a:srgbClr val="0B3FB8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0B3FB8"/>
                </a:solidFill>
                <a:latin typeface="Aptos"/>
                <a:ea typeface="Aptos"/>
                <a:cs typeface="Aptos"/>
              </a:rPr>
              <a:t>EXECUTIVE INVESTMENT CASE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C27A00-A842-44F9-84F6-888F84CBF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481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536174"/>
                </a:solidFill>
                <a:latin typeface="Aptos"/>
                <a:ea typeface="Aptos"/>
                <a:cs typeface="Aptos"/>
              </a:rPr>
              <a:t>Working local demo  •  limited but real inputs  •  reusable company capability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FA9CFE-1788-46B2-B6A1-010BDD9A4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066800"/>
            <a:ext cx="1619250" cy="1619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AFF"/>
          </a:solidFill>
          <a:ln xmlns:a="http://schemas.openxmlformats.org/drawingml/2006/main" w="15240">
            <a:solidFill>
              <a:srgbClr val="2F6B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6DA74A-904C-4D5B-B693-9E3756BA6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409700"/>
            <a:ext cx="933450" cy="933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4FF"/>
          </a:solidFill>
          <a:ln xmlns:a="http://schemas.openxmlformats.org/drawingml/2006/main" w="11430">
            <a:solidFill>
              <a:srgbClr val="2F6B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279B31-E5B3-4D31-BB77-ECEB43195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335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3FB8"/>
          </a:solidFill>
          <a:ln xmlns:a="http://schemas.openxmlformats.org/drawingml/2006/main" w="9525">
            <a:solidFill>
              <a:srgbClr val="0B3FB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C1D9CF-B460-4378-8816-7549D34A9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621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375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3320FB-4ECC-4855-BDDE-3AE05E7EE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1190625"/>
            <a:ext cx="1247775" cy="685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2F6BFF"/>
            </a:solidFill>
            <a:prstDash val="dash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2D4262-AE7F-4C3F-AE2E-8A5D926FA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1876425"/>
            <a:ext cx="13430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2F6BFF"/>
            </a:solidFill>
            <a:prstDash val="dash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D55A9C-0600-4670-BA3F-4664A6603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1876425"/>
            <a:ext cx="1247775" cy="6953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2F6BFF"/>
            </a:solidFill>
            <a:prstDash val="dash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C26C6C-DE23-4FE9-A50E-887466824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9906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AFF"/>
          </a:solidFill>
          <a:ln xmlns:a="http://schemas.openxmlformats.org/drawingml/2006/main" w="11430">
            <a:solidFill>
              <a:srgbClr val="2F6B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99CC89-73FA-4FF9-A037-938F81FF3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1076325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1667"/>
          </a:bodyPr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2F6BFF"/>
                </a:solidFill>
                <a:latin typeface="Georgia"/>
                <a:ea typeface="Georgia"/>
                <a:cs typeface="Georgia"/>
              </a:defRPr>
            </a:pPr>
            <a:r>
              <a:rPr sz="1500" b="0" i="0">
                <a:solidFill>
                  <a:srgbClr val="2F6BFF"/>
                </a:solidFill>
                <a:latin typeface="Georgia"/>
                <a:ea typeface="Georgia"/>
                <a:cs typeface="Georgia"/>
              </a:rPr>
              <a:t>⌖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49DD46-9E88-4C20-8889-4D0E918C8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0096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2F6BFF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2F6BFF"/>
                </a:solidFill>
                <a:latin typeface="Aptos"/>
                <a:ea typeface="Aptos"/>
                <a:cs typeface="Aptos"/>
              </a:rPr>
              <a:t>Markets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D88809-F070-4712-976F-E72D0F6BF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1811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536174"/>
                </a:solidFill>
                <a:latin typeface="Aptos"/>
                <a:ea typeface="Aptos"/>
                <a:cs typeface="Aptos"/>
              </a:rPr>
              <a:t>where to focus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3DBFE2-52C6-418D-BCA3-2E678B1EF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6764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AFF"/>
          </a:solidFill>
          <a:ln xmlns:a="http://schemas.openxmlformats.org/drawingml/2006/main" w="11430">
            <a:solidFill>
              <a:srgbClr val="14B8A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3F4431-525C-475F-8B5B-920BCA4A2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762125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1667"/>
          </a:bodyPr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14B8A6"/>
                </a:solidFill>
                <a:latin typeface="Georgia"/>
                <a:ea typeface="Georgia"/>
                <a:cs typeface="Georgia"/>
              </a:defRPr>
            </a:pPr>
            <a:r>
              <a:rPr sz="1500" b="0" i="0">
                <a:solidFill>
                  <a:srgbClr val="14B8A6"/>
                </a:solidFill>
                <a:latin typeface="Georgia"/>
                <a:ea typeface="Georgia"/>
                <a:cs typeface="Georgia"/>
              </a:rPr>
              <a:t>✓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F77AB8-83E6-4EC0-9F17-CC0FA0146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6954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4B8A6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14B8A6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A153A5-BE77-4D19-89FD-072702D38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8669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536174"/>
                </a:solidFill>
                <a:latin typeface="Aptos"/>
                <a:ea typeface="Aptos"/>
                <a:cs typeface="Aptos"/>
              </a:rPr>
              <a:t>what we know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012891-AC1E-44C3-8496-AA1612119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3622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AFF"/>
          </a:solidFill>
          <a:ln xmlns:a="http://schemas.openxmlformats.org/drawingml/2006/main" w="11430">
            <a:solidFill>
              <a:srgbClr val="FF6B4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35C458-46E7-452E-AEB5-CA4D1AD1D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447925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1667"/>
          </a:bodyPr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FF6B4A"/>
                </a:solidFill>
                <a:latin typeface="Georgia"/>
                <a:ea typeface="Georgia"/>
                <a:cs typeface="Georgia"/>
              </a:defRPr>
            </a:pPr>
            <a:r>
              <a:rPr sz="1500" b="0" i="0">
                <a:solidFill>
                  <a:srgbClr val="FF6B4A"/>
                </a:solidFill>
                <a:latin typeface="Georgia"/>
                <a:ea typeface="Georgia"/>
                <a:cs typeface="Georgia"/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7449D5-1988-4CAA-BD51-6200DF68E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3812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FF6B4A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F6B4A"/>
                </a:solidFill>
                <a:latin typeface="Aptos"/>
                <a:ea typeface="Aptos"/>
                <a:cs typeface="Aptos"/>
              </a:rPr>
              <a:t>Action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8F57CAB-6E67-406F-ADC5-DF023973C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5527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536174"/>
                </a:solidFill>
                <a:latin typeface="Aptos"/>
                <a:ea typeface="Aptos"/>
                <a:cs typeface="Aptos"/>
              </a:rPr>
              <a:t>what to do next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A5EAE29-449C-4130-AD49-9C0C3C866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86300"/>
            <a:ext cx="781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900" b="0" i="0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FROM WHERE SHOULD WE OPEN  →  WHERE SHOULD WE ACT</a:t>
            </a:r>
          </a:p>
        </p:txBody>
      </p:sp>
    </p:spTree>
    <p:extLst>
      <p:ext uri="{BB962C8B-B14F-4D97-AF65-F5344CB8AC3E}">
        <p14:creationId xmlns:p14="http://schemas.microsoft.com/office/powerpoint/2010/main" val="173089115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B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70C8677-BEF2-4496-9214-17FBC2E41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1450"/>
            <a:ext cx="1238250" cy="12382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EAF0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B7DBA4-D29F-4874-A99B-30C147A7B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04800"/>
            <a:ext cx="1504950" cy="15049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EAF0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CB677A-F145-4232-9077-ACFA67EFF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38150"/>
            <a:ext cx="1771650" cy="17716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EAF0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EC1186-8A5D-4F9D-BD41-8D5DCDA22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71500"/>
            <a:ext cx="2038350" cy="2038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EAF0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80DCCD-1CB1-4488-8B83-8BD17EE8A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400050" y="3905250"/>
            <a:ext cx="857250" cy="8572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EEF2F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19C3B3-17B1-4BB3-BCC9-CDC2D44C7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71450" y="4000500"/>
            <a:ext cx="1143000" cy="11430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EEF2F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4D24EE-30BE-4DC1-A08C-85964D0CC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" y="4095750"/>
            <a:ext cx="1428750" cy="14287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EEF2F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E96AB8-4B9A-40E1-A6D9-CB09C6063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286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2192"/>
          </a:bodyPr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0B3FB8"/>
                </a:solidFill>
                <a:latin typeface="Georgia"/>
                <a:ea typeface="Georgia"/>
                <a:cs typeface="Georgia"/>
              </a:defRPr>
            </a:pPr>
            <a:r>
              <a:rPr sz="2250" b="0" i="0">
                <a:solidFill>
                  <a:srgbClr val="0B3FB8"/>
                </a:solidFill>
                <a:latin typeface="Georgia"/>
                <a:ea typeface="Georgia"/>
                <a:cs typeface="Georgia"/>
              </a:rPr>
              <a:t>Important market decisions still begin as disconnected investigations.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E644DB-3E0F-4962-9276-0892DC6E7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7155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536174"/>
                </a:solidFill>
                <a:latin typeface="Aptos"/>
                <a:ea typeface="Aptos"/>
                <a:cs typeface="Aptos"/>
              </a:rPr>
              <a:t>The data exists across teams. The decision trail does not.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AFDA18-F937-4177-98D5-3B1026C55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76800"/>
            <a:ext cx="3143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833"/>
          </a:bodyPr>
          <a:lstStyle xmlns:a="http://schemas.openxmlformats.org/drawingml/2006/main"/>
          <a:p xmlns:a="http://schemas.openxmlformats.org/drawingml/2006/main">
            <a:pPr algn="l">
              <a:defRPr sz="600" b="1" i="0">
                <a:solidFill>
                  <a:srgbClr val="8293B7"/>
                </a:solidFill>
                <a:latin typeface="Aptos"/>
                <a:ea typeface="Aptos"/>
                <a:cs typeface="Aptos"/>
              </a:defRPr>
            </a:pPr>
            <a:r>
              <a:rPr sz="600" b="1" i="0">
                <a:solidFill>
                  <a:srgbClr val="8293B7"/>
                </a:solidFill>
                <a:latin typeface="Aptos"/>
                <a:ea typeface="Aptos"/>
                <a:cs typeface="Aptos"/>
              </a:rPr>
              <a:t>MARKET OPPORTUNITY PLATFORM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0C0903-06BB-4DE3-8707-37A83E96C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621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AFF"/>
          </a:solidFill>
          <a:ln xmlns:a="http://schemas.openxmlformats.org/drawingml/2006/main" w="11430">
            <a:solidFill>
              <a:srgbClr val="2F6B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9DB155-3FDA-4FB2-86CF-B1CDE7CE5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47825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1667"/>
          </a:bodyPr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2F6BFF"/>
                </a:solidFill>
                <a:latin typeface="Georgia"/>
                <a:ea typeface="Georgia"/>
                <a:cs typeface="Georgia"/>
              </a:defRPr>
            </a:pPr>
            <a:r>
              <a:rPr sz="1500" b="0" i="0">
                <a:solidFill>
                  <a:srgbClr val="2F6BFF"/>
                </a:solidFill>
                <a:latin typeface="Georgia"/>
                <a:ea typeface="Georgia"/>
                <a:cs typeface="Georgia"/>
              </a:rPr>
              <a:t>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80FA30-C5BF-4BD8-B541-1C1B28FD8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5811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2F6BFF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2F6BFF"/>
                </a:solidFill>
                <a:latin typeface="Aptos"/>
                <a:ea typeface="Aptos"/>
                <a:cs typeface="Aptos"/>
              </a:rPr>
              <a:t>CLINIC EXPLORATION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10DF9B-D4E0-4174-90ED-B64DAD3AC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7526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536174"/>
                </a:solidFill>
                <a:latin typeface="Aptos"/>
                <a:ea typeface="Aptos"/>
                <a:cs typeface="Aptos"/>
              </a:rPr>
              <a:t>footprint, capacity, access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4B5BDF-46C6-46B9-A923-F0702ADA5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526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AFF"/>
          </a:solidFill>
          <a:ln xmlns:a="http://schemas.openxmlformats.org/drawingml/2006/main" w="11430">
            <a:solidFill>
              <a:srgbClr val="14B8A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FFDF6F-71C2-4CAF-AB16-7FBC6CF12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38375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1667"/>
          </a:bodyPr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14B8A6"/>
                </a:solidFill>
                <a:latin typeface="Georgia"/>
                <a:ea typeface="Georgia"/>
                <a:cs typeface="Georgia"/>
              </a:defRPr>
            </a:pPr>
            <a:r>
              <a:rPr sz="1500" b="0" i="0">
                <a:solidFill>
                  <a:srgbClr val="14B8A6"/>
                </a:solidFill>
                <a:latin typeface="Georgia"/>
                <a:ea typeface="Georgia"/>
                <a:cs typeface="Georgia"/>
              </a:rPr>
              <a:t>↗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B4F8C2-47EF-4B7C-B716-84C702330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1717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4B8A6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14B8A6"/>
                </a:solidFill>
                <a:latin typeface="Aptos"/>
                <a:ea typeface="Aptos"/>
                <a:cs typeface="Aptos"/>
              </a:rPr>
              <a:t>GROWTH MARKETING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BBEC10-554B-4712-9291-8347489A4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431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536174"/>
                </a:solidFill>
                <a:latin typeface="Aptos"/>
                <a:ea typeface="Aptos"/>
                <a:cs typeface="Aptos"/>
              </a:rPr>
              <a:t>demand, response, test design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A8DE36-937C-4433-A502-FB3BD19D3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432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AFF"/>
          </a:solidFill>
          <a:ln xmlns:a="http://schemas.openxmlformats.org/drawingml/2006/main" w="11430">
            <a:solidFill>
              <a:srgbClr val="2F6B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DA37F8-5D50-4DC6-86C7-6FA1E5236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28925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1667"/>
          </a:bodyPr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2F6BFF"/>
                </a:solidFill>
                <a:latin typeface="Georgia"/>
                <a:ea typeface="Georgia"/>
                <a:cs typeface="Georgia"/>
              </a:defRPr>
            </a:pPr>
            <a:r>
              <a:rPr sz="1500" b="0" i="0">
                <a:solidFill>
                  <a:srgbClr val="2F6BFF"/>
                </a:solidFill>
                <a:latin typeface="Georgia"/>
                <a:ea typeface="Georgia"/>
                <a:cs typeface="Georgia"/>
              </a:rPr>
              <a:t>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FE29F4-702B-4C57-91C2-6A055E6C5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7622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2F6BFF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2F6BFF"/>
                </a:solidFill>
                <a:latin typeface="Aptos"/>
                <a:ea typeface="Aptos"/>
                <a:cs typeface="Aptos"/>
              </a:rPr>
              <a:t>CONSUMER INSIGHTS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B24540-E0BD-4E11-8FEA-1ED28FBB4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9337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536174"/>
                </a:solidFill>
                <a:latin typeface="Aptos"/>
                <a:ea typeface="Aptos"/>
                <a:cs typeface="Aptos"/>
              </a:rPr>
              <a:t>needs, barriers, brand context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9A4AD47-FAE9-47C5-A9E8-17EFF4DD6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AFF"/>
          </a:solidFill>
          <a:ln xmlns:a="http://schemas.openxmlformats.org/drawingml/2006/main" w="11430">
            <a:solidFill>
              <a:srgbClr val="14B8A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A2969CC-0038-4F98-9CED-907C964A3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19475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1667"/>
          </a:bodyPr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14B8A6"/>
                </a:solidFill>
                <a:latin typeface="Georgia"/>
                <a:ea typeface="Georgia"/>
                <a:cs typeface="Georgia"/>
              </a:defRPr>
            </a:pPr>
            <a:r>
              <a:rPr sz="1500" b="0" i="0">
                <a:solidFill>
                  <a:srgbClr val="14B8A6"/>
                </a:solidFill>
                <a:latin typeface="Georgia"/>
                <a:ea typeface="Georgia"/>
                <a:cs typeface="Georgia"/>
              </a:rPr>
              <a:t>▦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A626232-7285-4ACD-8F16-7D1134AF0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3528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4B8A6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14B8A6"/>
                </a:solidFill>
                <a:latin typeface="Aptos"/>
                <a:ea typeface="Aptos"/>
                <a:cs typeface="Aptos"/>
              </a:rPr>
              <a:t>CENSUS CONTEXT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552DE35-90E8-45C9-B04B-17BE28CE1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5242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536174"/>
                </a:solidFill>
                <a:latin typeface="Aptos"/>
                <a:ea typeface="Aptos"/>
                <a:cs typeface="Aptos"/>
              </a:rPr>
              <a:t>population, households, geography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8B3D321-F980-4C04-B014-33C0950B9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762125"/>
            <a:ext cx="1762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2F6BFF"/>
            </a:solidFill>
            <a:prstDash val="dash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FFF0DE9-EA70-4A32-9F70-7E8492410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47875"/>
            <a:ext cx="1762125" cy="304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2F6BFF"/>
            </a:solidFill>
            <a:prstDash val="dash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C34F666-1CB5-4085-A604-FA08E13AE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333625"/>
            <a:ext cx="1762125" cy="609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2F6BFF"/>
            </a:solidFill>
            <a:prstDash val="dash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7573A46-AFF9-448B-A37E-E8148F92E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619375"/>
            <a:ext cx="1762125" cy="914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2F6BFF"/>
            </a:solidFill>
            <a:prstDash val="dash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317D114-5BAC-423A-B89A-CA2970ACD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146685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FF6B4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40E0B41-9504-492D-87EE-2F16FB0BB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724025"/>
            <a:ext cx="781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1667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F6B4A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FF6B4A"/>
                </a:solidFill>
                <a:latin typeface="Aptos"/>
                <a:ea typeface="Aptos"/>
                <a:cs typeface="Aptos"/>
              </a:rPr>
              <a:t>MANUAL</a:t>
            </a:r>
          </a:p>
          <a:p xmlns:a="http://schemas.openxmlformats.org/drawingml/2006/main">
            <a:pPr algn="ctr">
              <a:defRPr sz="900" b="1" i="0">
                <a:solidFill>
                  <a:srgbClr val="FF6B4A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FF6B4A"/>
                </a:solidFill>
                <a:latin typeface="Aptos"/>
                <a:ea typeface="Aptos"/>
                <a:cs typeface="Aptos"/>
              </a:rPr>
              <a:t>SYNTHESIS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7FF6DC2-5CA2-450A-ABD8-379C7BF64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609850"/>
            <a:ext cx="152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9405"/>
          </a:bodyPr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536174"/>
                </a:solidFill>
                <a:latin typeface="Aptos"/>
                <a:ea typeface="Aptos"/>
                <a:cs typeface="Aptos"/>
              </a:rPr>
              <a:t>Analysts reconcile, compare, explain, and rebuild the same context repeatedly.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56B847E-FEA1-43F1-A556-83129C0A7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1943100"/>
            <a:ext cx="11144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F6BF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0C21676-8CA7-4C66-A859-28EB8E4D3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1581150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AFF"/>
          </a:solidFill>
          <a:ln xmlns:a="http://schemas.openxmlformats.org/drawingml/2006/main" w="12383">
            <a:solidFill>
              <a:srgbClr val="2F6BF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B33E5CD-D92E-448F-957B-04281B616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1762125"/>
            <a:ext cx="704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6944"/>
          </a:bodyPr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14B8A6"/>
                </a:solidFill>
                <a:latin typeface="Aptos"/>
                <a:ea typeface="Aptos"/>
                <a:cs typeface="Aptos"/>
              </a:defRPr>
            </a:pPr>
            <a:r>
              <a:rPr sz="1800" b="0" i="0">
                <a:solidFill>
                  <a:srgbClr val="14B8A6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459B256-D8E3-4D8B-9BED-EF7BB5A3C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57450"/>
            <a:ext cx="1476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7778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2F6BFF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2F6BFF"/>
                </a:solidFill>
                <a:latin typeface="Aptos"/>
                <a:ea typeface="Aptos"/>
                <a:cs typeface="Aptos"/>
              </a:rPr>
              <a:t>REVIEWABLE</a:t>
            </a:r>
          </a:p>
          <a:p xmlns:a="http://schemas.openxmlformats.org/drawingml/2006/main">
            <a:pPr algn="ctr">
              <a:defRPr sz="900" b="1" i="0">
                <a:solidFill>
                  <a:srgbClr val="2F6BFF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2F6BFF"/>
                </a:solidFill>
                <a:latin typeface="Aptos"/>
                <a:ea typeface="Aptos"/>
                <a:cs typeface="Aptos"/>
              </a:rPr>
              <a:t>DECISION TRAIL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5F1D024-E96B-41A8-B854-D11CAA5EC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876550"/>
            <a:ext cx="1885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6970"/>
          </a:bodyPr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536174"/>
                </a:solidFill>
                <a:latin typeface="Aptos"/>
                <a:ea typeface="Aptos"/>
                <a:cs typeface="Aptos"/>
              </a:rPr>
              <a:t>One coherent path from question to evidence, uncertainty, and accountable next action.</a:t>
            </a:r>
          </a:p>
        </p:txBody>
      </p:sp>
    </p:spTree>
    <p:extLst>
      <p:ext uri="{BB962C8B-B14F-4D97-AF65-F5344CB8AC3E}">
        <p14:creationId xmlns:p14="http://schemas.microsoft.com/office/powerpoint/2010/main" val="202098910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B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87AC48A-DDF8-4735-9F2D-2629254EB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1450"/>
            <a:ext cx="1238250" cy="12382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EAF0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985B21-C732-45C4-9F70-072E373EF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04800"/>
            <a:ext cx="1504950" cy="15049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EAF0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FD009B-0321-4396-AD2D-D56C1A06C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38150"/>
            <a:ext cx="1771650" cy="17716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EAF0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15C8C7-CA9D-446F-9B40-59E4E1307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71500"/>
            <a:ext cx="2038350" cy="2038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EAF0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13CD7D-1733-4A23-BCE0-412D6D866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400050" y="3905250"/>
            <a:ext cx="857250" cy="8572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EEF2F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84FCE8-5FBC-4A40-9920-66138A21E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71450" y="4000500"/>
            <a:ext cx="1143000" cy="11430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EEF2F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AB4706-ECD1-4D91-821A-C0B13FC06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" y="4095750"/>
            <a:ext cx="1428750" cy="14287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EEF2F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68BED7-5E98-4600-999A-F0C6526B5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286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8335"/>
          </a:bodyPr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0B3FB8"/>
                </a:solidFill>
                <a:latin typeface="Georgia"/>
                <a:ea typeface="Georgia"/>
                <a:cs typeface="Georgia"/>
              </a:defRPr>
            </a:pPr>
            <a:r>
              <a:rPr sz="2250" b="0" i="0">
                <a:solidFill>
                  <a:srgbClr val="0B3FB8"/>
                </a:solidFill>
                <a:latin typeface="Georgia"/>
                <a:ea typeface="Georgia"/>
                <a:cs typeface="Georgia"/>
              </a:rPr>
              <a:t>The platform turns a market question into a governed evaluation.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28B32E-4A6B-41BD-976D-5C8BB841E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7155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536174"/>
                </a:solidFill>
                <a:latin typeface="Aptos"/>
                <a:ea typeface="Aptos"/>
                <a:cs typeface="Aptos"/>
              </a:rPr>
              <a:t>AI helps navigate and explain evidence. Deterministic systems own the decision logic.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A17EE3-FBDF-41E9-AC94-58060AA54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76800"/>
            <a:ext cx="3143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833"/>
          </a:bodyPr>
          <a:lstStyle xmlns:a="http://schemas.openxmlformats.org/drawingml/2006/main"/>
          <a:p xmlns:a="http://schemas.openxmlformats.org/drawingml/2006/main">
            <a:pPr algn="l">
              <a:defRPr sz="600" b="1" i="0">
                <a:solidFill>
                  <a:srgbClr val="8293B7"/>
                </a:solidFill>
                <a:latin typeface="Aptos"/>
                <a:ea typeface="Aptos"/>
                <a:cs typeface="Aptos"/>
              </a:defRPr>
            </a:pPr>
            <a:r>
              <a:rPr sz="600" b="1" i="0">
                <a:solidFill>
                  <a:srgbClr val="8293B7"/>
                </a:solidFill>
                <a:latin typeface="Aptos"/>
                <a:ea typeface="Aptos"/>
                <a:cs typeface="Aptos"/>
              </a:rPr>
              <a:t>MARKET OPPORTUNITY PLATFORM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43FF91-0465-41C9-850D-4C64C7976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F6B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C47107-3080-416C-BBA5-0C2F5AFBD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4583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2F6B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2F6B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50C8A9-6830-4F2A-A835-9F7957D13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05050"/>
            <a:ext cx="781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6667"/>
          </a:bodyPr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2F6BFF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2F6BFF"/>
                </a:solidFill>
                <a:latin typeface="Aptos"/>
                <a:ea typeface="Aptos"/>
                <a:cs typeface="Aptos"/>
              </a:rPr>
              <a:t>QUESTION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C1B022-8F9A-4306-90DB-5BF503302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2495550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defRPr sz="675" b="0" i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536174"/>
                </a:solidFill>
                <a:latin typeface="Aptos"/>
                <a:ea typeface="Aptos"/>
                <a:cs typeface="Aptos"/>
              </a:rPr>
              <a:t>What decision are we trying to support?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5A12F1-89BA-4BCA-BAED-48E394FC4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8097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F6B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A4173C-E48C-4C8A-9E28-338D99BE5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8859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4583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2F6B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2F6B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DB0286-4D43-4FAD-9E68-D1EC810C8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305050"/>
            <a:ext cx="781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6667"/>
          </a:bodyPr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2F6BFF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2F6BFF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22A498-DA72-484C-B19E-86701DC1B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2495550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1005"/>
          </a:bodyPr>
          <a:lstStyle xmlns:a="http://schemas.openxmlformats.org/drawingml/2006/main"/>
          <a:p xmlns:a="http://schemas.openxmlformats.org/drawingml/2006/main">
            <a:pPr algn="ctr">
              <a:defRPr sz="675" b="0" i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536174"/>
                </a:solidFill>
                <a:latin typeface="Aptos"/>
                <a:ea typeface="Aptos"/>
                <a:cs typeface="Aptos"/>
              </a:rPr>
              <a:t>Which sources are approved, real, or synthetic?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E46B96-1A8F-4EE4-B468-8C76BC0C7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8097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F6B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54A94B-8CE6-4CC6-9E2A-BF68ABE6A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8859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4583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2F6B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2F6B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98F4F5-4FB4-4DC4-9103-C330583D0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305050"/>
            <a:ext cx="781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6667"/>
          </a:bodyPr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2F6BFF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2F6BFF"/>
                </a:solidFill>
                <a:latin typeface="Aptos"/>
                <a:ea typeface="Aptos"/>
                <a:cs typeface="Aptos"/>
              </a:rPr>
              <a:t>COMPARE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C6D653-9A64-4A12-9F2F-7D0A8DCBA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495550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defRPr sz="675" b="0" i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536174"/>
                </a:solidFill>
                <a:latin typeface="Aptos"/>
                <a:ea typeface="Aptos"/>
                <a:cs typeface="Aptos"/>
              </a:rPr>
              <a:t>What changes by market, segment, or test?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62332CF-146D-4968-BE5E-614040C42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18097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F6B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7DFA4D5-4BF7-4ECA-BCB5-E17F4FC19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18859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4583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2F6B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2F6B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5419CF8-22CA-4CB1-B234-CEABB43B6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305050"/>
            <a:ext cx="781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6667"/>
          </a:bodyPr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2F6BFF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2F6BFF"/>
                </a:solidFill>
                <a:latin typeface="Aptos"/>
                <a:ea typeface="Aptos"/>
                <a:cs typeface="Aptos"/>
              </a:rPr>
              <a:t>UNCERTAINTY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674DDA0-5643-454E-8434-0F6C5AC32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2495550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defRPr sz="675" b="0" i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536174"/>
                </a:solidFill>
                <a:latin typeface="Aptos"/>
                <a:ea typeface="Aptos"/>
                <a:cs typeface="Aptos"/>
              </a:rPr>
              <a:t>What is missing, conflicting, or sensitive?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81CE1A6-DE8A-4FB7-BB71-8411908CF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8097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F6B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3141036-071B-41CC-AB3E-D14E266DC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8859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4583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2F6B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2F6B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4D205F8-292F-4EE0-B7EC-D50AED13D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305050"/>
            <a:ext cx="781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7355"/>
          </a:bodyPr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2F6BFF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2F6BFF"/>
                </a:solidFill>
                <a:latin typeface="Aptos"/>
                <a:ea typeface="Aptos"/>
                <a:cs typeface="Aptos"/>
              </a:rPr>
              <a:t>ACTION PACKET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C8C2935-07E9-4837-B9A1-FDDEA5F1A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2495550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defRPr sz="675" b="0" i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536174"/>
                </a:solidFill>
                <a:latin typeface="Aptos"/>
                <a:ea typeface="Aptos"/>
                <a:cs typeface="Aptos"/>
              </a:rPr>
              <a:t>What should a human review next?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9189B45-4759-4C4D-9F21-5AB18A0B3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009775"/>
            <a:ext cx="1162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2F6B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772BB7A-CB8F-41FF-89C6-7A6582770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009775"/>
            <a:ext cx="1162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2F6BF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ED0B5B6-40A5-4BD1-842D-B9A37F55F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009775"/>
            <a:ext cx="1162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2F6BF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87F99AE-1788-444C-A23D-A46DFD0B1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009775"/>
            <a:ext cx="1162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2F6BF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572003D-25DE-41C6-9049-982F34E61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219450"/>
            <a:ext cx="81915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7620">
            <a:solidFill>
              <a:srgbClr val="BFD0F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8203BAA-D1B5-42A6-AD09-C2588C1B2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257550"/>
            <a:ext cx="8191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0741"/>
          </a:bodyPr>
          <a:lstStyle xmlns:a="http://schemas.openxmlformats.org/drawingml/2006/main"/>
          <a:p xmlns:a="http://schemas.openxmlformats.org/drawingml/2006/main">
            <a:pPr algn="ctr">
              <a:defRPr sz="675" b="1" i="0">
                <a:solidFill>
                  <a:srgbClr val="2F6BFF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2F6BFF"/>
                </a:solidFill>
                <a:latin typeface="Aptos"/>
                <a:ea typeface="Aptos"/>
                <a:cs typeface="Aptos"/>
              </a:rPr>
              <a:t>AI GUIDES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7042833-0B3E-4697-ADB9-FE96B7BED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219450"/>
            <a:ext cx="10668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7620">
            <a:solidFill>
              <a:srgbClr val="BFD0F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145B279-021D-4D5B-BFEB-247312346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257550"/>
            <a:ext cx="10668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0741"/>
          </a:bodyPr>
          <a:lstStyle xmlns:a="http://schemas.openxmlformats.org/drawingml/2006/main"/>
          <a:p xmlns:a="http://schemas.openxmlformats.org/drawingml/2006/main">
            <a:pPr algn="ctr">
              <a:defRPr sz="675" b="1" i="0">
                <a:solidFill>
                  <a:srgbClr val="14B8A6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14B8A6"/>
                </a:solidFill>
                <a:latin typeface="Aptos"/>
                <a:ea typeface="Aptos"/>
                <a:cs typeface="Aptos"/>
              </a:rPr>
              <a:t>DETERMINISTIC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8DEA278-CB13-4DB6-9795-668F45BC5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219450"/>
            <a:ext cx="112395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7620">
            <a:solidFill>
              <a:srgbClr val="BFD0F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DE841E8-8F56-4585-9269-208821C97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257550"/>
            <a:ext cx="11239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0741"/>
          </a:bodyPr>
          <a:lstStyle xmlns:a="http://schemas.openxmlformats.org/drawingml/2006/main"/>
          <a:p xmlns:a="http://schemas.openxmlformats.org/drawingml/2006/main">
            <a:pPr algn="ctr">
              <a:defRPr sz="675" b="1" i="0">
                <a:solidFill>
                  <a:srgbClr val="FF6B4A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FF6B4A"/>
                </a:solidFill>
                <a:latin typeface="Aptos"/>
                <a:ea typeface="Aptos"/>
                <a:cs typeface="Aptos"/>
              </a:rPr>
              <a:t>HUMAN AUTHORITY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39A94DE-130A-4A1E-BE99-4497D149F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29050"/>
            <a:ext cx="571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4444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125" b="0" i="0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The output is not a black-box score. It is a source-linked, versioned, reviewable explanation of what we know and what to do next.</a:t>
            </a:r>
          </a:p>
        </p:txBody>
      </p:sp>
    </p:spTree>
    <p:extLst>
      <p:ext uri="{BB962C8B-B14F-4D97-AF65-F5344CB8AC3E}">
        <p14:creationId xmlns:p14="http://schemas.microsoft.com/office/powerpoint/2010/main" val="139783336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B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50C7E6F-4332-4DDC-82AF-391BB149D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1450"/>
            <a:ext cx="1238250" cy="12382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EAF0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100EAE-7737-4889-A840-715091283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04800"/>
            <a:ext cx="1504950" cy="15049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EAF0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56117F-A7ED-4BB1-9E59-CF0B47652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38150"/>
            <a:ext cx="1771650" cy="17716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EAF0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FFD67E-967A-449B-8FBA-02BA7ACFF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71500"/>
            <a:ext cx="2038350" cy="2038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EAF0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A86919-A9E6-488E-8869-A0DFB22A4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400050" y="3905250"/>
            <a:ext cx="857250" cy="8572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EEF2F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4A930D-C20A-47DD-A048-F0A359ECD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71450" y="4000500"/>
            <a:ext cx="1143000" cy="11430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EEF2F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BFEBD1-B3AF-4103-A5D3-6E05E2E8C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" y="4095750"/>
            <a:ext cx="1428750" cy="14287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EEF2F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74F52E-156A-44AE-B208-AE9E45E38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286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8672"/>
          </a:bodyPr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0B3FB8"/>
                </a:solidFill>
                <a:latin typeface="Georgia"/>
                <a:ea typeface="Georgia"/>
                <a:cs typeface="Georgia"/>
              </a:defRPr>
            </a:pPr>
            <a:r>
              <a:rPr sz="2250" b="0" i="0">
                <a:solidFill>
                  <a:srgbClr val="0B3FB8"/>
                </a:solidFill>
                <a:latin typeface="Georgia"/>
                <a:ea typeface="Georgia"/>
                <a:cs typeface="Georgia"/>
              </a:rPr>
              <a:t>We can demonstrate the pattern with a real local workflow today.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055018-BFA0-420E-B7C8-C882E5014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7155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536174"/>
                </a:solidFill>
                <a:latin typeface="Aptos"/>
                <a:ea typeface="Aptos"/>
                <a:cs typeface="Aptos"/>
              </a:rPr>
              <a:t>The current demo is intentionally bounded: one question, limited inputs, visible evidence boundaries.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1D23AB-9250-485F-BA2B-7418F60B1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76800"/>
            <a:ext cx="3143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833"/>
          </a:bodyPr>
          <a:lstStyle xmlns:a="http://schemas.openxmlformats.org/drawingml/2006/main"/>
          <a:p xmlns:a="http://schemas.openxmlformats.org/drawingml/2006/main">
            <a:pPr algn="l">
              <a:defRPr sz="600" b="1" i="0">
                <a:solidFill>
                  <a:srgbClr val="8293B7"/>
                </a:solidFill>
                <a:latin typeface="Aptos"/>
                <a:ea typeface="Aptos"/>
                <a:cs typeface="Aptos"/>
              </a:defRPr>
            </a:pPr>
            <a:r>
              <a:rPr sz="600" b="1" i="0">
                <a:solidFill>
                  <a:srgbClr val="8293B7"/>
                </a:solidFill>
                <a:latin typeface="Aptos"/>
                <a:ea typeface="Aptos"/>
                <a:cs typeface="Aptos"/>
              </a:rPr>
              <a:t>MARKET OPPORTUNITY PLATFORM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C2E734-BB45-4822-9D85-F4AAFD4A1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466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F6B4A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FF6B4A"/>
                </a:solidFill>
                <a:latin typeface="Aptos"/>
                <a:ea typeface="Aptos"/>
                <a:cs typeface="Aptos"/>
              </a:rPr>
              <a:t>LIVE DEMO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1FA2B8-30AA-4E75-82BF-E5616A6AE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323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7215"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0B3FB8"/>
                </a:solidFill>
                <a:latin typeface="Georgia"/>
                <a:ea typeface="Georgia"/>
                <a:cs typeface="Georgia"/>
              </a:defRPr>
            </a:pPr>
            <a:r>
              <a:rPr sz="1725" b="0" i="0">
                <a:solidFill>
                  <a:srgbClr val="0B3FB8"/>
                </a:solidFill>
                <a:latin typeface="Georgia"/>
                <a:ea typeface="Georgia"/>
                <a:cs typeface="Georgia"/>
              </a:rPr>
              <a:t>Question: where should Chewy focus the next market investigation?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FF99C0-125C-4AC4-97D3-9D4C4AEE0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4320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536174"/>
                </a:solidFill>
                <a:latin typeface="Aptos"/>
                <a:ea typeface="Aptos"/>
                <a:cs typeface="Aptos"/>
              </a:rPr>
              <a:t>We will watch the platform move from broad market context to a grounded next-action packet.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5D283D-DCFE-4575-96E7-F884B54C7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7145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F6B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21DD73-76DE-4641-9176-A5AAB9BD3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8383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0784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2F6BFF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2F6B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1A3EAC-0B51-4099-8D01-3CB1C6F20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34315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101827"/>
                </a:solidFill>
                <a:latin typeface="Aptos"/>
                <a:ea typeface="Aptos"/>
                <a:cs typeface="Aptos"/>
              </a:rPr>
              <a:t>Explore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95037D-3341-48FF-A7CB-CD9ACC206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533650"/>
            <a:ext cx="933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0" i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536174"/>
                </a:solidFill>
                <a:latin typeface="Aptos"/>
                <a:ea typeface="Aptos"/>
                <a:cs typeface="Aptos"/>
              </a:rPr>
              <a:t>market universe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16CA61-7DD9-40BD-8238-D91B41ECF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1971675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2F6B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A2EF01-330C-4607-8D48-FCD669433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7145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F6B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85373B-62E7-4848-853F-8CA53F70F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8383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0784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2F6BFF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2F6B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4C19EE-0BA9-4C07-97D3-CF66E3A42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34315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101827"/>
                </a:solidFill>
                <a:latin typeface="Aptos"/>
                <a:ea typeface="Aptos"/>
                <a:cs typeface="Aptos"/>
              </a:rPr>
              <a:t>Assemble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DE721B0-30C6-4677-897C-D98EB3CD2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533650"/>
            <a:ext cx="933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0" i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536174"/>
                </a:solidFill>
                <a:latin typeface="Aptos"/>
                <a:ea typeface="Aptos"/>
                <a:cs typeface="Aptos"/>
              </a:rPr>
              <a:t>evidence ledger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FBBFF58-6569-4E3E-98D7-D03A574F2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971675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2F6B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278D5FA-D619-45A9-B167-8BCA70712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7145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F6B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64CEB9B-C3A7-4C91-8CF5-A1FEC7C63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8383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0784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2F6BFF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2F6B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5F5AF0E-04F1-4672-84A3-ED8FADD79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34315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101827"/>
                </a:solidFill>
                <a:latin typeface="Aptos"/>
                <a:ea typeface="Aptos"/>
                <a:cs typeface="Aptos"/>
              </a:rPr>
              <a:t>Compare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067D067-CD7F-45C5-81B7-B27B2F27A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533650"/>
            <a:ext cx="933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0" i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536174"/>
                </a:solidFill>
                <a:latin typeface="Aptos"/>
                <a:ea typeface="Aptos"/>
                <a:cs typeface="Aptos"/>
              </a:rPr>
              <a:t>visible criteria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0454476-F7C5-493D-8F51-B31B142BB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971675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2F6B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0001AD9-D0B6-4502-B941-01510AC02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145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FF6B4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5CFCE4B-3FFA-4120-98D9-C89057728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8383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0784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6B4A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FF6B4A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D5AD8AE-18C3-4CC0-8570-39F54D825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34315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101827"/>
                </a:solidFill>
                <a:latin typeface="Aptos"/>
                <a:ea typeface="Aptos"/>
                <a:cs typeface="Aptos"/>
              </a:rPr>
              <a:t>Explain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11EBDD2-50D4-4C81-9406-0838CA8CC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533650"/>
            <a:ext cx="933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0" i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536174"/>
                </a:solidFill>
                <a:latin typeface="Aptos"/>
                <a:ea typeface="Aptos"/>
                <a:cs typeface="Aptos"/>
              </a:rPr>
              <a:t>human review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8AE41A6-46AC-4F41-A8D6-99E1CAFF1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086100"/>
            <a:ext cx="171450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AFF"/>
          </a:solidFill>
          <a:ln xmlns:a="http://schemas.openxmlformats.org/drawingml/2006/main" w="11430">
            <a:solidFill>
              <a:srgbClr val="BFD0F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49E9062-25D4-4471-9FFF-664E137C5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54330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4FF"/>
          </a:solidFill>
          <a:ln xmlns:a="http://schemas.openxmlformats.org/drawingml/2006/main" w="11430">
            <a:solidFill>
              <a:srgbClr val="2F6BF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E8FCF90-9979-4128-B950-70FD327D0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2766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4532"/>
          </a:bodyPr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2F6BFF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2F6BFF"/>
                </a:solidFill>
                <a:latin typeface="Aptos"/>
                <a:ea typeface="Aptos"/>
                <a:cs typeface="Aptos"/>
              </a:rPr>
              <a:t>MAP  →  EVIDENCE  →  NEXT ACTION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A7B2F03-42A3-43AB-9DCD-65751B3CC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629150"/>
            <a:ext cx="276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 algn="ctr">
              <a:defRPr sz="900" b="0" i="1">
                <a:solidFill>
                  <a:srgbClr val="FF6B4A"/>
                </a:solidFill>
                <a:latin typeface="Georgia"/>
                <a:ea typeface="Georgia"/>
                <a:cs typeface="Georgia"/>
              </a:defRPr>
            </a:pPr>
            <a:r>
              <a:rPr sz="900" b="0" i="1">
                <a:solidFill>
                  <a:srgbClr val="FF6B4A"/>
                </a:solidFill>
                <a:latin typeface="Georgia"/>
                <a:ea typeface="Georgia"/>
                <a:cs typeface="Georgia"/>
              </a:rPr>
              <a:t>The demo proves the workflow, not a business outcome yet.</a:t>
            </a:r>
          </a:p>
        </p:txBody>
      </p:sp>
    </p:spTree>
    <p:extLst>
      <p:ext uri="{BB962C8B-B14F-4D97-AF65-F5344CB8AC3E}">
        <p14:creationId xmlns:p14="http://schemas.microsoft.com/office/powerpoint/2010/main" val="16476806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B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B6550ED-BF6F-4560-BF2D-61C279AE4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1450"/>
            <a:ext cx="1238250" cy="12382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EAF0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F12A3A-BC5B-425B-934B-F578E4347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04800"/>
            <a:ext cx="1504950" cy="15049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EAF0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77AD48-0104-4DBD-B591-3EBCA4457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38150"/>
            <a:ext cx="1771650" cy="17716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EAF0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CB4A53-7F16-4A5F-9871-38BAE6BD8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71500"/>
            <a:ext cx="2038350" cy="2038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EAF0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104928-8422-4A6E-83D4-14E98400E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400050" y="3905250"/>
            <a:ext cx="857250" cy="8572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EEF2F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9BE59C-41EC-4FE4-9DFF-194551B66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71450" y="4000500"/>
            <a:ext cx="1143000" cy="11430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EEF2F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14E061-5275-4FC5-A9C9-7C9442EDF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" y="4095750"/>
            <a:ext cx="1428750" cy="14287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EEF2F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AF3440-A87A-42CD-8920-DF5DCBCE4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286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0082"/>
          </a:bodyPr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0B3FB8"/>
                </a:solidFill>
                <a:latin typeface="Georgia"/>
                <a:ea typeface="Georgia"/>
                <a:cs typeface="Georgia"/>
              </a:defRPr>
            </a:pPr>
            <a:r>
              <a:rPr sz="2250" b="0" i="0">
                <a:solidFill>
                  <a:srgbClr val="0B3FB8"/>
                </a:solidFill>
                <a:latin typeface="Georgia"/>
                <a:ea typeface="Georgia"/>
                <a:cs typeface="Georgia"/>
              </a:rPr>
              <a:t>The value is the handoff: from evidence to a decision someone can own.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66DB69-75D7-417D-AE92-CFA6EDBF6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7155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536174"/>
                </a:solidFill>
                <a:latin typeface="Aptos"/>
                <a:ea typeface="Aptos"/>
                <a:cs typeface="Aptos"/>
              </a:rPr>
              <a:t>During the demo, look for depth, missingness, deterministic comparisons, and a reviewable next action.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A854A4-73FA-4D41-B9EE-06B393C57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76800"/>
            <a:ext cx="3143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833"/>
          </a:bodyPr>
          <a:lstStyle xmlns:a="http://schemas.openxmlformats.org/drawingml/2006/main"/>
          <a:p xmlns:a="http://schemas.openxmlformats.org/drawingml/2006/main">
            <a:pPr algn="l">
              <a:defRPr sz="600" b="1" i="0">
                <a:solidFill>
                  <a:srgbClr val="8293B7"/>
                </a:solidFill>
                <a:latin typeface="Aptos"/>
                <a:ea typeface="Aptos"/>
                <a:cs typeface="Aptos"/>
              </a:defRPr>
            </a:pPr>
            <a:r>
              <a:rPr sz="600" b="1" i="0">
                <a:solidFill>
                  <a:srgbClr val="8293B7"/>
                </a:solidFill>
                <a:latin typeface="Aptos"/>
                <a:ea typeface="Aptos"/>
                <a:cs typeface="Aptos"/>
              </a:rPr>
              <a:t>MARKET OPPORTUNITY PLATFORM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F0F79F-EFFB-4453-AB73-87EC9C25E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764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F6B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F8B30F-BD0F-44E4-9CE7-7D63E97A4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38325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098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2F6BFF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2F6B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669125-1EF6-4922-B2E3-CCA2B9E34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400300"/>
            <a:ext cx="1257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2F6BFF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2F6BFF"/>
                </a:solidFill>
                <a:latin typeface="Aptos"/>
                <a:ea typeface="Aptos"/>
                <a:cs typeface="Aptos"/>
              </a:rPr>
              <a:t>MARKET UNIVERSE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66CA4D-4AD8-43DB-AB0D-71158A550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638425"/>
            <a:ext cx="1257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6667"/>
          </a:bodyPr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536174"/>
                </a:solidFill>
                <a:latin typeface="Aptos"/>
                <a:ea typeface="Aptos"/>
                <a:cs typeface="Aptos"/>
              </a:rPr>
              <a:t>orient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C01193-1267-4964-ADEA-CDBDAAF43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981200"/>
            <a:ext cx="1219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2F6B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ADE6F8-9B0B-47EC-9AE3-B7EABCCE0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6764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F6B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5049B4-69F4-43F2-8EEC-C0592FE49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838325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098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2F6BFF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2F6B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8B76B7-0BD4-4B9E-B58F-3C85BCD3F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400300"/>
            <a:ext cx="1257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2F6BFF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2F6BFF"/>
                </a:solidFill>
                <a:latin typeface="Aptos"/>
                <a:ea typeface="Aptos"/>
                <a:cs typeface="Aptos"/>
              </a:rPr>
              <a:t>EVIDENCE LEDGER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F563EF-5801-4F1B-84B9-5D0FF7757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638425"/>
            <a:ext cx="1257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6667"/>
          </a:bodyPr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536174"/>
                </a:solidFill>
                <a:latin typeface="Aptos"/>
                <a:ea typeface="Aptos"/>
                <a:cs typeface="Aptos"/>
              </a:rPr>
              <a:t>ground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D1321A-1803-4186-A71E-F9055A861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981200"/>
            <a:ext cx="1219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2F6B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FCC710-C5D1-452A-91FB-81BE91BCC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6764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F6B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FA0D24-5F1D-4D1A-9693-C7BCCCC5A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838325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098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2F6BFF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2F6B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F3D9E63-FC0B-4066-B623-747331BAF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400300"/>
            <a:ext cx="1257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005"/>
          </a:bodyPr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2F6BFF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2F6BFF"/>
                </a:solidFill>
                <a:latin typeface="Aptos"/>
                <a:ea typeface="Aptos"/>
                <a:cs typeface="Aptos"/>
              </a:rPr>
              <a:t>DETERMINISTIC COMPARISON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A425F2B-C74C-49E1-AE05-3483F4519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638425"/>
            <a:ext cx="1257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6667"/>
          </a:bodyPr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536174"/>
                </a:solidFill>
                <a:latin typeface="Aptos"/>
                <a:ea typeface="Aptos"/>
                <a:cs typeface="Aptos"/>
              </a:rPr>
              <a:t>test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DA0EC03-143D-4AC0-858D-0DA076D63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981200"/>
            <a:ext cx="1219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2F6B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969A9AC-218A-4D97-9B11-1952EC803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6764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FF6B4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67341F8-B5D3-4AE4-B8A3-2B586FDA1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838325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098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6B4A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FF6B4A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0A579B7-8637-4BE4-A400-845CA7879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400300"/>
            <a:ext cx="1257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6095"/>
          </a:bodyPr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FF6B4A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FF6B4A"/>
                </a:solidFill>
                <a:latin typeface="Aptos"/>
                <a:ea typeface="Aptos"/>
                <a:cs typeface="Aptos"/>
              </a:rPr>
              <a:t>GROUNDED EXPLANATION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EA774A3-AECF-4F00-BFA6-681CC0668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38425"/>
            <a:ext cx="1257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6667"/>
          </a:bodyPr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536174"/>
                </a:solidFill>
                <a:latin typeface="Aptos"/>
                <a:ea typeface="Aptos"/>
                <a:cs typeface="Aptos"/>
              </a:rPr>
              <a:t>review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0E3AABE-451C-4E63-872B-0257046DE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467100"/>
            <a:ext cx="6381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275" b="0" i="0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A useful market answer is not “the model picked this.” It is “here is the evidence, here is what is missing, and here is the next accountable test.”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F1E572F-FBCB-4C59-A3EF-AFDC198B9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324350"/>
            <a:ext cx="17145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7620">
            <a:solidFill>
              <a:srgbClr val="BFD0F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B7C534F-239F-4F76-811E-A1FC39B4F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362450"/>
            <a:ext cx="1714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0741"/>
          </a:bodyPr>
          <a:lstStyle xmlns:a="http://schemas.openxmlformats.org/drawingml/2006/main"/>
          <a:p xmlns:a="http://schemas.openxmlformats.org/drawingml/2006/main">
            <a:pPr algn="ctr">
              <a:defRPr sz="675" b="1" i="0">
                <a:solidFill>
                  <a:srgbClr val="FF6B4A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FF6B4A"/>
                </a:solidFill>
                <a:latin typeface="Aptos"/>
                <a:ea typeface="Aptos"/>
                <a:cs typeface="Aptos"/>
              </a:rPr>
              <a:t>SWITCH TO LIVE DEMO</a:t>
            </a:r>
          </a:p>
        </p:txBody>
      </p:sp>
    </p:spTree>
    <p:extLst>
      <p:ext uri="{BB962C8B-B14F-4D97-AF65-F5344CB8AC3E}">
        <p14:creationId xmlns:p14="http://schemas.microsoft.com/office/powerpoint/2010/main" val="82772962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B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EAC4576-C667-4568-97F2-578CE56FF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1450"/>
            <a:ext cx="1238250" cy="12382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EAF0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54A6FC-525D-40D1-8F40-63A4E9E14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04800"/>
            <a:ext cx="1504950" cy="15049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EAF0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5A001C-01CC-4A3B-BDF2-AB43975C3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38150"/>
            <a:ext cx="1771650" cy="17716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EAF0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9C473E-162A-489E-ADF4-06448ACC1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71500"/>
            <a:ext cx="2038350" cy="2038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EAF0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551750-CDFF-4F8F-9BAB-3717CF07B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400050" y="3905250"/>
            <a:ext cx="857250" cy="8572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EEF2F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8B4E07-27BB-4C52-9DA3-20EC22A81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71450" y="4000500"/>
            <a:ext cx="1143000" cy="11430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EEF2F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ACF8DC-5C8C-48DE-B2DA-D9E0146C4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" y="4095750"/>
            <a:ext cx="1428750" cy="14287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EEF2F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51FC1E-9FBC-4046-B165-AEE24DE62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286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0B3FB8"/>
                </a:solidFill>
                <a:latin typeface="Georgia"/>
                <a:ea typeface="Georgia"/>
                <a:cs typeface="Georgia"/>
              </a:defRPr>
            </a:pPr>
            <a:r>
              <a:rPr sz="2250" b="0" i="0">
                <a:solidFill>
                  <a:srgbClr val="0B3FB8"/>
                </a:solidFill>
                <a:latin typeface="Georgia"/>
                <a:ea typeface="Georgia"/>
                <a:cs typeface="Georgia"/>
              </a:rPr>
              <a:t>The platform already spans multiple evidence domains.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60F222-CE67-4178-A494-AE7AA7AB3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7155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536174"/>
                </a:solidFill>
                <a:latin typeface="Aptos"/>
                <a:ea typeface="Aptos"/>
                <a:cs typeface="Aptos"/>
              </a:rPr>
              <a:t>The sources are real. The production operating model and measured business lift are the next validation steps.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DAF412-065C-4022-9852-E8B3C8EB2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76800"/>
            <a:ext cx="3143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833"/>
          </a:bodyPr>
          <a:lstStyle xmlns:a="http://schemas.openxmlformats.org/drawingml/2006/main"/>
          <a:p xmlns:a="http://schemas.openxmlformats.org/drawingml/2006/main">
            <a:pPr algn="l">
              <a:defRPr sz="600" b="1" i="0">
                <a:solidFill>
                  <a:srgbClr val="8293B7"/>
                </a:solidFill>
                <a:latin typeface="Aptos"/>
                <a:ea typeface="Aptos"/>
                <a:cs typeface="Aptos"/>
              </a:defRPr>
            </a:pPr>
            <a:r>
              <a:rPr sz="600" b="1" i="0">
                <a:solidFill>
                  <a:srgbClr val="8293B7"/>
                </a:solidFill>
                <a:latin typeface="Aptos"/>
                <a:ea typeface="Aptos"/>
                <a:cs typeface="Aptos"/>
              </a:rPr>
              <a:t>MARKET OPPORTUNITY PLATFORM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447E1F-E3A1-4094-86B2-F6033AAAA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002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AFF"/>
          </a:solidFill>
          <a:ln xmlns:a="http://schemas.openxmlformats.org/drawingml/2006/main" w="11430">
            <a:solidFill>
              <a:srgbClr val="2F6B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EC336A-EBAA-42B8-B5F5-90B963B43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85925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1667"/>
          </a:bodyPr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2F6BFF"/>
                </a:solidFill>
                <a:latin typeface="Georgia"/>
                <a:ea typeface="Georgia"/>
                <a:cs typeface="Georgia"/>
              </a:defRPr>
            </a:pPr>
            <a:r>
              <a:rPr sz="1500" b="0" i="0">
                <a:solidFill>
                  <a:srgbClr val="2F6BFF"/>
                </a:solidFill>
                <a:latin typeface="Georgia"/>
                <a:ea typeface="Georgia"/>
                <a:cs typeface="Georgia"/>
              </a:rPr>
              <a:t>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3A2634-1901-45F0-AFF7-F8DB75594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192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2F6BFF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2F6BFF"/>
                </a:solidFill>
                <a:latin typeface="Aptos"/>
                <a:ea typeface="Aptos"/>
                <a:cs typeface="Aptos"/>
              </a:rPr>
              <a:t>Clinic exploration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C6FEB0-2F67-4EA9-8B93-92826D7EC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7907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536174"/>
                </a:solidFill>
                <a:latin typeface="Aptos"/>
                <a:ea typeface="Aptos"/>
                <a:cs typeface="Aptos"/>
              </a:rPr>
              <a:t>real local workflow and evidence assembly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DF5E3B-8005-4F9A-87E0-692B4A796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574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AFF"/>
          </a:solidFill>
          <a:ln xmlns:a="http://schemas.openxmlformats.org/drawingml/2006/main" w="11430">
            <a:solidFill>
              <a:srgbClr val="14B8A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A10275-B601-4AF4-85AA-4D8494C54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43175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1667"/>
          </a:bodyPr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14B8A6"/>
                </a:solidFill>
                <a:latin typeface="Georgia"/>
                <a:ea typeface="Georgia"/>
                <a:cs typeface="Georgia"/>
              </a:defRPr>
            </a:pPr>
            <a:r>
              <a:rPr sz="1500" b="0" i="0">
                <a:solidFill>
                  <a:srgbClr val="14B8A6"/>
                </a:solidFill>
                <a:latin typeface="Georgia"/>
                <a:ea typeface="Georgia"/>
                <a:cs typeface="Georgia"/>
              </a:rPr>
              <a:t>↗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3E3103-220A-4FEA-9223-C9A953A61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4765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4B8A6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14B8A6"/>
                </a:solidFill>
                <a:latin typeface="Aptos"/>
                <a:ea typeface="Aptos"/>
                <a:cs typeface="Aptos"/>
              </a:rPr>
              <a:t>Growth marketing test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6C6164-867A-42BE-9548-6770B42C9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6479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536174"/>
                </a:solidFill>
                <a:latin typeface="Aptos"/>
                <a:ea typeface="Aptos"/>
                <a:cs typeface="Aptos"/>
              </a:rPr>
              <a:t>real test inputs and decision framing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3E55CC-ECB0-487D-956A-5F826477B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6002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AFF"/>
          </a:solidFill>
          <a:ln xmlns:a="http://schemas.openxmlformats.org/drawingml/2006/main" w="11430">
            <a:solidFill>
              <a:srgbClr val="2F6B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709945D-EB7B-465C-AD66-93D9B0FEF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685925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1667"/>
          </a:bodyPr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2F6BFF"/>
                </a:solidFill>
                <a:latin typeface="Georgia"/>
                <a:ea typeface="Georgia"/>
                <a:cs typeface="Georgia"/>
              </a:defRPr>
            </a:pPr>
            <a:r>
              <a:rPr sz="1500" b="0" i="0">
                <a:solidFill>
                  <a:srgbClr val="2F6BFF"/>
                </a:solidFill>
                <a:latin typeface="Georgia"/>
                <a:ea typeface="Georgia"/>
                <a:cs typeface="Georgia"/>
              </a:rPr>
              <a:t>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1790CF-12D9-464D-A3A4-75989C0FB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16192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2F6BFF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2F6BFF"/>
                </a:solidFill>
                <a:latin typeface="Aptos"/>
                <a:ea typeface="Aptos"/>
                <a:cs typeface="Aptos"/>
              </a:rPr>
              <a:t>Consumer insights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D46007A-2736-4780-89FD-0AAA3B8CD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17907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536174"/>
                </a:solidFill>
                <a:latin typeface="Aptos"/>
                <a:ea typeface="Aptos"/>
                <a:cs typeface="Aptos"/>
              </a:rPr>
              <a:t>real context for demand and barriers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5E0894D-BCDE-4C79-82FD-48CD54A50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4574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AFF"/>
          </a:solidFill>
          <a:ln xmlns:a="http://schemas.openxmlformats.org/drawingml/2006/main" w="11430">
            <a:solidFill>
              <a:srgbClr val="14B8A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CCA73FA-E1F6-4CC6-AFC6-3B4DBF08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543175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1667"/>
          </a:bodyPr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14B8A6"/>
                </a:solidFill>
                <a:latin typeface="Georgia"/>
                <a:ea typeface="Georgia"/>
                <a:cs typeface="Georgia"/>
              </a:defRPr>
            </a:pPr>
            <a:r>
              <a:rPr sz="1500" b="0" i="0">
                <a:solidFill>
                  <a:srgbClr val="14B8A6"/>
                </a:solidFill>
                <a:latin typeface="Georgia"/>
                <a:ea typeface="Georgia"/>
                <a:cs typeface="Georgia"/>
              </a:rPr>
              <a:t>▦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08B6196-4B24-4ACB-A96E-6DAACCFDB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4765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4B8A6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14B8A6"/>
                </a:solidFill>
                <a:latin typeface="Aptos"/>
                <a:ea typeface="Aptos"/>
                <a:cs typeface="Aptos"/>
              </a:rPr>
              <a:t>Census context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31C1195-16B1-4C8E-9F32-F55A76311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6479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536174"/>
                </a:solidFill>
                <a:latin typeface="Aptos"/>
                <a:ea typeface="Aptos"/>
                <a:cs typeface="Aptos"/>
              </a:rPr>
              <a:t>real public demographic geography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C5F5812-2BD8-4F95-AFD3-88BB79D0F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981200"/>
            <a:ext cx="1047750" cy="1047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F6B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E1125C1-63FC-4E67-AA93-449960331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257425"/>
            <a:ext cx="104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3333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2F6BFF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2F6BFF"/>
                </a:solidFill>
                <a:latin typeface="Aptos"/>
                <a:ea typeface="Aptos"/>
                <a:cs typeface="Aptos"/>
              </a:rPr>
              <a:t>ONE</a:t>
            </a:r>
          </a:p>
          <a:p xmlns:a="http://schemas.openxmlformats.org/drawingml/2006/main">
            <a:pPr algn="ctr">
              <a:defRPr sz="1125" b="1" i="0">
                <a:solidFill>
                  <a:srgbClr val="2F6BFF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2F6BFF"/>
                </a:solidFill>
                <a:latin typeface="Aptos"/>
                <a:ea typeface="Aptos"/>
                <a:cs typeface="Aptos"/>
              </a:rPr>
              <a:t>QUESTION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47775D3-88CD-461A-B80C-D879E5457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790700"/>
            <a:ext cx="571500" cy="571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2F6BFF"/>
            </a:solidFill>
            <a:prstDash val="dash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D483993-A692-4012-A377-61829B419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6479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2F6BFF"/>
            </a:solidFill>
            <a:prstDash val="dash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7357E62-3655-4B0A-AACA-2A18ABA13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790700"/>
            <a:ext cx="285750" cy="571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2F6BFF"/>
            </a:solidFill>
            <a:prstDash val="dash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46B1C38-128F-4732-8327-05E30518C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47950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2F6BFF"/>
            </a:solidFill>
            <a:prstDash val="dash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CC2F6E4-1A94-439D-9ED5-230C77E51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14750"/>
            <a:ext cx="628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536174"/>
                </a:solidFill>
                <a:latin typeface="Aptos"/>
                <a:ea typeface="Aptos"/>
                <a:cs typeface="Aptos"/>
              </a:rPr>
              <a:t>Evidence labels matter: confirmed, reported, derived, hypothesis, and unknown are visible in the workflow instead of being blended into a single answer.</a:t>
            </a:r>
          </a:p>
        </p:txBody>
      </p:sp>
    </p:spTree>
    <p:extLst>
      <p:ext uri="{BB962C8B-B14F-4D97-AF65-F5344CB8AC3E}">
        <p14:creationId xmlns:p14="http://schemas.microsoft.com/office/powerpoint/2010/main" val="172409004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CFB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19BC42-0DB8-416C-8551-AF2066855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1450"/>
            <a:ext cx="1238250" cy="12382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EAF0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85C43F-CFAE-4801-A6D0-32C1F6CB1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04800"/>
            <a:ext cx="1504950" cy="15049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EAF0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852200-90C1-4793-A226-9A69C4A93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38150"/>
            <a:ext cx="1771650" cy="17716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EAF0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A0F57E-FB32-487E-97C0-7A6AD76DD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71500"/>
            <a:ext cx="2038350" cy="2038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EAF0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19BD32-927F-4531-A5A9-FFDB97E53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400050" y="3905250"/>
            <a:ext cx="857250" cy="8572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EEF2F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7D76F3-B78A-4D4D-9966-DE800D896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71450" y="4000500"/>
            <a:ext cx="1143000" cy="11430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EEF2F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43EB75-6425-43BB-BF99-ECA7444B0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" y="4095750"/>
            <a:ext cx="1428750" cy="14287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EEF2F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4A42AD-E880-406E-A739-603997223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286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0B3FB8"/>
                </a:solidFill>
                <a:latin typeface="Georgia"/>
                <a:ea typeface="Georgia"/>
                <a:cs typeface="Georgia"/>
              </a:defRPr>
            </a:pPr>
            <a:r>
              <a:rPr sz="2250" b="0" i="0">
                <a:solidFill>
                  <a:srgbClr val="0B3FB8"/>
                </a:solidFill>
                <a:latin typeface="Georgia"/>
                <a:ea typeface="Georgia"/>
                <a:cs typeface="Georgia"/>
              </a:rPr>
              <a:t>The company impact comes from decision quality at scale.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DD1621-1E9C-4467-8BE8-4ABA10332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7155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536174"/>
                </a:solidFill>
                <a:latin typeface="Aptos"/>
                <a:ea typeface="Aptos"/>
                <a:cs typeface="Aptos"/>
              </a:rPr>
              <a:t>We should measure the operating improvement before we claim an outcome improvement.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8E3E02-D596-4EBE-8007-64ABD10AF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76800"/>
            <a:ext cx="3143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833"/>
          </a:bodyPr>
          <a:lstStyle xmlns:a="http://schemas.openxmlformats.org/drawingml/2006/main"/>
          <a:p xmlns:a="http://schemas.openxmlformats.org/drawingml/2006/main">
            <a:pPr algn="l">
              <a:defRPr sz="600" b="1" i="0">
                <a:solidFill>
                  <a:srgbClr val="8293B7"/>
                </a:solidFill>
                <a:latin typeface="Aptos"/>
                <a:ea typeface="Aptos"/>
                <a:cs typeface="Aptos"/>
              </a:defRPr>
            </a:pPr>
            <a:r>
              <a:rPr sz="600" b="1" i="0">
                <a:solidFill>
                  <a:srgbClr val="8293B7"/>
                </a:solidFill>
                <a:latin typeface="Aptos"/>
                <a:ea typeface="Aptos"/>
                <a:cs typeface="Aptos"/>
              </a:rPr>
              <a:t>MARKET OPPORTUNITY PLATFORM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BFC213-21C9-4B2B-AB8E-BB3A6D9FB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4859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6B4A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FF6B4A"/>
                </a:solidFill>
                <a:latin typeface="Aptos"/>
                <a:ea typeface="Aptos"/>
                <a:cs typeface="Aptos"/>
              </a:rPr>
              <a:t>TODAY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BCB8B9-E671-4E1C-B950-AB17B687F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1524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0816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200" b="0" i="0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Repeated research</a:t>
            </a:r>
          </a:p>
          <a:p xmlns:a="http://schemas.openxmlformats.org/drawingml/2006/main">
            <a:pPr algn="ctr">
              <a:defRPr sz="1200" b="0" i="0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200" b="0" i="0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manual reconciliation</a:t>
            </a:r>
          </a:p>
          <a:p xmlns:a="http://schemas.openxmlformats.org/drawingml/2006/main">
            <a:pPr algn="ctr">
              <a:defRPr sz="1200" b="0" i="0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200" b="0" i="0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unclear evidence gaps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415DDC-C020-4BE3-9644-EF20FD41A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209800"/>
            <a:ext cx="1390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F6B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CAD6C1-37D5-4F52-9948-C06B59081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485900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2F6BFF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2F6BFF"/>
                </a:solidFill>
                <a:latin typeface="Aptos"/>
                <a:ea typeface="Aptos"/>
                <a:cs typeface="Aptos"/>
              </a:rPr>
              <a:t>PLATFORM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22155B-6597-4FD4-9AB9-B77AC3A31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924050"/>
            <a:ext cx="1524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3478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200" b="0" i="0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Question-first workflow</a:t>
            </a:r>
          </a:p>
          <a:p xmlns:a="http://schemas.openxmlformats.org/drawingml/2006/main">
            <a:pPr algn="ctr">
              <a:defRPr sz="1200" b="0" i="0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200" b="0" i="0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shared evidence model</a:t>
            </a:r>
          </a:p>
          <a:p xmlns:a="http://schemas.openxmlformats.org/drawingml/2006/main">
            <a:pPr algn="ctr">
              <a:defRPr sz="1200" b="0" i="0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200" b="0" i="0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reviewable action packet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626A8E-33F3-4A32-81D5-7582F0B1A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209800"/>
            <a:ext cx="1390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F6B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7C9BFF-EE6C-4C7C-879E-AAED452AE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14859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4B8A6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14B8A6"/>
                </a:solidFill>
                <a:latin typeface="Aptos"/>
                <a:ea typeface="Aptos"/>
                <a:cs typeface="Aptos"/>
              </a:rPr>
              <a:t>MEASURED VALUE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28761C-47B2-463C-9A11-7C8B7A290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924050"/>
            <a:ext cx="1619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3854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200" b="0" i="0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more decisions evaluated</a:t>
            </a:r>
          </a:p>
          <a:p xmlns:a="http://schemas.openxmlformats.org/drawingml/2006/main">
            <a:pPr algn="ctr">
              <a:defRPr sz="1200" b="0" i="0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200" b="0" i="0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less duplicated work</a:t>
            </a:r>
          </a:p>
          <a:p xmlns:a="http://schemas.openxmlformats.org/drawingml/2006/main">
            <a:pPr algn="ctr">
              <a:defRPr sz="1200" b="0" i="0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200" b="0" i="0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clearer ownership and gates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4FE9BA-039F-4B5B-A091-DC157F54E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581400"/>
            <a:ext cx="609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6428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536174"/>
                </a:solidFill>
                <a:latin typeface="Aptos"/>
                <a:ea typeface="Aptos"/>
                <a:cs typeface="Aptos"/>
              </a:rPr>
              <a:t>Potentially reusable across clinic expansion, growth planning, consumer insight activation, and other geographic business questions.</a:t>
            </a:r>
          </a:p>
        </p:txBody>
      </p:sp>
    </p:spTree>
    <p:extLst>
      <p:ext uri="{BB962C8B-B14F-4D97-AF65-F5344CB8AC3E}">
        <p14:creationId xmlns:p14="http://schemas.microsoft.com/office/powerpoint/2010/main" val="212877217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CFB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DAE1B3C-DCCD-4EBD-8DF9-46E7D6DDB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1450"/>
            <a:ext cx="1238250" cy="12382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EAF0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9A41F3-D8FD-4B57-9763-5C78697EE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04800"/>
            <a:ext cx="1504950" cy="15049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EAF0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353E62-37D7-4F40-A72C-FB6004D5E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38150"/>
            <a:ext cx="1771650" cy="17716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EAF0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DFBB70-B28A-4506-AF3A-5715DFDA9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71500"/>
            <a:ext cx="2038350" cy="2038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EAF0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8BE075-8F20-4021-A8ED-3B1F80768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400050" y="3905250"/>
            <a:ext cx="857250" cy="8572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EEF2F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09E7B4-263C-466A-BAA4-0F28144BE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71450" y="4000500"/>
            <a:ext cx="1143000" cy="11430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EEF2F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6E37B3-64CA-49E1-B06A-4A30BB504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" y="4095750"/>
            <a:ext cx="1428750" cy="14287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EEF2F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27C9F3-7F76-49ED-9372-E95D2F0A3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286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0B3FB8"/>
                </a:solidFill>
                <a:latin typeface="Georgia"/>
                <a:ea typeface="Georgia"/>
                <a:cs typeface="Georgia"/>
              </a:defRPr>
            </a:pPr>
            <a:r>
              <a:rPr sz="2250" b="0" i="0">
                <a:solidFill>
                  <a:srgbClr val="0B3FB8"/>
                </a:solidFill>
                <a:latin typeface="Georgia"/>
                <a:ea typeface="Georgia"/>
                <a:cs typeface="Georgia"/>
              </a:rPr>
              <a:t>Clinic expansion is the first wedge, not the product boundary.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8B76E9-5909-4344-AF9D-597D3C267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7155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536174"/>
                </a:solidFill>
                <a:latin typeface="Aptos"/>
                <a:ea typeface="Aptos"/>
                <a:cs typeface="Aptos"/>
              </a:rPr>
              <a:t>The reusable product is the evaluation protocol and evidence-to-action operating model.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EAD1C0-2F9A-4BCE-AE93-13D4EC4E4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76800"/>
            <a:ext cx="3143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833"/>
          </a:bodyPr>
          <a:lstStyle xmlns:a="http://schemas.openxmlformats.org/drawingml/2006/main"/>
          <a:p xmlns:a="http://schemas.openxmlformats.org/drawingml/2006/main">
            <a:pPr algn="l">
              <a:defRPr sz="600" b="1" i="0">
                <a:solidFill>
                  <a:srgbClr val="8293B7"/>
                </a:solidFill>
                <a:latin typeface="Aptos"/>
                <a:ea typeface="Aptos"/>
                <a:cs typeface="Aptos"/>
              </a:defRPr>
            </a:pPr>
            <a:r>
              <a:rPr sz="600" b="1" i="0">
                <a:solidFill>
                  <a:srgbClr val="8293B7"/>
                </a:solidFill>
                <a:latin typeface="Aptos"/>
                <a:ea typeface="Aptos"/>
                <a:cs typeface="Aptos"/>
              </a:rPr>
              <a:t>MARKET OPPORTUNITY PLATFORM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C59C64-0C81-4E2A-B69F-84E0D04B3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90700"/>
            <a:ext cx="819150" cy="819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FF6B4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AC7D6B-4177-447B-855D-66B0E98D0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81200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7407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6B4A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FF6B4A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39046E-0518-4C4E-8029-FB20EC0E3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19400"/>
            <a:ext cx="1352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F6B4A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FF6B4A"/>
                </a:solidFill>
                <a:latin typeface="Aptos"/>
                <a:ea typeface="Aptos"/>
                <a:cs typeface="Aptos"/>
              </a:rPr>
              <a:t>CLINIC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8F908A-0449-4B67-B4F3-FE7346ECC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67050"/>
            <a:ext cx="1733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536174"/>
                </a:solidFill>
                <a:latin typeface="Aptos"/>
                <a:ea typeface="Aptos"/>
                <a:cs typeface="Aptos"/>
              </a:rPr>
              <a:t>Where should we investigate?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AAA027-8091-46C7-8DCA-523C52FC7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200275"/>
            <a:ext cx="91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2F6B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E7DF2E-C837-4F88-94F5-F9E26FCE4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790700"/>
            <a:ext cx="819150" cy="819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F6B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EF5A85-D17A-43AF-BB8C-8E4CAE0EA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981200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7407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2F6BFF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2F6B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235886-1EAA-4B0A-AA0A-DF74E9B70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819400"/>
            <a:ext cx="1352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2F6BFF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2F6BFF"/>
                </a:solidFill>
                <a:latin typeface="Aptos"/>
                <a:ea typeface="Aptos"/>
                <a:cs typeface="Aptos"/>
              </a:rPr>
              <a:t>GROWTH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CAF949-BC4B-46F4-B903-4D4EEC191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067050"/>
            <a:ext cx="1733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536174"/>
                </a:solidFill>
                <a:latin typeface="Aptos"/>
                <a:ea typeface="Aptos"/>
                <a:cs typeface="Aptos"/>
              </a:rPr>
              <a:t>Which local test should we run?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EB2FF6-F373-4BBC-9D5D-1E14C318B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200275"/>
            <a:ext cx="91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2F6B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BDD5F7-B075-4BEA-987F-0D243C4CE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790700"/>
            <a:ext cx="819150" cy="819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F6B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A6A3046-6605-4C49-864A-BF95DD137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981200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7407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2F6BFF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2F6B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70C5FD5-9395-40FB-8878-755B90AB9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819400"/>
            <a:ext cx="1352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2F6BFF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2F6BFF"/>
                </a:solidFill>
                <a:latin typeface="Aptos"/>
                <a:ea typeface="Aptos"/>
                <a:cs typeface="Aptos"/>
              </a:rPr>
              <a:t>CONSUMER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7FD22C2-5390-40C4-860A-8424A60A0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067050"/>
            <a:ext cx="1733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536174"/>
                </a:solidFill>
                <a:latin typeface="Aptos"/>
                <a:ea typeface="Aptos"/>
                <a:cs typeface="Aptos"/>
              </a:rPr>
              <a:t>Which need or barrier matters?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9DDE3EF-58E9-46E2-9395-89B8DAADF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200275"/>
            <a:ext cx="91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2F6B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4611D9A-79D6-4CC7-9A03-B3AD246BC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90700"/>
            <a:ext cx="819150" cy="819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F6B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C6E941A-3F50-4870-A32A-463650987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81200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7407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2F6BFF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2F6B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609D566-202E-48B1-B251-916CDA7A9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819400"/>
            <a:ext cx="1352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2F6BFF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2F6BFF"/>
                </a:solidFill>
                <a:latin typeface="Aptos"/>
                <a:ea typeface="Aptos"/>
                <a:cs typeface="Aptos"/>
              </a:rPr>
              <a:t>PORTFOLIO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8B8A3B7-9308-49E1-900B-668BA833D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067050"/>
            <a:ext cx="1733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536174"/>
                </a:solidFill>
                <a:latin typeface="Aptos"/>
                <a:ea typeface="Aptos"/>
                <a:cs typeface="Aptos"/>
              </a:rPr>
              <a:t>Where should leaders focus?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9D0D0DF-CDA4-4138-98EC-ACF46963F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943350"/>
            <a:ext cx="609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200" b="0" i="0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Same governed pattern. Different vertical inputs, criteria, owners, and next actions.</a:t>
            </a:r>
          </a:p>
        </p:txBody>
      </p:sp>
    </p:spTree>
    <p:extLst>
      <p:ext uri="{BB962C8B-B14F-4D97-AF65-F5344CB8AC3E}">
        <p14:creationId xmlns:p14="http://schemas.microsoft.com/office/powerpoint/2010/main" val="129068330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CFB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DAA8659-F038-481E-BA2D-5E92940F7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1450"/>
            <a:ext cx="1238250" cy="12382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EAF0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A0F599-1D93-4609-B3CA-51D128AE3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04800"/>
            <a:ext cx="1504950" cy="15049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EAF0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A89F01-7C13-4DEE-87F0-95B812421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38150"/>
            <a:ext cx="1771650" cy="17716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EAF0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33D8F4-1E40-4B72-A8C5-22E658E05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71500"/>
            <a:ext cx="2038350" cy="2038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EAF0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671F0C-F007-46A3-9111-7D0C854E9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400050" y="3905250"/>
            <a:ext cx="857250" cy="8572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EEF2F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2EAD6B-30E7-42A8-81DD-AECA7F34F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71450" y="4000500"/>
            <a:ext cx="1143000" cy="11430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EEF2F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1CB2FD-4FD2-4286-AE92-2486B9C0F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" y="4095750"/>
            <a:ext cx="1428750" cy="14287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EEF2F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4B1058-AC1D-495A-B193-84A3E816D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286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0B3FB8"/>
                </a:solidFill>
                <a:latin typeface="Georgia"/>
                <a:ea typeface="Georgia"/>
                <a:cs typeface="Georgia"/>
              </a:defRPr>
            </a:pPr>
            <a:r>
              <a:rPr sz="2250" b="0" i="0">
                <a:solidFill>
                  <a:srgbClr val="0B3FB8"/>
                </a:solidFill>
                <a:latin typeface="Georgia"/>
                <a:ea typeface="Georgia"/>
                <a:cs typeface="Georgia"/>
              </a:rPr>
              <a:t>The ask: help us prove one recurring decision end to end.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A6BF2F-4E45-458F-9C11-ABB8085E3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7155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536174"/>
                </a:solidFill>
                <a:latin typeface="Aptos"/>
                <a:ea typeface="Aptos"/>
                <a:cs typeface="Aptos"/>
              </a:rPr>
              <a:t>A focused pilot will turn a compelling workflow into evidence of company impact.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F13C2B-7C95-4D4A-8404-DDB859118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76800"/>
            <a:ext cx="3143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833"/>
          </a:bodyPr>
          <a:lstStyle xmlns:a="http://schemas.openxmlformats.org/drawingml/2006/main"/>
          <a:p xmlns:a="http://schemas.openxmlformats.org/drawingml/2006/main">
            <a:pPr algn="l">
              <a:defRPr sz="600" b="1" i="0">
                <a:solidFill>
                  <a:srgbClr val="8293B7"/>
                </a:solidFill>
                <a:latin typeface="Aptos"/>
                <a:ea typeface="Aptos"/>
                <a:cs typeface="Aptos"/>
              </a:defRPr>
            </a:pPr>
            <a:r>
              <a:rPr sz="600" b="1" i="0">
                <a:solidFill>
                  <a:srgbClr val="8293B7"/>
                </a:solidFill>
                <a:latin typeface="Aptos"/>
                <a:ea typeface="Aptos"/>
                <a:cs typeface="Aptos"/>
              </a:rPr>
              <a:t>MARKET OPPORTUNITY PLATFORM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3FC005-31ED-4294-B8B2-1927C1CA9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333500"/>
            <a:ext cx="11430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4FF"/>
          </a:solidFill>
          <a:ln xmlns:a="http://schemas.openxmlformats.org/drawingml/2006/main" w="14288">
            <a:solidFill>
              <a:srgbClr val="2F6B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93C6A5-56DA-4501-8D1F-756E90BA7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676400"/>
            <a:ext cx="114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875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2F6B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2F6BFF"/>
                </a:solidFill>
                <a:latin typeface="Aptos"/>
                <a:ea typeface="Aptos"/>
                <a:cs typeface="Aptos"/>
              </a:rPr>
              <a:t>ONE</a:t>
            </a:r>
          </a:p>
          <a:p xmlns:a="http://schemas.openxmlformats.org/drawingml/2006/main">
            <a:pPr algn="ctr">
              <a:defRPr sz="1200" b="1" i="0">
                <a:solidFill>
                  <a:srgbClr val="2F6B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2F6BFF"/>
                </a:solidFill>
                <a:latin typeface="Aptos"/>
                <a:ea typeface="Aptos"/>
                <a:cs typeface="Aptos"/>
              </a:rPr>
              <a:t>DECISION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31287D-6AAA-4243-ACAA-7B801065F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764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AFF"/>
          </a:solidFill>
          <a:ln xmlns:a="http://schemas.openxmlformats.org/drawingml/2006/main" w="11430">
            <a:solidFill>
              <a:srgbClr val="2F6B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40D985-BFFA-4BB6-BC66-29C0CCC4F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62125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1667"/>
          </a:bodyPr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2F6BFF"/>
                </a:solidFill>
                <a:latin typeface="Georgia"/>
                <a:ea typeface="Georgia"/>
                <a:cs typeface="Georgia"/>
              </a:defRPr>
            </a:pPr>
            <a:r>
              <a:rPr sz="1500" b="0" i="0">
                <a:solidFill>
                  <a:srgbClr val="2F6BFF"/>
                </a:solidFill>
                <a:latin typeface="Georgia"/>
                <a:ea typeface="Georgia"/>
                <a:cs typeface="Georgia"/>
              </a:rPr>
              <a:t>✓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AE2633-EFE2-4C8D-9691-4648DA5C9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6954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2F6BFF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2F6BFF"/>
                </a:solidFill>
                <a:latin typeface="Aptos"/>
                <a:ea typeface="Aptos"/>
                <a:cs typeface="Aptos"/>
              </a:rPr>
              <a:t>Accountable owner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0F8EFB-5451-4613-8E5D-1DFFA054D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8669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536174"/>
                </a:solidFill>
                <a:latin typeface="Aptos"/>
                <a:ea typeface="Aptos"/>
                <a:cs typeface="Aptos"/>
              </a:rPr>
              <a:t>one business partner who owns the decision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BCFEAF-7D28-4E3D-8362-91EA74CAC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241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AFF"/>
          </a:solidFill>
          <a:ln xmlns:a="http://schemas.openxmlformats.org/drawingml/2006/main" w="11430">
            <a:solidFill>
              <a:srgbClr val="14B8A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5E3276-DCF8-4967-B370-167C42814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09875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1667"/>
          </a:bodyPr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14B8A6"/>
                </a:solidFill>
                <a:latin typeface="Georgia"/>
                <a:ea typeface="Georgia"/>
                <a:cs typeface="Georgia"/>
              </a:defRPr>
            </a:pPr>
            <a:r>
              <a:rPr sz="1500" b="0" i="0">
                <a:solidFill>
                  <a:srgbClr val="14B8A6"/>
                </a:solidFill>
                <a:latin typeface="Georgia"/>
                <a:ea typeface="Georgia"/>
                <a:cs typeface="Georgia"/>
              </a:rPr>
              <a:t>▦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127D9D-7BC8-43AD-AEA1-D4BA7CC99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7432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4B8A6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14B8A6"/>
                </a:solidFill>
                <a:latin typeface="Aptos"/>
                <a:ea typeface="Aptos"/>
                <a:cs typeface="Aptos"/>
              </a:rPr>
              <a:t>Approved data path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12B369-D4FD-4743-A326-48F37D106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9146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536174"/>
                </a:solidFill>
                <a:latin typeface="Aptos"/>
                <a:ea typeface="Aptos"/>
                <a:cs typeface="Aptos"/>
              </a:rPr>
              <a:t>one governed set of inputs we can measure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EC7CD0-3B49-4E95-94E9-9A73D193A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16764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AFF"/>
          </a:solidFill>
          <a:ln xmlns:a="http://schemas.openxmlformats.org/drawingml/2006/main" w="11430">
            <a:solidFill>
              <a:srgbClr val="14B8A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4788857-2A4C-4102-998A-7E1C5AA44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1762125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1667"/>
          </a:bodyPr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14B8A6"/>
                </a:solidFill>
                <a:latin typeface="Georgia"/>
                <a:ea typeface="Georgia"/>
                <a:cs typeface="Georgia"/>
              </a:defRPr>
            </a:pPr>
            <a:r>
              <a:rPr sz="1500" b="0" i="0">
                <a:solidFill>
                  <a:srgbClr val="14B8A6"/>
                </a:solidFill>
                <a:latin typeface="Georgia"/>
                <a:ea typeface="Georgia"/>
                <a:cs typeface="Georgia"/>
              </a:rPr>
              <a:t>↗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041925B-1EC8-47FD-BE0F-8D2B69ADB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954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4B8A6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14B8A6"/>
                </a:solidFill>
                <a:latin typeface="Aptos"/>
                <a:ea typeface="Aptos"/>
                <a:cs typeface="Aptos"/>
              </a:rPr>
              <a:t>Success measure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C1A513F-FED6-4974-912B-C9E612A08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669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536174"/>
                </a:solidFill>
                <a:latin typeface="Aptos"/>
                <a:ea typeface="Aptos"/>
                <a:cs typeface="Aptos"/>
              </a:rPr>
              <a:t>time, quality, reuse, or decision confidence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8E798AA-0DE2-4108-AED5-67C3AD95E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7241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AFF"/>
          </a:solidFill>
          <a:ln xmlns:a="http://schemas.openxmlformats.org/drawingml/2006/main" w="11430">
            <a:solidFill>
              <a:srgbClr val="FF6B4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9F90C33-FA04-4BBE-AC89-F4D93F12F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809875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1667"/>
          </a:bodyPr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FF6B4A"/>
                </a:solidFill>
                <a:latin typeface="Georgia"/>
                <a:ea typeface="Georgia"/>
                <a:cs typeface="Georgia"/>
              </a:defRPr>
            </a:pPr>
            <a:r>
              <a:rPr sz="1500" b="0" i="0">
                <a:solidFill>
                  <a:srgbClr val="FF6B4A"/>
                </a:solidFill>
                <a:latin typeface="Georgia"/>
                <a:ea typeface="Georgia"/>
                <a:cs typeface="Georgia"/>
              </a:rPr>
              <a:t>◷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E5C6F4D-F91D-4DB4-A64D-52CC0414B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7432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FF6B4A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F6B4A"/>
                </a:solidFill>
                <a:latin typeface="Aptos"/>
                <a:ea typeface="Aptos"/>
                <a:cs typeface="Aptos"/>
              </a:rPr>
              <a:t>Review cadence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9D9C4E2-A0BD-4AA0-98EC-A2D9FBB43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9146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536174"/>
                </a:solidFill>
                <a:latin typeface="Aptos"/>
                <a:ea typeface="Aptos"/>
                <a:cs typeface="Aptos"/>
              </a:rPr>
              <a:t>one recurring decision to run in shadow mode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863B1A0-4C7F-484E-8556-7A50738E9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866900"/>
            <a:ext cx="133350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2F6BFF"/>
            </a:solidFill>
            <a:prstDash val="dash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7784C6B-C8C6-4C74-A4EF-208321315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190750"/>
            <a:ext cx="1333500" cy="857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2F6BFF"/>
            </a:solidFill>
            <a:prstDash val="dash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AB5F4A3-8CB9-4749-9FA3-31FC8151D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866900"/>
            <a:ext cx="59055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2F6BFF"/>
            </a:solidFill>
            <a:prstDash val="dash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3E5C59F-950E-46A5-8ED2-44563FABA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190750"/>
            <a:ext cx="590550" cy="857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2F6BFF"/>
            </a:solidFill>
            <a:prstDash val="dash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A4E6E7D-E3B3-4DF6-AA11-D335CE08B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095750"/>
            <a:ext cx="600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6947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200" b="0" i="0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If we can show better decisions with less duplicated investigation, we have a platform worth scaling.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4E699E8-9E32-4C73-B02A-064669E2E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48200"/>
            <a:ext cx="952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833"/>
          </a:bodyPr>
          <a:lstStyle xmlns:a="http://schemas.openxmlformats.org/drawingml/2006/main"/>
          <a:p xmlns:a="http://schemas.openxmlformats.org/drawingml/2006/main">
            <a:pPr algn="l">
              <a:defRPr sz="600" b="1" i="0">
                <a:solidFill>
                  <a:srgbClr val="FF6B4A"/>
                </a:solidFill>
                <a:latin typeface="Aptos"/>
                <a:ea typeface="Aptos"/>
                <a:cs typeface="Aptos"/>
              </a:defRPr>
            </a:pPr>
            <a:r>
              <a:rPr sz="600" b="1" i="0">
                <a:solidFill>
                  <a:srgbClr val="FF6B4A"/>
                </a:solidFill>
                <a:latin typeface="Aptos"/>
                <a:ea typeface="Aptos"/>
                <a:cs typeface="Aptos"/>
              </a:rPr>
              <a:t>QUESTIONS</a:t>
            </a:r>
          </a:p>
        </p:txBody>
      </p:sp>
    </p:spTree>
    <p:extLst>
      <p:ext uri="{BB962C8B-B14F-4D97-AF65-F5344CB8AC3E}">
        <p14:creationId xmlns:p14="http://schemas.microsoft.com/office/powerpoint/2010/main" val="170632593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2026-08-18T18:01:08.8700000Z</dcterms:created>
  <dcterms:modified xsi:type="dcterms:W3CDTF">2026-08-18T18:01:08.8700000Z</dcterms:modified>
</coreProperties>
</file>
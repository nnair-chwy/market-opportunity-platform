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d2cc62f4a743ed" /><Relationship Type="http://schemas.openxmlformats.org/officeDocument/2006/relationships/extended-properties" Target="/docProps/app.xml" Id="R8655141cc57143ec" /><Relationship Type="http://schemas.openxmlformats.org/officeDocument/2006/relationships/officeDocument" Target="/ppt/presentation.xml" Id="R1c94d744d5fb4338" /></Relationships>
</file>

<file path=ppt/presentation.xml><?xml version="1.0" encoding="utf-8"?>
<p:presentation xmlns:p="http://schemas.openxmlformats.org/presentationml/2006/main">
  <p:sldMasterIdLst>
    <p:sldMasterId xmlns:r="http://schemas.openxmlformats.org/officeDocument/2006/relationships" id="2147483648" r:id="R709fde2446aa43be"/>
  </p:sldMasterIdLst>
  <p:notesMasterIdLst>
    <p:notesMasterId xmlns:r="http://schemas.openxmlformats.org/officeDocument/2006/relationships" r:id="R0bae34f236374577"/>
  </p:notesMasterIdLst>
  <p:sldIdLst>
    <p:sldId xmlns:r="http://schemas.openxmlformats.org/officeDocument/2006/relationships" id="256" r:id="R49145cd28a0a4a98"/>
    <p:sldId xmlns:r="http://schemas.openxmlformats.org/officeDocument/2006/relationships" id="257" r:id="Rd67cdc1552714968"/>
    <p:sldId xmlns:r="http://schemas.openxmlformats.org/officeDocument/2006/relationships" id="258" r:id="Rd8bd520a2f6c4243"/>
    <p:sldId xmlns:r="http://schemas.openxmlformats.org/officeDocument/2006/relationships" id="259" r:id="R8de91129572a430a"/>
    <p:sldId xmlns:r="http://schemas.openxmlformats.org/officeDocument/2006/relationships" id="260" r:id="R21eff5292fa649f1"/>
    <p:sldId xmlns:r="http://schemas.openxmlformats.org/officeDocument/2006/relationships" id="261" r:id="R680fff114ae94d5e"/>
    <p:sldId xmlns:r="http://schemas.openxmlformats.org/officeDocument/2006/relationships" id="262" r:id="Rbe44e700a4d94957"/>
    <p:sldId xmlns:r="http://schemas.openxmlformats.org/officeDocument/2006/relationships" id="263" r:id="Rfeabcd9774f34879"/>
    <p:sldId xmlns:r="http://schemas.openxmlformats.org/officeDocument/2006/relationships" id="264" r:id="R8bd5e1601c2b4cb8"/>
    <p:sldId xmlns:r="http://schemas.openxmlformats.org/officeDocument/2006/relationships" id="265" r:id="R0398fc3f408945e8"/>
    <p:sldId xmlns:r="http://schemas.openxmlformats.org/officeDocument/2006/relationships" id="266" r:id="Rc4043e6fc9fd441e"/>
    <p:sldId xmlns:r="http://schemas.openxmlformats.org/officeDocument/2006/relationships" id="267" r:id="R8ca33f61a00341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59cc553b8242a3" /><Relationship Type="http://schemas.openxmlformats.org/officeDocument/2006/relationships/slideMaster" Target="/ppt/slideMasters/slideMaster1.xml" Id="R709fde2446aa43be" /><Relationship Type="http://schemas.openxmlformats.org/officeDocument/2006/relationships/notesMaster" Target="/ppt/notesMasters/notesMaster1.xml" Id="R0bae34f236374577" /><Relationship Type="http://schemas.openxmlformats.org/officeDocument/2006/relationships/presProps" Target="/ppt/presProps.xml" Id="R4940bd30d7a243a9" /><Relationship Type="http://schemas.openxmlformats.org/officeDocument/2006/relationships/tableStyles" Target="/ppt/tableStyles.xml" Id="R2922372fe55643ac" /><Relationship Type="http://schemas.openxmlformats.org/officeDocument/2006/relationships/slide" Target="/ppt/slides/slide1.xml" Id="R49145cd28a0a4a98" /><Relationship Type="http://schemas.openxmlformats.org/officeDocument/2006/relationships/slide" Target="/ppt/slides/slide2.xml" Id="Rd67cdc1552714968" /><Relationship Type="http://schemas.openxmlformats.org/officeDocument/2006/relationships/slide" Target="/ppt/slides/slide3.xml" Id="Rd8bd520a2f6c4243" /><Relationship Type="http://schemas.openxmlformats.org/officeDocument/2006/relationships/slide" Target="/ppt/slides/slide4.xml" Id="R8de91129572a430a" /><Relationship Type="http://schemas.openxmlformats.org/officeDocument/2006/relationships/slide" Target="/ppt/slides/slide5.xml" Id="R21eff5292fa649f1" /><Relationship Type="http://schemas.openxmlformats.org/officeDocument/2006/relationships/slide" Target="/ppt/slides/slide6.xml" Id="R680fff114ae94d5e" /><Relationship Type="http://schemas.openxmlformats.org/officeDocument/2006/relationships/slide" Target="/ppt/slides/slide7.xml" Id="Rbe44e700a4d94957" /><Relationship Type="http://schemas.openxmlformats.org/officeDocument/2006/relationships/slide" Target="/ppt/slides/slide8.xml" Id="Rfeabcd9774f34879" /><Relationship Type="http://schemas.openxmlformats.org/officeDocument/2006/relationships/slide" Target="/ppt/slides/slide9.xml" Id="R8bd5e1601c2b4cb8" /><Relationship Type="http://schemas.openxmlformats.org/officeDocument/2006/relationships/slide" Target="/ppt/slides/slide10.xml" Id="R0398fc3f408945e8" /><Relationship Type="http://schemas.openxmlformats.org/officeDocument/2006/relationships/slide" Target="/ppt/slides/slide11.xml" Id="Rc4043e6fc9fd441e" /><Relationship Type="http://schemas.openxmlformats.org/officeDocument/2006/relationships/slide" Target="/ppt/slides/slide12.xml" Id="R8ca33f61a00341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bb2c1808d749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43ef9d6b344389" /><Relationship Type="http://schemas.openxmlformats.org/officeDocument/2006/relationships/notesMaster" Target="/ppt/notesMasters/notesMaster1.xml" Id="Re170930da2934c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193193097b4a75" /><Relationship Type="http://schemas.openxmlformats.org/officeDocument/2006/relationships/notesMaster" Target="/ppt/notesMasters/notesMaster1.xml" Id="R08119f38eff941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7f65e90db24cfd" /><Relationship Type="http://schemas.openxmlformats.org/officeDocument/2006/relationships/notesMaster" Target="/ppt/notesMasters/notesMaster1.xml" Id="R52338162245641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e85b934ceb4335" /><Relationship Type="http://schemas.openxmlformats.org/officeDocument/2006/relationships/notesMaster" Target="/ppt/notesMasters/notesMaster1.xml" Id="Rb3e8b3ddb1994c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ef8b15ce8a48d2" /><Relationship Type="http://schemas.openxmlformats.org/officeDocument/2006/relationships/notesMaster" Target="/ppt/notesMasters/notesMaster1.xml" Id="R90746de9582647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740fe8c2764a09" /><Relationship Type="http://schemas.openxmlformats.org/officeDocument/2006/relationships/notesMaster" Target="/ppt/notesMasters/notesMaster1.xml" Id="R22dcd51d1b9743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df3010cd2645a2" /><Relationship Type="http://schemas.openxmlformats.org/officeDocument/2006/relationships/notesMaster" Target="/ppt/notesMasters/notesMaster1.xml" Id="R48378412f93d47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39a0c7e7ed4f7d" /><Relationship Type="http://schemas.openxmlformats.org/officeDocument/2006/relationships/notesMaster" Target="/ppt/notesMasters/notesMaster1.xml" Id="R74b422b0b57447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72c347a5ef4bd6" /><Relationship Type="http://schemas.openxmlformats.org/officeDocument/2006/relationships/notesMaster" Target="/ppt/notesMasters/notesMaster1.xml" Id="R00145c02f4a340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9a72a042f3459c" /><Relationship Type="http://schemas.openxmlformats.org/officeDocument/2006/relationships/notesMaster" Target="/ppt/notesMasters/notesMaster1.xml" Id="Rf734260533c646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401ecaa6d74879" /><Relationship Type="http://schemas.openxmlformats.org/officeDocument/2006/relationships/notesMaster" Target="/ppt/notesMasters/notesMaster1.xml" Id="R96ef3594a85f4b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8089191a23a4b26" /><Relationship Type="http://schemas.openxmlformats.org/officeDocument/2006/relationships/notesMaster" Target="/ppt/notesMasters/notesMaster1.xml" Id="Raec1afa1550440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started with a clinic location question and discovered a broader product. The goal is to help Chewy move from noticing a regional change to deciding what to do about it while there is still time to respond.</a:t>
            </a:r>
          </a:p>
          <a:p xmlns:a="http://schemas.openxmlformats.org/drawingml/2006/main">
            <a:r>
              <a:t/>
            </a:r>
          </a:p>
          <a:p xmlns:a="http://schemas.openxmlformats.org/drawingml/2006/main">
            <a:r>
              <a:t>[Sources]</a:t>
            </a:r>
          </a:p>
          <a:p xmlns:a="http://schemas.openxmlformats.org/drawingml/2006/main">
            <a:r>
              <a:t>- /Users/nnair/Documents/Market Opportunity Platform/presentations/Market_Opportunity_Platform_Leadership_Script.md</a:t>
            </a:r>
          </a:p>
          <a:p xmlns:a="http://schemas.openxmlformats.org/drawingml/2006/main">
            <a:r>
              <a:t>- /Users/nnair/Documents/Market Opportunity Platform/docs/strategy/opportunity-inbox-implementation-plan.md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is not that the platform puts data in one place. Evidence assembly supports the product. The end product is an owned, time-bound course of action with an outcome, guardrails, and stop conditions.</a:t>
            </a:r>
          </a:p>
          <a:p xmlns:a="http://schemas.openxmlformats.org/drawingml/2006/main">
            <a:r>
              <a:t/>
            </a:r>
          </a:p>
          <a:p xmlns:a="http://schemas.openxmlformats.org/drawingml/2006/main">
            <a:r>
              <a:t>[Sources]</a:t>
            </a:r>
          </a:p>
          <a:p xmlns:a="http://schemas.openxmlformats.org/drawingml/2006/main">
            <a:r>
              <a:t>- /Users/nnair/Documents/Market Opportunity Platform/presentations/Market_Opportunity_Platform_Leadership_Script.md</a:t>
            </a:r>
          </a:p>
          <a:p xmlns:a="http://schemas.openxmlformats.org/drawingml/2006/main">
            <a:r>
              <a:t>- /Users/nnair/Documents/Market Opportunity Platform/docs/strategy/opportunity-inbox-implementation-plan.md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clinic use case exposed a pattern that extends beyond clinics. The shared capability is a regional opportunity workflow: detect, qualify, prepare the response, measure the result, and improve.</a:t>
            </a:r>
          </a:p>
          <a:p xmlns:a="http://schemas.openxmlformats.org/drawingml/2006/main">
            <a:r>
              <a:t/>
            </a:r>
          </a:p>
          <a:p xmlns:a="http://schemas.openxmlformats.org/drawingml/2006/main">
            <a:r>
              <a:t>[Sources]</a:t>
            </a:r>
          </a:p>
          <a:p xmlns:a="http://schemas.openxmlformats.org/drawingml/2006/main">
            <a:r>
              <a:t>- /Users/nnair/Documents/Market Opportunity Platform/presentations/Market_Opportunity_Platform_Leadership_Script.md</a:t>
            </a:r>
          </a:p>
          <a:p xmlns:a="http://schemas.openxmlformats.org/drawingml/2006/main">
            <a:r>
              <a:t>- /Users/nnair/Documents/Market Opportunity Platform/docs/strategy/opportunity-inbox-implementation-plan.md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proof of concept uses fictional synthetic Seattle evidence and three separate business playbooks. They share one regional inbox, but not one score, one outcome, or one decision rule.</a:t>
            </a:r>
          </a:p>
          <a:p xmlns:a="http://schemas.openxmlformats.org/drawingml/2006/main">
            <a:r>
              <a:t/>
            </a:r>
          </a:p>
          <a:p xmlns:a="http://schemas.openxmlformats.org/drawingml/2006/main">
            <a:r>
              <a:t>[Sources]</a:t>
            </a:r>
          </a:p>
          <a:p xmlns:a="http://schemas.openxmlformats.org/drawingml/2006/main">
            <a:r>
              <a:t>- /Users/nnair/Documents/Market Opportunity Platform/presentations/Market_Opportunity_Platform_Leadership_Script.md</a:t>
            </a:r>
          </a:p>
          <a:p xmlns:a="http://schemas.openxmlformats.org/drawingml/2006/main">
            <a:r>
              <a:t>- /Users/nnair/Documents/Market Opportunity Platform/docs/strategy/opportunity-inbox-implementation-plan.md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output is not spend more in Seattle. It is a controlled regional acquisition-test brief for Marketing review, with a measurable outcome and clear reasons not to proceed.</a:t>
            </a:r>
          </a:p>
          <a:p xmlns:a="http://schemas.openxmlformats.org/drawingml/2006/main">
            <a:r>
              <a:t/>
            </a:r>
          </a:p>
          <a:p xmlns:a="http://schemas.openxmlformats.org/drawingml/2006/main">
            <a:r>
              <a:t>[Sources]</a:t>
            </a:r>
          </a:p>
          <a:p xmlns:a="http://schemas.openxmlformats.org/drawingml/2006/main">
            <a:r>
              <a:t>- /Users/nnair/Documents/Market Opportunity Platform/presentations/Market_Opportunity_Platform_Leadership_Script.md</a:t>
            </a:r>
          </a:p>
          <a:p xmlns:a="http://schemas.openxmlformats.org/drawingml/2006/main">
            <a:r>
              <a:t>- /Users/nnair/Documents/Market Opportunity Platform/docs/strategy/opportunity-inbox-implementation-plan.md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output is not open another clinic. It is a bounded awareness, referral, capacity, or service-access option for CVC review. The action stops when demand cannot be served safely.</a:t>
            </a:r>
          </a:p>
          <a:p xmlns:a="http://schemas.openxmlformats.org/drawingml/2006/main">
            <a:r>
              <a:t/>
            </a:r>
          </a:p>
          <a:p xmlns:a="http://schemas.openxmlformats.org/drawingml/2006/main">
            <a:r>
              <a:t>[Sources]</a:t>
            </a:r>
          </a:p>
          <a:p xmlns:a="http://schemas.openxmlformats.org/drawingml/2006/main">
            <a:r>
              <a:t>- /Users/nnair/Documents/Market Opportunity Platform/presentations/Market_Opportunity_Platform_Leadership_Script.md</a:t>
            </a:r>
          </a:p>
          <a:p xmlns:a="http://schemas.openxmlformats.org/drawingml/2006/main">
            <a:r>
              <a:t>- /Users/nnair/Documents/Market Opportunity Platform/docs/strategy/opportunity-inbox-implementation-plan.md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fictional competitor closure is only an event. The prototype checks the full situation before preparing a response. When conditions pass, the deterministic packet contains ordered actions, an owner, deadline, outcome, guardrails, and advance or stop conditions.</a:t>
            </a:r>
          </a:p>
          <a:p xmlns:a="http://schemas.openxmlformats.org/drawingml/2006/main">
            <a:r>
              <a:t/>
            </a:r>
          </a:p>
          <a:p xmlns:a="http://schemas.openxmlformats.org/drawingml/2006/main">
            <a:r>
              <a:t>[Sources]</a:t>
            </a:r>
          </a:p>
          <a:p xmlns:a="http://schemas.openxmlformats.org/drawingml/2006/main">
            <a:r>
              <a:t>- /Users/nnair/Documents/Market Opportunity Platform/presentations/Market_Opportunity_Platform_Leadership_Script.md</a:t>
            </a:r>
          </a:p>
          <a:p xmlns:a="http://schemas.openxmlformats.org/drawingml/2006/main">
            <a:r>
              <a:t>- /Users/nnair/Documents/Market Opportunity Platform/docs/strategy/opportunity-inbox-implementation-plan.md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card should answer seven practical questions: what changed, why it matters, what supports or challenges it, what action is permitted, who owns it, when it expires, and what defines success or stop.</a:t>
            </a:r>
          </a:p>
          <a:p xmlns:a="http://schemas.openxmlformats.org/drawingml/2006/main">
            <a:r>
              <a:t/>
            </a:r>
          </a:p>
          <a:p xmlns:a="http://schemas.openxmlformats.org/drawingml/2006/main">
            <a:r>
              <a:t>[Sources]</a:t>
            </a:r>
          </a:p>
          <a:p xmlns:a="http://schemas.openxmlformats.org/drawingml/2006/main">
            <a:r>
              <a:t>- /Users/nnair/Documents/Market Opportunity Platform/presentations/Market_Opportunity_Platform_Leadership_Script.md</a:t>
            </a:r>
          </a:p>
          <a:p xmlns:a="http://schemas.openxmlformats.org/drawingml/2006/main">
            <a:r>
              <a:t>- /Users/nnair/Documents/Market Opportunity Platform/docs/strategy/opportunity-inbox-implementation-plan.md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impact is shorter time to an accountable next step, more qualified opportunities reaching a decision before expiration, fewer false starts, explicit ownership, and a learning record that improves future playbooks. These outcomes are targets, not proven results.</a:t>
            </a:r>
          </a:p>
          <a:p xmlns:a="http://schemas.openxmlformats.org/drawingml/2006/main">
            <a:r>
              <a:t/>
            </a:r>
          </a:p>
          <a:p xmlns:a="http://schemas.openxmlformats.org/drawingml/2006/main">
            <a:r>
              <a:t>[Sources]</a:t>
            </a:r>
          </a:p>
          <a:p xmlns:a="http://schemas.openxmlformats.org/drawingml/2006/main">
            <a:r>
              <a:t>- /Users/nnair/Documents/Market Opportunity Platform/presentations/Market_Opportunity_Platform_Leadership_Script.md</a:t>
            </a:r>
          </a:p>
          <a:p xmlns:a="http://schemas.openxmlformats.org/drawingml/2006/main">
            <a:r>
              <a:t>- /Users/nnair/Documents/Market Opportunity Platform/docs/strategy/opportunity-inbox-implementation-plan.md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proof of concept uses fictional synthetic evidence. It proves the governed workflow and the ActionPacket pattern. It does not prove business lift, production readiness, or authority to execute real actions.</a:t>
            </a:r>
          </a:p>
          <a:p xmlns:a="http://schemas.openxmlformats.org/drawingml/2006/main">
            <a:r>
              <a:t/>
            </a:r>
          </a:p>
          <a:p xmlns:a="http://schemas.openxmlformats.org/drawingml/2006/main">
            <a:r>
              <a:t>[Sources]</a:t>
            </a:r>
          </a:p>
          <a:p xmlns:a="http://schemas.openxmlformats.org/drawingml/2006/main">
            <a:r>
              <a:t>- /Users/nnair/Documents/Market Opportunity Platform/presentations/Market_Opportunity_Platform_Leadership_Script.md</a:t>
            </a:r>
          </a:p>
          <a:p xmlns:a="http://schemas.openxmlformats.org/drawingml/2006/main">
            <a:r>
              <a:t>- /Users/nnair/Documents/Market Opportunity Platform/docs/strategy/opportunity-inbox-implementation-plan.md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should be one bounded regional pilot, not a broad production rollout. Choose a use case where an accountable team is prepared to act, measure the result, and stop if the evidence or guardrails fail.</a:t>
            </a:r>
          </a:p>
          <a:p xmlns:a="http://schemas.openxmlformats.org/drawingml/2006/main">
            <a:r>
              <a:t/>
            </a:r>
          </a:p>
          <a:p xmlns:a="http://schemas.openxmlformats.org/drawingml/2006/main">
            <a:r>
              <a:t>[Sources]</a:t>
            </a:r>
          </a:p>
          <a:p xmlns:a="http://schemas.openxmlformats.org/drawingml/2006/main">
            <a:r>
              <a:t>- /Users/nnair/Documents/Market Opportunity Platform/presentations/Market_Opportunity_Platform_Leadership_Script.md</a:t>
            </a:r>
          </a:p>
          <a:p xmlns:a="http://schemas.openxmlformats.org/drawingml/2006/main">
            <a:r>
              <a:t>- /Users/nnair/Documents/Market Opportunity Platform/docs/strategy/opportunity-inbox-implementation-plan.md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Chewy does not only need another way to see what is happening in a market. Teams need a reliable way to decide what the change means, what to do next, who owns it, and how to know whether it worked.</a:t>
            </a:r>
          </a:p>
          <a:p xmlns:a="http://schemas.openxmlformats.org/drawingml/2006/main">
            <a:r>
              <a:t/>
            </a:r>
          </a:p>
          <a:p xmlns:a="http://schemas.openxmlformats.org/drawingml/2006/main">
            <a:r>
              <a:t>[Sources]</a:t>
            </a:r>
          </a:p>
          <a:p xmlns:a="http://schemas.openxmlformats.org/drawingml/2006/main">
            <a:r>
              <a:t>- /Users/nnair/Documents/Market Opportunity Platform/presentations/Market_Opportunity_Platform_Leadership_Script.md</a:t>
            </a:r>
          </a:p>
          <a:p xmlns:a="http://schemas.openxmlformats.org/drawingml/2006/main">
            <a:r>
              <a:t>- /Users/nnair/Documents/Market Opportunity Platform/docs/strategy/opportunity-inbox-implementation-plan.md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f444dd6abd43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b45bf54d004bee" /><Relationship Type="http://schemas.openxmlformats.org/officeDocument/2006/relationships/slideLayout" Target="/ppt/slideLayouts/slideLayout1.xml" Id="Rbbafba908bae41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afba908bae41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f84ea8bc2540a2" /><Relationship Type="http://schemas.openxmlformats.org/officeDocument/2006/relationships/notesSlide" Target="/ppt/notesSlides/notesSlide1.xml" Id="R08a361100ae746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a477b1b5d84bdf" /><Relationship Type="http://schemas.openxmlformats.org/officeDocument/2006/relationships/notesSlide" Target="/ppt/notesSlides/notesSlide2.xml" Id="R4c8a1587ac4d49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f987627ac7c48f3" /><Relationship Type="http://schemas.openxmlformats.org/officeDocument/2006/relationships/notesSlide" Target="/ppt/notesSlides/notesSlide3.xml" Id="R6fbe156f779d48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85fc5729514202" /><Relationship Type="http://schemas.openxmlformats.org/officeDocument/2006/relationships/notesSlide" Target="/ppt/notesSlides/notesSlide4.xml" Id="R7c7724e5f3b243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bfbb16eaa640aa" /><Relationship Type="http://schemas.openxmlformats.org/officeDocument/2006/relationships/notesSlide" Target="/ppt/notesSlides/notesSlide5.xml" Id="R2a672ac1342440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94785f252e49e3" /><Relationship Type="http://schemas.openxmlformats.org/officeDocument/2006/relationships/notesSlide" Target="/ppt/notesSlides/notesSlide6.xml" Id="Ra708fa9aab6e41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71e48d90cb4699" /><Relationship Type="http://schemas.openxmlformats.org/officeDocument/2006/relationships/notesSlide" Target="/ppt/notesSlides/notesSlide7.xml" Id="R9b57ab23899f41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9a9566911ef4df4" /><Relationship Type="http://schemas.openxmlformats.org/officeDocument/2006/relationships/notesSlide" Target="/ppt/notesSlides/notesSlide8.xml" Id="Raa23c5168d1f46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94f570015044909" /><Relationship Type="http://schemas.openxmlformats.org/officeDocument/2006/relationships/notesSlide" Target="/ppt/notesSlides/notesSlide9.xml" Id="R1b4db3680675420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8c95c66c110490d" /><Relationship Type="http://schemas.openxmlformats.org/officeDocument/2006/relationships/notesSlide" Target="/ppt/notesSlides/notesSlide10.xml" Id="R9de81282a0284f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1e7e0ab0502459f" /><Relationship Type="http://schemas.openxmlformats.org/officeDocument/2006/relationships/notesSlide" Target="/ppt/notesSlides/notesSlide11.xml" Id="R86db69407123417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fbec39317744493" /><Relationship Type="http://schemas.openxmlformats.org/officeDocument/2006/relationships/notesSlide" Target="/ppt/notesSlides/notesSlide12.xml" Id="R3b323ac460084e3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D893542B-0912-424F-A992-300F301F91EA}"/>
              </a:ext>
            </a:extLst>
          </p:cNvPr>
          <p:cNvSpPr>
            <a:spLocks xmlns:a="http://schemas.openxmlformats.org/drawingml/2006/main" noGrp="1"/>
          </p:cNvSpPr>
          <p:nvPr/>
        </p:nvSpPr>
        <p:spPr>
          <a:xfrm xmlns:a="http://schemas.openxmlformats.org/drawingml/2006/main">
            <a:off x="393668" y="2579942"/>
            <a:ext cx="9448800" cy="362426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88000"/>
              </a:lnSpc>
              <a:buNone/>
              <a:defRPr sz="6000">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Turn regional signals
</a:t>
            </a:r>
            <a:r>
              <a:rPr sz="5400" b="1">
                <a:solidFill>
                  <a:srgbClr val="3D8DFF"/>
                </a:solidFill>
                <a:latin typeface="Helvetica Neue"/>
                <a:ea typeface="Helvetica Neue"/>
                <a:cs typeface="Helvetica Neue"/>
              </a:rPr>
              <a:t>into accountable action</a:t>
            </a:r>
          </a:p>
        </p:txBody>
      </p:sp>
      <p:sp>
        <p:nvSpPr>
          <p:cNvPr id="2" name="Subtitle-4-2">
            <a:extLst xmlns:a="http://schemas.openxmlformats.org/drawingml/2006/main">
              <a:ext uri="{FF2B5EF4-FFF2-40B4-BE49-F238E27FC236}">
                <a16:creationId xmlns:a16="http://schemas.microsoft.com/office/drawing/2014/main" id="{F8F04DFC-6B34-4995-AE65-EDE3ADAEB816}"/>
              </a:ext>
            </a:extLst>
          </p:cNvPr>
          <p:cNvSpPr>
            <a:spLocks xmlns:a="http://schemas.openxmlformats.org/drawingml/2006/main" noGrp="1"/>
          </p:cNvSpPr>
          <p:nvPr/>
        </p:nvSpPr>
        <p:spPr>
          <a:xfrm xmlns:a="http://schemas.openxmlformats.org/drawingml/2006/main">
            <a:off x="393668" y="392240"/>
            <a:ext cx="6157817"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00" b="1">
                <a:solidFill>
                  <a:srgbClr val="3D8DFF"/>
                </a:solidFill>
                <a:latin typeface="Helvetica Neue"/>
                <a:ea typeface="Helvetica Neue"/>
                <a:cs typeface="Helvetica Neue"/>
              </a:rPr>
              <a:t>MARKET OPPORTUNITY PLATFORM</a:t>
            </a:r>
          </a:p>
        </p:txBody>
      </p:sp>
      <p:sp>
        <p:nvSpPr>
          <p:cNvPr id="3" name="Subtitle-4-3">
            <a:extLst xmlns:a="http://schemas.openxmlformats.org/drawingml/2006/main">
              <a:ext uri="{FF2B5EF4-FFF2-40B4-BE49-F238E27FC236}">
                <a16:creationId xmlns:a16="http://schemas.microsoft.com/office/drawing/2014/main" id="{77C86B66-8003-4787-80B7-6E5391E77DC6}"/>
              </a:ext>
            </a:extLst>
          </p:cNvPr>
          <p:cNvSpPr>
            <a:spLocks xmlns:a="http://schemas.openxmlformats.org/drawingml/2006/main" noGrp="1"/>
          </p:cNvSpPr>
          <p:nvPr/>
        </p:nvSpPr>
        <p:spPr>
          <a:xfrm xmlns:a="http://schemas.openxmlformats.org/drawingml/2006/main">
            <a:off x="7886700" y="392240"/>
            <a:ext cx="39116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LEADERSHIP DISCUSSION</a:t>
            </a:r>
          </a:p>
        </p:txBody>
      </p:sp>
    </p:spTree>
    <p:extLst>
      <p:ext uri="{BB962C8B-B14F-4D97-AF65-F5344CB8AC3E}">
        <p14:creationId xmlns:p14="http://schemas.microsoft.com/office/powerpoint/2010/main" val="11282594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F6FFD519-A6A3-4E9F-A943-A2E656C6F0D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95000"/>
              </a:lnSpc>
              <a:buNone/>
              <a:defRPr sz="100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02</a:t>
            </a:r>
          </a:p>
        </p:txBody>
      </p:sp>
      <p:sp>
        <p:nvSpPr>
          <p:cNvPr id="2" name="Google-Shape-533-p58-3">
            <a:extLst xmlns:a="http://schemas.openxmlformats.org/drawingml/2006/main">
              <a:ext uri="{FF2B5EF4-FFF2-40B4-BE49-F238E27FC236}">
                <a16:creationId xmlns:a16="http://schemas.microsoft.com/office/drawing/2014/main" id="{D7B4B111-68CE-491F-8867-E2A5CE0ED41F}"/>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The end product is the response, not the data layer</a:t>
            </a:r>
          </a:p>
        </p:txBody>
      </p:sp>
      <p:sp>
        <p:nvSpPr>
          <p:cNvPr id="3" name="Rounded-Rectangle-1-4">
            <a:extLst xmlns:a="http://schemas.openxmlformats.org/drawingml/2006/main">
              <a:ext uri="{FF2B5EF4-FFF2-40B4-BE49-F238E27FC236}">
                <a16:creationId xmlns:a16="http://schemas.microsoft.com/office/drawing/2014/main" id="{AF912A8C-CE94-48C3-A2C6-4A17C8C257A4}"/>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42A77A3F-2675-4B4F-A118-4368F4C2A81C}"/>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350" b="1">
                <a:solidFill>
                  <a:srgbClr val="6B7280"/>
                </a:solidFill>
                <a:latin typeface="Helvetica Neue"/>
                <a:ea typeface="Helvetica Neue"/>
                <a:cs typeface="Helvetica Neue"/>
              </a:rPr>
              <a:t>PROCESS
</a:t>
            </a:r>
            <a:r>
              <a:rPr sz="2100" b="1">
                <a:solidFill>
                  <a:srgbClr val="000000"/>
                </a:solidFill>
                <a:latin typeface="Helvetica Neue"/>
                <a:ea typeface="Helvetica Neue"/>
                <a:cs typeface="Helvetica Neue"/>
              </a:rPr>
              <a:t>Qualify the signal</a:t>
            </a:r>
          </a:p>
        </p:txBody>
      </p:sp>
      <p:sp>
        <p:nvSpPr>
          <p:cNvPr id="5" name="Content-Placeholder-15-6">
            <a:extLst xmlns:a="http://schemas.openxmlformats.org/drawingml/2006/main">
              <a:ext uri="{FF2B5EF4-FFF2-40B4-BE49-F238E27FC236}">
                <a16:creationId xmlns:a16="http://schemas.microsoft.com/office/drawing/2014/main" id="{71168443-2A1F-403C-BFBF-72A07B1A9C78}"/>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Visible evidence and contradictions</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Approved rules and guardrails</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A defensible advance, block, or stop decision</a:t>
            </a:r>
          </a:p>
        </p:txBody>
      </p:sp>
      <p:sp>
        <p:nvSpPr>
          <p:cNvPr id="6" name="Rounded-Rectangle-7-7">
            <a:extLst xmlns:a="http://schemas.openxmlformats.org/drawingml/2006/main">
              <a:ext uri="{FF2B5EF4-FFF2-40B4-BE49-F238E27FC236}">
                <a16:creationId xmlns:a16="http://schemas.microsoft.com/office/drawing/2014/main" id="{B92116C4-78E9-4CD8-8BEF-E0ADB1406FFC}"/>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82D07841-236E-4635-A865-FFDA6DDD1943}"/>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350" b="1">
                <a:solidFill>
                  <a:srgbClr val="3D8DFF"/>
                </a:solidFill>
                <a:latin typeface="Helvetica Neue"/>
                <a:ea typeface="Helvetica Neue"/>
                <a:cs typeface="Helvetica Neue"/>
              </a:rPr>
              <a:t>IMPACT
</a:t>
            </a:r>
            <a:r>
              <a:rPr sz="2100" b="1">
                <a:solidFill>
                  <a:srgbClr val="000000"/>
                </a:solidFill>
                <a:latin typeface="Helvetica Neue"/>
                <a:ea typeface="Helvetica Neue"/>
                <a:cs typeface="Helvetica Neue"/>
              </a:rPr>
              <a:t>Prepare the action</a:t>
            </a:r>
          </a:p>
        </p:txBody>
      </p:sp>
      <p:sp>
        <p:nvSpPr>
          <p:cNvPr id="8" name="Content-Placeholder-15-9">
            <a:extLst xmlns:a="http://schemas.openxmlformats.org/drawingml/2006/main">
              <a:ext uri="{FF2B5EF4-FFF2-40B4-BE49-F238E27FC236}">
                <a16:creationId xmlns:a16="http://schemas.microsoft.com/office/drawing/2014/main" id="{A937025A-8081-41F9-8A83-8163D34FDFB3}"/>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Named owner and deadline</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Bounded next steps</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Measurable outcome and learning</a:t>
            </a:r>
          </a:p>
        </p:txBody>
      </p:sp>
      <p:sp>
        <p:nvSpPr>
          <p:cNvPr id="9" name="Content-Placeholder-15-10">
            <a:extLst xmlns:a="http://schemas.openxmlformats.org/drawingml/2006/main">
              <a:ext uri="{FF2B5EF4-FFF2-40B4-BE49-F238E27FC236}">
                <a16:creationId xmlns:a16="http://schemas.microsoft.com/office/drawing/2014/main" id="{841C4C0E-56B1-4468-9142-95A8E926FBE8}"/>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500" b="1">
                <a:solidFill>
                  <a:srgbClr val="3D8DFF"/>
                </a:solidFill>
                <a:latin typeface="Helvetica Neue"/>
                <a:ea typeface="Helvetica Neue"/>
                <a:cs typeface="Helvetica Neue"/>
              </a:rPr>
              <a:t>Evidence is infrastructure</a:t>
            </a:r>
          </a:p>
          <a:p xmlns:a="http://schemas.openxmlformats.org/drawingml/2006/main">
            <a:pPr algn="l">
              <a:lnSpc>
                <a:spcPct val="95000"/>
              </a:lnSpc>
              <a:buNone/>
              <a:defRPr sz="16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Bringing signals, baselines, constraints, and provenance together is necessary.</a:t>
            </a:r>
          </a:p>
          <a:p xmlns:a="http://schemas.openxmlformats.org/drawingml/2006/main">
            <a:pPr algn="l">
              <a:lnSpc>
                <a:spcPct val="95000"/>
              </a:lnSpc>
              <a:buNone/>
              <a:defRPr sz="16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It is how the platform qualifies an opportunity, not the business outcome by itself.</a:t>
            </a:r>
          </a:p>
        </p:txBody>
      </p:sp>
    </p:spTree>
    <p:extLst>
      <p:ext uri="{BB962C8B-B14F-4D97-AF65-F5344CB8AC3E}">
        <p14:creationId xmlns:p14="http://schemas.microsoft.com/office/powerpoint/2010/main" val="1038910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CE43B02D-F160-49F1-9F8B-602F4B235E8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95000"/>
              </a:lnSpc>
              <a:buNone/>
              <a:defRPr sz="100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03</a:t>
            </a:r>
          </a:p>
        </p:txBody>
      </p:sp>
      <p:sp>
        <p:nvSpPr>
          <p:cNvPr id="2" name="Title-10-3">
            <a:extLst xmlns:a="http://schemas.openxmlformats.org/drawingml/2006/main">
              <a:ext uri="{FF2B5EF4-FFF2-40B4-BE49-F238E27FC236}">
                <a16:creationId xmlns:a16="http://schemas.microsoft.com/office/drawing/2014/main" id="{D287BFBF-16E6-42DB-A430-44094D90FECF}"/>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A shared inbox creates a repeatable path from change to action</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C0403013-29F2-4473-9117-EA16FB5E8828}"/>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911C2E81-C2FF-4913-93AD-408BF30E6339}"/>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C2C3EFA0-BE50-4F37-8C8E-C2623DE9112A}"/>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517DCE38-0C09-44C1-AF05-C788DC424FE1}"/>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350" b="1">
                <a:solidFill>
                  <a:srgbClr val="3D8DFF"/>
                </a:solidFill>
                <a:latin typeface="Helvetica Neue"/>
                <a:ea typeface="Helvetica Neue"/>
                <a:cs typeface="Helvetica Neue"/>
              </a:rPr>
              <a:t>DETECT</a:t>
            </a:r>
          </a:p>
        </p:txBody>
      </p:sp>
      <p:sp>
        <p:nvSpPr>
          <p:cNvPr id="8" name="Content-Placeholder-15-9">
            <a:extLst xmlns:a="http://schemas.openxmlformats.org/drawingml/2006/main">
              <a:ext uri="{FF2B5EF4-FFF2-40B4-BE49-F238E27FC236}">
                <a16:creationId xmlns:a16="http://schemas.microsoft.com/office/drawing/2014/main" id="{F3A86D31-5366-4533-9187-C4ED2B1CE74F}"/>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350" b="1">
                <a:solidFill>
                  <a:srgbClr val="3D8DFF"/>
                </a:solidFill>
                <a:latin typeface="Helvetica Neue"/>
                <a:ea typeface="Helvetica Neue"/>
                <a:cs typeface="Helvetica Neue"/>
              </a:rPr>
              <a:t>QUALIFY</a:t>
            </a:r>
          </a:p>
        </p:txBody>
      </p:sp>
      <p:sp>
        <p:nvSpPr>
          <p:cNvPr id="9" name="Content-Placeholder-15-10">
            <a:extLst xmlns:a="http://schemas.openxmlformats.org/drawingml/2006/main">
              <a:ext uri="{FF2B5EF4-FFF2-40B4-BE49-F238E27FC236}">
                <a16:creationId xmlns:a16="http://schemas.microsoft.com/office/drawing/2014/main" id="{28AF1798-6A09-4724-AB61-16F21B6487C9}"/>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350" b="1">
                <a:solidFill>
                  <a:srgbClr val="3D8DFF"/>
                </a:solidFill>
                <a:latin typeface="Helvetica Neue"/>
                <a:ea typeface="Helvetica Neue"/>
                <a:cs typeface="Helvetica Neue"/>
              </a:rPr>
              <a:t>ACT + LEARN</a:t>
            </a:r>
          </a:p>
        </p:txBody>
      </p:sp>
      <p:sp>
        <p:nvSpPr>
          <p:cNvPr id="10" name="Text-Placeholder-16-11">
            <a:extLst xmlns:a="http://schemas.openxmlformats.org/drawingml/2006/main">
              <a:ext uri="{FF2B5EF4-FFF2-40B4-BE49-F238E27FC236}">
                <a16:creationId xmlns:a16="http://schemas.microsoft.com/office/drawing/2014/main" id="{F3B2B5F3-997B-4992-9029-1BE9CFC2E6A0}"/>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Does it matter?</a:t>
            </a:r>
          </a:p>
          <a:p xmlns:a="http://schemas.openxmlformats.org/drawingml/2006/main">
            <a:pPr algn="l">
              <a:lnSpc>
                <a:spcPct val="95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Rules test the baseline, supporting evidence, contradictions, readiness, and expiration.</a:t>
            </a:r>
          </a:p>
        </p:txBody>
      </p:sp>
      <p:sp>
        <p:nvSpPr>
          <p:cNvPr id="11" name="Text-Placeholder-16-12">
            <a:extLst xmlns:a="http://schemas.openxmlformats.org/drawingml/2006/main">
              <a:ext uri="{FF2B5EF4-FFF2-40B4-BE49-F238E27FC236}">
                <a16:creationId xmlns:a16="http://schemas.microsoft.com/office/drawing/2014/main" id="{1E462917-A5BD-4023-A8A4-C2A06EEBDCEC}"/>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What changed?</a:t>
            </a:r>
          </a:p>
          <a:p xmlns:a="http://schemas.openxmlformats.org/drawingml/2006/main">
            <a:pPr algn="l">
              <a:lnSpc>
                <a:spcPct val="95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Regional demand, capacity, coverage, or ecosystem signals enter a defined playbook.</a:t>
            </a:r>
          </a:p>
        </p:txBody>
      </p:sp>
      <p:sp>
        <p:nvSpPr>
          <p:cNvPr id="12" name="Text-Placeholder-16-13">
            <a:extLst xmlns:a="http://schemas.openxmlformats.org/drawingml/2006/main">
              <a:ext uri="{FF2B5EF4-FFF2-40B4-BE49-F238E27FC236}">
                <a16:creationId xmlns:a16="http://schemas.microsoft.com/office/drawing/2014/main" id="{AA1078C0-DAD9-47FD-B84B-470D919CC2FD}"/>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What happens next?</a:t>
            </a:r>
          </a:p>
          <a:p xmlns:a="http://schemas.openxmlformats.org/drawingml/2006/main">
            <a:pPr algn="l">
              <a:lnSpc>
                <a:spcPct val="95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The platform prepares an owned action, measures the result, and improves the playbook.</a:t>
            </a:r>
          </a:p>
        </p:txBody>
      </p:sp>
    </p:spTree>
    <p:extLst>
      <p:ext uri="{BB962C8B-B14F-4D97-AF65-F5344CB8AC3E}">
        <p14:creationId xmlns:p14="http://schemas.microsoft.com/office/powerpoint/2010/main" val="68556975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Google-Shape-532-p58-2">
            <a:extLst xmlns:a="http://schemas.openxmlformats.org/drawingml/2006/main">
              <a:ext uri="{FF2B5EF4-FFF2-40B4-BE49-F238E27FC236}">
                <a16:creationId xmlns:a16="http://schemas.microsoft.com/office/drawing/2014/main" id="{BEDC5437-7393-44E2-BD25-73AAFF32B4A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95000"/>
              </a:lnSpc>
              <a:buNone/>
              <a:defRPr sz="100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04</a:t>
            </a:r>
          </a:p>
        </p:txBody>
      </p:sp>
      <p:sp>
        <p:nvSpPr>
          <p:cNvPr id="2" name="Google-Shape-533-p58-3">
            <a:extLst xmlns:a="http://schemas.openxmlformats.org/drawingml/2006/main">
              <a:ext uri="{FF2B5EF4-FFF2-40B4-BE49-F238E27FC236}">
                <a16:creationId xmlns:a16="http://schemas.microsoft.com/office/drawing/2014/main" id="{28EDE423-08C5-4601-996C-E61BA9BD1DF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One Seattle inbox, three sector-specific opportunities</a:t>
            </a:r>
          </a:p>
        </p:txBody>
      </p:sp>
      <p:sp>
        <p:nvSpPr>
          <p:cNvPr id="3" name="Google-Shape-534-p58-4">
            <a:extLst xmlns:a="http://schemas.openxmlformats.org/drawingml/2006/main">
              <a:ext uri="{FF2B5EF4-FFF2-40B4-BE49-F238E27FC236}">
                <a16:creationId xmlns:a16="http://schemas.microsoft.com/office/drawing/2014/main" id="{736C340C-F460-4EB2-8BCC-2B14A55905A2}"/>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500" b="1">
                <a:solidFill>
                  <a:srgbClr val="3D8DFF"/>
                </a:solidFill>
                <a:latin typeface="Helvetica Neue"/>
                <a:ea typeface="Helvetica Neue"/>
                <a:cs typeface="Helvetica Neue"/>
              </a:rPr>
              <a:t>01
</a:t>
            </a:r>
            <a:r>
              <a:rPr sz="1950" b="1">
                <a:solidFill>
                  <a:srgbClr val="000000"/>
                </a:solidFill>
                <a:latin typeface="Helvetica Neue"/>
                <a:ea typeface="Helvetica Neue"/>
                <a:cs typeface="Helvetica Neue"/>
              </a:rPr>
              <a:t>Growth + marketing
</a:t>
            </a:r>
          </a:p>
          <a:p xmlns:a="http://schemas.openxmlformats.org/drawingml/2006/main">
            <a:pPr algn="l">
              <a:lnSpc>
                <a:spcPct val="95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Rising category interest plus low reach prepares a controlled acquisition-test brief.</a:t>
            </a:r>
          </a:p>
        </p:txBody>
      </p:sp>
      <p:sp>
        <p:nvSpPr>
          <p:cNvPr id="4" name="Content-Placeholder-1-5">
            <a:extLst xmlns:a="http://schemas.openxmlformats.org/drawingml/2006/main">
              <a:ext uri="{FF2B5EF4-FFF2-40B4-BE49-F238E27FC236}">
                <a16:creationId xmlns:a16="http://schemas.microsoft.com/office/drawing/2014/main" id="{4344F182-7FB5-4044-A8EE-B5CCD5787136}"/>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500" b="1">
                <a:solidFill>
                  <a:srgbClr val="3D8DFF"/>
                </a:solidFill>
                <a:latin typeface="Helvetica Neue"/>
                <a:ea typeface="Helvetica Neue"/>
                <a:cs typeface="Helvetica Neue"/>
              </a:rPr>
              <a:t>03
</a:t>
            </a:r>
            <a:r>
              <a:rPr sz="1950" b="1">
                <a:solidFill>
                  <a:srgbClr val="000000"/>
                </a:solidFill>
                <a:latin typeface="Helvetica Neue"/>
                <a:ea typeface="Helvetica Neue"/>
                <a:cs typeface="Helvetica Neue"/>
              </a:rPr>
              <a:t>Market ecosystem
</a:t>
            </a:r>
          </a:p>
          <a:p xmlns:a="http://schemas.openxmlformats.org/drawingml/2006/main">
            <a:pPr algn="l">
              <a:lnSpc>
                <a:spcPct val="95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A verified local change plus operating readiness prepares a time-bound ActionPacket.</a:t>
            </a:r>
          </a:p>
        </p:txBody>
      </p:sp>
      <p:sp>
        <p:nvSpPr>
          <p:cNvPr id="5" name="Content-Placeholder-2-6">
            <a:extLst xmlns:a="http://schemas.openxmlformats.org/drawingml/2006/main">
              <a:ext uri="{FF2B5EF4-FFF2-40B4-BE49-F238E27FC236}">
                <a16:creationId xmlns:a16="http://schemas.microsoft.com/office/drawing/2014/main" id="{5C408E3B-DFB8-4A06-A5D2-2860C7199DF2}"/>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500" b="1">
                <a:solidFill>
                  <a:srgbClr val="3D8DFF"/>
                </a:solidFill>
                <a:latin typeface="Helvetica Neue"/>
                <a:ea typeface="Helvetica Neue"/>
                <a:cs typeface="Helvetica Neue"/>
              </a:rPr>
              <a:t>02
</a:t>
            </a:r>
            <a:r>
              <a:rPr sz="1950" b="1">
                <a:solidFill>
                  <a:srgbClr val="000000"/>
                </a:solidFill>
                <a:latin typeface="Helvetica Neue"/>
                <a:ea typeface="Helvetica Neue"/>
                <a:cs typeface="Helvetica Neue"/>
              </a:rPr>
              <a:t>Pet Health + CVC
</a:t>
            </a:r>
          </a:p>
          <a:p xmlns:a="http://schemas.openxmlformats.org/drawingml/2006/main">
            <a:pPr algn="l">
              <a:lnSpc>
                <a:spcPct val="95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Rising appointment interest plus available capacity prepares awareness or service-access options.</a:t>
            </a:r>
          </a:p>
        </p:txBody>
      </p:sp>
    </p:spTree>
    <p:extLst>
      <p:ext uri="{BB962C8B-B14F-4D97-AF65-F5344CB8AC3E}">
        <p14:creationId xmlns:p14="http://schemas.microsoft.com/office/powerpoint/2010/main" val="202806698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D9A6D408-972F-49E6-AB8C-76CE5C47FAD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95000"/>
              </a:lnSpc>
              <a:buNone/>
              <a:defRPr sz="100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05</a:t>
            </a:r>
          </a:p>
        </p:txBody>
      </p:sp>
      <p:sp>
        <p:nvSpPr>
          <p:cNvPr id="2" name="Google-Shape-533-p58-3">
            <a:extLst xmlns:a="http://schemas.openxmlformats.org/drawingml/2006/main">
              <a:ext uri="{FF2B5EF4-FFF2-40B4-BE49-F238E27FC236}">
                <a16:creationId xmlns:a16="http://schemas.microsoft.com/office/drawing/2014/main" id="{E62C73AB-EA0A-457C-BBBA-BD1BE43388AB}"/>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Marketing receives a testable acquisition brief, not a spend recommendation</a:t>
            </a:r>
          </a:p>
        </p:txBody>
      </p:sp>
      <p:sp>
        <p:nvSpPr>
          <p:cNvPr id="3" name="Rounded-Rectangle-1-4">
            <a:extLst xmlns:a="http://schemas.openxmlformats.org/drawingml/2006/main">
              <a:ext uri="{FF2B5EF4-FFF2-40B4-BE49-F238E27FC236}">
                <a16:creationId xmlns:a16="http://schemas.microsoft.com/office/drawing/2014/main" id="{8CAA82AF-E443-4881-8CD9-41B679A75905}"/>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84B37D2E-93B6-485F-B28B-2FE39A57685F}"/>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Prepared action</a:t>
            </a:r>
          </a:p>
        </p:txBody>
      </p:sp>
      <p:sp>
        <p:nvSpPr>
          <p:cNvPr id="5" name="Content-Placeholder-15-6">
            <a:extLst xmlns:a="http://schemas.openxmlformats.org/drawingml/2006/main">
              <a:ext uri="{FF2B5EF4-FFF2-40B4-BE49-F238E27FC236}">
                <a16:creationId xmlns:a16="http://schemas.microsoft.com/office/drawing/2014/main" id="{FF1D4F75-844D-4254-B608-5C977897DFA6}"/>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Controlled regional acquisition test</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Marketing review and approved holdout</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Time-bound, serviceable audience</a:t>
            </a:r>
          </a:p>
        </p:txBody>
      </p:sp>
      <p:sp>
        <p:nvSpPr>
          <p:cNvPr id="6" name="Rounded-Rectangle-7-7">
            <a:extLst xmlns:a="http://schemas.openxmlformats.org/drawingml/2006/main">
              <a:ext uri="{FF2B5EF4-FFF2-40B4-BE49-F238E27FC236}">
                <a16:creationId xmlns:a16="http://schemas.microsoft.com/office/drawing/2014/main" id="{3579E079-EF34-49F0-BF51-64B39CF93864}"/>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E256FE69-CD8A-4035-B36E-311B299B81AC}"/>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Responsible success</a:t>
            </a:r>
          </a:p>
        </p:txBody>
      </p:sp>
      <p:sp>
        <p:nvSpPr>
          <p:cNvPr id="8" name="Content-Placeholder-15-9">
            <a:extLst xmlns:a="http://schemas.openxmlformats.org/drawingml/2006/main">
              <a:ext uri="{FF2B5EF4-FFF2-40B4-BE49-F238E27FC236}">
                <a16:creationId xmlns:a16="http://schemas.microsoft.com/office/drawing/2014/main" id="{8FCAB88A-0A1E-45DB-8AFE-B924C1B58E51}"/>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Incremental customers or orders</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Acquisition cost guardrail</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Stop if readiness or economics fail</a:t>
            </a:r>
          </a:p>
        </p:txBody>
      </p:sp>
      <p:sp>
        <p:nvSpPr>
          <p:cNvPr id="9" name="Content-Placeholder-15-10">
            <a:extLst xmlns:a="http://schemas.openxmlformats.org/drawingml/2006/main">
              <a:ext uri="{FF2B5EF4-FFF2-40B4-BE49-F238E27FC236}">
                <a16:creationId xmlns:a16="http://schemas.microsoft.com/office/drawing/2014/main" id="{003C6BB9-AF34-4EB9-BB50-63BF1DF8A558}"/>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425" b="1">
                <a:solidFill>
                  <a:srgbClr val="3D8DFF"/>
                </a:solidFill>
                <a:latin typeface="Helvetica Neue"/>
                <a:ea typeface="Helvetica Neue"/>
                <a:cs typeface="Helvetica Neue"/>
              </a:rPr>
              <a:t>SYNTHETIC GROWTH + MARKETING OPPORTUNITY</a:t>
            </a:r>
          </a:p>
          <a:p xmlns:a="http://schemas.openxmlformats.org/drawingml/2006/main">
            <a:pPr algn="l">
              <a:lnSpc>
                <a:spcPct val="95000"/>
              </a:lnSpc>
              <a:buNone/>
              <a:defRPr sz="16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Category interest is increasing while customer penetration and eligible marketing reach remain below configured comparison baselines.</a:t>
            </a:r>
          </a:p>
          <a:p xmlns:a="http://schemas.openxmlformats.org/drawingml/2006/main">
            <a:pPr algn="l">
              <a:lnSpc>
                <a:spcPct val="95000"/>
              </a:lnSpc>
              <a:buNone/>
              <a:defRPr sz="16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Delivery, inventory, audience quality, and campaign saturation determine whether a test can advance.</a:t>
            </a:r>
          </a:p>
        </p:txBody>
      </p:sp>
    </p:spTree>
    <p:extLst>
      <p:ext uri="{BB962C8B-B14F-4D97-AF65-F5344CB8AC3E}">
        <p14:creationId xmlns:p14="http://schemas.microsoft.com/office/powerpoint/2010/main" val="178935051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ACFFD936-3A0D-4E53-9118-37B329D5DB4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95000"/>
              </a:lnSpc>
              <a:buNone/>
              <a:defRPr sz="100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06</a:t>
            </a:r>
          </a:p>
        </p:txBody>
      </p:sp>
      <p:sp>
        <p:nvSpPr>
          <p:cNvPr id="2" name="Google-Shape-533-p58-3">
            <a:extLst xmlns:a="http://schemas.openxmlformats.org/drawingml/2006/main">
              <a:ext uri="{FF2B5EF4-FFF2-40B4-BE49-F238E27FC236}">
                <a16:creationId xmlns:a16="http://schemas.microsoft.com/office/drawing/2014/main" id="{D6B61AB1-A291-4832-877E-095963626573}"/>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Pet Health turns demand into a safe, capacity-aware next step</a:t>
            </a:r>
          </a:p>
        </p:txBody>
      </p:sp>
      <p:sp>
        <p:nvSpPr>
          <p:cNvPr id="3" name="Rounded-Rectangle-1-4">
            <a:extLst xmlns:a="http://schemas.openxmlformats.org/drawingml/2006/main">
              <a:ext uri="{FF2B5EF4-FFF2-40B4-BE49-F238E27FC236}">
                <a16:creationId xmlns:a16="http://schemas.microsoft.com/office/drawing/2014/main" id="{D33DAB78-4899-46DE-8CA4-236796E446E1}"/>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87179F65-63D1-4C7E-854F-5C395AB264C8}"/>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Prepared options</a:t>
            </a:r>
          </a:p>
        </p:txBody>
      </p:sp>
      <p:sp>
        <p:nvSpPr>
          <p:cNvPr id="5" name="Content-Placeholder-15-6">
            <a:extLst xmlns:a="http://schemas.openxmlformats.org/drawingml/2006/main">
              <a:ext uri="{FF2B5EF4-FFF2-40B4-BE49-F238E27FC236}">
                <a16:creationId xmlns:a16="http://schemas.microsoft.com/office/drawing/2014/main" id="{606F7773-0499-4294-A4B3-911EE7FBDD37}"/>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Localized awareness or referral test</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Capacity and service-access review</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CVC retains the decision</a:t>
            </a:r>
          </a:p>
        </p:txBody>
      </p:sp>
      <p:sp>
        <p:nvSpPr>
          <p:cNvPr id="6" name="Rounded-Rectangle-7-7">
            <a:extLst xmlns:a="http://schemas.openxmlformats.org/drawingml/2006/main">
              <a:ext uri="{FF2B5EF4-FFF2-40B4-BE49-F238E27FC236}">
                <a16:creationId xmlns:a16="http://schemas.microsoft.com/office/drawing/2014/main" id="{1D40E440-EA18-438E-9ED0-428B71A221EE}"/>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D46A478B-AAEE-4789-8928-B115C3346625}"/>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Responsible success</a:t>
            </a:r>
          </a:p>
        </p:txBody>
      </p:sp>
      <p:sp>
        <p:nvSpPr>
          <p:cNvPr id="8" name="Content-Placeholder-15-9">
            <a:extLst xmlns:a="http://schemas.openxmlformats.org/drawingml/2006/main">
              <a:ext uri="{FF2B5EF4-FFF2-40B4-BE49-F238E27FC236}">
                <a16:creationId xmlns:a16="http://schemas.microsoft.com/office/drawing/2014/main" id="{5C784DC9-1AD4-421B-BCBB-0D26B120A5F2}"/>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Qualified bookings or completed visits</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Wait time and cancellation guardrails</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Block when demand cannot be served safely</a:t>
            </a:r>
          </a:p>
        </p:txBody>
      </p:sp>
      <p:sp>
        <p:nvSpPr>
          <p:cNvPr id="9" name="Content-Placeholder-15-10">
            <a:extLst xmlns:a="http://schemas.openxmlformats.org/drawingml/2006/main">
              <a:ext uri="{FF2B5EF4-FFF2-40B4-BE49-F238E27FC236}">
                <a16:creationId xmlns:a16="http://schemas.microsoft.com/office/drawing/2014/main" id="{1F09C687-7BB8-4D8F-8D4B-0CF9CFC743B7}"/>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425" b="1">
                <a:solidFill>
                  <a:srgbClr val="3D8DFF"/>
                </a:solidFill>
                <a:latin typeface="Helvetica Neue"/>
                <a:ea typeface="Helvetica Neue"/>
                <a:cs typeface="Helvetica Neue"/>
              </a:rPr>
              <a:t>SYNTHETIC PET HEALTH + CVC OPPORTUNITY</a:t>
            </a:r>
          </a:p>
          <a:p xmlns:a="http://schemas.openxmlformats.org/drawingml/2006/main">
            <a:pPr algn="l">
              <a:lnSpc>
                <a:spcPct val="95000"/>
              </a:lnSpc>
              <a:buNone/>
              <a:defRPr sz="16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Appointment interest is rising near a clinic while staffed capacity remains available and local awareness is below baseline.</a:t>
            </a:r>
          </a:p>
          <a:p xmlns:a="http://schemas.openxmlformats.org/drawingml/2006/main">
            <a:pPr algn="l">
              <a:lnSpc>
                <a:spcPct val="95000"/>
              </a:lnSpc>
              <a:buNone/>
              <a:defRPr sz="16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Wait time, service limitations, staffing, and approved clinic geography protect the customer and clinic experience.</a:t>
            </a:r>
          </a:p>
        </p:txBody>
      </p:sp>
    </p:spTree>
    <p:extLst>
      <p:ext uri="{BB962C8B-B14F-4D97-AF65-F5344CB8AC3E}">
        <p14:creationId xmlns:p14="http://schemas.microsoft.com/office/powerpoint/2010/main" val="114488030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453A4F9D-56CB-4841-A229-A91CF993DAF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95000"/>
              </a:lnSpc>
              <a:buNone/>
              <a:defRPr sz="100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07</a:t>
            </a:r>
          </a:p>
        </p:txBody>
      </p:sp>
      <p:sp>
        <p:nvSpPr>
          <p:cNvPr id="2" name="Title-10-3">
            <a:extLst xmlns:a="http://schemas.openxmlformats.org/drawingml/2006/main">
              <a:ext uri="{FF2B5EF4-FFF2-40B4-BE49-F238E27FC236}">
                <a16:creationId xmlns:a16="http://schemas.microsoft.com/office/drawing/2014/main" id="{71B86F27-3894-49C0-9362-EF685B144F5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A verified local change becomes a time-bound ActionPacket</a:t>
            </a:r>
          </a:p>
        </p:txBody>
      </p:sp>
      <p:cxnSp>
        <p:nvCxnSpPr>
          <p:cNvPr id="18"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49F133DA-1BEB-4903-B3E4-1B21A5A4CE73}"/>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4333D5E1-F5C8-4AA6-BC67-7C9A15229034}"/>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38ACACA5-637B-470D-82B3-B9051C5D5F4A}"/>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EA4D7EEA-A5AD-4501-AC8A-1520ED21E4D8}"/>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7DAE7C5E-7737-4409-880A-BF0ECCDF71FE}"/>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Verify the event</a:t>
            </a:r>
          </a:p>
          <a:p xmlns:a="http://schemas.openxmlformats.org/drawingml/2006/main">
            <a:pPr algn="l">
              <a:lnSpc>
                <a:spcPct val="95000"/>
              </a:lnSpc>
              <a:buNone/>
              <a:defRPr sz="160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Confirm identity, location, permanence, effective date, source record, demand, and replacement competition.</a:t>
            </a:r>
          </a:p>
        </p:txBody>
      </p:sp>
      <p:sp>
        <p:nvSpPr>
          <p:cNvPr id="9" name="Rounded-Rectangle-21-10">
            <a:extLst xmlns:a="http://schemas.openxmlformats.org/drawingml/2006/main">
              <a:ext uri="{FF2B5EF4-FFF2-40B4-BE49-F238E27FC236}">
                <a16:creationId xmlns:a16="http://schemas.microsoft.com/office/drawing/2014/main" id="{4808CAEA-CB73-41B3-9C96-A3B9CD8C2C2E}"/>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9FB602A2-A922-4AA9-A016-4C804829D257}"/>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Check readiness</a:t>
            </a:r>
          </a:p>
          <a:p xmlns:a="http://schemas.openxmlformats.org/drawingml/2006/main">
            <a:pPr algn="l">
              <a:lnSpc>
                <a:spcPct val="95000"/>
              </a:lnSpc>
              <a:buNone/>
              <a:defRPr sz="160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Evaluate delivery, inventory, campaign saturation, clinic presence, blockers, and stop conditions.</a:t>
            </a:r>
          </a:p>
        </p:txBody>
      </p:sp>
      <p:sp>
        <p:nvSpPr>
          <p:cNvPr id="11" name="Rounded-Rectangle-23-12">
            <a:extLst xmlns:a="http://schemas.openxmlformats.org/drawingml/2006/main">
              <a:ext uri="{FF2B5EF4-FFF2-40B4-BE49-F238E27FC236}">
                <a16:creationId xmlns:a16="http://schemas.microsoft.com/office/drawing/2014/main" id="{227B5717-9A54-4CB9-97A1-01FC8AB83E68}"/>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26AA95AB-79D9-46F2-BA44-3FA7EE49A6CD}"/>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Prepare the response</a:t>
            </a:r>
          </a:p>
          <a:p xmlns:a="http://schemas.openxmlformats.org/drawingml/2006/main">
            <a:pPr algn="l">
              <a:lnSpc>
                <a:spcPct val="95000"/>
              </a:lnSpc>
              <a:buNone/>
              <a:defRPr sz="160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Create a synthetic 14-day acquisition and clinic-awareness plan with a fictional owner and 48-hour deadline.</a:t>
            </a:r>
          </a:p>
        </p:txBody>
      </p:sp>
      <p:sp>
        <p:nvSpPr>
          <p:cNvPr id="13" name="Text-Placeholder-16-14">
            <a:extLst xmlns:a="http://schemas.openxmlformats.org/drawingml/2006/main">
              <a:ext uri="{FF2B5EF4-FFF2-40B4-BE49-F238E27FC236}">
                <a16:creationId xmlns:a16="http://schemas.microsoft.com/office/drawing/2014/main" id="{49562EC4-4F5D-447B-820E-6E701909EECC}"/>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350" b="1">
                <a:solidFill>
                  <a:srgbClr val="3D8DFF"/>
                </a:solidFill>
                <a:latin typeface="Helvetica Neue"/>
                <a:ea typeface="Helvetica Neue"/>
                <a:cs typeface="Helvetica Neue"/>
              </a:rPr>
              <a:t>POLICY</a:t>
            </a:r>
          </a:p>
        </p:txBody>
      </p:sp>
      <p:sp>
        <p:nvSpPr>
          <p:cNvPr id="14" name="Text-Placeholder-16-15">
            <a:extLst xmlns:a="http://schemas.openxmlformats.org/drawingml/2006/main">
              <a:ext uri="{FF2B5EF4-FFF2-40B4-BE49-F238E27FC236}">
                <a16:creationId xmlns:a16="http://schemas.microsoft.com/office/drawing/2014/main" id="{CF6A7350-0BF0-4F9F-8206-310708873B6F}"/>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350" b="1">
                <a:solidFill>
                  <a:srgbClr val="3D8DFF"/>
                </a:solidFill>
                <a:latin typeface="Helvetica Neue"/>
                <a:ea typeface="Helvetica Neue"/>
                <a:cs typeface="Helvetica Neue"/>
              </a:rPr>
              <a:t>SIGNAL</a:t>
            </a:r>
          </a:p>
        </p:txBody>
      </p:sp>
      <p:sp>
        <p:nvSpPr>
          <p:cNvPr id="15" name="Text-Placeholder-16-16">
            <a:extLst xmlns:a="http://schemas.openxmlformats.org/drawingml/2006/main">
              <a:ext uri="{FF2B5EF4-FFF2-40B4-BE49-F238E27FC236}">
                <a16:creationId xmlns:a16="http://schemas.microsoft.com/office/drawing/2014/main" id="{F13DC226-AF82-43C4-B080-920DA357E808}"/>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350" b="1">
                <a:solidFill>
                  <a:srgbClr val="3D8DFF"/>
                </a:solidFill>
                <a:latin typeface="Helvetica Neue"/>
                <a:ea typeface="Helvetica Neue"/>
                <a:cs typeface="Helvetica Neue"/>
              </a:rPr>
              <a:t>ACTION</a:t>
            </a:r>
          </a:p>
        </p:txBody>
      </p:sp>
    </p:spTree>
    <p:extLst>
      <p:ext uri="{BB962C8B-B14F-4D97-AF65-F5344CB8AC3E}">
        <p14:creationId xmlns:p14="http://schemas.microsoft.com/office/powerpoint/2010/main" val="100062724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5" name="Google-Shape-532-p58-2">
            <a:extLst xmlns:a="http://schemas.openxmlformats.org/drawingml/2006/main">
              <a:ext uri="{FF2B5EF4-FFF2-40B4-BE49-F238E27FC236}">
                <a16:creationId xmlns:a16="http://schemas.microsoft.com/office/drawing/2014/main" id="{5942E044-8F3F-4F2E-B521-64B7C1D7D33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95000"/>
              </a:lnSpc>
              <a:buNone/>
              <a:defRPr sz="100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08</a:t>
            </a:r>
          </a:p>
        </p:txBody>
      </p:sp>
      <p:sp>
        <p:nvSpPr>
          <p:cNvPr id="2" name="Google-Shape-533-p58-3">
            <a:extLst xmlns:a="http://schemas.openxmlformats.org/drawingml/2006/main">
              <a:ext uri="{FF2B5EF4-FFF2-40B4-BE49-F238E27FC236}">
                <a16:creationId xmlns:a16="http://schemas.microsoft.com/office/drawing/2014/main" id="{773002C5-CEC6-418F-A410-F18695F0E6C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Every opportunity must be ready for an accountable decision</a:t>
            </a:r>
          </a:p>
        </p:txBody>
      </p:sp>
      <p:sp>
        <p:nvSpPr>
          <p:cNvPr id="3" name="Google-Shape-534-p58-4">
            <a:extLst xmlns:a="http://schemas.openxmlformats.org/drawingml/2006/main">
              <a:ext uri="{FF2B5EF4-FFF2-40B4-BE49-F238E27FC236}">
                <a16:creationId xmlns:a16="http://schemas.microsoft.com/office/drawing/2014/main" id="{6FB6AF21-7628-478F-8F12-DED6B7E732DD}"/>
              </a:ext>
            </a:extLst>
          </p:cNvPr>
          <p:cNvSpPr>
            <a:spLocks xmlns:a="http://schemas.openxmlformats.org/drawingml/2006/main" noGrp="1"/>
          </p:cNvSpPr>
          <p:nvPr/>
        </p:nvSpPr>
        <p:spPr>
          <a:xfrm xmlns:a="http://schemas.openxmlformats.org/drawingml/2006/main">
            <a:off x="393668" y="1722406"/>
            <a:ext cx="5537168" cy="8651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An inbox card is not an interesting fact. It is a business hypothesis tied to a permitted next action and a measurable outcome.</a:t>
            </a:r>
          </a:p>
        </p:txBody>
      </p:sp>
      <p:sp>
        <p:nvSpPr>
          <p:cNvPr id="4" name="Content-Placeholder-10-5">
            <a:extLst xmlns:a="http://schemas.openxmlformats.org/drawingml/2006/main">
              <a:ext uri="{FF2B5EF4-FFF2-40B4-BE49-F238E27FC236}">
                <a16:creationId xmlns:a16="http://schemas.microsoft.com/office/drawing/2014/main" id="{FF72685C-7F35-44EE-84AD-77D54547C10B}"/>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CLEAR SIGNAL</a:t>
            </a:r>
          </a:p>
        </p:txBody>
      </p:sp>
      <p:sp>
        <p:nvSpPr>
          <p:cNvPr id="5" name="Google-Shape-340-p61-6">
            <a:extLst xmlns:a="http://schemas.openxmlformats.org/drawingml/2006/main">
              <a:ext uri="{FF2B5EF4-FFF2-40B4-BE49-F238E27FC236}">
                <a16:creationId xmlns:a16="http://schemas.microsoft.com/office/drawing/2014/main" id="{70B2ED10-13C8-4DD9-B6EE-A7A5C1B20803}"/>
              </a:ext>
            </a:extLst>
          </p:cNvPr>
          <p:cNvSpPr>
            <a:spLocks xmlns:a="http://schemas.openxmlformats.org/drawingml/2006/main" noGrp="1"/>
          </p:cNvSpPr>
          <p:nvPr/>
        </p:nvSpPr>
        <p:spPr>
          <a:xfrm xmlns:a="http://schemas.openxmlformats.org/drawingml/2006/main">
            <a:off x="7507700" y="30151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6" name="TextBox-11-7">
            <a:extLst xmlns:a="http://schemas.openxmlformats.org/drawingml/2006/main">
              <a:ext uri="{FF2B5EF4-FFF2-40B4-BE49-F238E27FC236}">
                <a16:creationId xmlns:a16="http://schemas.microsoft.com/office/drawing/2014/main" id="{75754CC7-904C-4E97-8894-91F311364B35}"/>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pPr algn="l">
              <a:lnSpc>
                <a:spcPct val="95000"/>
              </a:lnSpc>
              <a:buNone/>
              <a:defRPr sz="180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What changed?
Why might it matter?
What supports or challenges it?
What action is permitted?</a:t>
            </a:r>
          </a:p>
          <a:p xmlns:a="http://schemas.openxmlformats.org/drawingml/2006/main">
            <a:pPr algn="l">
              <a:lnSpc>
                <a:spcPct val="95000"/>
              </a:lnSpc>
              <a:buNone/>
              <a:defRPr sz="180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Who owns the next step?
When does it expire?
What defines success or stop?</a:t>
            </a:r>
          </a:p>
        </p:txBody>
      </p:sp>
      <p:sp>
        <p:nvSpPr>
          <p:cNvPr id="7" name="Content-Placeholder-10-8">
            <a:extLst xmlns:a="http://schemas.openxmlformats.org/drawingml/2006/main">
              <a:ext uri="{FF2B5EF4-FFF2-40B4-BE49-F238E27FC236}">
                <a16:creationId xmlns:a16="http://schemas.microsoft.com/office/drawing/2014/main" id="{943C4EFF-BBED-4968-90B7-9F0DB52D1747}"/>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NAMED OWNER</a:t>
            </a:r>
          </a:p>
        </p:txBody>
      </p:sp>
      <p:sp>
        <p:nvSpPr>
          <p:cNvPr id="8" name="Google-Shape-340-p61-9">
            <a:extLst xmlns:a="http://schemas.openxmlformats.org/drawingml/2006/main">
              <a:ext uri="{FF2B5EF4-FFF2-40B4-BE49-F238E27FC236}">
                <a16:creationId xmlns:a16="http://schemas.microsoft.com/office/drawing/2014/main" id="{E2822F63-AED1-4711-BEBC-4A8EA791C128}"/>
              </a:ext>
            </a:extLst>
          </p:cNvPr>
          <p:cNvSpPr>
            <a:spLocks xmlns:a="http://schemas.openxmlformats.org/drawingml/2006/main" noGrp="1"/>
          </p:cNvSpPr>
          <p:nvPr/>
        </p:nvSpPr>
        <p:spPr>
          <a:xfrm xmlns:a="http://schemas.openxmlformats.org/drawingml/2006/main">
            <a:off x="7507700" y="36247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Content-Placeholder-10-10">
            <a:extLst xmlns:a="http://schemas.openxmlformats.org/drawingml/2006/main">
              <a:ext uri="{FF2B5EF4-FFF2-40B4-BE49-F238E27FC236}">
                <a16:creationId xmlns:a16="http://schemas.microsoft.com/office/drawing/2014/main" id="{0B7D3FBA-3E70-4367-8AA4-C035B764D0D7}"/>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BOUNDED ACTION</a:t>
            </a:r>
          </a:p>
        </p:txBody>
      </p:sp>
      <p:sp>
        <p:nvSpPr>
          <p:cNvPr id="10" name="Google-Shape-340-p61-11">
            <a:extLst xmlns:a="http://schemas.openxmlformats.org/drawingml/2006/main">
              <a:ext uri="{FF2B5EF4-FFF2-40B4-BE49-F238E27FC236}">
                <a16:creationId xmlns:a16="http://schemas.microsoft.com/office/drawing/2014/main" id="{B123F4C8-5D2E-47CC-95E9-F7C89FAC8277}"/>
              </a:ext>
            </a:extLst>
          </p:cNvPr>
          <p:cNvSpPr>
            <a:spLocks xmlns:a="http://schemas.openxmlformats.org/drawingml/2006/main" noGrp="1"/>
          </p:cNvSpPr>
          <p:nvPr/>
        </p:nvSpPr>
        <p:spPr>
          <a:xfrm xmlns:a="http://schemas.openxmlformats.org/drawingml/2006/main">
            <a:off x="7507700" y="42395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1" name="Content-Placeholder-10-12">
            <a:extLst xmlns:a="http://schemas.openxmlformats.org/drawingml/2006/main">
              <a:ext uri="{FF2B5EF4-FFF2-40B4-BE49-F238E27FC236}">
                <a16:creationId xmlns:a16="http://schemas.microsoft.com/office/drawing/2014/main" id="{0F72A051-A830-412A-A848-C8FD600498BB}"/>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575" b="1">
                <a:solidFill>
                  <a:srgbClr val="3D8DFF"/>
                </a:solidFill>
                <a:latin typeface="Helvetica Neue"/>
                <a:ea typeface="Helvetica Neue"/>
                <a:cs typeface="Helvetica Neue"/>
              </a:rPr>
              <a:t>MEASURE + STOP</a:t>
            </a:r>
          </a:p>
        </p:txBody>
      </p:sp>
      <p:sp>
        <p:nvSpPr>
          <p:cNvPr id="12" name="Google-Shape-340-p61-13">
            <a:extLst xmlns:a="http://schemas.openxmlformats.org/drawingml/2006/main">
              <a:ext uri="{FF2B5EF4-FFF2-40B4-BE49-F238E27FC236}">
                <a16:creationId xmlns:a16="http://schemas.microsoft.com/office/drawing/2014/main" id="{E0195391-9AAB-45CE-90BC-912B9E6B4008}"/>
              </a:ext>
            </a:extLst>
          </p:cNvPr>
          <p:cNvSpPr>
            <a:spLocks xmlns:a="http://schemas.openxmlformats.org/drawingml/2006/main" noGrp="1"/>
          </p:cNvSpPr>
          <p:nvPr/>
        </p:nvSpPr>
        <p:spPr>
          <a:xfrm xmlns:a="http://schemas.openxmlformats.org/drawingml/2006/main">
            <a:off x="7507700" y="48491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3" name="Content-Placeholder-10-14">
            <a:extLst xmlns:a="http://schemas.openxmlformats.org/drawingml/2006/main">
              <a:ext uri="{FF2B5EF4-FFF2-40B4-BE49-F238E27FC236}">
                <a16:creationId xmlns:a16="http://schemas.microsoft.com/office/drawing/2014/main" id="{2D4F4539-9676-4BC4-857D-6794C8D1CC57}"/>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AUDITABLE RESULT</a:t>
            </a:r>
          </a:p>
        </p:txBody>
      </p:sp>
      <p:sp>
        <p:nvSpPr>
          <p:cNvPr id="14" name="Google-Shape-340-p61-15">
            <a:extLst xmlns:a="http://schemas.openxmlformats.org/drawingml/2006/main">
              <a:ext uri="{FF2B5EF4-FFF2-40B4-BE49-F238E27FC236}">
                <a16:creationId xmlns:a16="http://schemas.microsoft.com/office/drawing/2014/main" id="{E216EEF1-663C-4BD0-8376-39D4E089D8A9}"/>
              </a:ext>
            </a:extLst>
          </p:cNvPr>
          <p:cNvSpPr>
            <a:spLocks xmlns:a="http://schemas.openxmlformats.org/drawingml/2006/main" noGrp="1"/>
          </p:cNvSpPr>
          <p:nvPr/>
        </p:nvSpPr>
        <p:spPr>
          <a:xfrm xmlns:a="http://schemas.openxmlformats.org/drawingml/2006/main">
            <a:off x="7507700" y="5471541"/>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Tree>
    <p:extLst>
      <p:ext uri="{BB962C8B-B14F-4D97-AF65-F5344CB8AC3E}">
        <p14:creationId xmlns:p14="http://schemas.microsoft.com/office/powerpoint/2010/main" val="193304143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F9212921-51E3-438C-AB1F-AEEF9E95741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95000"/>
              </a:lnSpc>
              <a:buNone/>
              <a:defRPr sz="100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09</a:t>
            </a:r>
          </a:p>
        </p:txBody>
      </p:sp>
      <p:sp>
        <p:nvSpPr>
          <p:cNvPr id="2" name="Google-Shape-533-p58-3">
            <a:extLst xmlns:a="http://schemas.openxmlformats.org/drawingml/2006/main">
              <a:ext uri="{FF2B5EF4-FFF2-40B4-BE49-F238E27FC236}">
                <a16:creationId xmlns:a16="http://schemas.microsoft.com/office/drawing/2014/main" id="{6B436D48-E2C9-450D-9C63-C62D9AC3A75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The intended impact is faster action with fewer false starts</a:t>
            </a:r>
          </a:p>
        </p:txBody>
      </p:sp>
      <p:sp>
        <p:nvSpPr>
          <p:cNvPr id="3" name="Content-Placeholder-10-4">
            <a:extLst xmlns:a="http://schemas.openxmlformats.org/drawingml/2006/main">
              <a:ext uri="{FF2B5EF4-FFF2-40B4-BE49-F238E27FC236}">
                <a16:creationId xmlns:a16="http://schemas.microsoft.com/office/drawing/2014/main" id="{B6CF673E-DD64-43CC-A393-F62CE25EBEFF}"/>
              </a:ext>
            </a:extLst>
          </p:cNvPr>
          <p:cNvSpPr>
            <a:spLocks xmlns:a="http://schemas.openxmlformats.org/drawingml/2006/main" noGrp="1"/>
          </p:cNvSpPr>
          <p:nvPr/>
        </p:nvSpPr>
        <p:spPr>
          <a:xfrm xmlns:a="http://schemas.openxmlformats.org/drawingml/2006/main">
            <a:off x="6972300" y="23748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Shorter time to disposition</a:t>
            </a:r>
          </a:p>
        </p:txBody>
      </p:sp>
      <p:sp>
        <p:nvSpPr>
          <p:cNvPr id="4" name="Content-Placeholder-10-5">
            <a:extLst xmlns:a="http://schemas.openxmlformats.org/drawingml/2006/main">
              <a:ext uri="{FF2B5EF4-FFF2-40B4-BE49-F238E27FC236}">
                <a16:creationId xmlns:a16="http://schemas.microsoft.com/office/drawing/2014/main" id="{73EC4A09-54B0-45E7-8968-A51DAAE96334}"/>
              </a:ext>
            </a:extLst>
          </p:cNvPr>
          <p:cNvSpPr>
            <a:spLocks xmlns:a="http://schemas.openxmlformats.org/drawingml/2006/main" noGrp="1"/>
          </p:cNvSpPr>
          <p:nvPr/>
        </p:nvSpPr>
        <p:spPr>
          <a:xfrm xmlns:a="http://schemas.openxmlformats.org/drawingml/2006/main">
            <a:off x="4851368" y="23748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500" b="1">
                <a:solidFill>
                  <a:srgbClr val="3D8DFF"/>
                </a:solidFill>
                <a:latin typeface="Helvetica Neue"/>
                <a:ea typeface="Helvetica Neue"/>
                <a:cs typeface="Helvetica Neue"/>
              </a:rPr>
              <a:t>01</a:t>
            </a:r>
          </a:p>
        </p:txBody>
      </p:sp>
      <p:sp>
        <p:nvSpPr>
          <p:cNvPr id="5" name="Content-Placeholder-10-6">
            <a:extLst xmlns:a="http://schemas.openxmlformats.org/drawingml/2006/main">
              <a:ext uri="{FF2B5EF4-FFF2-40B4-BE49-F238E27FC236}">
                <a16:creationId xmlns:a16="http://schemas.microsoft.com/office/drawing/2014/main" id="{64B19265-C239-4C4D-8809-72D3EF5C9D58}"/>
              </a:ext>
            </a:extLst>
          </p:cNvPr>
          <p:cNvSpPr>
            <a:spLocks xmlns:a="http://schemas.openxmlformats.org/drawingml/2006/main" noGrp="1"/>
          </p:cNvSpPr>
          <p:nvPr/>
        </p:nvSpPr>
        <p:spPr>
          <a:xfrm xmlns:a="http://schemas.openxmlformats.org/drawingml/2006/main">
            <a:off x="6972300" y="33654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More opportunities acted on before expiration</a:t>
            </a:r>
          </a:p>
        </p:txBody>
      </p:sp>
      <p:sp>
        <p:nvSpPr>
          <p:cNvPr id="6" name="Content-Placeholder-10-7">
            <a:extLst xmlns:a="http://schemas.openxmlformats.org/drawingml/2006/main">
              <a:ext uri="{FF2B5EF4-FFF2-40B4-BE49-F238E27FC236}">
                <a16:creationId xmlns:a16="http://schemas.microsoft.com/office/drawing/2014/main" id="{270C95CF-C9B5-4EA5-8A57-6C0334A81BE4}"/>
              </a:ext>
            </a:extLst>
          </p:cNvPr>
          <p:cNvSpPr>
            <a:spLocks xmlns:a="http://schemas.openxmlformats.org/drawingml/2006/main" noGrp="1"/>
          </p:cNvSpPr>
          <p:nvPr/>
        </p:nvSpPr>
        <p:spPr>
          <a:xfrm xmlns:a="http://schemas.openxmlformats.org/drawingml/2006/main">
            <a:off x="4851368" y="33654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500" b="1">
                <a:solidFill>
                  <a:srgbClr val="3D8DFF"/>
                </a:solidFill>
                <a:latin typeface="Helvetica Neue"/>
                <a:ea typeface="Helvetica Neue"/>
                <a:cs typeface="Helvetica Neue"/>
              </a:rPr>
              <a:t>02</a:t>
            </a:r>
          </a:p>
        </p:txBody>
      </p:sp>
      <p:sp>
        <p:nvSpPr>
          <p:cNvPr id="7" name="Content-Placeholder-10-8">
            <a:extLst xmlns:a="http://schemas.openxmlformats.org/drawingml/2006/main">
              <a:ext uri="{FF2B5EF4-FFF2-40B4-BE49-F238E27FC236}">
                <a16:creationId xmlns:a16="http://schemas.microsoft.com/office/drawing/2014/main" id="{BB44D2FB-163E-4EE0-93F7-7139E19663C6}"/>
              </a:ext>
            </a:extLst>
          </p:cNvPr>
          <p:cNvSpPr>
            <a:spLocks xmlns:a="http://schemas.openxmlformats.org/drawingml/2006/main" noGrp="1"/>
          </p:cNvSpPr>
          <p:nvPr/>
        </p:nvSpPr>
        <p:spPr>
          <a:xfrm xmlns:a="http://schemas.openxmlformats.org/drawingml/2006/main">
            <a:off x="6972300" y="43560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Fewer false starts and unsafe responses</a:t>
            </a:r>
          </a:p>
        </p:txBody>
      </p:sp>
      <p:sp>
        <p:nvSpPr>
          <p:cNvPr id="8" name="Content-Placeholder-10-9">
            <a:extLst xmlns:a="http://schemas.openxmlformats.org/drawingml/2006/main">
              <a:ext uri="{FF2B5EF4-FFF2-40B4-BE49-F238E27FC236}">
                <a16:creationId xmlns:a16="http://schemas.microsoft.com/office/drawing/2014/main" id="{10762AF8-5D13-4286-B24A-AD042CF9DC9F}"/>
              </a:ext>
            </a:extLst>
          </p:cNvPr>
          <p:cNvSpPr>
            <a:spLocks xmlns:a="http://schemas.openxmlformats.org/drawingml/2006/main" noGrp="1"/>
          </p:cNvSpPr>
          <p:nvPr/>
        </p:nvSpPr>
        <p:spPr>
          <a:xfrm xmlns:a="http://schemas.openxmlformats.org/drawingml/2006/main">
            <a:off x="4851368" y="43560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500" b="1">
                <a:solidFill>
                  <a:srgbClr val="3D8DFF"/>
                </a:solidFill>
                <a:latin typeface="Helvetica Neue"/>
                <a:ea typeface="Helvetica Neue"/>
                <a:cs typeface="Helvetica Neue"/>
              </a:rPr>
              <a:t>03</a:t>
            </a:r>
          </a:p>
        </p:txBody>
      </p:sp>
      <p:sp>
        <p:nvSpPr>
          <p:cNvPr id="9" name="Content-Placeholder-10-10">
            <a:extLst xmlns:a="http://schemas.openxmlformats.org/drawingml/2006/main">
              <a:ext uri="{FF2B5EF4-FFF2-40B4-BE49-F238E27FC236}">
                <a16:creationId xmlns:a16="http://schemas.microsoft.com/office/drawing/2014/main" id="{258A1A92-4CC9-48F2-97F9-5D34AFD42B04}"/>
              </a:ext>
            </a:extLst>
          </p:cNvPr>
          <p:cNvSpPr>
            <a:spLocks xmlns:a="http://schemas.openxmlformats.org/drawingml/2006/main" noGrp="1"/>
          </p:cNvSpPr>
          <p:nvPr/>
        </p:nvSpPr>
        <p:spPr>
          <a:xfrm xmlns:a="http://schemas.openxmlformats.org/drawingml/2006/main">
            <a:off x="6972300" y="5359432"/>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Measured outcomes that improve future playbooks</a:t>
            </a:r>
          </a:p>
        </p:txBody>
      </p:sp>
      <p:sp>
        <p:nvSpPr>
          <p:cNvPr id="10" name="Content-Placeholder-10-11">
            <a:extLst xmlns:a="http://schemas.openxmlformats.org/drawingml/2006/main">
              <a:ext uri="{FF2B5EF4-FFF2-40B4-BE49-F238E27FC236}">
                <a16:creationId xmlns:a16="http://schemas.microsoft.com/office/drawing/2014/main" id="{61CF06DB-FBF6-4265-96D7-089A6AF59A5E}"/>
              </a:ext>
            </a:extLst>
          </p:cNvPr>
          <p:cNvSpPr>
            <a:spLocks xmlns:a="http://schemas.openxmlformats.org/drawingml/2006/main" noGrp="1"/>
          </p:cNvSpPr>
          <p:nvPr/>
        </p:nvSpPr>
        <p:spPr>
          <a:xfrm xmlns:a="http://schemas.openxmlformats.org/drawingml/2006/main">
            <a:off x="4851368" y="5359432"/>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500" b="1">
                <a:solidFill>
                  <a:srgbClr val="3D8DFF"/>
                </a:solidFill>
                <a:latin typeface="Helvetica Neue"/>
                <a:ea typeface="Helvetica Neue"/>
                <a:cs typeface="Helvetica Neue"/>
              </a:rPr>
              <a:t>04</a:t>
            </a:r>
          </a:p>
        </p:txBody>
      </p:sp>
      <p:sp>
        <p:nvSpPr>
          <p:cNvPr id="11" name="Google-Shape-534-p58-12">
            <a:extLst xmlns:a="http://schemas.openxmlformats.org/drawingml/2006/main">
              <a:ext uri="{FF2B5EF4-FFF2-40B4-BE49-F238E27FC236}">
                <a16:creationId xmlns:a16="http://schemas.microsoft.com/office/drawing/2014/main" id="{82F1ECF9-1498-42E5-9C3E-FD2DA30D2B25}"/>
              </a:ext>
            </a:extLst>
          </p:cNvPr>
          <p:cNvSpPr>
            <a:spLocks xmlns:a="http://schemas.openxmlformats.org/drawingml/2006/main" noGrp="1"/>
          </p:cNvSpPr>
          <p:nvPr/>
        </p:nvSpPr>
        <p:spPr>
          <a:xfrm xmlns:a="http://schemas.openxmlformats.org/drawingml/2006/main">
            <a:off x="393668" y="2374868"/>
            <a:ext cx="3568732" cy="3619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00" b="1">
                <a:solidFill>
                  <a:srgbClr val="3D8DFF"/>
                </a:solidFill>
                <a:latin typeface="Helvetica Neue"/>
                <a:ea typeface="Helvetica Neue"/>
                <a:cs typeface="Helvetica Neue"/>
              </a:rPr>
              <a:t>Impact</a:t>
            </a:r>
          </a:p>
          <a:p xmlns:a="http://schemas.openxmlformats.org/drawingml/2006/main">
            <a:pPr algn="l">
              <a:lnSpc>
                <a:spcPct val="95000"/>
              </a:lnSpc>
              <a:buNone/>
              <a:defRPr sz="24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The platform should improve how Chewy responds to qualified regional opportunities and how the business learns from each result.</a:t>
            </a:r>
          </a:p>
          <a:p xmlns:a="http://schemas.openxmlformats.org/drawingml/2006/main">
            <a:pPr algn="l">
              <a:lnSpc>
                <a:spcPct val="95000"/>
              </a:lnSpc>
              <a:buNone/>
              <a:defRPr sz="2400">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Business impact must be proven through a real pilot.</a:t>
            </a:r>
          </a:p>
        </p:txBody>
      </p:sp>
    </p:spTree>
    <p:extLst>
      <p:ext uri="{BB962C8B-B14F-4D97-AF65-F5344CB8AC3E}">
        <p14:creationId xmlns:p14="http://schemas.microsoft.com/office/powerpoint/2010/main" val="88853733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0146907F-F713-47EF-8386-21514625D044}"/>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95000"/>
              </a:lnSpc>
              <a:buNone/>
              <a:defRPr sz="100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10</a:t>
            </a:r>
          </a:p>
        </p:txBody>
      </p:sp>
      <p:sp>
        <p:nvSpPr>
          <p:cNvPr id="2" name="Title-2-3">
            <a:extLst xmlns:a="http://schemas.openxmlformats.org/drawingml/2006/main">
              <a:ext uri="{FF2B5EF4-FFF2-40B4-BE49-F238E27FC236}">
                <a16:creationId xmlns:a16="http://schemas.microsoft.com/office/drawing/2014/main" id="{1173017E-5339-45A7-9B67-6A97130C513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The prototype proves the controlled workflow, not production impact</a:t>
            </a:r>
          </a:p>
        </p:txBody>
      </p:sp>
      <p:sp>
        <p:nvSpPr>
          <p:cNvPr id="3" name="Content-Placeholder-9-4">
            <a:extLst xmlns:a="http://schemas.openxmlformats.org/drawingml/2006/main">
              <a:ext uri="{FF2B5EF4-FFF2-40B4-BE49-F238E27FC236}">
                <a16:creationId xmlns:a16="http://schemas.microsoft.com/office/drawing/2014/main" id="{B1E0CDB1-CFCE-4076-93B4-035004E79347}"/>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00" b="1">
                <a:solidFill>
                  <a:srgbClr val="3D8DFF"/>
                </a:solidFill>
                <a:latin typeface="Helvetica Neue"/>
                <a:ea typeface="Helvetica Neue"/>
                <a:cs typeface="Helvetica Neue"/>
              </a:rPr>
              <a:t>PROVES
Deterministic qualification</a:t>
            </a:r>
          </a:p>
          <a:p xmlns:a="http://schemas.openxmlformats.org/drawingml/2006/main">
            <a:pPr algn="l">
              <a:lnSpc>
                <a:spcPct val="95000"/>
              </a:lnSpc>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Validation, geography, rules, contradictions, deduplication, and workflow state are application-owned.</a:t>
            </a:r>
          </a:p>
        </p:txBody>
      </p:sp>
      <p:sp>
        <p:nvSpPr>
          <p:cNvPr id="4" name="Content-Placeholder-10-5">
            <a:extLst xmlns:a="http://schemas.openxmlformats.org/drawingml/2006/main">
              <a:ext uri="{FF2B5EF4-FFF2-40B4-BE49-F238E27FC236}">
                <a16:creationId xmlns:a16="http://schemas.microsoft.com/office/drawing/2014/main" id="{FF7025B3-C496-4240-A2F8-32CDF647338A}"/>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00" b="1">
                <a:solidFill>
                  <a:srgbClr val="3D8DFF"/>
                </a:solidFill>
                <a:latin typeface="Helvetica Neue"/>
                <a:ea typeface="Helvetica Neue"/>
                <a:cs typeface="Helvetica Neue"/>
              </a:rPr>
              <a:t>PROVES
Sector-specific action paths</a:t>
            </a:r>
          </a:p>
          <a:p xmlns:a="http://schemas.openxmlformats.org/drawingml/2006/main">
            <a:pPr algn="l">
              <a:lnSpc>
                <a:spcPct val="95000"/>
              </a:lnSpc>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Marketing and Pet Health retain review; ecosystem prepares a deterministic packet.</a:t>
            </a:r>
          </a:p>
        </p:txBody>
      </p:sp>
      <p:sp>
        <p:nvSpPr>
          <p:cNvPr id="5" name="Content-Placeholder-9-6">
            <a:extLst xmlns:a="http://schemas.openxmlformats.org/drawingml/2006/main">
              <a:ext uri="{FF2B5EF4-FFF2-40B4-BE49-F238E27FC236}">
                <a16:creationId xmlns:a16="http://schemas.microsoft.com/office/drawing/2014/main" id="{FDE9945E-0668-4834-84D8-0F156661F532}"/>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00" b="1">
                <a:solidFill>
                  <a:srgbClr val="3D8DFF"/>
                </a:solidFill>
                <a:latin typeface="Helvetica Neue"/>
                <a:ea typeface="Helvetica Neue"/>
                <a:cs typeface="Helvetica Neue"/>
              </a:rPr>
              <a:t>PROVES
Bounded AI and communication</a:t>
            </a:r>
          </a:p>
          <a:p xmlns:a="http://schemas.openxmlformats.org/drawingml/2006/main">
            <a:pPr algn="l">
              <a:lnSpc>
                <a:spcPct val="95000"/>
              </a:lnSpc>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AI can rewrite validated output. Outlook and Slack previews are simulated and nothing is sent.</a:t>
            </a:r>
          </a:p>
        </p:txBody>
      </p:sp>
      <p:sp>
        <p:nvSpPr>
          <p:cNvPr id="6" name="Content-Placeholder-10-7">
            <a:extLst xmlns:a="http://schemas.openxmlformats.org/drawingml/2006/main">
              <a:ext uri="{FF2B5EF4-FFF2-40B4-BE49-F238E27FC236}">
                <a16:creationId xmlns:a16="http://schemas.microsoft.com/office/drawing/2014/main" id="{5C707601-8DEC-49B7-852F-F6B036491EED}"/>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DOES NOT PROVE
Real business lift</a:t>
            </a:r>
          </a:p>
          <a:p xmlns:a="http://schemas.openxmlformats.org/drawingml/2006/main">
            <a:pPr algn="l">
              <a:lnSpc>
                <a:spcPct val="95000"/>
              </a:lnSpc>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Production data, execution authority, real outcomes, and multi-market operations remain unresolved.</a:t>
            </a:r>
          </a:p>
        </p:txBody>
      </p:sp>
    </p:spTree>
    <p:extLst>
      <p:ext uri="{BB962C8B-B14F-4D97-AF65-F5344CB8AC3E}">
        <p14:creationId xmlns:p14="http://schemas.microsoft.com/office/powerpoint/2010/main" val="62789856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AF9487D2-FFD0-4B44-92DF-77818A54B6A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95000"/>
              </a:lnSpc>
              <a:buNone/>
              <a:defRPr sz="1000">
                <a:solidFill>
                  <a:srgbClr val="000000"/>
                </a:solidFill>
                <a:latin typeface="Helvetica Neue"/>
                <a:ea typeface="Helvetica Neue"/>
                <a:cs typeface="Helvetica Neue"/>
              </a:defRPr>
            </a:pPr>
            <a:r>
              <a:rPr sz="975" b="0">
                <a:solidFill>
                  <a:srgbClr val="000000"/>
                </a:solidFill>
                <a:latin typeface="Helvetica Neue"/>
                <a:ea typeface="Helvetica Neue"/>
                <a:cs typeface="Helvetica Neue"/>
              </a:rPr>
              <a:t>11</a:t>
            </a:r>
          </a:p>
        </p:txBody>
      </p:sp>
      <p:sp>
        <p:nvSpPr>
          <p:cNvPr id="2" name="Google-Shape-533-p58-3">
            <a:extLst xmlns:a="http://schemas.openxmlformats.org/drawingml/2006/main">
              <a:ext uri="{FF2B5EF4-FFF2-40B4-BE49-F238E27FC236}">
                <a16:creationId xmlns:a16="http://schemas.microsoft.com/office/drawing/2014/main" id="{74EE1CDC-E7F0-4128-B997-A210810C5FF3}"/>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Pilot one real regional decision where the business is ready to act</a:t>
            </a:r>
          </a:p>
        </p:txBody>
      </p:sp>
      <p:sp>
        <p:nvSpPr>
          <p:cNvPr id="3" name="Rounded-Rectangle-1-4">
            <a:extLst xmlns:a="http://schemas.openxmlformats.org/drawingml/2006/main">
              <a:ext uri="{FF2B5EF4-FFF2-40B4-BE49-F238E27FC236}">
                <a16:creationId xmlns:a16="http://schemas.microsoft.com/office/drawing/2014/main" id="{9823D37A-2D67-4218-8938-AEC047F8DDD1}"/>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CC24B58A-6DE7-4592-BE22-92EDD58D0764}"/>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The pilot needs</a:t>
            </a:r>
          </a:p>
        </p:txBody>
      </p:sp>
      <p:sp>
        <p:nvSpPr>
          <p:cNvPr id="5" name="Content-Placeholder-15-6">
            <a:extLst xmlns:a="http://schemas.openxmlformats.org/drawingml/2006/main">
              <a:ext uri="{FF2B5EF4-FFF2-40B4-BE49-F238E27FC236}">
                <a16:creationId xmlns:a16="http://schemas.microsoft.com/office/drawing/2014/main" id="{53707D4E-7674-4F36-84CC-BEF8DBC62324}"/>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One accountable owner</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Approved playbook and aggregate evidence</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Baseline, comparison, guardrails, and stop rules</a:t>
            </a:r>
          </a:p>
        </p:txBody>
      </p:sp>
      <p:sp>
        <p:nvSpPr>
          <p:cNvPr id="6" name="Rounded-Rectangle-7-7">
            <a:extLst xmlns:a="http://schemas.openxmlformats.org/drawingml/2006/main">
              <a:ext uri="{FF2B5EF4-FFF2-40B4-BE49-F238E27FC236}">
                <a16:creationId xmlns:a16="http://schemas.microsoft.com/office/drawing/2014/main" id="{EBC16221-B27A-478F-A0BE-9EA0FA2F73AE}"/>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60CB6BFC-42BA-4E84-B229-E7A8E38A5FCB}"/>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The pilot should prove</a:t>
            </a:r>
          </a:p>
        </p:txBody>
      </p:sp>
      <p:sp>
        <p:nvSpPr>
          <p:cNvPr id="8" name="Content-Placeholder-15-9">
            <a:extLst xmlns:a="http://schemas.openxmlformats.org/drawingml/2006/main">
              <a:ext uri="{FF2B5EF4-FFF2-40B4-BE49-F238E27FC236}">
                <a16:creationId xmlns:a16="http://schemas.microsoft.com/office/drawing/2014/main" id="{39F9E4B9-F20A-4B70-A1DB-BB74FDEDD038}"/>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Faster time from signal to decision</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A better, measurable action</a:t>
            </a:r>
          </a:p>
          <a:p xmlns:a="http://schemas.openxmlformats.org/drawingml/2006/main">
            <a:pPr algn="l">
              <a:lnSpc>
                <a:spcPct val="95000"/>
              </a:lnSpc>
              <a:buNone/>
              <a:defRPr sz="16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Learning that improves the next response</a:t>
            </a:r>
          </a:p>
        </p:txBody>
      </p:sp>
      <p:sp>
        <p:nvSpPr>
          <p:cNvPr id="9" name="Content-Placeholder-15-10">
            <a:extLst xmlns:a="http://schemas.openxmlformats.org/drawingml/2006/main">
              <a:ext uri="{FF2B5EF4-FFF2-40B4-BE49-F238E27FC236}">
                <a16:creationId xmlns:a16="http://schemas.microsoft.com/office/drawing/2014/main" id="{35D05E92-E926-4F91-89B6-EFF9389FDCA1}"/>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1600">
                <a:solidFill>
                  <a:srgbClr val="000000"/>
                </a:solidFill>
                <a:latin typeface="Helvetica Neue"/>
                <a:ea typeface="Helvetica Neue"/>
                <a:cs typeface="Helvetica Neue"/>
              </a:defRPr>
            </a:pPr>
            <a:r>
              <a:rPr sz="1425" b="1">
                <a:solidFill>
                  <a:srgbClr val="3D8DFF"/>
                </a:solidFill>
                <a:latin typeface="Helvetica Neue"/>
                <a:ea typeface="Helvetica Neue"/>
                <a:cs typeface="Helvetica Neue"/>
              </a:rPr>
              <a:t>LEADERSHIP ASK</a:t>
            </a:r>
          </a:p>
          <a:p xmlns:a="http://schemas.openxmlformats.org/drawingml/2006/main">
            <a:pPr algn="l">
              <a:lnSpc>
                <a:spcPct val="95000"/>
              </a:lnSpc>
              <a:buNone/>
              <a:defRPr sz="16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Align on the product outcome: faster, more disciplined action on regional opportunities, not simply consolidated data.</a:t>
            </a:r>
          </a:p>
          <a:p xmlns:a="http://schemas.openxmlformats.org/drawingml/2006/main">
            <a:pPr algn="l">
              <a:lnSpc>
                <a:spcPct val="95000"/>
              </a:lnSpc>
              <a:buNone/>
              <a:defRPr sz="16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Select one bounded pilot with a real owner, decision window, permitted action, and measurable result.</a:t>
            </a:r>
          </a:p>
        </p:txBody>
      </p:sp>
    </p:spTree>
    <p:extLst>
      <p:ext uri="{BB962C8B-B14F-4D97-AF65-F5344CB8AC3E}">
        <p14:creationId xmlns:p14="http://schemas.microsoft.com/office/powerpoint/2010/main" val="209160264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CCEB25C7-0245-4137-8B9A-93622907E9B5}"/>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88000"/>
              </a:lnSpc>
              <a:buNone/>
              <a:defRPr sz="6000">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Detect. Qualify.
</a:t>
            </a:r>
            <a:r>
              <a:rPr sz="5400" b="1">
                <a:solidFill>
                  <a:srgbClr val="3D8DFF"/>
                </a:solidFill>
                <a:latin typeface="Helvetica Neue"/>
                <a:ea typeface="Helvetica Neue"/>
                <a:cs typeface="Helvetica Neue"/>
              </a:rPr>
              <a:t>Act. Measure. Improve.</a:t>
            </a:r>
          </a:p>
        </p:txBody>
      </p:sp>
      <p:sp>
        <p:nvSpPr>
          <p:cNvPr id="2" name="Subtitle-4-2">
            <a:extLst xmlns:a="http://schemas.openxmlformats.org/drawingml/2006/main">
              <a:ext uri="{FF2B5EF4-FFF2-40B4-BE49-F238E27FC236}">
                <a16:creationId xmlns:a16="http://schemas.microsoft.com/office/drawing/2014/main" id="{57F2D63B-4399-4908-A794-9C021CC47C16}"/>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Turn regional market changes into timely, accountable, and measurable action.</a:t>
            </a:r>
          </a:p>
        </p:txBody>
      </p:sp>
      <p:sp>
        <p:nvSpPr>
          <p:cNvPr id="3" name="Subtitle-4-3">
            <a:extLst xmlns:a="http://schemas.openxmlformats.org/drawingml/2006/main">
              <a:ext uri="{FF2B5EF4-FFF2-40B4-BE49-F238E27FC236}">
                <a16:creationId xmlns:a16="http://schemas.microsoft.com/office/drawing/2014/main" id="{210AE6CD-3886-49D5-81F2-93CAC020C4F9}"/>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5000"/>
              </a:lnSpc>
              <a:buNone/>
              <a:defRPr sz="2400">
                <a:solidFill>
                  <a:srgbClr val="000000"/>
                </a:solidFill>
                <a:latin typeface="Helvetica Neue"/>
                <a:ea typeface="Helvetica Neue"/>
                <a:cs typeface="Helvetica Neue"/>
              </a:defRPr>
            </a:pPr>
            <a:r>
              <a:rPr sz="1800" b="1">
                <a:solidFill>
                  <a:srgbClr val="3D8DFF"/>
                </a:solidFill>
                <a:latin typeface="Helvetica Neue"/>
                <a:ea typeface="Helvetica Neue"/>
                <a:cs typeface="Helvetica Neue"/>
              </a:rPr>
              <a:t>MARKET OPPORTUNITY PLATFORM</a:t>
            </a:r>
          </a:p>
        </p:txBody>
      </p:sp>
    </p:spTree>
    <p:extLst>
      <p:ext uri="{BB962C8B-B14F-4D97-AF65-F5344CB8AC3E}">
        <p14:creationId xmlns:p14="http://schemas.microsoft.com/office/powerpoint/2010/main" val="1842756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2026-08-06T20:59:36.3930000Z</dcterms:created>
  <dcterms:modified xsi:type="dcterms:W3CDTF">2026-08-06T20:59:36.3930000Z</dcterms:modified>
</coreProperties>
</file>
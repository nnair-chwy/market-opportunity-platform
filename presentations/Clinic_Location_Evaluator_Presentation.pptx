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7170b5a841484a" /><Relationship Type="http://schemas.openxmlformats.org/officeDocument/2006/relationships/extended-properties" Target="/docProps/app.xml" Id="Rb57cfebd87ad4360" /><Relationship Type="http://schemas.openxmlformats.org/officeDocument/2006/relationships/officeDocument" Target="/ppt/presentation.xml" Id="Rfd5a53ae06554a87" /></Relationships>
</file>

<file path=ppt/presentation.xml><?xml version="1.0" encoding="utf-8"?>
<p:presentation xmlns:p="http://schemas.openxmlformats.org/presentationml/2006/main">
  <p:sldMasterIdLst>
    <p:sldMasterId xmlns:r="http://schemas.openxmlformats.org/officeDocument/2006/relationships" id="2147483648" r:id="R73c791a239ee4e9d"/>
  </p:sldMasterIdLst>
  <p:notesMasterIdLst>
    <p:notesMasterId xmlns:r="http://schemas.openxmlformats.org/officeDocument/2006/relationships" r:id="R129a2db01d424b1e"/>
  </p:notesMasterIdLst>
  <p:sldIdLst>
    <p:sldId xmlns:r="http://schemas.openxmlformats.org/officeDocument/2006/relationships" id="256" r:id="Rba2515051dce4ed5"/>
    <p:sldId xmlns:r="http://schemas.openxmlformats.org/officeDocument/2006/relationships" id="257" r:id="R632bfe3b89c143b5"/>
    <p:sldId xmlns:r="http://schemas.openxmlformats.org/officeDocument/2006/relationships" id="258" r:id="R4ceedcc3b4d34d2d"/>
    <p:sldId xmlns:r="http://schemas.openxmlformats.org/officeDocument/2006/relationships" id="259" r:id="Rc671d416761e4f06"/>
    <p:sldId xmlns:r="http://schemas.openxmlformats.org/officeDocument/2006/relationships" id="260" r:id="Ra1fbb3774f05446c"/>
    <p:sldId xmlns:r="http://schemas.openxmlformats.org/officeDocument/2006/relationships" id="261" r:id="R599a580fd8a94716"/>
    <p:sldId xmlns:r="http://schemas.openxmlformats.org/officeDocument/2006/relationships" id="262" r:id="R5b78056a5ac44b75"/>
    <p:sldId xmlns:r="http://schemas.openxmlformats.org/officeDocument/2006/relationships" id="263" r:id="R97acef0506b647e1"/>
    <p:sldId xmlns:r="http://schemas.openxmlformats.org/officeDocument/2006/relationships" id="264" r:id="Rf7534e245546448b"/>
    <p:sldId xmlns:r="http://schemas.openxmlformats.org/officeDocument/2006/relationships" id="265" r:id="Ra6d78d99930d46f6"/>
    <p:sldId xmlns:r="http://schemas.openxmlformats.org/officeDocument/2006/relationships" id="266" r:id="Rc6931aa84c8a46d5"/>
    <p:sldId xmlns:r="http://schemas.openxmlformats.org/officeDocument/2006/relationships" id="267" r:id="R10084c70b7294fda"/>
    <p:sldId xmlns:r="http://schemas.openxmlformats.org/officeDocument/2006/relationships" id="268" r:id="Rf1d749987c1343ba"/>
    <p:sldId xmlns:r="http://schemas.openxmlformats.org/officeDocument/2006/relationships" id="269" r:id="R61e7abb5808646cc"/>
    <p:sldId xmlns:r="http://schemas.openxmlformats.org/officeDocument/2006/relationships" id="270" r:id="R5b43fe21b8b942ee"/>
    <p:sldId xmlns:r="http://schemas.openxmlformats.org/officeDocument/2006/relationships" id="271" r:id="Reecdf56841284d67"/>
    <p:sldId xmlns:r="http://schemas.openxmlformats.org/officeDocument/2006/relationships" id="272" r:id="R8999e27dd80540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b206e802b54c38" /><Relationship Type="http://schemas.openxmlformats.org/officeDocument/2006/relationships/slideMaster" Target="/ppt/slideMasters/slideMaster1.xml" Id="R73c791a239ee4e9d" /><Relationship Type="http://schemas.openxmlformats.org/officeDocument/2006/relationships/notesMaster" Target="/ppt/notesMasters/notesMaster1.xml" Id="R129a2db01d424b1e" /><Relationship Type="http://schemas.openxmlformats.org/officeDocument/2006/relationships/presProps" Target="/ppt/presProps.xml" Id="R7975377dc2e74764" /><Relationship Type="http://schemas.openxmlformats.org/officeDocument/2006/relationships/tableStyles" Target="/ppt/tableStyles.xml" Id="Ref95698e3f3d44b0" /><Relationship Type="http://schemas.openxmlformats.org/officeDocument/2006/relationships/slide" Target="/ppt/slides/slide1.xml" Id="Rba2515051dce4ed5" /><Relationship Type="http://schemas.openxmlformats.org/officeDocument/2006/relationships/slide" Target="/ppt/slides/slide2.xml" Id="R632bfe3b89c143b5" /><Relationship Type="http://schemas.openxmlformats.org/officeDocument/2006/relationships/slide" Target="/ppt/slides/slide3.xml" Id="R4ceedcc3b4d34d2d" /><Relationship Type="http://schemas.openxmlformats.org/officeDocument/2006/relationships/slide" Target="/ppt/slides/slide4.xml" Id="Rc671d416761e4f06" /><Relationship Type="http://schemas.openxmlformats.org/officeDocument/2006/relationships/slide" Target="/ppt/slides/slide5.xml" Id="Ra1fbb3774f05446c" /><Relationship Type="http://schemas.openxmlformats.org/officeDocument/2006/relationships/slide" Target="/ppt/slides/slide6.xml" Id="R599a580fd8a94716" /><Relationship Type="http://schemas.openxmlformats.org/officeDocument/2006/relationships/slide" Target="/ppt/slides/slide7.xml" Id="R5b78056a5ac44b75" /><Relationship Type="http://schemas.openxmlformats.org/officeDocument/2006/relationships/slide" Target="/ppt/slides/slide8.xml" Id="R97acef0506b647e1" /><Relationship Type="http://schemas.openxmlformats.org/officeDocument/2006/relationships/slide" Target="/ppt/slides/slide9.xml" Id="Rf7534e245546448b" /><Relationship Type="http://schemas.openxmlformats.org/officeDocument/2006/relationships/slide" Target="/ppt/slides/slide10.xml" Id="Ra6d78d99930d46f6" /><Relationship Type="http://schemas.openxmlformats.org/officeDocument/2006/relationships/slide" Target="/ppt/slides/slide11.xml" Id="Rc6931aa84c8a46d5" /><Relationship Type="http://schemas.openxmlformats.org/officeDocument/2006/relationships/slide" Target="/ppt/slides/slide12.xml" Id="R10084c70b7294fda" /><Relationship Type="http://schemas.openxmlformats.org/officeDocument/2006/relationships/slide" Target="/ppt/slides/slide13.xml" Id="Rf1d749987c1343ba" /><Relationship Type="http://schemas.openxmlformats.org/officeDocument/2006/relationships/slide" Target="/ppt/slides/slide14.xml" Id="R61e7abb5808646cc" /><Relationship Type="http://schemas.openxmlformats.org/officeDocument/2006/relationships/slide" Target="/ppt/slides/slide15.xml" Id="R5b43fe21b8b942ee" /><Relationship Type="http://schemas.openxmlformats.org/officeDocument/2006/relationships/slide" Target="/ppt/slides/slide16.xml" Id="Reecdf56841284d67" /><Relationship Type="http://schemas.openxmlformats.org/officeDocument/2006/relationships/slide" Target="/ppt/slides/slide17.xml" Id="R8999e27dd80540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c1106a57434b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7e97aae6c74641" /><Relationship Type="http://schemas.openxmlformats.org/officeDocument/2006/relationships/notesMaster" Target="/ppt/notesMasters/notesMaster1.xml" Id="Rbe441c2a15c14f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014b44f3454ca4" /><Relationship Type="http://schemas.openxmlformats.org/officeDocument/2006/relationships/notesMaster" Target="/ppt/notesMasters/notesMaster1.xml" Id="R993464c7d24f48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9b16921d7c444c" /><Relationship Type="http://schemas.openxmlformats.org/officeDocument/2006/relationships/notesMaster" Target="/ppt/notesMasters/notesMaster1.xml" Id="Rbec32ee5819e4e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22a070bf454bf6" /><Relationship Type="http://schemas.openxmlformats.org/officeDocument/2006/relationships/notesMaster" Target="/ppt/notesMasters/notesMaster1.xml" Id="R3f541ee9082444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f4581ceceb44db" /><Relationship Type="http://schemas.openxmlformats.org/officeDocument/2006/relationships/notesMaster" Target="/ppt/notesMasters/notesMaster1.xml" Id="R1357590e1f5f48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3a800f52a34c40" /><Relationship Type="http://schemas.openxmlformats.org/officeDocument/2006/relationships/notesMaster" Target="/ppt/notesMasters/notesMaster1.xml" Id="Rb6be822f7ba642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18829abe4041c9" /><Relationship Type="http://schemas.openxmlformats.org/officeDocument/2006/relationships/notesMaster" Target="/ppt/notesMasters/notesMaster1.xml" Id="R302958ab1e3840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c475998b454d5a" /><Relationship Type="http://schemas.openxmlformats.org/officeDocument/2006/relationships/notesMaster" Target="/ppt/notesMasters/notesMaster1.xml" Id="R3a9c9394b00c41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3934af41564393" /><Relationship Type="http://schemas.openxmlformats.org/officeDocument/2006/relationships/notesMaster" Target="/ppt/notesMasters/notesMaster1.xml" Id="Rce35b989ec6a48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51766914fe4695" /><Relationship Type="http://schemas.openxmlformats.org/officeDocument/2006/relationships/notesMaster" Target="/ppt/notesMasters/notesMaster1.xml" Id="R7e3682265c8442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3e9cf51ac548fb" /><Relationship Type="http://schemas.openxmlformats.org/officeDocument/2006/relationships/notesMaster" Target="/ppt/notesMasters/notesMaster1.xml" Id="Rbb281047598b43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14ee9aeff24f10" /><Relationship Type="http://schemas.openxmlformats.org/officeDocument/2006/relationships/notesMaster" Target="/ppt/notesMasters/notesMaster1.xml" Id="R899c019906d846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1b3efbe6064a62" /><Relationship Type="http://schemas.openxmlformats.org/officeDocument/2006/relationships/notesMaster" Target="/ppt/notesMasters/notesMaster1.xml" Id="R02d6a81d24c74c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dff783ea77b46c6" /><Relationship Type="http://schemas.openxmlformats.org/officeDocument/2006/relationships/notesMaster" Target="/ppt/notesMasters/notesMaster1.xml" Id="R2455f3df009945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4a14bae87347e7" /><Relationship Type="http://schemas.openxmlformats.org/officeDocument/2006/relationships/notesMaster" Target="/ppt/notesMasters/notesMaster1.xml" Id="Rce443a266b9042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49774a1a8364b9c" /><Relationship Type="http://schemas.openxmlformats.org/officeDocument/2006/relationships/notesMaster" Target="/ppt/notesMasters/notesMaster1.xml" Id="Ra47d7f3d0b324a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646f3dc2cc54cec" /><Relationship Type="http://schemas.openxmlformats.org/officeDocument/2006/relationships/notesMaster" Target="/ppt/notesMasters/notesMaster1.xml" Id="R92f127b68f1d46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core idea in one sentence: this tool helps experts compare possible clinic locations with visible evidence, calculations, and uncertainty. It does not choose the location for them.</a:t>
            </a:r>
          </a:p>
          <a:p xmlns:a="http://schemas.openxmlformats.org/drawingml/2006/main">
            <a:r>
              <a:t/>
            </a:r>
          </a:p>
          <a:p xmlns:a="http://schemas.openxmlformats.org/drawingml/2006/main">
            <a:r>
              <a:t>[Sources]</a:t>
            </a:r>
          </a:p>
          <a:p xmlns:a="http://schemas.openxmlformats.org/drawingml/2006/main">
            <a:r>
              <a:t>PROJECT_CONTEXT.md</a:t>
            </a:r>
          </a:p>
          <a:p xmlns:a="http://schemas.openxmlformats.org/drawingml/2006/main">
            <a:r>
              <a:t>docs/product/mvp-scope.md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wedge is intentionally narrow: assemble evidence, calculate consistently, compare candidates, and create a reviewable brief. It is not the entire clinic opening process and it is not autonomous site selection.</a:t>
            </a:r>
          </a:p>
          <a:p xmlns:a="http://schemas.openxmlformats.org/drawingml/2006/main">
            <a:r>
              <a:t/>
            </a:r>
          </a:p>
          <a:p xmlns:a="http://schemas.openxmlformats.org/drawingml/2006/main">
            <a:r>
              <a:t>[Sources]</a:t>
            </a:r>
          </a:p>
          <a:p xmlns:a="http://schemas.openxmlformats.org/drawingml/2006/main">
            <a:r>
              <a:t>PROJECT_CONTEXT.md</a:t>
            </a:r>
          </a:p>
          <a:p xmlns:a="http://schemas.openxmlformats.org/drawingml/2006/main">
            <a:r>
              <a:t>docs/product/mvp-scope.md</a:t>
            </a:r>
          </a:p>
          <a:p xmlns:a="http://schemas.openxmlformats.org/drawingml/2006/main">
            <a:r>
              <a:t>docs/research/claim-ledger.md: CLM-015, CLM-017, CLM-020</a:t>
            </a:r>
          </a:p>
          <a:p xmlns:a="http://schemas.openxmlformats.org/drawingml/2006/main">
            <a:r>
              <a:t>Local prototype screenshot captured 2026-07-30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a lack of judgment. It is that the evidence supporting judgment can live across tools, formats, owners, and confidence levels. The evaluator creates a consistent review surface without pretending that every input is equally reliable.</a:t>
            </a:r>
          </a:p>
          <a:p xmlns:a="http://schemas.openxmlformats.org/drawingml/2006/main">
            <a:r>
              <a:t/>
            </a:r>
          </a:p>
          <a:p xmlns:a="http://schemas.openxmlformats.org/drawingml/2006/main">
            <a:r>
              <a:t>[Sources]</a:t>
            </a:r>
          </a:p>
          <a:p xmlns:a="http://schemas.openxmlformats.org/drawingml/2006/main">
            <a:r>
              <a:t>docs/research/selection-criteria.md</a:t>
            </a:r>
          </a:p>
          <a:p xmlns:a="http://schemas.openxmlformats.org/drawingml/2006/main">
            <a:r>
              <a:t>docs/research/claim-ledger.md: CLM-006 through CLM-018</a:t>
            </a:r>
          </a:p>
          <a:p xmlns:a="http://schemas.openxmlformats.org/drawingml/2006/main">
            <a:r>
              <a:t>docs/research/source-registry.md: SRC-001, SRC-002, SRC-003, SRC-007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key control is the separation between screening, preference scoring, explanation, and the final human decision. Nothing is silently promoted from an address match into an evaluated site.</a:t>
            </a:r>
          </a:p>
          <a:p xmlns:a="http://schemas.openxmlformats.org/drawingml/2006/main">
            <a:r>
              <a:t/>
            </a:r>
          </a:p>
          <a:p xmlns:a="http://schemas.openxmlformats.org/drawingml/2006/main">
            <a:r>
              <a:t>[Sources]</a:t>
            </a:r>
          </a:p>
          <a:p xmlns:a="http://schemas.openxmlformats.org/drawingml/2006/main">
            <a:r>
              <a:t>docs/product/user-workflows.md</a:t>
            </a:r>
          </a:p>
          <a:p xmlns:a="http://schemas.openxmlformats.org/drawingml/2006/main">
            <a:r>
              <a:t>docs/technical/data-contracts.md</a:t>
            </a:r>
          </a:p>
          <a:p xmlns:a="http://schemas.openxmlformats.org/drawingml/2006/main">
            <a:r>
              <a:t>docs/research/claim-ledger.md: CLM-017, CLM-020, CLM-024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screenshot as proof of workflow, not proof of production readiness. Point out the separate current, potential, and evaluated layers, the synthetic label, and the evidence boundary on the map.</a:t>
            </a:r>
          </a:p>
          <a:p xmlns:a="http://schemas.openxmlformats.org/drawingml/2006/main">
            <a:r>
              <a:t/>
            </a:r>
          </a:p>
          <a:p xmlns:a="http://schemas.openxmlformats.org/drawingml/2006/main">
            <a:r>
              <a:t>[Sources]</a:t>
            </a:r>
          </a:p>
          <a:p xmlns:a="http://schemas.openxmlformats.org/drawingml/2006/main">
            <a:r>
              <a:t>docs/technical/architecture.md</a:t>
            </a:r>
          </a:p>
          <a:p xmlns:a="http://schemas.openxmlformats.org/drawingml/2006/main">
            <a:r>
              <a:t>docs/product/user-workflows.md</a:t>
            </a:r>
          </a:p>
          <a:p xmlns:a="http://schemas.openxmlformats.org/drawingml/2006/main">
            <a:r>
              <a:t>docs/research/source-registry.md: SRC-009, SRC-014, SRC-015, SRC-016</a:t>
            </a:r>
          </a:p>
          <a:p xmlns:a="http://schemas.openxmlformats.org/drawingml/2006/main">
            <a:r>
              <a:t>Local prototype screenshot captured 2026-07-30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the numbers are synthetic. The value of the prototype is the behavior: deterministic calculations, visible changes, bounded sensitivity, and a hard constraint that never contributes points.</a:t>
            </a:r>
          </a:p>
          <a:p xmlns:a="http://schemas.openxmlformats.org/drawingml/2006/main">
            <a:r>
              <a:t/>
            </a:r>
          </a:p>
          <a:p xmlns:a="http://schemas.openxmlformats.org/drawingml/2006/main">
            <a:r>
              <a:t>[Sources]</a:t>
            </a:r>
          </a:p>
          <a:p xmlns:a="http://schemas.openxmlformats.org/drawingml/2006/main">
            <a:r>
              <a:t>docs/product/mvp-scope.md</a:t>
            </a:r>
          </a:p>
          <a:p xmlns:a="http://schemas.openxmlformats.org/drawingml/2006/main">
            <a:r>
              <a:t>docs/product/requirements.md: FR-004 through FR-007, NFR-001, NFR-007</a:t>
            </a:r>
          </a:p>
          <a:p xmlns:a="http://schemas.openxmlformats.org/drawingml/2006/main">
            <a:r>
              <a:t>docs/evaluation/evaluation-plan.md</a:t>
            </a:r>
          </a:p>
          <a:p xmlns:a="http://schemas.openxmlformats.org/drawingml/2006/main">
            <a:r>
              <a:t>Local prototype screenshot captured 2026-07-30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contract is the integration strategy. Each adapter can change, but the output stays inspectable. Public Census layers are useful context today and explicitly have no scoring eligibility. Production sources require access, definitions, and approval.</a:t>
            </a:r>
          </a:p>
          <a:p xmlns:a="http://schemas.openxmlformats.org/drawingml/2006/main">
            <a:r>
              <a:t/>
            </a:r>
          </a:p>
          <a:p xmlns:a="http://schemas.openxmlformats.org/drawingml/2006/main">
            <a:r>
              <a:t>[Sources]</a:t>
            </a:r>
          </a:p>
          <a:p xmlns:a="http://schemas.openxmlformats.org/drawingml/2006/main">
            <a:r>
              <a:t>docs/technical/data-contracts.md</a:t>
            </a:r>
          </a:p>
          <a:p xmlns:a="http://schemas.openxmlformats.org/drawingml/2006/main">
            <a:r>
              <a:t>docs/technical/integration-options.md</a:t>
            </a:r>
          </a:p>
          <a:p xmlns:a="http://schemas.openxmlformats.org/drawingml/2006/main">
            <a:r>
              <a:t>docs/research/source-registry.md: SRC-002, SRC-010, SRC-011, SRC-013 through SRC-016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separation is one of the most important design decisions. It prevents an attractive score from hiding a failed requirement. It also makes policy decisions, such as thresholds and weights, reviewable instead of embedding them in a model.</a:t>
            </a:r>
          </a:p>
          <a:p xmlns:a="http://schemas.openxmlformats.org/drawingml/2006/main">
            <a:r>
              <a:t/>
            </a:r>
          </a:p>
          <a:p xmlns:a="http://schemas.openxmlformats.org/drawingml/2006/main">
            <a:r>
              <a:t>[Sources]</a:t>
            </a:r>
          </a:p>
          <a:p xmlns:a="http://schemas.openxmlformats.org/drawingml/2006/main">
            <a:r>
              <a:t>docs/product/requirements.md: FR-003 through FR-008, FR-010</a:t>
            </a:r>
          </a:p>
          <a:p xmlns:a="http://schemas.openxmlformats.org/drawingml/2006/main">
            <a:r>
              <a:t>docs/technical/data-contracts.md</a:t>
            </a:r>
          </a:p>
          <a:p xmlns:a="http://schemas.openxmlformats.org/drawingml/2006/main">
            <a:r>
              <a:t>docs/evaluation/evaluation-plan.md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AI as a constrained explanation layer after the deterministic core. Every number must match the structured result, every factual claim needs a source ID, and the draft remains subject to human review.</a:t>
            </a:r>
          </a:p>
          <a:p xmlns:a="http://schemas.openxmlformats.org/drawingml/2006/main">
            <a:r>
              <a:t/>
            </a:r>
          </a:p>
          <a:p xmlns:a="http://schemas.openxmlformats.org/drawingml/2006/main">
            <a:r>
              <a:t>[Sources]</a:t>
            </a:r>
          </a:p>
          <a:p xmlns:a="http://schemas.openxmlformats.org/drawingml/2006/main">
            <a:r>
              <a:t>docs/technical/ai-boundaries.md</a:t>
            </a:r>
          </a:p>
          <a:p xmlns:a="http://schemas.openxmlformats.org/drawingml/2006/main">
            <a:r>
              <a:t>docs/product/requirements.md: FR-009, FR-014, NFR-004</a:t>
            </a:r>
          </a:p>
          <a:p xmlns:a="http://schemas.openxmlformats.org/drawingml/2006/main">
            <a:r>
              <a:t>docs/evaluation/evaluation-plan.md: Stage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impact claim disciplined. The prototype can plausibly standardize evidence collection, find missing data earlier, reduce explanation rework, and create a clearer handoff. Time savings, better site choices, fewer visits, or improved clinic performance must be measured in a pilot.</a:t>
            </a:r>
          </a:p>
          <a:p xmlns:a="http://schemas.openxmlformats.org/drawingml/2006/main">
            <a:r>
              <a:t/>
            </a:r>
          </a:p>
          <a:p xmlns:a="http://schemas.openxmlformats.org/drawingml/2006/main">
            <a:r>
              <a:t>[Sources]</a:t>
            </a:r>
          </a:p>
          <a:p xmlns:a="http://schemas.openxmlformats.org/drawingml/2006/main">
            <a:r>
              <a:t>docs/evaluation/success-metrics.md</a:t>
            </a:r>
          </a:p>
          <a:p xmlns:a="http://schemas.openxmlformats.org/drawingml/2006/main">
            <a:r>
              <a:t>docs/product/open-questions.md: OQ-014</a:t>
            </a:r>
          </a:p>
          <a:p xmlns:a="http://schemas.openxmlformats.org/drawingml/2006/main">
            <a:r>
              <a:t>PROJECT_CONTEXT.md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 a before-and-after or side-by-side workflow pilot. Start with preparation time, evidence quality, and review rework. Future predictive claims need an approved outcome, comparable cohort, time-correct features, and validation outside the training sample.</a:t>
            </a:r>
          </a:p>
          <a:p xmlns:a="http://schemas.openxmlformats.org/drawingml/2006/main">
            <a:r>
              <a:t/>
            </a:r>
          </a:p>
          <a:p xmlns:a="http://schemas.openxmlformats.org/drawingml/2006/main">
            <a:r>
              <a:t>[Sources]</a:t>
            </a:r>
          </a:p>
          <a:p xmlns:a="http://schemas.openxmlformats.org/drawingml/2006/main">
            <a:r>
              <a:t>docs/evaluation/success-metrics.md</a:t>
            </a:r>
          </a:p>
          <a:p xmlns:a="http://schemas.openxmlformats.org/drawingml/2006/main">
            <a:r>
              <a:t>docs/evaluation/evaluation-plan.md</a:t>
            </a:r>
          </a:p>
          <a:p xmlns:a="http://schemas.openxmlformats.org/drawingml/2006/main">
            <a:r>
              <a:t>docs/product/open-questions.md: OQ-004, OQ-013, OQ-014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these as healthy gates, not weaknesses. Resolving them prevents duplicate work, avoids false precision, and ensures the prototype supports a real decision with approved data and policy.</a:t>
            </a:r>
          </a:p>
          <a:p xmlns:a="http://schemas.openxmlformats.org/drawingml/2006/main">
            <a:r>
              <a:t/>
            </a:r>
          </a:p>
          <a:p xmlns:a="http://schemas.openxmlformats.org/drawingml/2006/main">
            <a:r>
              <a:t>[Sources]</a:t>
            </a:r>
          </a:p>
          <a:p xmlns:a="http://schemas.openxmlformats.org/drawingml/2006/main">
            <a:r>
              <a:t>docs/product/open-questions.md: OQ-001 through OQ-007</a:t>
            </a:r>
          </a:p>
          <a:p xmlns:a="http://schemas.openxmlformats.org/drawingml/2006/main">
            <a:r>
              <a:t>PROJECT_CONTEXT.md</a:t>
            </a:r>
          </a:p>
          <a:p xmlns:a="http://schemas.openxmlformats.org/drawingml/2006/main">
            <a:r>
              <a:t>docs/research/claim-ledger.md: CLM-001 through CLM-003, CLM-021 through CLM-023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recommended ask: permission to validate the workflow with the relevant owner and one real analyst, not permission to deploy production scoring. The pilot remains synthetic or uses approved aggregates until governance clears a source path.</a:t>
            </a:r>
          </a:p>
          <a:p xmlns:a="http://schemas.openxmlformats.org/drawingml/2006/main">
            <a:r>
              <a:t/>
            </a:r>
          </a:p>
          <a:p xmlns:a="http://schemas.openxmlformats.org/drawingml/2006/main">
            <a:r>
              <a:t>[Sources]</a:t>
            </a:r>
          </a:p>
          <a:p xmlns:a="http://schemas.openxmlformats.org/drawingml/2006/main">
            <a:r>
              <a:t>docs/product/mvp-scope.md: Exit criteria and Invalidation</a:t>
            </a:r>
          </a:p>
          <a:p xmlns:a="http://schemas.openxmlformats.org/drawingml/2006/main">
            <a:r>
              <a:t>docs/evaluation/evaluation-plan.md: Stages 1 through 4</a:t>
            </a:r>
          </a:p>
          <a:p xmlns:a="http://schemas.openxmlformats.org/drawingml/2006/main">
            <a:r>
              <a:t>docs/technical/integration-options.md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ask concrete and low risk. You are asking for alignment, access to a real workflow, and agreement on what to measure. You are not asking the group to approve production scoring, predictive modeling, or a lease decision.</a:t>
            </a:r>
          </a:p>
          <a:p xmlns:a="http://schemas.openxmlformats.org/drawingml/2006/main">
            <a:r>
              <a:t/>
            </a:r>
          </a:p>
          <a:p xmlns:a="http://schemas.openxmlformats.org/drawingml/2006/main">
            <a:r>
              <a:t>[Sources]</a:t>
            </a:r>
          </a:p>
          <a:p xmlns:a="http://schemas.openxmlformats.org/drawingml/2006/main">
            <a:r>
              <a:t>docs/product/open-questions.md</a:t>
            </a:r>
          </a:p>
          <a:p xmlns:a="http://schemas.openxmlformats.org/drawingml/2006/main">
            <a:r>
              <a:t>docs/product/mvp-scope.md</a:t>
            </a:r>
          </a:p>
          <a:p xmlns:a="http://schemas.openxmlformats.org/drawingml/2006/main">
            <a:r>
              <a:t>AGENTS.md: repository review and approval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answers: This complements or interfaces with the existing plan by making its inputs and outputs reviewable, subject to owner confirmation. It is a workflow and evidence layer, not a replacement for Esri. The defensible current impact is standardization, earlier missing-data visibility, and clearer review. AI is optional and limited to structured explanation. Stop if ownership overlaps, approved data is unavailable, or the workflow does not help a named decision.</a:t>
            </a:r>
          </a:p>
          <a:p xmlns:a="http://schemas.openxmlformats.org/drawingml/2006/main">
            <a:r>
              <a:t/>
            </a:r>
          </a:p>
          <a:p xmlns:a="http://schemas.openxmlformats.org/drawingml/2006/main">
            <a:r>
              <a:t>[Sources]</a:t>
            </a:r>
          </a:p>
          <a:p xmlns:a="http://schemas.openxmlformats.org/drawingml/2006/main">
            <a:r>
              <a:t>PROJECT_CONTEXT.md</a:t>
            </a:r>
          </a:p>
          <a:p xmlns:a="http://schemas.openxmlformats.org/drawingml/2006/main">
            <a:r>
              <a:t>docs/product/open-questions.md: OQ-001 through OQ-004, OQ-014</a:t>
            </a:r>
          </a:p>
          <a:p xmlns:a="http://schemas.openxmlformats.org/drawingml/2006/main">
            <a:r>
              <a:t>docs/research/source-registry.md: SRC-001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answers: Historical modeling is not yet justified until an approved outcome, maturity window, and roughly 30 to 50 clinic records are actually available. Production inputs require governed adapters or approved aggregates. Business owners approve criteria and thresholds. Null remains missing, rejected records remain visible, and evaluation fails closed when evidence is insufficient. AI never calculates the score or makes the decision. The pilot measures preparation time, evidence quality, review rework, and user usefulness against a baseline.</a:t>
            </a:r>
          </a:p>
          <a:p xmlns:a="http://schemas.openxmlformats.org/drawingml/2006/main">
            <a:r>
              <a:t/>
            </a:r>
          </a:p>
          <a:p xmlns:a="http://schemas.openxmlformats.org/drawingml/2006/main">
            <a:r>
              <a:t>[Sources]</a:t>
            </a:r>
          </a:p>
          <a:p xmlns:a="http://schemas.openxmlformats.org/drawingml/2006/main">
            <a:r>
              <a:t>docs/product/open-questions.md: OQ-005 through OQ-013</a:t>
            </a:r>
          </a:p>
          <a:p xmlns:a="http://schemas.openxmlformats.org/drawingml/2006/main">
            <a:r>
              <a:t>docs/technical/data-contracts.md</a:t>
            </a:r>
          </a:p>
          <a:p xmlns:a="http://schemas.openxmlformats.org/drawingml/2006/main">
            <a:r>
              <a:t>docs/technical/ai-boundaries.md</a:t>
            </a:r>
          </a:p>
          <a:p xmlns:a="http://schemas.openxmlformats.org/drawingml/2006/main">
            <a:r>
              <a:t>docs/evaluation/success-metrics.md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core distinction. The evaluator is valuable if it helps experts assemble and inspect evidence more consistently. The next decision is whether to validate that workflow with the right owner and user.</a:t>
            </a:r>
          </a:p>
          <a:p xmlns:a="http://schemas.openxmlformats.org/drawingml/2006/main">
            <a:r>
              <a:t/>
            </a:r>
          </a:p>
          <a:p xmlns:a="http://schemas.openxmlformats.org/drawingml/2006/main">
            <a:r>
              <a:t>[Sources]</a:t>
            </a:r>
          </a:p>
          <a:p xmlns:a="http://schemas.openxmlformats.org/drawingml/2006/main">
            <a:r>
              <a:t>PROJECT_CONTEXT.md</a:t>
            </a:r>
          </a:p>
          <a:p xmlns:a="http://schemas.openxmlformats.org/drawingml/2006/main">
            <a:r>
              <a:t>docs/product/mvp-scope.md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2aad4dc70e4a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c1c49587fb4f2a" /><Relationship Type="http://schemas.openxmlformats.org/officeDocument/2006/relationships/slideLayout" Target="/ppt/slideLayouts/slideLayout1.xml" Id="Ra8d32ce8e2374b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d32ce8e2374b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d5db8142364d07" /><Relationship Type="http://schemas.openxmlformats.org/officeDocument/2006/relationships/notesSlide" Target="/ppt/notesSlides/notesSlide1.xml" Id="R41aadd0c73fa40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d01e1bb4c4c49c7" /><Relationship Type="http://schemas.openxmlformats.org/officeDocument/2006/relationships/image" Target="/ppt/media/image.jpeg" Id="Re971b369c01748e5" /><Relationship Type="http://schemas.openxmlformats.org/officeDocument/2006/relationships/notesSlide" Target="/ppt/notesSlides/notesSlide2.xml" Id="R94c37e5a2c1546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e600950bdc4441" /><Relationship Type="http://schemas.openxmlformats.org/officeDocument/2006/relationships/notesSlide" Target="/ppt/notesSlides/notesSlide3.xml" Id="R8cac83ae397643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eab4d3e0a242b4" /><Relationship Type="http://schemas.openxmlformats.org/officeDocument/2006/relationships/notesSlide" Target="/ppt/notesSlides/notesSlide4.xml" Id="Radd077011bfc4d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385363d6dc44c7" /><Relationship Type="http://schemas.openxmlformats.org/officeDocument/2006/relationships/image" Target="/ppt/media/image2.jpeg" Id="R4e3ed217c4f84a22" /><Relationship Type="http://schemas.openxmlformats.org/officeDocument/2006/relationships/notesSlide" Target="/ppt/notesSlides/notesSlide5.xml" Id="Rfc83d8fc793b4d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eb6c5ba9d24c8a" /><Relationship Type="http://schemas.openxmlformats.org/officeDocument/2006/relationships/image" Target="/ppt/media/image3.jpeg" Id="Re66a2eea840a4603" /><Relationship Type="http://schemas.openxmlformats.org/officeDocument/2006/relationships/notesSlide" Target="/ppt/notesSlides/notesSlide6.xml" Id="R2ad2dfa8804e40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da2a3567f641bf" /><Relationship Type="http://schemas.openxmlformats.org/officeDocument/2006/relationships/notesSlide" Target="/ppt/notesSlides/notesSlide7.xml" Id="R5003a1a8312e4f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7a3ff2ee0642ad" /><Relationship Type="http://schemas.openxmlformats.org/officeDocument/2006/relationships/notesSlide" Target="/ppt/notesSlides/notesSlide8.xml" Id="R4d492afeaf8341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031c294e994c66" /><Relationship Type="http://schemas.openxmlformats.org/officeDocument/2006/relationships/notesSlide" Target="/ppt/notesSlides/notesSlide9.xml" Id="R879ea83167fa49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9c2cfc8822947d6" /><Relationship Type="http://schemas.openxmlformats.org/officeDocument/2006/relationships/notesSlide" Target="/ppt/notesSlides/notesSlide10.xml" Id="R4e5bd8f0233940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5ca91a56897428c" /><Relationship Type="http://schemas.openxmlformats.org/officeDocument/2006/relationships/notesSlide" Target="/ppt/notesSlides/notesSlide11.xml" Id="R5c628346c5fb4b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3740dd0fc0497b" /><Relationship Type="http://schemas.openxmlformats.org/officeDocument/2006/relationships/notesSlide" Target="/ppt/notesSlides/notesSlide12.xml" Id="Rdde4cd2047ae46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3720ccc9ce405a" /><Relationship Type="http://schemas.openxmlformats.org/officeDocument/2006/relationships/notesSlide" Target="/ppt/notesSlides/notesSlide13.xml" Id="Rbe09917cc2af4f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ea042260b9340a6" /><Relationship Type="http://schemas.openxmlformats.org/officeDocument/2006/relationships/notesSlide" Target="/ppt/notesSlides/notesSlide14.xml" Id="Ra89ca8e1fc5c45d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57e98ad2864549" /><Relationship Type="http://schemas.openxmlformats.org/officeDocument/2006/relationships/notesSlide" Target="/ppt/notesSlides/notesSlide15.xml" Id="R5ac56002010146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87b4ca816744236" /><Relationship Type="http://schemas.openxmlformats.org/officeDocument/2006/relationships/notesSlide" Target="/ppt/notesSlides/notesSlide16.xml" Id="R32fd98f70bbb43d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c798a91f2f14b98" /><Relationship Type="http://schemas.openxmlformats.org/officeDocument/2006/relationships/notesSlide" Target="/ppt/notesSlides/notesSlide17.xml" Id="Rfd2dd0a82c924ba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9A38FE-0255-4244-93E5-C12FD639F81B}"/>
              </a:ext>
            </a:extLst>
          </p:cNvPr>
          <p:cNvSpPr>
            <a:spLocks xmlns:a="http://schemas.openxmlformats.org/drawingml/2006/main" noGrp="1"/>
          </p:cNvSpPr>
          <p:nvPr/>
        </p:nvSpPr>
        <p:spPr>
          <a:xfrm xmlns:a="http://schemas.openxmlformats.org/drawingml/2006/main">
            <a:off x="400050" y="3619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2D5BFF"/>
                </a:solidFill>
                <a:latin typeface="Aptos"/>
                <a:ea typeface="Aptos"/>
                <a:cs typeface="Aptos"/>
              </a:defRPr>
            </a:pPr>
            <a:r>
              <a:rPr sz="1350" b="1">
                <a:solidFill>
                  <a:srgbClr val="2D5BFF"/>
                </a:solidFill>
                <a:latin typeface="Aptos"/>
                <a:ea typeface="Aptos"/>
                <a:cs typeface="Aptos"/>
              </a:rPr>
              <a:t>CHEWY VET CARE</a:t>
            </a:r>
          </a:p>
        </p:txBody>
      </p:sp>
      <p:sp>
        <p:nvSpPr>
          <p:cNvPr id="2" name="">
            <a:extLst xmlns:a="http://schemas.openxmlformats.org/drawingml/2006/main">
              <a:ext uri="{FF2B5EF4-FFF2-40B4-BE49-F238E27FC236}">
                <a16:creationId xmlns:a16="http://schemas.microsoft.com/office/drawing/2014/main" id="{F5ABEE26-782A-40BE-A807-499C1EA54D53}"/>
              </a:ext>
            </a:extLst>
          </p:cNvPr>
          <p:cNvSpPr>
            <a:spLocks xmlns:a="http://schemas.openxmlformats.org/drawingml/2006/main" noGrp="1"/>
          </p:cNvSpPr>
          <p:nvPr/>
        </p:nvSpPr>
        <p:spPr>
          <a:xfrm xmlns:a="http://schemas.openxmlformats.org/drawingml/2006/main">
            <a:off x="400050" y="1714500"/>
            <a:ext cx="771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5700" b="1">
                <a:solidFill>
                  <a:srgbClr val="13213A"/>
                </a:solidFill>
                <a:latin typeface="Aptos"/>
                <a:ea typeface="Aptos"/>
                <a:cs typeface="Aptos"/>
              </a:defRPr>
            </a:pPr>
            <a:r>
              <a:rPr sz="5700" b="1">
                <a:solidFill>
                  <a:srgbClr val="13213A"/>
                </a:solidFill>
                <a:latin typeface="Aptos"/>
                <a:ea typeface="Aptos"/>
                <a:cs typeface="Aptos"/>
              </a:rPr>
              <a:t>Clinic Location</a:t>
            </a:r>
          </a:p>
          <a:p xmlns:a="http://schemas.openxmlformats.org/drawingml/2006/main">
            <a:pPr algn="l">
              <a:defRPr sz="5700" b="1">
                <a:solidFill>
                  <a:srgbClr val="13213A"/>
                </a:solidFill>
                <a:latin typeface="Aptos"/>
                <a:ea typeface="Aptos"/>
                <a:cs typeface="Aptos"/>
              </a:defRPr>
            </a:pPr>
            <a:r>
              <a:rPr sz="5700" b="1">
                <a:solidFill>
                  <a:srgbClr val="13213A"/>
                </a:solidFill>
                <a:latin typeface="Aptos"/>
                <a:ea typeface="Aptos"/>
                <a:cs typeface="Aptos"/>
              </a:rPr>
              <a:t>Evaluator</a:t>
            </a:r>
          </a:p>
        </p:txBody>
      </p:sp>
      <p:sp>
        <p:nvSpPr>
          <p:cNvPr id="3" name="">
            <a:extLst xmlns:a="http://schemas.openxmlformats.org/drawingml/2006/main">
              <a:ext uri="{FF2B5EF4-FFF2-40B4-BE49-F238E27FC236}">
                <a16:creationId xmlns:a16="http://schemas.microsoft.com/office/drawing/2014/main" id="{274DD4BA-11A1-4AD9-A1D0-654A472A675E}"/>
              </a:ext>
            </a:extLst>
          </p:cNvPr>
          <p:cNvSpPr>
            <a:spLocks xmlns:a="http://schemas.openxmlformats.org/drawingml/2006/main" noGrp="1"/>
          </p:cNvSpPr>
          <p:nvPr/>
        </p:nvSpPr>
        <p:spPr>
          <a:xfrm xmlns:a="http://schemas.openxmlformats.org/drawingml/2006/main">
            <a:off x="400050" y="4648200"/>
            <a:ext cx="685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0">
                <a:solidFill>
                  <a:srgbClr val="39455A"/>
                </a:solidFill>
                <a:latin typeface="Aptos"/>
                <a:ea typeface="Aptos"/>
                <a:cs typeface="Aptos"/>
              </a:defRPr>
            </a:pPr>
            <a:r>
              <a:rPr sz="2250" b="0">
                <a:solidFill>
                  <a:srgbClr val="39455A"/>
                </a:solidFill>
                <a:latin typeface="Aptos"/>
                <a:ea typeface="Aptos"/>
                <a:cs typeface="Aptos"/>
              </a:rPr>
              <a:t>Transparent evidence for better expert decisions</a:t>
            </a:r>
          </a:p>
        </p:txBody>
      </p:sp>
      <p:sp>
        <p:nvSpPr>
          <p:cNvPr id="4" name="">
            <a:extLst xmlns:a="http://schemas.openxmlformats.org/drawingml/2006/main">
              <a:ext uri="{FF2B5EF4-FFF2-40B4-BE49-F238E27FC236}">
                <a16:creationId xmlns:a16="http://schemas.microsoft.com/office/drawing/2014/main" id="{2E7120AD-35B3-46AF-89EE-DF6116D1D625}"/>
              </a:ext>
            </a:extLst>
          </p:cNvPr>
          <p:cNvSpPr>
            <a:spLocks xmlns:a="http://schemas.openxmlformats.org/drawingml/2006/main" noGrp="1"/>
          </p:cNvSpPr>
          <p:nvPr/>
        </p:nvSpPr>
        <p:spPr>
          <a:xfrm xmlns:a="http://schemas.openxmlformats.org/drawingml/2006/main">
            <a:off x="400050" y="57912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A56A00"/>
                </a:solidFill>
                <a:latin typeface="Aptos"/>
                <a:ea typeface="Aptos"/>
                <a:cs typeface="Aptos"/>
              </a:defRPr>
            </a:pPr>
            <a:r>
              <a:rPr sz="1350" b="1">
                <a:solidFill>
                  <a:srgbClr val="A56A00"/>
                </a:solidFill>
                <a:latin typeface="Aptos"/>
                <a:ea typeface="Aptos"/>
                <a:cs typeface="Aptos"/>
              </a:rPr>
              <a:t>Synthetic, evidence-backed prototype</a:t>
            </a:r>
          </a:p>
        </p:txBody>
      </p:sp>
      <p:sp>
        <p:nvSpPr>
          <p:cNvPr id="5" name="">
            <a:extLst xmlns:a="http://schemas.openxmlformats.org/drawingml/2006/main">
              <a:ext uri="{FF2B5EF4-FFF2-40B4-BE49-F238E27FC236}">
                <a16:creationId xmlns:a16="http://schemas.microsoft.com/office/drawing/2014/main" id="{D689B0B6-69DE-49A3-97C0-11973F4FC1E6}"/>
              </a:ext>
            </a:extLst>
          </p:cNvPr>
          <p:cNvSpPr>
            <a:spLocks xmlns:a="http://schemas.openxmlformats.org/drawingml/2006/main" noGrp="1"/>
          </p:cNvSpPr>
          <p:nvPr/>
        </p:nvSpPr>
        <p:spPr>
          <a:xfrm xmlns:a="http://schemas.openxmlformats.org/drawingml/2006/main">
            <a:off x="9810750" y="647700"/>
            <a:ext cx="1466850" cy="1466850"/>
          </a:xfrm>
          <a:prstGeom xmlns:a="http://schemas.openxmlformats.org/drawingml/2006/main" prst="roundRect">
            <a:avLst>
              <a:gd name="adj" fmla="val 22078"/>
            </a:avLst>
          </a:prstGeom>
          <a:solidFill xmlns:a="http://schemas.openxmlformats.org/drawingml/2006/main">
            <a:srgbClr val="2D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B75FFB-A2EC-42AE-A599-CCEEB8CD9DF1}"/>
              </a:ext>
            </a:extLst>
          </p:cNvPr>
          <p:cNvSpPr>
            <a:spLocks xmlns:a="http://schemas.openxmlformats.org/drawingml/2006/main" noGrp="1"/>
          </p:cNvSpPr>
          <p:nvPr/>
        </p:nvSpPr>
        <p:spPr>
          <a:xfrm xmlns:a="http://schemas.openxmlformats.org/drawingml/2006/main">
            <a:off x="9810750" y="647700"/>
            <a:ext cx="14668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5850" b="1">
                <a:solidFill>
                  <a:srgbClr val="FFFFFF"/>
                </a:solidFill>
                <a:latin typeface="Aptos"/>
                <a:ea typeface="Aptos"/>
                <a:cs typeface="Aptos"/>
              </a:defRPr>
            </a:pPr>
            <a:r>
              <a:rPr sz="5850" b="1">
                <a:solidFill>
                  <a:srgbClr val="FFFFFF"/>
                </a:solidFill>
                <a:latin typeface="Aptos"/>
                <a:ea typeface="Aptos"/>
                <a:cs typeface="Aptos"/>
              </a:rPr>
              <a:t>C</a:t>
            </a:r>
          </a:p>
        </p:txBody>
      </p:sp>
    </p:spTree>
    <p:extLst>
      <p:ext uri="{BB962C8B-B14F-4D97-AF65-F5344CB8AC3E}">
        <p14:creationId xmlns:p14="http://schemas.microsoft.com/office/powerpoint/2010/main" val="11118129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6337102-3AC7-4FD0-AA1C-6CFC5A02B72B}"/>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THE IDEA</a:t>
            </a:r>
          </a:p>
        </p:txBody>
      </p:sp>
      <p:sp>
        <p:nvSpPr>
          <p:cNvPr id="2" name="">
            <a:extLst xmlns:a="http://schemas.openxmlformats.org/drawingml/2006/main">
              <a:ext uri="{FF2B5EF4-FFF2-40B4-BE49-F238E27FC236}">
                <a16:creationId xmlns:a16="http://schemas.microsoft.com/office/drawing/2014/main" id="{E7E840A8-9CE4-4671-A812-FA342C1247B0}"/>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One workflow replaces fragmented evidence</a:t>
            </a:r>
          </a:p>
        </p:txBody>
      </p:sp>
      <p:sp>
        <p:nvSpPr>
          <p:cNvPr id="3" name="">
            <a:extLst xmlns:a="http://schemas.openxmlformats.org/drawingml/2006/main">
              <a:ext uri="{FF2B5EF4-FFF2-40B4-BE49-F238E27FC236}">
                <a16:creationId xmlns:a16="http://schemas.microsoft.com/office/drawing/2014/main" id="{BFB26B2D-9C96-4E06-8FCF-45A47E9D602D}"/>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082A1F2-7373-4E6F-8490-B4D1B1C9C2CF}"/>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CLM-015, CLM-017, CLM-020</a:t>
            </a:r>
          </a:p>
        </p:txBody>
      </p:sp>
      <p:sp>
        <p:nvSpPr>
          <p:cNvPr id="5" name="">
            <a:extLst xmlns:a="http://schemas.openxmlformats.org/drawingml/2006/main">
              <a:ext uri="{FF2B5EF4-FFF2-40B4-BE49-F238E27FC236}">
                <a16:creationId xmlns:a16="http://schemas.microsoft.com/office/drawing/2014/main" id="{6B3776FA-37C7-4B25-9915-65179440A91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03E3B5E2-75E1-4318-B509-D01DEDD499E6}"/>
              </a:ext>
            </a:extLst>
          </p:cNvPr>
          <p:cNvSpPr>
            <a:spLocks xmlns:a="http://schemas.openxmlformats.org/drawingml/2006/main" noGrp="1"/>
          </p:cNvSpPr>
          <p:nvPr/>
        </p:nvSpPr>
        <p:spPr>
          <a:xfrm xmlns:a="http://schemas.openxmlformats.org/drawingml/2006/main">
            <a:off x="400050" y="16192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556"/>
          </a:bodyPr>
          <a:lstStyle xmlns:a="http://schemas.openxmlformats.org/drawingml/2006/main"/>
          <a:p xmlns:a="http://schemas.openxmlformats.org/drawingml/2006/main">
            <a:pPr algn="l">
              <a:defRPr sz="2250" b="1">
                <a:solidFill>
                  <a:srgbClr val="13213A"/>
                </a:solidFill>
                <a:latin typeface="Aptos"/>
                <a:ea typeface="Aptos"/>
                <a:cs typeface="Aptos"/>
              </a:defRPr>
            </a:pPr>
            <a:r>
              <a:rPr sz="2250" b="1">
                <a:solidFill>
                  <a:srgbClr val="13213A"/>
                </a:solidFill>
                <a:latin typeface="Aptos"/>
                <a:ea typeface="Aptos"/>
                <a:cs typeface="Aptos"/>
              </a:rPr>
              <a:t>Bring the inputs together</a:t>
            </a:r>
          </a:p>
        </p:txBody>
      </p:sp>
      <p:sp>
        <p:nvSpPr>
          <p:cNvPr id="7" name="">
            <a:extLst xmlns:a="http://schemas.openxmlformats.org/drawingml/2006/main">
              <a:ext uri="{FF2B5EF4-FFF2-40B4-BE49-F238E27FC236}">
                <a16:creationId xmlns:a16="http://schemas.microsoft.com/office/drawing/2014/main" id="{BA769FA0-6C0B-48C1-B83E-5165C9F48D9A}"/>
              </a:ext>
            </a:extLst>
          </p:cNvPr>
          <p:cNvSpPr>
            <a:spLocks xmlns:a="http://schemas.openxmlformats.org/drawingml/2006/main" noGrp="1"/>
          </p:cNvSpPr>
          <p:nvPr/>
        </p:nvSpPr>
        <p:spPr>
          <a:xfrm xmlns:a="http://schemas.openxmlformats.org/drawingml/2006/main">
            <a:off x="400050" y="2286000"/>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641BE6-4647-4CE7-9374-FCEE2CDB4D84}"/>
              </a:ext>
            </a:extLst>
          </p:cNvPr>
          <p:cNvSpPr>
            <a:spLocks xmlns:a="http://schemas.openxmlformats.org/drawingml/2006/main" noGrp="1"/>
          </p:cNvSpPr>
          <p:nvPr/>
        </p:nvSpPr>
        <p:spPr>
          <a:xfrm xmlns:a="http://schemas.openxmlformats.org/drawingml/2006/main">
            <a:off x="628650" y="2238375"/>
            <a:ext cx="45339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84"/>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Customer demand, competition, access, market context, staffing, and property evidence</a:t>
            </a:r>
          </a:p>
        </p:txBody>
      </p:sp>
      <p:sp>
        <p:nvSpPr>
          <p:cNvPr id="9" name="">
            <a:extLst xmlns:a="http://schemas.openxmlformats.org/drawingml/2006/main">
              <a:ext uri="{FF2B5EF4-FFF2-40B4-BE49-F238E27FC236}">
                <a16:creationId xmlns:a16="http://schemas.microsoft.com/office/drawing/2014/main" id="{7E8B8C2C-EDB8-4F61-96D8-B7B60D05B587}"/>
              </a:ext>
            </a:extLst>
          </p:cNvPr>
          <p:cNvSpPr>
            <a:spLocks xmlns:a="http://schemas.openxmlformats.org/drawingml/2006/main" noGrp="1"/>
          </p:cNvSpPr>
          <p:nvPr/>
        </p:nvSpPr>
        <p:spPr>
          <a:xfrm xmlns:a="http://schemas.openxmlformats.org/drawingml/2006/main">
            <a:off x="400050" y="3194050"/>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8420C83-1DF7-4ECB-B8F1-6DB81D535F45}"/>
              </a:ext>
            </a:extLst>
          </p:cNvPr>
          <p:cNvSpPr>
            <a:spLocks xmlns:a="http://schemas.openxmlformats.org/drawingml/2006/main" noGrp="1"/>
          </p:cNvSpPr>
          <p:nvPr/>
        </p:nvSpPr>
        <p:spPr>
          <a:xfrm xmlns:a="http://schemas.openxmlformats.org/drawingml/2006/main">
            <a:off x="628650" y="3146425"/>
            <a:ext cx="45339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Visible source, date, quality, and missingness for every input</a:t>
            </a:r>
          </a:p>
        </p:txBody>
      </p:sp>
      <p:sp>
        <p:nvSpPr>
          <p:cNvPr id="11" name="">
            <a:extLst xmlns:a="http://schemas.openxmlformats.org/drawingml/2006/main">
              <a:ext uri="{FF2B5EF4-FFF2-40B4-BE49-F238E27FC236}">
                <a16:creationId xmlns:a16="http://schemas.microsoft.com/office/drawing/2014/main" id="{9B172B28-E77F-4121-B8FE-D9B706B4F0D3}"/>
              </a:ext>
            </a:extLst>
          </p:cNvPr>
          <p:cNvSpPr>
            <a:spLocks xmlns:a="http://schemas.openxmlformats.org/drawingml/2006/main" noGrp="1"/>
          </p:cNvSpPr>
          <p:nvPr/>
        </p:nvSpPr>
        <p:spPr>
          <a:xfrm xmlns:a="http://schemas.openxmlformats.org/drawingml/2006/main">
            <a:off x="400050" y="4102100"/>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F699039-C174-4008-A705-46AA688F4ECB}"/>
              </a:ext>
            </a:extLst>
          </p:cNvPr>
          <p:cNvSpPr>
            <a:spLocks xmlns:a="http://schemas.openxmlformats.org/drawingml/2006/main" noGrp="1"/>
          </p:cNvSpPr>
          <p:nvPr/>
        </p:nvSpPr>
        <p:spPr>
          <a:xfrm xmlns:a="http://schemas.openxmlformats.org/drawingml/2006/main">
            <a:off x="628650" y="4054475"/>
            <a:ext cx="45339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Deterministic comparisons with expert review at the center</a:t>
            </a:r>
          </a:p>
        </p:txBody>
      </p:sp>
      <p:sp>
        <p:nvSpPr>
          <p:cNvPr id="13" name="">
            <a:extLst xmlns:a="http://schemas.openxmlformats.org/drawingml/2006/main">
              <a:ext uri="{FF2B5EF4-FFF2-40B4-BE49-F238E27FC236}">
                <a16:creationId xmlns:a16="http://schemas.microsoft.com/office/drawing/2014/main" id="{63833798-61B0-406C-9B65-E16C6B98A70E}"/>
              </a:ext>
            </a:extLst>
          </p:cNvPr>
          <p:cNvSpPr>
            <a:spLocks xmlns:a="http://schemas.openxmlformats.org/drawingml/2006/main" noGrp="1"/>
          </p:cNvSpPr>
          <p:nvPr/>
        </p:nvSpPr>
        <p:spPr>
          <a:xfrm xmlns:a="http://schemas.openxmlformats.org/drawingml/2006/main">
            <a:off x="400050" y="5095875"/>
            <a:ext cx="4953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1">
                <a:solidFill>
                  <a:srgbClr val="1E43C8"/>
                </a:solidFill>
                <a:latin typeface="Aptos"/>
                <a:ea typeface="Aptos"/>
                <a:cs typeface="Aptos"/>
              </a:defRPr>
            </a:pPr>
            <a:r>
              <a:rPr sz="2100" b="1">
                <a:solidFill>
                  <a:srgbClr val="1E43C8"/>
                </a:solidFill>
                <a:latin typeface="Aptos"/>
                <a:ea typeface="Aptos"/>
                <a:cs typeface="Aptos"/>
              </a:rPr>
              <a:t>The product prepares the case. The business makes the decision.</a:t>
            </a:r>
          </a:p>
        </p:txBody>
      </p:sp>
      <p:sp>
        <p:nvSpPr>
          <p:cNvPr id="14" name="">
            <a:extLst xmlns:a="http://schemas.openxmlformats.org/drawingml/2006/main">
              <a:ext uri="{FF2B5EF4-FFF2-40B4-BE49-F238E27FC236}">
                <a16:creationId xmlns:a16="http://schemas.microsoft.com/office/drawing/2014/main" id="{FB99CBAE-F195-49C7-9822-E889FF7A95D3}"/>
              </a:ext>
            </a:extLst>
          </p:cNvPr>
          <p:cNvSpPr>
            <a:spLocks xmlns:a="http://schemas.openxmlformats.org/drawingml/2006/main" noGrp="1"/>
          </p:cNvSpPr>
          <p:nvPr/>
        </p:nvSpPr>
        <p:spPr>
          <a:xfrm xmlns:a="http://schemas.openxmlformats.org/drawingml/2006/main">
            <a:off x="5953125" y="1428750"/>
            <a:ext cx="5838825" cy="4095750"/>
          </a:xfrm>
          <a:prstGeom xmlns:a="http://schemas.openxmlformats.org/drawingml/2006/main" prst="roundRect">
            <a:avLst>
              <a:gd name="adj" fmla="val 4186"/>
            </a:avLst>
          </a:prstGeom>
          <a:solidFill xmlns:a="http://schemas.openxmlformats.org/drawingml/2006/main">
            <a:srgbClr val="F5F7FB"/>
          </a:solidFill>
          <a:ln xmlns:a="http://schemas.openxmlformats.org/drawingml/2006/main" w="9525">
            <a:solidFill>
              <a:srgbClr val="D8DFEA"/>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971b369c01748e5"/>
          <a:stretch xmlns:a="http://schemas.openxmlformats.org/drawingml/2006/main"/>
        </p:blipFill>
        <p:spPr>
          <a:xfrm xmlns:a="http://schemas.openxmlformats.org/drawingml/2006/main">
            <a:off x="6105525" y="1920180"/>
            <a:ext cx="5534025" cy="3112889"/>
          </a:xfrm>
          <a:prstGeom xmlns:a="http://schemas.openxmlformats.org/drawingml/2006/main" prst="roundRect">
            <a:avLst>
              <a:gd name="adj" fmla="val 4020"/>
            </a:avLst>
          </a:prstGeom>
        </p:spPr>
      </p:pic>
    </p:spTree>
    <p:extLst>
      <p:ext uri="{BB962C8B-B14F-4D97-AF65-F5344CB8AC3E}">
        <p14:creationId xmlns:p14="http://schemas.microsoft.com/office/powerpoint/2010/main" val="7177662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9987C75-C0B8-48DF-8136-000E005C544A}"/>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WHY THIS MATTERS</a:t>
            </a:r>
          </a:p>
        </p:txBody>
      </p:sp>
      <p:sp>
        <p:nvSpPr>
          <p:cNvPr id="2" name="">
            <a:extLst xmlns:a="http://schemas.openxmlformats.org/drawingml/2006/main">
              <a:ext uri="{FF2B5EF4-FFF2-40B4-BE49-F238E27FC236}">
                <a16:creationId xmlns:a16="http://schemas.microsoft.com/office/drawing/2014/main" id="{F43C6E82-D953-440B-A22C-35740609BCEA}"/>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051"/>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The decision is high context, but the evidence is easy to fragment</a:t>
            </a:r>
          </a:p>
        </p:txBody>
      </p:sp>
      <p:sp>
        <p:nvSpPr>
          <p:cNvPr id="3" name="">
            <a:extLst xmlns:a="http://schemas.openxmlformats.org/drawingml/2006/main">
              <a:ext uri="{FF2B5EF4-FFF2-40B4-BE49-F238E27FC236}">
                <a16:creationId xmlns:a16="http://schemas.microsoft.com/office/drawing/2014/main" id="{973059DF-2086-4EA6-B52C-E2BD10C5B515}"/>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2B61DA8-D97C-4EB6-BF77-383B131E5E12}"/>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SRC-001, SRC-002, SRC-003, SRC-007</a:t>
            </a:r>
          </a:p>
        </p:txBody>
      </p:sp>
      <p:sp>
        <p:nvSpPr>
          <p:cNvPr id="5" name="">
            <a:extLst xmlns:a="http://schemas.openxmlformats.org/drawingml/2006/main">
              <a:ext uri="{FF2B5EF4-FFF2-40B4-BE49-F238E27FC236}">
                <a16:creationId xmlns:a16="http://schemas.microsoft.com/office/drawing/2014/main" id="{987E1681-1680-4A11-A09D-27865A56086B}"/>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55BC8FE7-1D4F-4CA2-95FD-4F439F5A66D3}"/>
              </a:ext>
            </a:extLst>
          </p:cNvPr>
          <p:cNvSpPr>
            <a:spLocks xmlns:a="http://schemas.openxmlformats.org/drawingml/2006/main" noGrp="1"/>
          </p:cNvSpPr>
          <p:nvPr/>
        </p:nvSpPr>
        <p:spPr>
          <a:xfrm xmlns:a="http://schemas.openxmlformats.org/drawingml/2006/main">
            <a:off x="400050" y="1885950"/>
            <a:ext cx="3562350" cy="3733800"/>
          </a:xfrm>
          <a:prstGeom xmlns:a="http://schemas.openxmlformats.org/drawingml/2006/main" prst="roundRect">
            <a:avLst>
              <a:gd name="adj" fmla="val 4813"/>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C58F670-8DE2-4EBA-9C65-98359691BC90}"/>
              </a:ext>
            </a:extLst>
          </p:cNvPr>
          <p:cNvSpPr>
            <a:spLocks xmlns:a="http://schemas.openxmlformats.org/drawingml/2006/main" noGrp="1"/>
          </p:cNvSpPr>
          <p:nvPr/>
        </p:nvSpPr>
        <p:spPr>
          <a:xfrm xmlns:a="http://schemas.openxmlformats.org/drawingml/2006/main">
            <a:off x="666750" y="21526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2D5BFF"/>
                </a:solidFill>
                <a:latin typeface="Aptos"/>
                <a:ea typeface="Aptos"/>
                <a:cs typeface="Aptos"/>
              </a:defRPr>
            </a:pPr>
            <a:r>
              <a:rPr sz="1500" b="1">
                <a:solidFill>
                  <a:srgbClr val="2D5B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D2A73470-0E7D-4B3D-AFD2-781211C5D08D}"/>
              </a:ext>
            </a:extLst>
          </p:cNvPr>
          <p:cNvSpPr>
            <a:spLocks xmlns:a="http://schemas.openxmlformats.org/drawingml/2006/main" noGrp="1"/>
          </p:cNvSpPr>
          <p:nvPr/>
        </p:nvSpPr>
        <p:spPr>
          <a:xfrm xmlns:a="http://schemas.openxmlformats.org/drawingml/2006/main">
            <a:off x="666750" y="2800350"/>
            <a:ext cx="3028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13213A"/>
                </a:solidFill>
                <a:latin typeface="Aptos"/>
                <a:ea typeface="Aptos"/>
                <a:cs typeface="Aptos"/>
              </a:defRPr>
            </a:pPr>
            <a:r>
              <a:rPr sz="2250" b="1">
                <a:solidFill>
                  <a:srgbClr val="13213A"/>
                </a:solidFill>
                <a:latin typeface="Aptos"/>
                <a:ea typeface="Aptos"/>
                <a:cs typeface="Aptos"/>
              </a:rPr>
              <a:t>Many evidence types</a:t>
            </a:r>
          </a:p>
        </p:txBody>
      </p:sp>
      <p:sp>
        <p:nvSpPr>
          <p:cNvPr id="9" name="">
            <a:extLst xmlns:a="http://schemas.openxmlformats.org/drawingml/2006/main">
              <a:ext uri="{FF2B5EF4-FFF2-40B4-BE49-F238E27FC236}">
                <a16:creationId xmlns:a16="http://schemas.microsoft.com/office/drawing/2014/main" id="{61749BAF-6E22-4250-902F-157BD03CD0D0}"/>
              </a:ext>
            </a:extLst>
          </p:cNvPr>
          <p:cNvSpPr>
            <a:spLocks xmlns:a="http://schemas.openxmlformats.org/drawingml/2006/main" noGrp="1"/>
          </p:cNvSpPr>
          <p:nvPr/>
        </p:nvSpPr>
        <p:spPr>
          <a:xfrm xmlns:a="http://schemas.openxmlformats.org/drawingml/2006/main">
            <a:off x="666750" y="3867150"/>
            <a:ext cx="3028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Demand, competitors, drive time, foot traffic, demographics, staffing, real estate, and local research.</a:t>
            </a:r>
          </a:p>
        </p:txBody>
      </p:sp>
      <p:sp>
        <p:nvSpPr>
          <p:cNvPr id="10" name="">
            <a:extLst xmlns:a="http://schemas.openxmlformats.org/drawingml/2006/main">
              <a:ext uri="{FF2B5EF4-FFF2-40B4-BE49-F238E27FC236}">
                <a16:creationId xmlns:a16="http://schemas.microsoft.com/office/drawing/2014/main" id="{F0F93E7C-8D64-4CE6-B972-ACA698F4526F}"/>
              </a:ext>
            </a:extLst>
          </p:cNvPr>
          <p:cNvSpPr>
            <a:spLocks xmlns:a="http://schemas.openxmlformats.org/drawingml/2006/main" noGrp="1"/>
          </p:cNvSpPr>
          <p:nvPr/>
        </p:nvSpPr>
        <p:spPr>
          <a:xfrm xmlns:a="http://schemas.openxmlformats.org/drawingml/2006/main">
            <a:off x="4314825" y="1885950"/>
            <a:ext cx="3562350" cy="3733800"/>
          </a:xfrm>
          <a:prstGeom xmlns:a="http://schemas.openxmlformats.org/drawingml/2006/main" prst="roundRect">
            <a:avLst>
              <a:gd name="adj" fmla="val 4813"/>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53ACC7C-0647-4CDE-A9E4-1DA5DA0C00B4}"/>
              </a:ext>
            </a:extLst>
          </p:cNvPr>
          <p:cNvSpPr>
            <a:spLocks xmlns:a="http://schemas.openxmlformats.org/drawingml/2006/main" noGrp="1"/>
          </p:cNvSpPr>
          <p:nvPr/>
        </p:nvSpPr>
        <p:spPr>
          <a:xfrm xmlns:a="http://schemas.openxmlformats.org/drawingml/2006/main">
            <a:off x="4581525" y="21526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A56A00"/>
                </a:solidFill>
                <a:latin typeface="Aptos"/>
                <a:ea typeface="Aptos"/>
                <a:cs typeface="Aptos"/>
              </a:defRPr>
            </a:pPr>
            <a:r>
              <a:rPr sz="1500" b="1">
                <a:solidFill>
                  <a:srgbClr val="A56A00"/>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3F4213C4-FDA7-455B-A9BE-871F4E17156C}"/>
              </a:ext>
            </a:extLst>
          </p:cNvPr>
          <p:cNvSpPr>
            <a:spLocks xmlns:a="http://schemas.openxmlformats.org/drawingml/2006/main" noGrp="1"/>
          </p:cNvSpPr>
          <p:nvPr/>
        </p:nvSpPr>
        <p:spPr>
          <a:xfrm xmlns:a="http://schemas.openxmlformats.org/drawingml/2006/main">
            <a:off x="4581525" y="2800350"/>
            <a:ext cx="3028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13213A"/>
                </a:solidFill>
                <a:latin typeface="Aptos"/>
                <a:ea typeface="Aptos"/>
                <a:cs typeface="Aptos"/>
              </a:defRPr>
            </a:pPr>
            <a:r>
              <a:rPr sz="2250" b="1">
                <a:solidFill>
                  <a:srgbClr val="13213A"/>
                </a:solidFill>
                <a:latin typeface="Aptos"/>
                <a:ea typeface="Aptos"/>
                <a:cs typeface="Aptos"/>
              </a:rPr>
              <a:t>Different confidence levels</a:t>
            </a:r>
          </a:p>
        </p:txBody>
      </p:sp>
      <p:sp>
        <p:nvSpPr>
          <p:cNvPr id="13" name="">
            <a:extLst xmlns:a="http://schemas.openxmlformats.org/drawingml/2006/main">
              <a:ext uri="{FF2B5EF4-FFF2-40B4-BE49-F238E27FC236}">
                <a16:creationId xmlns:a16="http://schemas.microsoft.com/office/drawing/2014/main" id="{D08E93C4-142B-4813-9475-ADDE75D7A159}"/>
              </a:ext>
            </a:extLst>
          </p:cNvPr>
          <p:cNvSpPr>
            <a:spLocks xmlns:a="http://schemas.openxmlformats.org/drawingml/2006/main" noGrp="1"/>
          </p:cNvSpPr>
          <p:nvPr/>
        </p:nvSpPr>
        <p:spPr>
          <a:xfrm xmlns:a="http://schemas.openxmlformats.org/drawingml/2006/main">
            <a:off x="4581525" y="3867150"/>
            <a:ext cx="3028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Some inputs are confirmed. Others are reported, derived, hypothetical, missing, or inaccessible.</a:t>
            </a:r>
          </a:p>
        </p:txBody>
      </p:sp>
      <p:sp>
        <p:nvSpPr>
          <p:cNvPr id="14" name="">
            <a:extLst xmlns:a="http://schemas.openxmlformats.org/drawingml/2006/main">
              <a:ext uri="{FF2B5EF4-FFF2-40B4-BE49-F238E27FC236}">
                <a16:creationId xmlns:a16="http://schemas.microsoft.com/office/drawing/2014/main" id="{D50C7BFE-2033-4A9F-843C-5932531CE023}"/>
              </a:ext>
            </a:extLst>
          </p:cNvPr>
          <p:cNvSpPr>
            <a:spLocks xmlns:a="http://schemas.openxmlformats.org/drawingml/2006/main" noGrp="1"/>
          </p:cNvSpPr>
          <p:nvPr/>
        </p:nvSpPr>
        <p:spPr>
          <a:xfrm xmlns:a="http://schemas.openxmlformats.org/drawingml/2006/main">
            <a:off x="8229600" y="1885950"/>
            <a:ext cx="3562350" cy="3733800"/>
          </a:xfrm>
          <a:prstGeom xmlns:a="http://schemas.openxmlformats.org/drawingml/2006/main" prst="roundRect">
            <a:avLst>
              <a:gd name="adj" fmla="val 4813"/>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D74F4E3-A540-423D-9617-152056ED7B99}"/>
              </a:ext>
            </a:extLst>
          </p:cNvPr>
          <p:cNvSpPr>
            <a:spLocks xmlns:a="http://schemas.openxmlformats.org/drawingml/2006/main" noGrp="1"/>
          </p:cNvSpPr>
          <p:nvPr/>
        </p:nvSpPr>
        <p:spPr>
          <a:xfrm xmlns:a="http://schemas.openxmlformats.org/drawingml/2006/main">
            <a:off x="8496300" y="21526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347A4A"/>
                </a:solidFill>
                <a:latin typeface="Aptos"/>
                <a:ea typeface="Aptos"/>
                <a:cs typeface="Aptos"/>
              </a:defRPr>
            </a:pPr>
            <a:r>
              <a:rPr sz="1500" b="1">
                <a:solidFill>
                  <a:srgbClr val="347A4A"/>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6A70950D-0586-41F6-A589-B51D91EBB8CC}"/>
              </a:ext>
            </a:extLst>
          </p:cNvPr>
          <p:cNvSpPr>
            <a:spLocks xmlns:a="http://schemas.openxmlformats.org/drawingml/2006/main" noGrp="1"/>
          </p:cNvSpPr>
          <p:nvPr/>
        </p:nvSpPr>
        <p:spPr>
          <a:xfrm xmlns:a="http://schemas.openxmlformats.org/drawingml/2006/main">
            <a:off x="8496300" y="2800350"/>
            <a:ext cx="3028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13213A"/>
                </a:solidFill>
                <a:latin typeface="Aptos"/>
                <a:ea typeface="Aptos"/>
                <a:cs typeface="Aptos"/>
              </a:defRPr>
            </a:pPr>
            <a:r>
              <a:rPr sz="2250" b="1">
                <a:solidFill>
                  <a:srgbClr val="13213A"/>
                </a:solidFill>
                <a:latin typeface="Aptos"/>
                <a:ea typeface="Aptos"/>
                <a:cs typeface="Aptos"/>
              </a:rPr>
              <a:t>Human judgment remains</a:t>
            </a:r>
          </a:p>
        </p:txBody>
      </p:sp>
      <p:sp>
        <p:nvSpPr>
          <p:cNvPr id="17" name="">
            <a:extLst xmlns:a="http://schemas.openxmlformats.org/drawingml/2006/main">
              <a:ext uri="{FF2B5EF4-FFF2-40B4-BE49-F238E27FC236}">
                <a16:creationId xmlns:a16="http://schemas.microsoft.com/office/drawing/2014/main" id="{8F542476-3456-451E-A974-902E7BCB23C0}"/>
              </a:ext>
            </a:extLst>
          </p:cNvPr>
          <p:cNvSpPr>
            <a:spLocks xmlns:a="http://schemas.openxmlformats.org/drawingml/2006/main" noGrp="1"/>
          </p:cNvSpPr>
          <p:nvPr/>
        </p:nvSpPr>
        <p:spPr>
          <a:xfrm xmlns:a="http://schemas.openxmlformats.org/drawingml/2006/main">
            <a:off x="8496300" y="3867150"/>
            <a:ext cx="3028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Final decisions still need expert interpretation, diligence, and sometimes a physical visit.</a:t>
            </a:r>
          </a:p>
        </p:txBody>
      </p:sp>
    </p:spTree>
    <p:extLst>
      <p:ext uri="{BB962C8B-B14F-4D97-AF65-F5344CB8AC3E}">
        <p14:creationId xmlns:p14="http://schemas.microsoft.com/office/powerpoint/2010/main" val="3476267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1767F55-1F9C-4899-9D56-A9448F7525EF}"/>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END-TO-END WORKFLOW</a:t>
            </a:r>
          </a:p>
        </p:txBody>
      </p:sp>
      <p:sp>
        <p:nvSpPr>
          <p:cNvPr id="2" name="">
            <a:extLst xmlns:a="http://schemas.openxmlformats.org/drawingml/2006/main">
              <a:ext uri="{FF2B5EF4-FFF2-40B4-BE49-F238E27FC236}">
                <a16:creationId xmlns:a16="http://schemas.microsoft.com/office/drawing/2014/main" id="{1069F52E-2A79-4D78-BC4C-B036D3AC73EE}"/>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595"/>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The workflow moves from address to evidence to human decision</a:t>
            </a:r>
          </a:p>
        </p:txBody>
      </p:sp>
      <p:sp>
        <p:nvSpPr>
          <p:cNvPr id="3" name="">
            <a:extLst xmlns:a="http://schemas.openxmlformats.org/drawingml/2006/main">
              <a:ext uri="{FF2B5EF4-FFF2-40B4-BE49-F238E27FC236}">
                <a16:creationId xmlns:a16="http://schemas.microsoft.com/office/drawing/2014/main" id="{30A6A876-19D2-42DB-86FE-1D95861192D8}"/>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4005CAD-92B0-4055-9193-1883F49ADFDF}"/>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CLM-017, CLM-020, CLM-024</a:t>
            </a:r>
          </a:p>
        </p:txBody>
      </p:sp>
      <p:sp>
        <p:nvSpPr>
          <p:cNvPr id="5" name="">
            <a:extLst xmlns:a="http://schemas.openxmlformats.org/drawingml/2006/main">
              <a:ext uri="{FF2B5EF4-FFF2-40B4-BE49-F238E27FC236}">
                <a16:creationId xmlns:a16="http://schemas.microsoft.com/office/drawing/2014/main" id="{E4B0314A-B833-454D-AA0F-790C56C39661}"/>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6AF1802F-E07A-4B5D-9449-C468F078142C}"/>
              </a:ext>
            </a:extLst>
          </p:cNvPr>
          <p:cNvSpPr>
            <a:spLocks xmlns:a="http://schemas.openxmlformats.org/drawingml/2006/main" noGrp="1"/>
          </p:cNvSpPr>
          <p:nvPr/>
        </p:nvSpPr>
        <p:spPr>
          <a:xfrm xmlns:a="http://schemas.openxmlformats.org/drawingml/2006/main">
            <a:off x="876300" y="3286125"/>
            <a:ext cx="10344150" cy="3810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4AE5A04-245E-49BC-B6AE-35338DD65D6D}"/>
              </a:ext>
            </a:extLst>
          </p:cNvPr>
          <p:cNvSpPr>
            <a:spLocks xmlns:a="http://schemas.openxmlformats.org/drawingml/2006/main" noGrp="1"/>
          </p:cNvSpPr>
          <p:nvPr/>
        </p:nvSpPr>
        <p:spPr>
          <a:xfrm xmlns:a="http://schemas.openxmlformats.org/drawingml/2006/main">
            <a:off x="800100" y="3133725"/>
            <a:ext cx="342900" cy="3429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B448303-704A-41E7-8B45-D6410EFBB4B6}"/>
              </a:ext>
            </a:extLst>
          </p:cNvPr>
          <p:cNvSpPr>
            <a:spLocks xmlns:a="http://schemas.openxmlformats.org/drawingml/2006/main" noGrp="1"/>
          </p:cNvSpPr>
          <p:nvPr/>
        </p:nvSpPr>
        <p:spPr>
          <a:xfrm xmlns:a="http://schemas.openxmlformats.org/drawingml/2006/main">
            <a:off x="400050" y="2095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ctr">
              <a:defRPr sz="1200" b="1">
                <a:solidFill>
                  <a:srgbClr val="2D5BFF"/>
                </a:solidFill>
                <a:latin typeface="Aptos"/>
                <a:ea typeface="Aptos"/>
                <a:cs typeface="Aptos"/>
              </a:defRPr>
            </a:pPr>
            <a:r>
              <a:rPr sz="1200" b="1">
                <a:solidFill>
                  <a:srgbClr val="2D5BFF"/>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F7919125-0BBE-4816-9258-A83DFA56936D}"/>
              </a:ext>
            </a:extLst>
          </p:cNvPr>
          <p:cNvSpPr>
            <a:spLocks xmlns:a="http://schemas.openxmlformats.org/drawingml/2006/main" noGrp="1"/>
          </p:cNvSpPr>
          <p:nvPr/>
        </p:nvSpPr>
        <p:spPr>
          <a:xfrm xmlns:a="http://schemas.openxmlformats.org/drawingml/2006/main">
            <a:off x="257175" y="2495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13213A"/>
                </a:solidFill>
                <a:latin typeface="Aptos"/>
                <a:ea typeface="Aptos"/>
                <a:cs typeface="Aptos"/>
              </a:defRPr>
            </a:pPr>
            <a:r>
              <a:rPr sz="1650" b="1">
                <a:solidFill>
                  <a:srgbClr val="13213A"/>
                </a:solidFill>
                <a:latin typeface="Aptos"/>
                <a:ea typeface="Aptos"/>
                <a:cs typeface="Aptos"/>
              </a:rPr>
              <a:t>Confirm</a:t>
            </a:r>
          </a:p>
        </p:txBody>
      </p:sp>
      <p:sp>
        <p:nvSpPr>
          <p:cNvPr id="10" name="">
            <a:extLst xmlns:a="http://schemas.openxmlformats.org/drawingml/2006/main">
              <a:ext uri="{FF2B5EF4-FFF2-40B4-BE49-F238E27FC236}">
                <a16:creationId xmlns:a16="http://schemas.microsoft.com/office/drawing/2014/main" id="{5BFF0A83-406B-4997-906C-41972C45BFA5}"/>
              </a:ext>
            </a:extLst>
          </p:cNvPr>
          <p:cNvSpPr>
            <a:spLocks xmlns:a="http://schemas.openxmlformats.org/drawingml/2006/main" noGrp="1"/>
          </p:cNvSpPr>
          <p:nvPr/>
        </p:nvSpPr>
        <p:spPr>
          <a:xfrm xmlns:a="http://schemas.openxmlformats.org/drawingml/2006/main">
            <a:off x="304800" y="3762375"/>
            <a:ext cx="133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39455A"/>
                </a:solidFill>
                <a:latin typeface="Aptos"/>
                <a:ea typeface="Aptos"/>
                <a:cs typeface="Aptos"/>
              </a:defRPr>
            </a:pPr>
            <a:r>
              <a:rPr sz="1350" b="0">
                <a:solidFill>
                  <a:srgbClr val="39455A"/>
                </a:solidFill>
                <a:latin typeface="Aptos"/>
                <a:ea typeface="Aptos"/>
                <a:cs typeface="Aptos"/>
              </a:rPr>
              <a:t>Address and geography</a:t>
            </a:r>
          </a:p>
        </p:txBody>
      </p:sp>
      <p:sp>
        <p:nvSpPr>
          <p:cNvPr id="11" name="">
            <a:extLst xmlns:a="http://schemas.openxmlformats.org/drawingml/2006/main">
              <a:ext uri="{FF2B5EF4-FFF2-40B4-BE49-F238E27FC236}">
                <a16:creationId xmlns:a16="http://schemas.microsoft.com/office/drawing/2014/main" id="{3BD863E5-78FC-41E7-B1EB-EC2C7F17F2CA}"/>
              </a:ext>
            </a:extLst>
          </p:cNvPr>
          <p:cNvSpPr>
            <a:spLocks xmlns:a="http://schemas.openxmlformats.org/drawingml/2006/main" noGrp="1"/>
          </p:cNvSpPr>
          <p:nvPr/>
        </p:nvSpPr>
        <p:spPr>
          <a:xfrm xmlns:a="http://schemas.openxmlformats.org/drawingml/2006/main">
            <a:off x="2428875" y="3133725"/>
            <a:ext cx="342900" cy="3429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EA3A176-04E8-4EF5-BB2F-9CB7AC78F4CD}"/>
              </a:ext>
            </a:extLst>
          </p:cNvPr>
          <p:cNvSpPr>
            <a:spLocks xmlns:a="http://schemas.openxmlformats.org/drawingml/2006/main" noGrp="1"/>
          </p:cNvSpPr>
          <p:nvPr/>
        </p:nvSpPr>
        <p:spPr>
          <a:xfrm xmlns:a="http://schemas.openxmlformats.org/drawingml/2006/main">
            <a:off x="2028825" y="2095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ctr">
              <a:defRPr sz="1200" b="1">
                <a:solidFill>
                  <a:srgbClr val="2D5BFF"/>
                </a:solidFill>
                <a:latin typeface="Aptos"/>
                <a:ea typeface="Aptos"/>
                <a:cs typeface="Aptos"/>
              </a:defRPr>
            </a:pPr>
            <a:r>
              <a:rPr sz="1200" b="1">
                <a:solidFill>
                  <a:srgbClr val="2D5BFF"/>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61211EBB-3C01-4BAA-8F05-E57D8396BB67}"/>
              </a:ext>
            </a:extLst>
          </p:cNvPr>
          <p:cNvSpPr>
            <a:spLocks xmlns:a="http://schemas.openxmlformats.org/drawingml/2006/main" noGrp="1"/>
          </p:cNvSpPr>
          <p:nvPr/>
        </p:nvSpPr>
        <p:spPr>
          <a:xfrm xmlns:a="http://schemas.openxmlformats.org/drawingml/2006/main">
            <a:off x="1885950" y="2495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13213A"/>
                </a:solidFill>
                <a:latin typeface="Aptos"/>
                <a:ea typeface="Aptos"/>
                <a:cs typeface="Aptos"/>
              </a:defRPr>
            </a:pPr>
            <a:r>
              <a:rPr sz="1650" b="1">
                <a:solidFill>
                  <a:srgbClr val="13213A"/>
                </a:solidFill>
                <a:latin typeface="Aptos"/>
                <a:ea typeface="Aptos"/>
                <a:cs typeface="Aptos"/>
              </a:rPr>
              <a:t>Assemble</a:t>
            </a:r>
          </a:p>
        </p:txBody>
      </p:sp>
      <p:sp>
        <p:nvSpPr>
          <p:cNvPr id="14" name="">
            <a:extLst xmlns:a="http://schemas.openxmlformats.org/drawingml/2006/main">
              <a:ext uri="{FF2B5EF4-FFF2-40B4-BE49-F238E27FC236}">
                <a16:creationId xmlns:a16="http://schemas.microsoft.com/office/drawing/2014/main" id="{82DD0154-6967-4CDB-AE61-B0A8A32238BF}"/>
              </a:ext>
            </a:extLst>
          </p:cNvPr>
          <p:cNvSpPr>
            <a:spLocks xmlns:a="http://schemas.openxmlformats.org/drawingml/2006/main" noGrp="1"/>
          </p:cNvSpPr>
          <p:nvPr/>
        </p:nvSpPr>
        <p:spPr>
          <a:xfrm xmlns:a="http://schemas.openxmlformats.org/drawingml/2006/main">
            <a:off x="1933575" y="3762375"/>
            <a:ext cx="133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39455A"/>
                </a:solidFill>
                <a:latin typeface="Aptos"/>
                <a:ea typeface="Aptos"/>
                <a:cs typeface="Aptos"/>
              </a:defRPr>
            </a:pPr>
            <a:r>
              <a:rPr sz="1350" b="0">
                <a:solidFill>
                  <a:srgbClr val="39455A"/>
                </a:solidFill>
                <a:latin typeface="Aptos"/>
                <a:ea typeface="Aptos"/>
                <a:cs typeface="Aptos"/>
              </a:rPr>
              <a:t>Approved evidence</a:t>
            </a:r>
          </a:p>
        </p:txBody>
      </p:sp>
      <p:sp>
        <p:nvSpPr>
          <p:cNvPr id="15" name="">
            <a:extLst xmlns:a="http://schemas.openxmlformats.org/drawingml/2006/main">
              <a:ext uri="{FF2B5EF4-FFF2-40B4-BE49-F238E27FC236}">
                <a16:creationId xmlns:a16="http://schemas.microsoft.com/office/drawing/2014/main" id="{D1B67675-DCEE-474E-ADF7-51943E4C08FF}"/>
              </a:ext>
            </a:extLst>
          </p:cNvPr>
          <p:cNvSpPr>
            <a:spLocks xmlns:a="http://schemas.openxmlformats.org/drawingml/2006/main" noGrp="1"/>
          </p:cNvSpPr>
          <p:nvPr/>
        </p:nvSpPr>
        <p:spPr>
          <a:xfrm xmlns:a="http://schemas.openxmlformats.org/drawingml/2006/main">
            <a:off x="4057650" y="3133725"/>
            <a:ext cx="342900" cy="3429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7ADA340-F0C9-46E6-8AEC-3EF5EAFB4F9D}"/>
              </a:ext>
            </a:extLst>
          </p:cNvPr>
          <p:cNvSpPr>
            <a:spLocks xmlns:a="http://schemas.openxmlformats.org/drawingml/2006/main" noGrp="1"/>
          </p:cNvSpPr>
          <p:nvPr/>
        </p:nvSpPr>
        <p:spPr>
          <a:xfrm xmlns:a="http://schemas.openxmlformats.org/drawingml/2006/main">
            <a:off x="3657600" y="2095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ctr">
              <a:defRPr sz="1200" b="1">
                <a:solidFill>
                  <a:srgbClr val="2D5BFF"/>
                </a:solidFill>
                <a:latin typeface="Aptos"/>
                <a:ea typeface="Aptos"/>
                <a:cs typeface="Aptos"/>
              </a:defRPr>
            </a:pPr>
            <a:r>
              <a:rPr sz="1200" b="1">
                <a:solidFill>
                  <a:srgbClr val="2D5BFF"/>
                </a:solidFill>
                <a:latin typeface="Aptos"/>
                <a:ea typeface="Aptos"/>
                <a:cs typeface="Aptos"/>
              </a:rPr>
              <a:t>03</a:t>
            </a:r>
          </a:p>
        </p:txBody>
      </p:sp>
      <p:sp>
        <p:nvSpPr>
          <p:cNvPr id="17" name="">
            <a:extLst xmlns:a="http://schemas.openxmlformats.org/drawingml/2006/main">
              <a:ext uri="{FF2B5EF4-FFF2-40B4-BE49-F238E27FC236}">
                <a16:creationId xmlns:a16="http://schemas.microsoft.com/office/drawing/2014/main" id="{DD22CD91-906A-4E0B-A850-B10E79305B4B}"/>
              </a:ext>
            </a:extLst>
          </p:cNvPr>
          <p:cNvSpPr>
            <a:spLocks xmlns:a="http://schemas.openxmlformats.org/drawingml/2006/main" noGrp="1"/>
          </p:cNvSpPr>
          <p:nvPr/>
        </p:nvSpPr>
        <p:spPr>
          <a:xfrm xmlns:a="http://schemas.openxmlformats.org/drawingml/2006/main">
            <a:off x="3514725" y="2495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13213A"/>
                </a:solidFill>
                <a:latin typeface="Aptos"/>
                <a:ea typeface="Aptos"/>
                <a:cs typeface="Aptos"/>
              </a:defRPr>
            </a:pPr>
            <a:r>
              <a:rPr sz="1650" b="1">
                <a:solidFill>
                  <a:srgbClr val="13213A"/>
                </a:solidFill>
                <a:latin typeface="Aptos"/>
                <a:ea typeface="Aptos"/>
                <a:cs typeface="Aptos"/>
              </a:rPr>
              <a:t>Validate</a:t>
            </a:r>
          </a:p>
        </p:txBody>
      </p:sp>
      <p:sp>
        <p:nvSpPr>
          <p:cNvPr id="18" name="">
            <a:extLst xmlns:a="http://schemas.openxmlformats.org/drawingml/2006/main">
              <a:ext uri="{FF2B5EF4-FFF2-40B4-BE49-F238E27FC236}">
                <a16:creationId xmlns:a16="http://schemas.microsoft.com/office/drawing/2014/main" id="{1D54D997-11FB-4D42-9090-DCA31C5756CF}"/>
              </a:ext>
            </a:extLst>
          </p:cNvPr>
          <p:cNvSpPr>
            <a:spLocks xmlns:a="http://schemas.openxmlformats.org/drawingml/2006/main" noGrp="1"/>
          </p:cNvSpPr>
          <p:nvPr/>
        </p:nvSpPr>
        <p:spPr>
          <a:xfrm xmlns:a="http://schemas.openxmlformats.org/drawingml/2006/main">
            <a:off x="3562350" y="3762375"/>
            <a:ext cx="133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39455A"/>
                </a:solidFill>
                <a:latin typeface="Aptos"/>
                <a:ea typeface="Aptos"/>
                <a:cs typeface="Aptos"/>
              </a:defRPr>
            </a:pPr>
            <a:r>
              <a:rPr sz="1350" b="0">
                <a:solidFill>
                  <a:srgbClr val="39455A"/>
                </a:solidFill>
                <a:latin typeface="Aptos"/>
                <a:ea typeface="Aptos"/>
                <a:cs typeface="Aptos"/>
              </a:rPr>
              <a:t>Coverage and quality</a:t>
            </a:r>
          </a:p>
        </p:txBody>
      </p:sp>
      <p:sp>
        <p:nvSpPr>
          <p:cNvPr id="19" name="">
            <a:extLst xmlns:a="http://schemas.openxmlformats.org/drawingml/2006/main">
              <a:ext uri="{FF2B5EF4-FFF2-40B4-BE49-F238E27FC236}">
                <a16:creationId xmlns:a16="http://schemas.microsoft.com/office/drawing/2014/main" id="{C198526C-F96C-4624-9FEB-789D3A233E8E}"/>
              </a:ext>
            </a:extLst>
          </p:cNvPr>
          <p:cNvSpPr>
            <a:spLocks xmlns:a="http://schemas.openxmlformats.org/drawingml/2006/main" noGrp="1"/>
          </p:cNvSpPr>
          <p:nvPr/>
        </p:nvSpPr>
        <p:spPr>
          <a:xfrm xmlns:a="http://schemas.openxmlformats.org/drawingml/2006/main">
            <a:off x="5686425" y="3133725"/>
            <a:ext cx="342900" cy="3429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74CC242-9762-47FE-A009-B00750E7EEA1}"/>
              </a:ext>
            </a:extLst>
          </p:cNvPr>
          <p:cNvSpPr>
            <a:spLocks xmlns:a="http://schemas.openxmlformats.org/drawingml/2006/main" noGrp="1"/>
          </p:cNvSpPr>
          <p:nvPr/>
        </p:nvSpPr>
        <p:spPr>
          <a:xfrm xmlns:a="http://schemas.openxmlformats.org/drawingml/2006/main">
            <a:off x="5286375" y="2095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ctr">
              <a:defRPr sz="1200" b="1">
                <a:solidFill>
                  <a:srgbClr val="2D5BFF"/>
                </a:solidFill>
                <a:latin typeface="Aptos"/>
                <a:ea typeface="Aptos"/>
                <a:cs typeface="Aptos"/>
              </a:defRPr>
            </a:pPr>
            <a:r>
              <a:rPr sz="1200" b="1">
                <a:solidFill>
                  <a:srgbClr val="2D5BFF"/>
                </a:solidFill>
                <a:latin typeface="Aptos"/>
                <a:ea typeface="Aptos"/>
                <a:cs typeface="Aptos"/>
              </a:rPr>
              <a:t>04</a:t>
            </a:r>
          </a:p>
        </p:txBody>
      </p:sp>
      <p:sp>
        <p:nvSpPr>
          <p:cNvPr id="21" name="">
            <a:extLst xmlns:a="http://schemas.openxmlformats.org/drawingml/2006/main">
              <a:ext uri="{FF2B5EF4-FFF2-40B4-BE49-F238E27FC236}">
                <a16:creationId xmlns:a16="http://schemas.microsoft.com/office/drawing/2014/main" id="{A15D9601-2632-4ADE-9E4B-15AE3DE035D7}"/>
              </a:ext>
            </a:extLst>
          </p:cNvPr>
          <p:cNvSpPr>
            <a:spLocks xmlns:a="http://schemas.openxmlformats.org/drawingml/2006/main" noGrp="1"/>
          </p:cNvSpPr>
          <p:nvPr/>
        </p:nvSpPr>
        <p:spPr>
          <a:xfrm xmlns:a="http://schemas.openxmlformats.org/drawingml/2006/main">
            <a:off x="5143500" y="2495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13213A"/>
                </a:solidFill>
                <a:latin typeface="Aptos"/>
                <a:ea typeface="Aptos"/>
                <a:cs typeface="Aptos"/>
              </a:defRPr>
            </a:pPr>
            <a:r>
              <a:rPr sz="1650" b="1">
                <a:solidFill>
                  <a:srgbClr val="13213A"/>
                </a:solidFill>
                <a:latin typeface="Aptos"/>
                <a:ea typeface="Aptos"/>
                <a:cs typeface="Aptos"/>
              </a:rPr>
              <a:t>Screen</a:t>
            </a:r>
          </a:p>
        </p:txBody>
      </p:sp>
      <p:sp>
        <p:nvSpPr>
          <p:cNvPr id="22" name="">
            <a:extLst xmlns:a="http://schemas.openxmlformats.org/drawingml/2006/main">
              <a:ext uri="{FF2B5EF4-FFF2-40B4-BE49-F238E27FC236}">
                <a16:creationId xmlns:a16="http://schemas.microsoft.com/office/drawing/2014/main" id="{71262C04-CBCD-4EA0-94CD-2F3AEC5FF93A}"/>
              </a:ext>
            </a:extLst>
          </p:cNvPr>
          <p:cNvSpPr>
            <a:spLocks xmlns:a="http://schemas.openxmlformats.org/drawingml/2006/main" noGrp="1"/>
          </p:cNvSpPr>
          <p:nvPr/>
        </p:nvSpPr>
        <p:spPr>
          <a:xfrm xmlns:a="http://schemas.openxmlformats.org/drawingml/2006/main">
            <a:off x="5191125" y="3762375"/>
            <a:ext cx="133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39455A"/>
                </a:solidFill>
                <a:latin typeface="Aptos"/>
                <a:ea typeface="Aptos"/>
                <a:cs typeface="Aptos"/>
              </a:defRPr>
            </a:pPr>
            <a:r>
              <a:rPr sz="1350" b="0">
                <a:solidFill>
                  <a:srgbClr val="39455A"/>
                </a:solidFill>
                <a:latin typeface="Aptos"/>
                <a:ea typeface="Aptos"/>
                <a:cs typeface="Aptos"/>
              </a:rPr>
              <a:t>Hard constraints</a:t>
            </a:r>
          </a:p>
        </p:txBody>
      </p:sp>
      <p:sp>
        <p:nvSpPr>
          <p:cNvPr id="23" name="">
            <a:extLst xmlns:a="http://schemas.openxmlformats.org/drawingml/2006/main">
              <a:ext uri="{FF2B5EF4-FFF2-40B4-BE49-F238E27FC236}">
                <a16:creationId xmlns:a16="http://schemas.microsoft.com/office/drawing/2014/main" id="{8004D33E-C076-4952-9E6C-BE0ABCBE9B72}"/>
              </a:ext>
            </a:extLst>
          </p:cNvPr>
          <p:cNvSpPr>
            <a:spLocks xmlns:a="http://schemas.openxmlformats.org/drawingml/2006/main" noGrp="1"/>
          </p:cNvSpPr>
          <p:nvPr/>
        </p:nvSpPr>
        <p:spPr>
          <a:xfrm xmlns:a="http://schemas.openxmlformats.org/drawingml/2006/main">
            <a:off x="7315200" y="3133725"/>
            <a:ext cx="342900" cy="3429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1BAF4B3-ECAE-4158-AC55-D737E3A13C9D}"/>
              </a:ext>
            </a:extLst>
          </p:cNvPr>
          <p:cNvSpPr>
            <a:spLocks xmlns:a="http://schemas.openxmlformats.org/drawingml/2006/main" noGrp="1"/>
          </p:cNvSpPr>
          <p:nvPr/>
        </p:nvSpPr>
        <p:spPr>
          <a:xfrm xmlns:a="http://schemas.openxmlformats.org/drawingml/2006/main">
            <a:off x="6915150" y="2095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ctr">
              <a:defRPr sz="1200" b="1">
                <a:solidFill>
                  <a:srgbClr val="2D5BFF"/>
                </a:solidFill>
                <a:latin typeface="Aptos"/>
                <a:ea typeface="Aptos"/>
                <a:cs typeface="Aptos"/>
              </a:defRPr>
            </a:pPr>
            <a:r>
              <a:rPr sz="1200" b="1">
                <a:solidFill>
                  <a:srgbClr val="2D5BFF"/>
                </a:solidFill>
                <a:latin typeface="Aptos"/>
                <a:ea typeface="Aptos"/>
                <a:cs typeface="Aptos"/>
              </a:rPr>
              <a:t>05</a:t>
            </a:r>
          </a:p>
        </p:txBody>
      </p:sp>
      <p:sp>
        <p:nvSpPr>
          <p:cNvPr id="25" name="">
            <a:extLst xmlns:a="http://schemas.openxmlformats.org/drawingml/2006/main">
              <a:ext uri="{FF2B5EF4-FFF2-40B4-BE49-F238E27FC236}">
                <a16:creationId xmlns:a16="http://schemas.microsoft.com/office/drawing/2014/main" id="{F0B75265-8187-46F6-BAB4-6843FAA1B062}"/>
              </a:ext>
            </a:extLst>
          </p:cNvPr>
          <p:cNvSpPr>
            <a:spLocks xmlns:a="http://schemas.openxmlformats.org/drawingml/2006/main" noGrp="1"/>
          </p:cNvSpPr>
          <p:nvPr/>
        </p:nvSpPr>
        <p:spPr>
          <a:xfrm xmlns:a="http://schemas.openxmlformats.org/drawingml/2006/main">
            <a:off x="6772275" y="2495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13213A"/>
                </a:solidFill>
                <a:latin typeface="Aptos"/>
                <a:ea typeface="Aptos"/>
                <a:cs typeface="Aptos"/>
              </a:defRPr>
            </a:pPr>
            <a:r>
              <a:rPr sz="1650" b="1">
                <a:solidFill>
                  <a:srgbClr val="13213A"/>
                </a:solidFill>
                <a:latin typeface="Aptos"/>
                <a:ea typeface="Aptos"/>
                <a:cs typeface="Aptos"/>
              </a:rPr>
              <a:t>Compare</a:t>
            </a:r>
          </a:p>
        </p:txBody>
      </p:sp>
      <p:sp>
        <p:nvSpPr>
          <p:cNvPr id="26" name="">
            <a:extLst xmlns:a="http://schemas.openxmlformats.org/drawingml/2006/main">
              <a:ext uri="{FF2B5EF4-FFF2-40B4-BE49-F238E27FC236}">
                <a16:creationId xmlns:a16="http://schemas.microsoft.com/office/drawing/2014/main" id="{1DDD6AA6-DB54-4EB0-A723-1419380EFDE7}"/>
              </a:ext>
            </a:extLst>
          </p:cNvPr>
          <p:cNvSpPr>
            <a:spLocks xmlns:a="http://schemas.openxmlformats.org/drawingml/2006/main" noGrp="1"/>
          </p:cNvSpPr>
          <p:nvPr/>
        </p:nvSpPr>
        <p:spPr>
          <a:xfrm xmlns:a="http://schemas.openxmlformats.org/drawingml/2006/main">
            <a:off x="6819900" y="3762375"/>
            <a:ext cx="133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39455A"/>
                </a:solidFill>
                <a:latin typeface="Aptos"/>
                <a:ea typeface="Aptos"/>
                <a:cs typeface="Aptos"/>
              </a:defRPr>
            </a:pPr>
            <a:r>
              <a:rPr sz="1350" b="0">
                <a:solidFill>
                  <a:srgbClr val="39455A"/>
                </a:solidFill>
                <a:latin typeface="Aptos"/>
                <a:ea typeface="Aptos"/>
                <a:cs typeface="Aptos"/>
              </a:rPr>
              <a:t>Weighted preferences</a:t>
            </a:r>
          </a:p>
        </p:txBody>
      </p:sp>
      <p:sp>
        <p:nvSpPr>
          <p:cNvPr id="27" name="">
            <a:extLst xmlns:a="http://schemas.openxmlformats.org/drawingml/2006/main">
              <a:ext uri="{FF2B5EF4-FFF2-40B4-BE49-F238E27FC236}">
                <a16:creationId xmlns:a16="http://schemas.microsoft.com/office/drawing/2014/main" id="{C25D34C9-8727-4544-8471-D3CDC79BC952}"/>
              </a:ext>
            </a:extLst>
          </p:cNvPr>
          <p:cNvSpPr>
            <a:spLocks xmlns:a="http://schemas.openxmlformats.org/drawingml/2006/main" noGrp="1"/>
          </p:cNvSpPr>
          <p:nvPr/>
        </p:nvSpPr>
        <p:spPr>
          <a:xfrm xmlns:a="http://schemas.openxmlformats.org/drawingml/2006/main">
            <a:off x="8943975" y="3133725"/>
            <a:ext cx="342900" cy="3429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0D54E58-9865-47F0-B926-30A4DA91A894}"/>
              </a:ext>
            </a:extLst>
          </p:cNvPr>
          <p:cNvSpPr>
            <a:spLocks xmlns:a="http://schemas.openxmlformats.org/drawingml/2006/main" noGrp="1"/>
          </p:cNvSpPr>
          <p:nvPr/>
        </p:nvSpPr>
        <p:spPr>
          <a:xfrm xmlns:a="http://schemas.openxmlformats.org/drawingml/2006/main">
            <a:off x="8543925" y="2095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ctr">
              <a:defRPr sz="1200" b="1">
                <a:solidFill>
                  <a:srgbClr val="2D5BFF"/>
                </a:solidFill>
                <a:latin typeface="Aptos"/>
                <a:ea typeface="Aptos"/>
                <a:cs typeface="Aptos"/>
              </a:defRPr>
            </a:pPr>
            <a:r>
              <a:rPr sz="1200" b="1">
                <a:solidFill>
                  <a:srgbClr val="2D5BFF"/>
                </a:solidFill>
                <a:latin typeface="Aptos"/>
                <a:ea typeface="Aptos"/>
                <a:cs typeface="Aptos"/>
              </a:rPr>
              <a:t>06</a:t>
            </a:r>
          </a:p>
        </p:txBody>
      </p:sp>
      <p:sp>
        <p:nvSpPr>
          <p:cNvPr id="29" name="">
            <a:extLst xmlns:a="http://schemas.openxmlformats.org/drawingml/2006/main">
              <a:ext uri="{FF2B5EF4-FFF2-40B4-BE49-F238E27FC236}">
                <a16:creationId xmlns:a16="http://schemas.microsoft.com/office/drawing/2014/main" id="{987D769D-22F5-4375-8887-053B107CA52F}"/>
              </a:ext>
            </a:extLst>
          </p:cNvPr>
          <p:cNvSpPr>
            <a:spLocks xmlns:a="http://schemas.openxmlformats.org/drawingml/2006/main" noGrp="1"/>
          </p:cNvSpPr>
          <p:nvPr/>
        </p:nvSpPr>
        <p:spPr>
          <a:xfrm xmlns:a="http://schemas.openxmlformats.org/drawingml/2006/main">
            <a:off x="8401050" y="2495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13213A"/>
                </a:solidFill>
                <a:latin typeface="Aptos"/>
                <a:ea typeface="Aptos"/>
                <a:cs typeface="Aptos"/>
              </a:defRPr>
            </a:pPr>
            <a:r>
              <a:rPr sz="1650" b="1">
                <a:solidFill>
                  <a:srgbClr val="13213A"/>
                </a:solidFill>
                <a:latin typeface="Aptos"/>
                <a:ea typeface="Aptos"/>
                <a:cs typeface="Aptos"/>
              </a:rPr>
              <a:t>Explain</a:t>
            </a:r>
          </a:p>
        </p:txBody>
      </p:sp>
      <p:sp>
        <p:nvSpPr>
          <p:cNvPr id="30" name="">
            <a:extLst xmlns:a="http://schemas.openxmlformats.org/drawingml/2006/main">
              <a:ext uri="{FF2B5EF4-FFF2-40B4-BE49-F238E27FC236}">
                <a16:creationId xmlns:a16="http://schemas.microsoft.com/office/drawing/2014/main" id="{EA4D5B69-677B-485E-9DF0-D24117BCF075}"/>
              </a:ext>
            </a:extLst>
          </p:cNvPr>
          <p:cNvSpPr>
            <a:spLocks xmlns:a="http://schemas.openxmlformats.org/drawingml/2006/main" noGrp="1"/>
          </p:cNvSpPr>
          <p:nvPr/>
        </p:nvSpPr>
        <p:spPr>
          <a:xfrm xmlns:a="http://schemas.openxmlformats.org/drawingml/2006/main">
            <a:off x="8448675" y="3762375"/>
            <a:ext cx="133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39455A"/>
                </a:solidFill>
                <a:latin typeface="Aptos"/>
                <a:ea typeface="Aptos"/>
                <a:cs typeface="Aptos"/>
              </a:defRPr>
            </a:pPr>
            <a:r>
              <a:rPr sz="1350" b="0">
                <a:solidFill>
                  <a:srgbClr val="39455A"/>
                </a:solidFill>
                <a:latin typeface="Aptos"/>
                <a:ea typeface="Aptos"/>
                <a:cs typeface="Aptos"/>
              </a:rPr>
              <a:t>Risks and missing data</a:t>
            </a:r>
          </a:p>
        </p:txBody>
      </p:sp>
      <p:sp>
        <p:nvSpPr>
          <p:cNvPr id="31" name="">
            <a:extLst xmlns:a="http://schemas.openxmlformats.org/drawingml/2006/main">
              <a:ext uri="{FF2B5EF4-FFF2-40B4-BE49-F238E27FC236}">
                <a16:creationId xmlns:a16="http://schemas.microsoft.com/office/drawing/2014/main" id="{F86F3C84-A21F-4335-800B-604026A560F0}"/>
              </a:ext>
            </a:extLst>
          </p:cNvPr>
          <p:cNvSpPr>
            <a:spLocks xmlns:a="http://schemas.openxmlformats.org/drawingml/2006/main" noGrp="1"/>
          </p:cNvSpPr>
          <p:nvPr/>
        </p:nvSpPr>
        <p:spPr>
          <a:xfrm xmlns:a="http://schemas.openxmlformats.org/drawingml/2006/main">
            <a:off x="10572750" y="3133725"/>
            <a:ext cx="342900" cy="34290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AD78BA7-4B09-490F-A97C-5ED919C4C254}"/>
              </a:ext>
            </a:extLst>
          </p:cNvPr>
          <p:cNvSpPr>
            <a:spLocks xmlns:a="http://schemas.openxmlformats.org/drawingml/2006/main" noGrp="1"/>
          </p:cNvSpPr>
          <p:nvPr/>
        </p:nvSpPr>
        <p:spPr>
          <a:xfrm xmlns:a="http://schemas.openxmlformats.org/drawingml/2006/main">
            <a:off x="10172700" y="2095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ctr">
              <a:defRPr sz="1200" b="1">
                <a:solidFill>
                  <a:srgbClr val="2D5BFF"/>
                </a:solidFill>
                <a:latin typeface="Aptos"/>
                <a:ea typeface="Aptos"/>
                <a:cs typeface="Aptos"/>
              </a:defRPr>
            </a:pPr>
            <a:r>
              <a:rPr sz="1200" b="1">
                <a:solidFill>
                  <a:srgbClr val="2D5BFF"/>
                </a:solidFill>
                <a:latin typeface="Aptos"/>
                <a:ea typeface="Aptos"/>
                <a:cs typeface="Aptos"/>
              </a:rPr>
              <a:t>07</a:t>
            </a:r>
          </a:p>
        </p:txBody>
      </p:sp>
      <p:sp>
        <p:nvSpPr>
          <p:cNvPr id="33" name="">
            <a:extLst xmlns:a="http://schemas.openxmlformats.org/drawingml/2006/main">
              <a:ext uri="{FF2B5EF4-FFF2-40B4-BE49-F238E27FC236}">
                <a16:creationId xmlns:a16="http://schemas.microsoft.com/office/drawing/2014/main" id="{90AE8CE5-E07E-49F5-98FE-4DC439D82BCE}"/>
              </a:ext>
            </a:extLst>
          </p:cNvPr>
          <p:cNvSpPr>
            <a:spLocks xmlns:a="http://schemas.openxmlformats.org/drawingml/2006/main" noGrp="1"/>
          </p:cNvSpPr>
          <p:nvPr/>
        </p:nvSpPr>
        <p:spPr>
          <a:xfrm xmlns:a="http://schemas.openxmlformats.org/drawingml/2006/main">
            <a:off x="10029825" y="2495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13213A"/>
                </a:solidFill>
                <a:latin typeface="Aptos"/>
                <a:ea typeface="Aptos"/>
                <a:cs typeface="Aptos"/>
              </a:defRPr>
            </a:pPr>
            <a:r>
              <a:rPr sz="1650" b="1">
                <a:solidFill>
                  <a:srgbClr val="13213A"/>
                </a:solidFill>
                <a:latin typeface="Aptos"/>
                <a:ea typeface="Aptos"/>
                <a:cs typeface="Aptos"/>
              </a:rPr>
              <a:t>Decide</a:t>
            </a:r>
          </a:p>
        </p:txBody>
      </p:sp>
      <p:sp>
        <p:nvSpPr>
          <p:cNvPr id="34" name="">
            <a:extLst xmlns:a="http://schemas.openxmlformats.org/drawingml/2006/main">
              <a:ext uri="{FF2B5EF4-FFF2-40B4-BE49-F238E27FC236}">
                <a16:creationId xmlns:a16="http://schemas.microsoft.com/office/drawing/2014/main" id="{6853C9E4-4691-4AA2-A5E4-4BE4293B627A}"/>
              </a:ext>
            </a:extLst>
          </p:cNvPr>
          <p:cNvSpPr>
            <a:spLocks xmlns:a="http://schemas.openxmlformats.org/drawingml/2006/main" noGrp="1"/>
          </p:cNvSpPr>
          <p:nvPr/>
        </p:nvSpPr>
        <p:spPr>
          <a:xfrm xmlns:a="http://schemas.openxmlformats.org/drawingml/2006/main">
            <a:off x="10077450" y="3762375"/>
            <a:ext cx="133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39455A"/>
                </a:solidFill>
                <a:latin typeface="Aptos"/>
                <a:ea typeface="Aptos"/>
                <a:cs typeface="Aptos"/>
              </a:defRPr>
            </a:pPr>
            <a:r>
              <a:rPr sz="1350" b="0">
                <a:solidFill>
                  <a:srgbClr val="39455A"/>
                </a:solidFill>
                <a:latin typeface="Aptos"/>
                <a:ea typeface="Aptos"/>
                <a:cs typeface="Aptos"/>
              </a:rPr>
              <a:t>Human rationale</a:t>
            </a:r>
          </a:p>
        </p:txBody>
      </p:sp>
      <p:sp>
        <p:nvSpPr>
          <p:cNvPr id="35" name="">
            <a:extLst xmlns:a="http://schemas.openxmlformats.org/drawingml/2006/main">
              <a:ext uri="{FF2B5EF4-FFF2-40B4-BE49-F238E27FC236}">
                <a16:creationId xmlns:a16="http://schemas.microsoft.com/office/drawing/2014/main" id="{0518BD2D-DD8E-467C-8B19-FAC1E219F847}"/>
              </a:ext>
            </a:extLst>
          </p:cNvPr>
          <p:cNvSpPr>
            <a:spLocks xmlns:a="http://schemas.openxmlformats.org/drawingml/2006/main" noGrp="1"/>
          </p:cNvSpPr>
          <p:nvPr/>
        </p:nvSpPr>
        <p:spPr>
          <a:xfrm xmlns:a="http://schemas.openxmlformats.org/drawingml/2006/main">
            <a:off x="1476375" y="5191125"/>
            <a:ext cx="9239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ctr">
              <a:defRPr sz="2100" b="1">
                <a:solidFill>
                  <a:srgbClr val="1E43C8"/>
                </a:solidFill>
                <a:latin typeface="Aptos"/>
                <a:ea typeface="Aptos"/>
                <a:cs typeface="Aptos"/>
              </a:defRPr>
            </a:pPr>
            <a:r>
              <a:rPr sz="2100" b="1">
                <a:solidFill>
                  <a:srgbClr val="1E43C8"/>
                </a:solidFill>
                <a:latin typeface="Aptos"/>
                <a:ea typeface="Aptos"/>
                <a:cs typeface="Aptos"/>
              </a:rPr>
              <a:t>A failed constraint or missing input stays visible. A high score never becomes automatic approval.</a:t>
            </a:r>
          </a:p>
        </p:txBody>
      </p:sp>
    </p:spTree>
    <p:extLst>
      <p:ext uri="{BB962C8B-B14F-4D97-AF65-F5344CB8AC3E}">
        <p14:creationId xmlns:p14="http://schemas.microsoft.com/office/powerpoint/2010/main" val="18325101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25B78D-F3AB-40F7-99B1-29BB000238F4}"/>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PROTOTYPE TODAY</a:t>
            </a:r>
          </a:p>
        </p:txBody>
      </p:sp>
      <p:sp>
        <p:nvSpPr>
          <p:cNvPr id="2" name="">
            <a:extLst xmlns:a="http://schemas.openxmlformats.org/drawingml/2006/main">
              <a:ext uri="{FF2B5EF4-FFF2-40B4-BE49-F238E27FC236}">
                <a16:creationId xmlns:a16="http://schemas.microsoft.com/office/drawing/2014/main" id="{76A867F0-4E6A-4F7E-8CD1-22625E7C61D2}"/>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2561"/>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The prototype already makes geographic context and evidence boundaries visible</a:t>
            </a:r>
          </a:p>
        </p:txBody>
      </p:sp>
      <p:sp>
        <p:nvSpPr>
          <p:cNvPr id="3" name="">
            <a:extLst xmlns:a="http://schemas.openxmlformats.org/drawingml/2006/main">
              <a:ext uri="{FF2B5EF4-FFF2-40B4-BE49-F238E27FC236}">
                <a16:creationId xmlns:a16="http://schemas.microsoft.com/office/drawing/2014/main" id="{B7462F7A-919F-496A-B8D8-C8F8CD659AAC}"/>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D85F612-7525-4629-92CB-01E971334A92}"/>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SRC-009, SRC-014, SRC-015, SRC-016</a:t>
            </a:r>
          </a:p>
        </p:txBody>
      </p:sp>
      <p:sp>
        <p:nvSpPr>
          <p:cNvPr id="5" name="">
            <a:extLst xmlns:a="http://schemas.openxmlformats.org/drawingml/2006/main">
              <a:ext uri="{FF2B5EF4-FFF2-40B4-BE49-F238E27FC236}">
                <a16:creationId xmlns:a16="http://schemas.microsoft.com/office/drawing/2014/main" id="{51676EDE-A0E4-407D-A1F9-E5FD334CB141}"/>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B1A9A544-70B9-4CBB-96B4-07DEC8B0746A}"/>
              </a:ext>
            </a:extLst>
          </p:cNvPr>
          <p:cNvSpPr>
            <a:spLocks xmlns:a="http://schemas.openxmlformats.org/drawingml/2006/main" noGrp="1"/>
          </p:cNvSpPr>
          <p:nvPr/>
        </p:nvSpPr>
        <p:spPr>
          <a:xfrm xmlns:a="http://schemas.openxmlformats.org/drawingml/2006/main">
            <a:off x="400050" y="1371600"/>
            <a:ext cx="11391900" cy="4762500"/>
          </a:xfrm>
          <a:prstGeom xmlns:a="http://schemas.openxmlformats.org/drawingml/2006/main" prst="roundRect">
            <a:avLst>
              <a:gd name="adj" fmla="val 3600"/>
            </a:avLst>
          </a:prstGeom>
          <a:solidFill xmlns:a="http://schemas.openxmlformats.org/drawingml/2006/main">
            <a:srgbClr val="F5F7FB"/>
          </a:solidFill>
          <a:ln xmlns:a="http://schemas.openxmlformats.org/drawingml/2006/main" w="9525">
            <a:solidFill>
              <a:srgbClr val="D8DFEA"/>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e3ed217c4f84a22"/>
          <a:stretch xmlns:a="http://schemas.openxmlformats.org/drawingml/2006/main"/>
        </p:blipFill>
        <p:spPr>
          <a:xfrm xmlns:a="http://schemas.openxmlformats.org/drawingml/2006/main">
            <a:off x="2099733" y="1504950"/>
            <a:ext cx="7992533" cy="4495800"/>
          </a:xfrm>
          <a:prstGeom xmlns:a="http://schemas.openxmlformats.org/drawingml/2006/main" prst="roundRect">
            <a:avLst>
              <a:gd name="adj" fmla="val 3390"/>
            </a:avLst>
          </a:prstGeom>
        </p:spPr>
      </p:pic>
    </p:spTree>
    <p:extLst>
      <p:ext uri="{BB962C8B-B14F-4D97-AF65-F5344CB8AC3E}">
        <p14:creationId xmlns:p14="http://schemas.microsoft.com/office/powerpoint/2010/main" val="21374804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6950A9D-0164-49DA-8D4B-B131D02F6DB7}"/>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PROTOTYPE TODAY</a:t>
            </a:r>
          </a:p>
        </p:txBody>
      </p:sp>
      <p:sp>
        <p:nvSpPr>
          <p:cNvPr id="2" name="">
            <a:extLst xmlns:a="http://schemas.openxmlformats.org/drawingml/2006/main">
              <a:ext uri="{FF2B5EF4-FFF2-40B4-BE49-F238E27FC236}">
                <a16:creationId xmlns:a16="http://schemas.microsoft.com/office/drawing/2014/main" id="{FC48C51E-3797-4BEB-AE32-06E152D60AF3}"/>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249"/>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Sensitivity stays visible without changing the baseline</a:t>
            </a:r>
          </a:p>
        </p:txBody>
      </p:sp>
      <p:sp>
        <p:nvSpPr>
          <p:cNvPr id="3" name="">
            <a:extLst xmlns:a="http://schemas.openxmlformats.org/drawingml/2006/main">
              <a:ext uri="{FF2B5EF4-FFF2-40B4-BE49-F238E27FC236}">
                <a16:creationId xmlns:a16="http://schemas.microsoft.com/office/drawing/2014/main" id="{E3F3792D-2D68-4AD8-9BA3-1861ECE30499}"/>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5E48006-37D5-4837-8314-FC581D52339B}"/>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MVP scope, NFR-001, NFR-007</a:t>
            </a:r>
          </a:p>
        </p:txBody>
      </p:sp>
      <p:sp>
        <p:nvSpPr>
          <p:cNvPr id="5" name="">
            <a:extLst xmlns:a="http://schemas.openxmlformats.org/drawingml/2006/main">
              <a:ext uri="{FF2B5EF4-FFF2-40B4-BE49-F238E27FC236}">
                <a16:creationId xmlns:a16="http://schemas.microsoft.com/office/drawing/2014/main" id="{F2F5A142-80A3-4940-AC34-C1548F77800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DFF5F2C4-9169-4830-A6EE-E385846FC5BD}"/>
              </a:ext>
            </a:extLst>
          </p:cNvPr>
          <p:cNvSpPr>
            <a:spLocks xmlns:a="http://schemas.openxmlformats.org/drawingml/2006/main" noGrp="1"/>
          </p:cNvSpPr>
          <p:nvPr/>
        </p:nvSpPr>
        <p:spPr>
          <a:xfrm xmlns:a="http://schemas.openxmlformats.org/drawingml/2006/main">
            <a:off x="400050" y="16192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505"/>
          </a:bodyPr>
          <a:lstStyle xmlns:a="http://schemas.openxmlformats.org/drawingml/2006/main"/>
          <a:p xmlns:a="http://schemas.openxmlformats.org/drawingml/2006/main">
            <a:pPr algn="l">
              <a:defRPr sz="2250" b="1">
                <a:solidFill>
                  <a:srgbClr val="13213A"/>
                </a:solidFill>
                <a:latin typeface="Aptos"/>
                <a:ea typeface="Aptos"/>
                <a:cs typeface="Aptos"/>
              </a:defRPr>
            </a:pPr>
            <a:r>
              <a:rPr sz="2250" b="1">
                <a:solidFill>
                  <a:srgbClr val="13213A"/>
                </a:solidFill>
                <a:latin typeface="Aptos"/>
                <a:ea typeface="Aptos"/>
                <a:cs typeface="Aptos"/>
              </a:rPr>
              <a:t>What the sandbox demonstrates</a:t>
            </a:r>
          </a:p>
        </p:txBody>
      </p:sp>
      <p:sp>
        <p:nvSpPr>
          <p:cNvPr id="7" name="">
            <a:extLst xmlns:a="http://schemas.openxmlformats.org/drawingml/2006/main">
              <a:ext uri="{FF2B5EF4-FFF2-40B4-BE49-F238E27FC236}">
                <a16:creationId xmlns:a16="http://schemas.microsoft.com/office/drawing/2014/main" id="{EA1DE329-F59F-4ECC-ADB9-762AA31207D7}"/>
              </a:ext>
            </a:extLst>
          </p:cNvPr>
          <p:cNvSpPr>
            <a:spLocks xmlns:a="http://schemas.openxmlformats.org/drawingml/2006/main" noGrp="1"/>
          </p:cNvSpPr>
          <p:nvPr/>
        </p:nvSpPr>
        <p:spPr>
          <a:xfrm xmlns:a="http://schemas.openxmlformats.org/drawingml/2006/main">
            <a:off x="400050" y="233362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FBE2E7-FE5C-4C26-A261-9D6AA202575F}"/>
              </a:ext>
            </a:extLst>
          </p:cNvPr>
          <p:cNvSpPr>
            <a:spLocks xmlns:a="http://schemas.openxmlformats.org/drawingml/2006/main" noGrp="1"/>
          </p:cNvSpPr>
          <p:nvPr/>
        </p:nvSpPr>
        <p:spPr>
          <a:xfrm xmlns:a="http://schemas.openxmlformats.org/drawingml/2006/main">
            <a:off x="628650" y="22860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39455A"/>
                </a:solidFill>
                <a:latin typeface="Aptos"/>
                <a:ea typeface="Aptos"/>
                <a:cs typeface="Aptos"/>
              </a:defRPr>
            </a:pPr>
            <a:r>
              <a:rPr sz="1575" b="0">
                <a:solidFill>
                  <a:srgbClr val="39455A"/>
                </a:solidFill>
                <a:latin typeface="Aptos"/>
                <a:ea typeface="Aptos"/>
                <a:cs typeface="Aptos"/>
              </a:rPr>
              <a:t>Weights stay within bounded ranges and total 100%</a:t>
            </a:r>
          </a:p>
        </p:txBody>
      </p:sp>
      <p:sp>
        <p:nvSpPr>
          <p:cNvPr id="9" name="">
            <a:extLst xmlns:a="http://schemas.openxmlformats.org/drawingml/2006/main">
              <a:ext uri="{FF2B5EF4-FFF2-40B4-BE49-F238E27FC236}">
                <a16:creationId xmlns:a16="http://schemas.microsoft.com/office/drawing/2014/main" id="{C4F7D666-D3EB-470E-8102-052CCC12F028}"/>
              </a:ext>
            </a:extLst>
          </p:cNvPr>
          <p:cNvSpPr>
            <a:spLocks xmlns:a="http://schemas.openxmlformats.org/drawingml/2006/main" noGrp="1"/>
          </p:cNvSpPr>
          <p:nvPr/>
        </p:nvSpPr>
        <p:spPr>
          <a:xfrm xmlns:a="http://schemas.openxmlformats.org/drawingml/2006/main">
            <a:off x="400050" y="309562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4C35CA6-A5F1-47C9-A02D-4D10309D5710}"/>
              </a:ext>
            </a:extLst>
          </p:cNvPr>
          <p:cNvSpPr>
            <a:spLocks xmlns:a="http://schemas.openxmlformats.org/drawingml/2006/main" noGrp="1"/>
          </p:cNvSpPr>
          <p:nvPr/>
        </p:nvSpPr>
        <p:spPr>
          <a:xfrm xmlns:a="http://schemas.openxmlformats.org/drawingml/2006/main">
            <a:off x="628650" y="30480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39455A"/>
                </a:solidFill>
                <a:latin typeface="Aptos"/>
                <a:ea typeface="Aptos"/>
                <a:cs typeface="Aptos"/>
              </a:defRPr>
            </a:pPr>
            <a:r>
              <a:rPr sz="1575" b="0">
                <a:solidFill>
                  <a:srgbClr val="39455A"/>
                </a:solidFill>
                <a:latin typeface="Aptos"/>
                <a:ea typeface="Aptos"/>
                <a:cs typeface="Aptos"/>
              </a:rPr>
              <a:t>Hard constraints remain separate from preference scores</a:t>
            </a:r>
          </a:p>
        </p:txBody>
      </p:sp>
      <p:sp>
        <p:nvSpPr>
          <p:cNvPr id="11" name="">
            <a:extLst xmlns:a="http://schemas.openxmlformats.org/drawingml/2006/main">
              <a:ext uri="{FF2B5EF4-FFF2-40B4-BE49-F238E27FC236}">
                <a16:creationId xmlns:a16="http://schemas.microsoft.com/office/drawing/2014/main" id="{DDF84B88-500F-4806-A1FD-5D1110BC5D16}"/>
              </a:ext>
            </a:extLst>
          </p:cNvPr>
          <p:cNvSpPr>
            <a:spLocks xmlns:a="http://schemas.openxmlformats.org/drawingml/2006/main" noGrp="1"/>
          </p:cNvSpPr>
          <p:nvPr/>
        </p:nvSpPr>
        <p:spPr>
          <a:xfrm xmlns:a="http://schemas.openxmlformats.org/drawingml/2006/main">
            <a:off x="400050" y="385762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5EA92D-BD42-4B22-B67C-A14C3A0565D8}"/>
              </a:ext>
            </a:extLst>
          </p:cNvPr>
          <p:cNvSpPr>
            <a:spLocks xmlns:a="http://schemas.openxmlformats.org/drawingml/2006/main" noGrp="1"/>
          </p:cNvSpPr>
          <p:nvPr/>
        </p:nvSpPr>
        <p:spPr>
          <a:xfrm xmlns:a="http://schemas.openxmlformats.org/drawingml/2006/main">
            <a:off x="628650" y="38100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39455A"/>
                </a:solidFill>
                <a:latin typeface="Aptos"/>
                <a:ea typeface="Aptos"/>
                <a:cs typeface="Aptos"/>
              </a:defRPr>
            </a:pPr>
            <a:r>
              <a:rPr sz="1575" b="0">
                <a:solidFill>
                  <a:srgbClr val="39455A"/>
                </a:solidFill>
                <a:latin typeface="Aptos"/>
                <a:ea typeface="Aptos"/>
                <a:cs typeface="Aptos"/>
              </a:rPr>
              <a:t>Original and adjusted results stay visible</a:t>
            </a:r>
          </a:p>
        </p:txBody>
      </p:sp>
      <p:sp>
        <p:nvSpPr>
          <p:cNvPr id="13" name="">
            <a:extLst xmlns:a="http://schemas.openxmlformats.org/drawingml/2006/main">
              <a:ext uri="{FF2B5EF4-FFF2-40B4-BE49-F238E27FC236}">
                <a16:creationId xmlns:a16="http://schemas.microsoft.com/office/drawing/2014/main" id="{68CC5FFF-0A79-4897-BBB9-5AAFC63D2D55}"/>
              </a:ext>
            </a:extLst>
          </p:cNvPr>
          <p:cNvSpPr>
            <a:spLocks xmlns:a="http://schemas.openxmlformats.org/drawingml/2006/main" noGrp="1"/>
          </p:cNvSpPr>
          <p:nvPr/>
        </p:nvSpPr>
        <p:spPr>
          <a:xfrm xmlns:a="http://schemas.openxmlformats.org/drawingml/2006/main">
            <a:off x="400050" y="461962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A616A2-FED9-4733-919A-6F814C22251A}"/>
              </a:ext>
            </a:extLst>
          </p:cNvPr>
          <p:cNvSpPr>
            <a:spLocks xmlns:a="http://schemas.openxmlformats.org/drawingml/2006/main" noGrp="1"/>
          </p:cNvSpPr>
          <p:nvPr/>
        </p:nvSpPr>
        <p:spPr>
          <a:xfrm xmlns:a="http://schemas.openxmlformats.org/drawingml/2006/main">
            <a:off x="628650" y="4572000"/>
            <a:ext cx="3867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39455A"/>
                </a:solidFill>
                <a:latin typeface="Aptos"/>
                <a:ea typeface="Aptos"/>
                <a:cs typeface="Aptos"/>
              </a:defRPr>
            </a:pPr>
            <a:r>
              <a:rPr sz="1575" b="0">
                <a:solidFill>
                  <a:srgbClr val="39455A"/>
                </a:solidFill>
                <a:latin typeface="Aptos"/>
                <a:ea typeface="Aptos"/>
                <a:cs typeface="Aptos"/>
              </a:rPr>
              <a:t>Every scenario carries a configuration fingerprint</a:t>
            </a:r>
          </a:p>
        </p:txBody>
      </p:sp>
      <p:sp>
        <p:nvSpPr>
          <p:cNvPr id="15" name="">
            <a:extLst xmlns:a="http://schemas.openxmlformats.org/drawingml/2006/main">
              <a:ext uri="{FF2B5EF4-FFF2-40B4-BE49-F238E27FC236}">
                <a16:creationId xmlns:a16="http://schemas.microsoft.com/office/drawing/2014/main" id="{5F46D770-D3D6-4353-9B50-1B02030B77AC}"/>
              </a:ext>
            </a:extLst>
          </p:cNvPr>
          <p:cNvSpPr>
            <a:spLocks xmlns:a="http://schemas.openxmlformats.org/drawingml/2006/main" noGrp="1"/>
          </p:cNvSpPr>
          <p:nvPr/>
        </p:nvSpPr>
        <p:spPr>
          <a:xfrm xmlns:a="http://schemas.openxmlformats.org/drawingml/2006/main">
            <a:off x="400050" y="5505450"/>
            <a:ext cx="2476500" cy="361950"/>
          </a:xfrm>
          <a:prstGeom xmlns:a="http://schemas.openxmlformats.org/drawingml/2006/main" prst="roundRect">
            <a:avLst>
              <a:gd name="adj" fmla="val 36842"/>
            </a:avLst>
          </a:prstGeom>
          <a:solidFill xmlns:a="http://schemas.openxmlformats.org/drawingml/2006/main">
            <a:srgbClr val="FFF5DF"/>
          </a:solidFill>
          <a:ln xmlns:a="http://schemas.openxmlformats.org/drawingml/2006/main" w="0">
            <a:noFill/>
            <a:prstDash val="solid"/>
          </a:ln>
        </p:spPr>
        <p:txBody>
          <a:bodyPr xmlns:a="http://schemas.openxmlformats.org/drawingml/2006/main" anchor="ctr">
            <a:normAutofit fontScale="93514"/>
          </a:bodyPr>
          <a:lstStyle xmlns:a="http://schemas.openxmlformats.org/drawingml/2006/main"/>
          <a:p xmlns:a="http://schemas.openxmlformats.org/drawingml/2006/main">
            <a:pPr algn="ctr">
              <a:defRPr sz="1350" b="1">
                <a:solidFill>
                  <a:srgbClr val="A56A00"/>
                </a:solidFill>
                <a:latin typeface="Aptos"/>
                <a:ea typeface="Aptos"/>
                <a:cs typeface="Aptos"/>
              </a:defRPr>
            </a:pPr>
            <a:r>
              <a:rPr sz="1350" b="1">
                <a:solidFill>
                  <a:srgbClr val="A56A00"/>
                </a:solidFill>
                <a:latin typeface="Aptos"/>
                <a:ea typeface="Aptos"/>
                <a:cs typeface="Aptos"/>
              </a:rPr>
              <a:t>Synthetic and unapproved</a:t>
            </a:r>
          </a:p>
        </p:txBody>
      </p:sp>
      <p:sp>
        <p:nvSpPr>
          <p:cNvPr id="16" name="">
            <a:extLst xmlns:a="http://schemas.openxmlformats.org/drawingml/2006/main">
              <a:ext uri="{FF2B5EF4-FFF2-40B4-BE49-F238E27FC236}">
                <a16:creationId xmlns:a16="http://schemas.microsoft.com/office/drawing/2014/main" id="{E13AB2FE-9AEA-468D-9D92-E5B970A66816}"/>
              </a:ext>
            </a:extLst>
          </p:cNvPr>
          <p:cNvSpPr>
            <a:spLocks xmlns:a="http://schemas.openxmlformats.org/drawingml/2006/main" noGrp="1"/>
          </p:cNvSpPr>
          <p:nvPr/>
        </p:nvSpPr>
        <p:spPr>
          <a:xfrm xmlns:a="http://schemas.openxmlformats.org/drawingml/2006/main">
            <a:off x="4857750" y="1428750"/>
            <a:ext cx="6934200" cy="4476750"/>
          </a:xfrm>
          <a:prstGeom xmlns:a="http://schemas.openxmlformats.org/drawingml/2006/main" prst="roundRect">
            <a:avLst>
              <a:gd name="adj" fmla="val 3830"/>
            </a:avLst>
          </a:prstGeom>
          <a:solidFill xmlns:a="http://schemas.openxmlformats.org/drawingml/2006/main">
            <a:srgbClr val="F5F7FB"/>
          </a:solidFill>
          <a:ln xmlns:a="http://schemas.openxmlformats.org/drawingml/2006/main" w="9525">
            <a:solidFill>
              <a:srgbClr val="D8DFEA"/>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66a2eea840a4603"/>
          <a:stretch xmlns:a="http://schemas.openxmlformats.org/drawingml/2006/main"/>
        </p:blipFill>
        <p:spPr>
          <a:xfrm xmlns:a="http://schemas.openxmlformats.org/drawingml/2006/main">
            <a:off x="4991100" y="1791891"/>
            <a:ext cx="6667500" cy="3750469"/>
          </a:xfrm>
          <a:prstGeom xmlns:a="http://schemas.openxmlformats.org/drawingml/2006/main" prst="roundRect">
            <a:avLst>
              <a:gd name="adj" fmla="val 3620"/>
            </a:avLst>
          </a:prstGeom>
        </p:spPr>
      </p:pic>
    </p:spTree>
    <p:extLst>
      <p:ext uri="{BB962C8B-B14F-4D97-AF65-F5344CB8AC3E}">
        <p14:creationId xmlns:p14="http://schemas.microsoft.com/office/powerpoint/2010/main" val="5943202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51C6960-BE38-4BFD-813C-C50C44F59377}"/>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DATA FOUNDATION</a:t>
            </a:r>
          </a:p>
        </p:txBody>
      </p:sp>
      <p:sp>
        <p:nvSpPr>
          <p:cNvPr id="2" name="">
            <a:extLst xmlns:a="http://schemas.openxmlformats.org/drawingml/2006/main">
              <a:ext uri="{FF2B5EF4-FFF2-40B4-BE49-F238E27FC236}">
                <a16:creationId xmlns:a16="http://schemas.microsoft.com/office/drawing/2014/main" id="{EF6162E7-7D08-4FE1-BE42-77F1BD80F145}"/>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453"/>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A common contract lets approved sources plug in without hiding their limits</a:t>
            </a:r>
          </a:p>
        </p:txBody>
      </p:sp>
      <p:sp>
        <p:nvSpPr>
          <p:cNvPr id="3" name="">
            <a:extLst xmlns:a="http://schemas.openxmlformats.org/drawingml/2006/main">
              <a:ext uri="{FF2B5EF4-FFF2-40B4-BE49-F238E27FC236}">
                <a16:creationId xmlns:a16="http://schemas.microsoft.com/office/drawing/2014/main" id="{61F1BFB9-C3CB-4516-A4F1-8F2C31591AA5}"/>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69522A3-759A-4AFE-96C2-48910B4FAB87}"/>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SRC-002, SRC-010, SRC-011, SRC-013–016</a:t>
            </a:r>
          </a:p>
        </p:txBody>
      </p:sp>
      <p:sp>
        <p:nvSpPr>
          <p:cNvPr id="5" name="">
            <a:extLst xmlns:a="http://schemas.openxmlformats.org/drawingml/2006/main">
              <a:ext uri="{FF2B5EF4-FFF2-40B4-BE49-F238E27FC236}">
                <a16:creationId xmlns:a16="http://schemas.microsoft.com/office/drawing/2014/main" id="{D227DFC8-F9EC-46CB-9967-9CE498A4B42B}"/>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3D0D78B1-F4B9-4926-B53D-4BDD0E4A13AD}"/>
              </a:ext>
            </a:extLst>
          </p:cNvPr>
          <p:cNvSpPr>
            <a:spLocks xmlns:a="http://schemas.openxmlformats.org/drawingml/2006/main" noGrp="1"/>
          </p:cNvSpPr>
          <p:nvPr/>
        </p:nvSpPr>
        <p:spPr>
          <a:xfrm xmlns:a="http://schemas.openxmlformats.org/drawingml/2006/main">
            <a:off x="400050" y="16002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28"/>
          </a:bodyPr>
          <a:lstStyle xmlns:a="http://schemas.openxmlformats.org/drawingml/2006/main"/>
          <a:p xmlns:a="http://schemas.openxmlformats.org/drawingml/2006/main">
            <a:pPr algn="l">
              <a:defRPr sz="2250" b="1">
                <a:solidFill>
                  <a:srgbClr val="13213A"/>
                </a:solidFill>
                <a:latin typeface="Aptos"/>
                <a:ea typeface="Aptos"/>
                <a:cs typeface="Aptos"/>
              </a:defRPr>
            </a:pPr>
            <a:r>
              <a:rPr sz="2250" b="1">
                <a:solidFill>
                  <a:srgbClr val="13213A"/>
                </a:solidFill>
                <a:latin typeface="Aptos"/>
                <a:ea typeface="Aptos"/>
                <a:cs typeface="Aptos"/>
              </a:rPr>
              <a:t>Canonical evidence record</a:t>
            </a:r>
          </a:p>
        </p:txBody>
      </p:sp>
      <p:sp>
        <p:nvSpPr>
          <p:cNvPr id="7" name="">
            <a:extLst xmlns:a="http://schemas.openxmlformats.org/drawingml/2006/main">
              <a:ext uri="{FF2B5EF4-FFF2-40B4-BE49-F238E27FC236}">
                <a16:creationId xmlns:a16="http://schemas.microsoft.com/office/drawing/2014/main" id="{8BE09EC3-2035-42AA-BF45-79B01D2C752F}"/>
              </a:ext>
            </a:extLst>
          </p:cNvPr>
          <p:cNvSpPr>
            <a:spLocks xmlns:a="http://schemas.openxmlformats.org/drawingml/2006/main" noGrp="1"/>
          </p:cNvSpPr>
          <p:nvPr/>
        </p:nvSpPr>
        <p:spPr>
          <a:xfrm xmlns:a="http://schemas.openxmlformats.org/drawingml/2006/main">
            <a:off x="400050" y="2209800"/>
            <a:ext cx="35242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39455A"/>
                </a:solidFill>
                <a:latin typeface="Aptos"/>
                <a:ea typeface="Aptos"/>
                <a:cs typeface="Aptos"/>
              </a:defRPr>
            </a:pPr>
            <a:r>
              <a:rPr sz="1725" b="0">
                <a:solidFill>
                  <a:srgbClr val="39455A"/>
                </a:solidFill>
                <a:latin typeface="Aptos"/>
                <a:ea typeface="Aptos"/>
                <a:cs typeface="Aptos"/>
              </a:rPr>
              <a:t>Every observation carries a value or null, unit, source ID, date, geography, quality status, sensitivity, and allowed use.</a:t>
            </a:r>
          </a:p>
        </p:txBody>
      </p:sp>
      <p:sp>
        <p:nvSpPr>
          <p:cNvPr id="8" name="">
            <a:extLst xmlns:a="http://schemas.openxmlformats.org/drawingml/2006/main">
              <a:ext uri="{FF2B5EF4-FFF2-40B4-BE49-F238E27FC236}">
                <a16:creationId xmlns:a16="http://schemas.microsoft.com/office/drawing/2014/main" id="{A76406A0-60F8-4123-B6E9-D61F786B78BB}"/>
              </a:ext>
            </a:extLst>
          </p:cNvPr>
          <p:cNvSpPr>
            <a:spLocks xmlns:a="http://schemas.openxmlformats.org/drawingml/2006/main" noGrp="1"/>
          </p:cNvSpPr>
          <p:nvPr/>
        </p:nvSpPr>
        <p:spPr>
          <a:xfrm xmlns:a="http://schemas.openxmlformats.org/drawingml/2006/main">
            <a:off x="400050" y="44005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1E43C8"/>
                </a:solidFill>
                <a:latin typeface="Aptos"/>
                <a:ea typeface="Aptos"/>
                <a:cs typeface="Aptos"/>
              </a:defRPr>
            </a:pPr>
            <a:r>
              <a:rPr sz="2250" b="1">
                <a:solidFill>
                  <a:srgbClr val="1E43C8"/>
                </a:solidFill>
                <a:latin typeface="Aptos"/>
                <a:ea typeface="Aptos"/>
                <a:cs typeface="Aptos"/>
              </a:rPr>
              <a:t>Missing is not zero.</a:t>
            </a:r>
          </a:p>
        </p:txBody>
      </p:sp>
      <p:sp>
        <p:nvSpPr>
          <p:cNvPr id="9" name="">
            <a:extLst xmlns:a="http://schemas.openxmlformats.org/drawingml/2006/main">
              <a:ext uri="{FF2B5EF4-FFF2-40B4-BE49-F238E27FC236}">
                <a16:creationId xmlns:a16="http://schemas.microsoft.com/office/drawing/2014/main" id="{3858B4CE-8041-45EB-976C-9EDC30682C73}"/>
              </a:ext>
            </a:extLst>
          </p:cNvPr>
          <p:cNvSpPr>
            <a:spLocks xmlns:a="http://schemas.openxmlformats.org/drawingml/2006/main" noGrp="1"/>
          </p:cNvSpPr>
          <p:nvPr/>
        </p:nvSpPr>
        <p:spPr>
          <a:xfrm xmlns:a="http://schemas.openxmlformats.org/drawingml/2006/main">
            <a:off x="4476750" y="1524000"/>
            <a:ext cx="7315200" cy="876300"/>
          </a:xfrm>
          <a:prstGeom xmlns:a="http://schemas.openxmlformats.org/drawingml/2006/main" prst="roundRect">
            <a:avLst>
              <a:gd name="adj" fmla="val 17391"/>
            </a:avLst>
          </a:prstGeom>
          <a:solidFill xmlns:a="http://schemas.openxmlformats.org/drawingml/2006/main">
            <a:srgbClr val="EDF3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4644A7-93EA-440B-983B-EFDDC190D1A2}"/>
              </a:ext>
            </a:extLst>
          </p:cNvPr>
          <p:cNvSpPr>
            <a:spLocks xmlns:a="http://schemas.openxmlformats.org/drawingml/2006/main" noGrp="1"/>
          </p:cNvSpPr>
          <p:nvPr/>
        </p:nvSpPr>
        <p:spPr>
          <a:xfrm xmlns:a="http://schemas.openxmlformats.org/drawingml/2006/main">
            <a:off x="4724400" y="168592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2D5BFF"/>
                </a:solidFill>
                <a:latin typeface="Aptos"/>
                <a:ea typeface="Aptos"/>
                <a:cs typeface="Aptos"/>
              </a:defRPr>
            </a:pPr>
            <a:r>
              <a:rPr sz="1125" b="1">
                <a:solidFill>
                  <a:srgbClr val="2D5BFF"/>
                </a:solidFill>
                <a:latin typeface="Aptos"/>
                <a:ea typeface="Aptos"/>
                <a:cs typeface="Aptos"/>
              </a:rPr>
              <a:t>PUBLIC CONTEXT</a:t>
            </a:r>
          </a:p>
        </p:txBody>
      </p:sp>
      <p:sp>
        <p:nvSpPr>
          <p:cNvPr id="11" name="">
            <a:extLst xmlns:a="http://schemas.openxmlformats.org/drawingml/2006/main">
              <a:ext uri="{FF2B5EF4-FFF2-40B4-BE49-F238E27FC236}">
                <a16:creationId xmlns:a16="http://schemas.microsoft.com/office/drawing/2014/main" id="{4AFDD307-BC7E-4D96-8589-6F5291E0FF2D}"/>
              </a:ext>
            </a:extLst>
          </p:cNvPr>
          <p:cNvSpPr>
            <a:spLocks xmlns:a="http://schemas.openxmlformats.org/drawingml/2006/main" noGrp="1"/>
          </p:cNvSpPr>
          <p:nvPr/>
        </p:nvSpPr>
        <p:spPr>
          <a:xfrm xmlns:a="http://schemas.openxmlformats.org/drawingml/2006/main">
            <a:off x="4724400" y="1962150"/>
            <a:ext cx="657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defRPr sz="1650" b="0">
                <a:solidFill>
                  <a:srgbClr val="13213A"/>
                </a:solidFill>
                <a:latin typeface="Aptos"/>
                <a:ea typeface="Aptos"/>
                <a:cs typeface="Aptos"/>
              </a:defRPr>
            </a:pPr>
            <a:r>
              <a:rPr sz="1650" b="0">
                <a:solidFill>
                  <a:srgbClr val="13213A"/>
                </a:solidFill>
                <a:latin typeface="Aptos"/>
                <a:ea typeface="Aptos"/>
                <a:cs typeface="Aptos"/>
              </a:rPr>
              <a:t>Census address matching, CBSA boundaries, and ACS context</a:t>
            </a:r>
          </a:p>
        </p:txBody>
      </p:sp>
      <p:sp>
        <p:nvSpPr>
          <p:cNvPr id="12" name="">
            <a:extLst xmlns:a="http://schemas.openxmlformats.org/drawingml/2006/main">
              <a:ext uri="{FF2B5EF4-FFF2-40B4-BE49-F238E27FC236}">
                <a16:creationId xmlns:a16="http://schemas.microsoft.com/office/drawing/2014/main" id="{88238FBE-DBD5-4114-9E81-4FB332C39311}"/>
              </a:ext>
            </a:extLst>
          </p:cNvPr>
          <p:cNvSpPr>
            <a:spLocks xmlns:a="http://schemas.openxmlformats.org/drawingml/2006/main" noGrp="1"/>
          </p:cNvSpPr>
          <p:nvPr/>
        </p:nvSpPr>
        <p:spPr>
          <a:xfrm xmlns:a="http://schemas.openxmlformats.org/drawingml/2006/main">
            <a:off x="4476750" y="2590800"/>
            <a:ext cx="7315200" cy="876300"/>
          </a:xfrm>
          <a:prstGeom xmlns:a="http://schemas.openxmlformats.org/drawingml/2006/main" prst="roundRect">
            <a:avLst>
              <a:gd name="adj" fmla="val 17391"/>
            </a:avLst>
          </a:prstGeom>
          <a:solidFill xmlns:a="http://schemas.openxmlformats.org/drawingml/2006/main">
            <a:srgbClr val="EDF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961C393-A398-47D4-A25D-28D3A5A2A29D}"/>
              </a:ext>
            </a:extLst>
          </p:cNvPr>
          <p:cNvSpPr>
            <a:spLocks xmlns:a="http://schemas.openxmlformats.org/drawingml/2006/main" noGrp="1"/>
          </p:cNvSpPr>
          <p:nvPr/>
        </p:nvSpPr>
        <p:spPr>
          <a:xfrm xmlns:a="http://schemas.openxmlformats.org/drawingml/2006/main">
            <a:off x="4724400" y="275272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347A4A"/>
                </a:solidFill>
                <a:latin typeface="Aptos"/>
                <a:ea typeface="Aptos"/>
                <a:cs typeface="Aptos"/>
              </a:defRPr>
            </a:pPr>
            <a:r>
              <a:rPr sz="1125" b="1">
                <a:solidFill>
                  <a:srgbClr val="347A4A"/>
                </a:solidFill>
                <a:latin typeface="Aptos"/>
                <a:ea typeface="Aptos"/>
                <a:cs typeface="Aptos"/>
              </a:rPr>
              <a:t>APPROVED AGGREGATES</a:t>
            </a:r>
          </a:p>
        </p:txBody>
      </p:sp>
      <p:sp>
        <p:nvSpPr>
          <p:cNvPr id="14" name="">
            <a:extLst xmlns:a="http://schemas.openxmlformats.org/drawingml/2006/main">
              <a:ext uri="{FF2B5EF4-FFF2-40B4-BE49-F238E27FC236}">
                <a16:creationId xmlns:a16="http://schemas.microsoft.com/office/drawing/2014/main" id="{82193898-8628-43E4-8CAB-F9115A23C752}"/>
              </a:ext>
            </a:extLst>
          </p:cNvPr>
          <p:cNvSpPr>
            <a:spLocks xmlns:a="http://schemas.openxmlformats.org/drawingml/2006/main" noGrp="1"/>
          </p:cNvSpPr>
          <p:nvPr/>
        </p:nvSpPr>
        <p:spPr>
          <a:xfrm xmlns:a="http://schemas.openxmlformats.org/drawingml/2006/main">
            <a:off x="4724400" y="3028950"/>
            <a:ext cx="657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defRPr sz="1650" b="0">
                <a:solidFill>
                  <a:srgbClr val="13213A"/>
                </a:solidFill>
                <a:latin typeface="Aptos"/>
                <a:ea typeface="Aptos"/>
                <a:cs typeface="Aptos"/>
              </a:defRPr>
            </a:pPr>
            <a:r>
              <a:rPr sz="1650" b="0">
                <a:solidFill>
                  <a:srgbClr val="13213A"/>
                </a:solidFill>
                <a:latin typeface="Aptos"/>
                <a:ea typeface="Aptos"/>
                <a:cs typeface="Aptos"/>
              </a:rPr>
              <a:t>Manual clinic-level exports with definitions and owner approval</a:t>
            </a:r>
          </a:p>
        </p:txBody>
      </p:sp>
      <p:sp>
        <p:nvSpPr>
          <p:cNvPr id="15" name="">
            <a:extLst xmlns:a="http://schemas.openxmlformats.org/drawingml/2006/main">
              <a:ext uri="{FF2B5EF4-FFF2-40B4-BE49-F238E27FC236}">
                <a16:creationId xmlns:a16="http://schemas.microsoft.com/office/drawing/2014/main" id="{C73779A6-400A-4C2B-BC8F-B9D8E778E949}"/>
              </a:ext>
            </a:extLst>
          </p:cNvPr>
          <p:cNvSpPr>
            <a:spLocks xmlns:a="http://schemas.openxmlformats.org/drawingml/2006/main" noGrp="1"/>
          </p:cNvSpPr>
          <p:nvPr/>
        </p:nvSpPr>
        <p:spPr>
          <a:xfrm xmlns:a="http://schemas.openxmlformats.org/drawingml/2006/main">
            <a:off x="4476750" y="3657600"/>
            <a:ext cx="7315200" cy="876300"/>
          </a:xfrm>
          <a:prstGeom xmlns:a="http://schemas.openxmlformats.org/drawingml/2006/main" prst="roundRect">
            <a:avLst>
              <a:gd name="adj" fmla="val 17391"/>
            </a:avLst>
          </a:prstGeom>
          <a:solidFill xmlns:a="http://schemas.openxmlformats.org/drawingml/2006/main">
            <a:srgbClr val="FFF5D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C64112-4D1F-40E6-9238-FB9850F0D001}"/>
              </a:ext>
            </a:extLst>
          </p:cNvPr>
          <p:cNvSpPr>
            <a:spLocks xmlns:a="http://schemas.openxmlformats.org/drawingml/2006/main" noGrp="1"/>
          </p:cNvSpPr>
          <p:nvPr/>
        </p:nvSpPr>
        <p:spPr>
          <a:xfrm xmlns:a="http://schemas.openxmlformats.org/drawingml/2006/main">
            <a:off x="4724400" y="381952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A56A00"/>
                </a:solidFill>
                <a:latin typeface="Aptos"/>
                <a:ea typeface="Aptos"/>
                <a:cs typeface="Aptos"/>
              </a:defRPr>
            </a:pPr>
            <a:r>
              <a:rPr sz="1125" b="1">
                <a:solidFill>
                  <a:srgbClr val="A56A00"/>
                </a:solidFill>
                <a:latin typeface="Aptos"/>
                <a:ea typeface="Aptos"/>
                <a:cs typeface="Aptos"/>
              </a:rPr>
              <a:t>GOVERNED ADAPTERS</a:t>
            </a:r>
          </a:p>
        </p:txBody>
      </p:sp>
      <p:sp>
        <p:nvSpPr>
          <p:cNvPr id="17" name="">
            <a:extLst xmlns:a="http://schemas.openxmlformats.org/drawingml/2006/main">
              <a:ext uri="{FF2B5EF4-FFF2-40B4-BE49-F238E27FC236}">
                <a16:creationId xmlns:a16="http://schemas.microsoft.com/office/drawing/2014/main" id="{A264A4AE-868F-4C5A-BBA2-6C474738121C}"/>
              </a:ext>
            </a:extLst>
          </p:cNvPr>
          <p:cNvSpPr>
            <a:spLocks xmlns:a="http://schemas.openxmlformats.org/drawingml/2006/main" noGrp="1"/>
          </p:cNvSpPr>
          <p:nvPr/>
        </p:nvSpPr>
        <p:spPr>
          <a:xfrm xmlns:a="http://schemas.openxmlformats.org/drawingml/2006/main">
            <a:off x="4724400" y="4095750"/>
            <a:ext cx="657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defRPr sz="1650" b="0">
                <a:solidFill>
                  <a:srgbClr val="13213A"/>
                </a:solidFill>
                <a:latin typeface="Aptos"/>
                <a:ea typeface="Aptos"/>
                <a:cs typeface="Aptos"/>
              </a:defRPr>
            </a:pPr>
            <a:r>
              <a:rPr sz="1650" b="0">
                <a:solidFill>
                  <a:srgbClr val="13213A"/>
                </a:solidFill>
                <a:latin typeface="Aptos"/>
                <a:ea typeface="Aptos"/>
                <a:cs typeface="Aptos"/>
              </a:rPr>
              <a:t>Possible Esri, Snowflake, Tableau, and Site Pipeline integrations</a:t>
            </a:r>
          </a:p>
        </p:txBody>
      </p:sp>
      <p:sp>
        <p:nvSpPr>
          <p:cNvPr id="18" name="">
            <a:extLst xmlns:a="http://schemas.openxmlformats.org/drawingml/2006/main">
              <a:ext uri="{FF2B5EF4-FFF2-40B4-BE49-F238E27FC236}">
                <a16:creationId xmlns:a16="http://schemas.microsoft.com/office/drawing/2014/main" id="{577250C2-443C-421D-9905-7F97FDE61743}"/>
              </a:ext>
            </a:extLst>
          </p:cNvPr>
          <p:cNvSpPr>
            <a:spLocks xmlns:a="http://schemas.openxmlformats.org/drawingml/2006/main" noGrp="1"/>
          </p:cNvSpPr>
          <p:nvPr/>
        </p:nvSpPr>
        <p:spPr>
          <a:xfrm xmlns:a="http://schemas.openxmlformats.org/drawingml/2006/main">
            <a:off x="4476750" y="4724400"/>
            <a:ext cx="7315200" cy="876300"/>
          </a:xfrm>
          <a:prstGeom xmlns:a="http://schemas.openxmlformats.org/drawingml/2006/main" prst="roundRect">
            <a:avLst>
              <a:gd name="adj" fmla="val 17391"/>
            </a:avLst>
          </a:prstGeom>
          <a:solidFill xmlns:a="http://schemas.openxmlformats.org/drawingml/2006/main">
            <a:srgbClr val="F5F7F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BF96C5A-860A-4FCF-B2F3-01E76E878687}"/>
              </a:ext>
            </a:extLst>
          </p:cNvPr>
          <p:cNvSpPr>
            <a:spLocks xmlns:a="http://schemas.openxmlformats.org/drawingml/2006/main" noGrp="1"/>
          </p:cNvSpPr>
          <p:nvPr/>
        </p:nvSpPr>
        <p:spPr>
          <a:xfrm xmlns:a="http://schemas.openxmlformats.org/drawingml/2006/main">
            <a:off x="4724400" y="488632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p xmlns:a="http://schemas.openxmlformats.org/drawingml/2006/main">
            <a:pPr algn="l">
              <a:defRPr sz="1125" b="1">
                <a:solidFill>
                  <a:srgbClr val="13213A"/>
                </a:solidFill>
                <a:latin typeface="Aptos"/>
                <a:ea typeface="Aptos"/>
                <a:cs typeface="Aptos"/>
              </a:defRPr>
            </a:pPr>
            <a:r>
              <a:rPr sz="1125" b="1">
                <a:solidFill>
                  <a:srgbClr val="13213A"/>
                </a:solidFill>
                <a:latin typeface="Aptos"/>
                <a:ea typeface="Aptos"/>
                <a:cs typeface="Aptos"/>
              </a:rPr>
              <a:t>EVIDENCE OUTPUT</a:t>
            </a:r>
          </a:p>
        </p:txBody>
      </p:sp>
      <p:sp>
        <p:nvSpPr>
          <p:cNvPr id="20" name="">
            <a:extLst xmlns:a="http://schemas.openxmlformats.org/drawingml/2006/main">
              <a:ext uri="{FF2B5EF4-FFF2-40B4-BE49-F238E27FC236}">
                <a16:creationId xmlns:a16="http://schemas.microsoft.com/office/drawing/2014/main" id="{99A42689-A8D4-45CD-8E73-823442389D49}"/>
              </a:ext>
            </a:extLst>
          </p:cNvPr>
          <p:cNvSpPr>
            <a:spLocks xmlns:a="http://schemas.openxmlformats.org/drawingml/2006/main" noGrp="1"/>
          </p:cNvSpPr>
          <p:nvPr/>
        </p:nvSpPr>
        <p:spPr>
          <a:xfrm xmlns:a="http://schemas.openxmlformats.org/drawingml/2006/main">
            <a:off x="4724400" y="5162550"/>
            <a:ext cx="657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defRPr sz="1650" b="1">
                <a:solidFill>
                  <a:srgbClr val="13213A"/>
                </a:solidFill>
                <a:latin typeface="Aptos"/>
                <a:ea typeface="Aptos"/>
                <a:cs typeface="Aptos"/>
              </a:defRPr>
            </a:pPr>
            <a:r>
              <a:rPr sz="1650" b="1">
                <a:solidFill>
                  <a:srgbClr val="13213A"/>
                </a:solidFill>
                <a:latin typeface="Aptos"/>
                <a:ea typeface="Aptos"/>
                <a:cs typeface="Aptos"/>
              </a:rPr>
              <a:t>Validated observations, rejected records, warnings, and lineage</a:t>
            </a:r>
          </a:p>
        </p:txBody>
      </p:sp>
    </p:spTree>
    <p:extLst>
      <p:ext uri="{BB962C8B-B14F-4D97-AF65-F5344CB8AC3E}">
        <p14:creationId xmlns:p14="http://schemas.microsoft.com/office/powerpoint/2010/main" val="8588456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DEDE5A9-DA1C-4A03-95B9-20927A5AA33B}"/>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DECISION LOGIC</a:t>
            </a:r>
          </a:p>
        </p:txBody>
      </p:sp>
      <p:sp>
        <p:nvSpPr>
          <p:cNvPr id="2" name="">
            <a:extLst xmlns:a="http://schemas.openxmlformats.org/drawingml/2006/main">
              <a:ext uri="{FF2B5EF4-FFF2-40B4-BE49-F238E27FC236}">
                <a16:creationId xmlns:a16="http://schemas.microsoft.com/office/drawing/2014/main" id="{5B559970-812F-4926-BF48-BFD559F596CC}"/>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Eligibility and preference are different questions</a:t>
            </a:r>
          </a:p>
        </p:txBody>
      </p:sp>
      <p:sp>
        <p:nvSpPr>
          <p:cNvPr id="3" name="">
            <a:extLst xmlns:a="http://schemas.openxmlformats.org/drawingml/2006/main">
              <a:ext uri="{FF2B5EF4-FFF2-40B4-BE49-F238E27FC236}">
                <a16:creationId xmlns:a16="http://schemas.microsoft.com/office/drawing/2014/main" id="{7C901BE9-A867-47A8-AFA2-BE85D367676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503420A-711E-47AE-9163-963BDAF06517}"/>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FR-003–008, NFR-001, NFR-006</a:t>
            </a:r>
          </a:p>
        </p:txBody>
      </p:sp>
      <p:sp>
        <p:nvSpPr>
          <p:cNvPr id="5" name="">
            <a:extLst xmlns:a="http://schemas.openxmlformats.org/drawingml/2006/main">
              <a:ext uri="{FF2B5EF4-FFF2-40B4-BE49-F238E27FC236}">
                <a16:creationId xmlns:a16="http://schemas.microsoft.com/office/drawing/2014/main" id="{A9D16769-D1F6-4C28-BA47-995ECD4236A7}"/>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74EA1EF6-D43B-4BCD-AC20-D927B2D16FC2}"/>
              </a:ext>
            </a:extLst>
          </p:cNvPr>
          <p:cNvSpPr>
            <a:spLocks xmlns:a="http://schemas.openxmlformats.org/drawingml/2006/main" noGrp="1"/>
          </p:cNvSpPr>
          <p:nvPr/>
        </p:nvSpPr>
        <p:spPr>
          <a:xfrm xmlns:a="http://schemas.openxmlformats.org/drawingml/2006/main">
            <a:off x="400050" y="1695450"/>
            <a:ext cx="485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9A4040"/>
                </a:solidFill>
                <a:latin typeface="Aptos"/>
                <a:ea typeface="Aptos"/>
                <a:cs typeface="Aptos"/>
              </a:defRPr>
            </a:pPr>
            <a:r>
              <a:rPr sz="2550" b="1">
                <a:solidFill>
                  <a:srgbClr val="9A4040"/>
                </a:solidFill>
                <a:latin typeface="Aptos"/>
                <a:ea typeface="Aptos"/>
                <a:cs typeface="Aptos"/>
              </a:rPr>
              <a:t>Hard constraints</a:t>
            </a:r>
          </a:p>
        </p:txBody>
      </p:sp>
      <p:sp>
        <p:nvSpPr>
          <p:cNvPr id="7" name="">
            <a:extLst xmlns:a="http://schemas.openxmlformats.org/drawingml/2006/main">
              <a:ext uri="{FF2B5EF4-FFF2-40B4-BE49-F238E27FC236}">
                <a16:creationId xmlns:a16="http://schemas.microsoft.com/office/drawing/2014/main" id="{EE7CA44F-1345-4BCF-8F46-65D43B896F04}"/>
              </a:ext>
            </a:extLst>
          </p:cNvPr>
          <p:cNvSpPr>
            <a:spLocks xmlns:a="http://schemas.openxmlformats.org/drawingml/2006/main" noGrp="1"/>
          </p:cNvSpPr>
          <p:nvPr/>
        </p:nvSpPr>
        <p:spPr>
          <a:xfrm xmlns:a="http://schemas.openxmlformats.org/drawingml/2006/main">
            <a:off x="400050" y="23241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Can this candidate proceed?</a:t>
            </a:r>
          </a:p>
        </p:txBody>
      </p:sp>
      <p:sp>
        <p:nvSpPr>
          <p:cNvPr id="8" name="">
            <a:extLst xmlns:a="http://schemas.openxmlformats.org/drawingml/2006/main">
              <a:ext uri="{FF2B5EF4-FFF2-40B4-BE49-F238E27FC236}">
                <a16:creationId xmlns:a16="http://schemas.microsoft.com/office/drawing/2014/main" id="{C6F59EC8-DFF0-47CE-9BFA-DCC928047C59}"/>
              </a:ext>
            </a:extLst>
          </p:cNvPr>
          <p:cNvSpPr>
            <a:spLocks xmlns:a="http://schemas.openxmlformats.org/drawingml/2006/main" noGrp="1"/>
          </p:cNvSpPr>
          <p:nvPr/>
        </p:nvSpPr>
        <p:spPr>
          <a:xfrm xmlns:a="http://schemas.openxmlformats.org/drawingml/2006/main">
            <a:off x="400050" y="3095625"/>
            <a:ext cx="95250" cy="95250"/>
          </a:xfrm>
          <a:prstGeom xmlns:a="http://schemas.openxmlformats.org/drawingml/2006/main" prst="roundRect">
            <a:avLst>
              <a:gd name="adj" fmla="val 50000"/>
            </a:avLst>
          </a:prstGeom>
          <a:solidFill xmlns:a="http://schemas.openxmlformats.org/drawingml/2006/main">
            <a:srgbClr val="9A40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B58A7D1-7F43-487E-B2AB-814427A693B8}"/>
              </a:ext>
            </a:extLst>
          </p:cNvPr>
          <p:cNvSpPr>
            <a:spLocks xmlns:a="http://schemas.openxmlformats.org/drawingml/2006/main" noGrp="1"/>
          </p:cNvSpPr>
          <p:nvPr/>
        </p:nvSpPr>
        <p:spPr>
          <a:xfrm xmlns:a="http://schemas.openxmlformats.org/drawingml/2006/main">
            <a:off x="628650" y="3048000"/>
            <a:ext cx="4629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Pass, fail, or unresolved</a:t>
            </a:r>
          </a:p>
        </p:txBody>
      </p:sp>
      <p:sp>
        <p:nvSpPr>
          <p:cNvPr id="10" name="">
            <a:extLst xmlns:a="http://schemas.openxmlformats.org/drawingml/2006/main">
              <a:ext uri="{FF2B5EF4-FFF2-40B4-BE49-F238E27FC236}">
                <a16:creationId xmlns:a16="http://schemas.microsoft.com/office/drawing/2014/main" id="{C8EC4C7B-CA4F-41DB-B32E-1A4B3E7980E5}"/>
              </a:ext>
            </a:extLst>
          </p:cNvPr>
          <p:cNvSpPr>
            <a:spLocks xmlns:a="http://schemas.openxmlformats.org/drawingml/2006/main" noGrp="1"/>
          </p:cNvSpPr>
          <p:nvPr/>
        </p:nvSpPr>
        <p:spPr>
          <a:xfrm xmlns:a="http://schemas.openxmlformats.org/drawingml/2006/main">
            <a:off x="400050" y="3762375"/>
            <a:ext cx="95250" cy="95250"/>
          </a:xfrm>
          <a:prstGeom xmlns:a="http://schemas.openxmlformats.org/drawingml/2006/main" prst="roundRect">
            <a:avLst>
              <a:gd name="adj" fmla="val 50000"/>
            </a:avLst>
          </a:prstGeom>
          <a:solidFill xmlns:a="http://schemas.openxmlformats.org/drawingml/2006/main">
            <a:srgbClr val="9A404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88379C8-7ACB-4E75-B151-9F79800D6A4B}"/>
              </a:ext>
            </a:extLst>
          </p:cNvPr>
          <p:cNvSpPr>
            <a:spLocks xmlns:a="http://schemas.openxmlformats.org/drawingml/2006/main" noGrp="1"/>
          </p:cNvSpPr>
          <p:nvPr/>
        </p:nvSpPr>
        <p:spPr>
          <a:xfrm xmlns:a="http://schemas.openxmlformats.org/drawingml/2006/main">
            <a:off x="628650" y="3714750"/>
            <a:ext cx="4629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Never contributes weighted points</a:t>
            </a:r>
          </a:p>
        </p:txBody>
      </p:sp>
      <p:sp>
        <p:nvSpPr>
          <p:cNvPr id="12" name="">
            <a:extLst xmlns:a="http://schemas.openxmlformats.org/drawingml/2006/main">
              <a:ext uri="{FF2B5EF4-FFF2-40B4-BE49-F238E27FC236}">
                <a16:creationId xmlns:a16="http://schemas.microsoft.com/office/drawing/2014/main" id="{05B3BF3C-D279-482E-ADD6-355AC97C6299}"/>
              </a:ext>
            </a:extLst>
          </p:cNvPr>
          <p:cNvSpPr>
            <a:spLocks xmlns:a="http://schemas.openxmlformats.org/drawingml/2006/main" noGrp="1"/>
          </p:cNvSpPr>
          <p:nvPr/>
        </p:nvSpPr>
        <p:spPr>
          <a:xfrm xmlns:a="http://schemas.openxmlformats.org/drawingml/2006/main">
            <a:off x="400050" y="4429125"/>
            <a:ext cx="95250" cy="95250"/>
          </a:xfrm>
          <a:prstGeom xmlns:a="http://schemas.openxmlformats.org/drawingml/2006/main" prst="roundRect">
            <a:avLst>
              <a:gd name="adj" fmla="val 50000"/>
            </a:avLst>
          </a:prstGeom>
          <a:solidFill xmlns:a="http://schemas.openxmlformats.org/drawingml/2006/main">
            <a:srgbClr val="9A404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E4E77BC-AAF1-429F-92D2-BC06371B6DE4}"/>
              </a:ext>
            </a:extLst>
          </p:cNvPr>
          <p:cNvSpPr>
            <a:spLocks xmlns:a="http://schemas.openxmlformats.org/drawingml/2006/main" noGrp="1"/>
          </p:cNvSpPr>
          <p:nvPr/>
        </p:nvSpPr>
        <p:spPr>
          <a:xfrm xmlns:a="http://schemas.openxmlformats.org/drawingml/2006/main">
            <a:off x="628650" y="4381500"/>
            <a:ext cx="4629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11"/>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Cannot be overridden by a strong preference score</a:t>
            </a:r>
          </a:p>
        </p:txBody>
      </p:sp>
      <p:sp>
        <p:nvSpPr>
          <p:cNvPr id="14" name="">
            <a:extLst xmlns:a="http://schemas.openxmlformats.org/drawingml/2006/main">
              <a:ext uri="{FF2B5EF4-FFF2-40B4-BE49-F238E27FC236}">
                <a16:creationId xmlns:a16="http://schemas.microsoft.com/office/drawing/2014/main" id="{A7881A31-F798-4718-8269-D3890F08F304}"/>
              </a:ext>
            </a:extLst>
          </p:cNvPr>
          <p:cNvSpPr>
            <a:spLocks xmlns:a="http://schemas.openxmlformats.org/drawingml/2006/main" noGrp="1"/>
          </p:cNvSpPr>
          <p:nvPr/>
        </p:nvSpPr>
        <p:spPr>
          <a:xfrm xmlns:a="http://schemas.openxmlformats.org/drawingml/2006/main">
            <a:off x="5724525" y="1619250"/>
            <a:ext cx="19050" cy="371475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A447387-6B40-452D-A4C8-21D6C4298F47}"/>
              </a:ext>
            </a:extLst>
          </p:cNvPr>
          <p:cNvSpPr>
            <a:spLocks xmlns:a="http://schemas.openxmlformats.org/drawingml/2006/main" noGrp="1"/>
          </p:cNvSpPr>
          <p:nvPr/>
        </p:nvSpPr>
        <p:spPr>
          <a:xfrm xmlns:a="http://schemas.openxmlformats.org/drawingml/2006/main">
            <a:off x="6191250" y="16954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2D5BFF"/>
                </a:solidFill>
                <a:latin typeface="Aptos"/>
                <a:ea typeface="Aptos"/>
                <a:cs typeface="Aptos"/>
              </a:defRPr>
            </a:pPr>
            <a:r>
              <a:rPr sz="2550" b="1">
                <a:solidFill>
                  <a:srgbClr val="2D5BFF"/>
                </a:solidFill>
                <a:latin typeface="Aptos"/>
                <a:ea typeface="Aptos"/>
                <a:cs typeface="Aptos"/>
              </a:rPr>
              <a:t>Weighted preferences</a:t>
            </a:r>
          </a:p>
        </p:txBody>
      </p:sp>
      <p:sp>
        <p:nvSpPr>
          <p:cNvPr id="16" name="">
            <a:extLst xmlns:a="http://schemas.openxmlformats.org/drawingml/2006/main">
              <a:ext uri="{FF2B5EF4-FFF2-40B4-BE49-F238E27FC236}">
                <a16:creationId xmlns:a16="http://schemas.microsoft.com/office/drawing/2014/main" id="{AAC61498-BAF5-4818-AF90-6F76393D6D29}"/>
              </a:ext>
            </a:extLst>
          </p:cNvPr>
          <p:cNvSpPr>
            <a:spLocks xmlns:a="http://schemas.openxmlformats.org/drawingml/2006/main" noGrp="1"/>
          </p:cNvSpPr>
          <p:nvPr/>
        </p:nvSpPr>
        <p:spPr>
          <a:xfrm xmlns:a="http://schemas.openxmlformats.org/drawingml/2006/main">
            <a:off x="6191250" y="232410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How do eligible candidates compare?</a:t>
            </a:r>
          </a:p>
        </p:txBody>
      </p:sp>
      <p:sp>
        <p:nvSpPr>
          <p:cNvPr id="17" name="">
            <a:extLst xmlns:a="http://schemas.openxmlformats.org/drawingml/2006/main">
              <a:ext uri="{FF2B5EF4-FFF2-40B4-BE49-F238E27FC236}">
                <a16:creationId xmlns:a16="http://schemas.microsoft.com/office/drawing/2014/main" id="{7013BBF0-01A0-4DCF-9E07-90864C0CF493}"/>
              </a:ext>
            </a:extLst>
          </p:cNvPr>
          <p:cNvSpPr>
            <a:spLocks xmlns:a="http://schemas.openxmlformats.org/drawingml/2006/main" noGrp="1"/>
          </p:cNvSpPr>
          <p:nvPr/>
        </p:nvSpPr>
        <p:spPr>
          <a:xfrm xmlns:a="http://schemas.openxmlformats.org/drawingml/2006/main">
            <a:off x="6191250" y="309562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B6D8942-89DC-4853-9D5B-9ECCB5F059D4}"/>
              </a:ext>
            </a:extLst>
          </p:cNvPr>
          <p:cNvSpPr>
            <a:spLocks xmlns:a="http://schemas.openxmlformats.org/drawingml/2006/main" noGrp="1"/>
          </p:cNvSpPr>
          <p:nvPr/>
        </p:nvSpPr>
        <p:spPr>
          <a:xfrm xmlns:a="http://schemas.openxmlformats.org/drawingml/2006/main">
            <a:off x="6419850" y="3048000"/>
            <a:ext cx="4914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Approved normalization and weights</a:t>
            </a:r>
          </a:p>
        </p:txBody>
      </p:sp>
      <p:sp>
        <p:nvSpPr>
          <p:cNvPr id="19" name="">
            <a:extLst xmlns:a="http://schemas.openxmlformats.org/drawingml/2006/main">
              <a:ext uri="{FF2B5EF4-FFF2-40B4-BE49-F238E27FC236}">
                <a16:creationId xmlns:a16="http://schemas.microsoft.com/office/drawing/2014/main" id="{E7BE1705-FB13-4D92-B6C7-29E4B633FF16}"/>
              </a:ext>
            </a:extLst>
          </p:cNvPr>
          <p:cNvSpPr>
            <a:spLocks xmlns:a="http://schemas.openxmlformats.org/drawingml/2006/main" noGrp="1"/>
          </p:cNvSpPr>
          <p:nvPr/>
        </p:nvSpPr>
        <p:spPr>
          <a:xfrm xmlns:a="http://schemas.openxmlformats.org/drawingml/2006/main">
            <a:off x="6191250" y="376237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5E2FEA9-6BA7-46DA-8B73-0E15CC1DCB90}"/>
              </a:ext>
            </a:extLst>
          </p:cNvPr>
          <p:cNvSpPr>
            <a:spLocks xmlns:a="http://schemas.openxmlformats.org/drawingml/2006/main" noGrp="1"/>
          </p:cNvSpPr>
          <p:nvPr/>
        </p:nvSpPr>
        <p:spPr>
          <a:xfrm xmlns:a="http://schemas.openxmlformats.org/drawingml/2006/main">
            <a:off x="6419850" y="3714750"/>
            <a:ext cx="4914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Visible raw values and contributions</a:t>
            </a:r>
          </a:p>
        </p:txBody>
      </p:sp>
      <p:sp>
        <p:nvSpPr>
          <p:cNvPr id="21" name="">
            <a:extLst xmlns:a="http://schemas.openxmlformats.org/drawingml/2006/main">
              <a:ext uri="{FF2B5EF4-FFF2-40B4-BE49-F238E27FC236}">
                <a16:creationId xmlns:a16="http://schemas.microsoft.com/office/drawing/2014/main" id="{764D5CAA-E67E-4A81-B731-78B17EAE56A2}"/>
              </a:ext>
            </a:extLst>
          </p:cNvPr>
          <p:cNvSpPr>
            <a:spLocks xmlns:a="http://schemas.openxmlformats.org/drawingml/2006/main" noGrp="1"/>
          </p:cNvSpPr>
          <p:nvPr/>
        </p:nvSpPr>
        <p:spPr>
          <a:xfrm xmlns:a="http://schemas.openxmlformats.org/drawingml/2006/main">
            <a:off x="6191250" y="442912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40489AE-4BA6-4B45-8F1F-AD052F50A948}"/>
              </a:ext>
            </a:extLst>
          </p:cNvPr>
          <p:cNvSpPr>
            <a:spLocks xmlns:a="http://schemas.openxmlformats.org/drawingml/2006/main" noGrp="1"/>
          </p:cNvSpPr>
          <p:nvPr/>
        </p:nvSpPr>
        <p:spPr>
          <a:xfrm xmlns:a="http://schemas.openxmlformats.org/drawingml/2006/main">
            <a:off x="6419850" y="4381500"/>
            <a:ext cx="4914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Versioned, reproducible, and sensitivity tested</a:t>
            </a:r>
          </a:p>
        </p:txBody>
      </p:sp>
      <p:sp>
        <p:nvSpPr>
          <p:cNvPr id="23" name="">
            <a:extLst xmlns:a="http://schemas.openxmlformats.org/drawingml/2006/main">
              <a:ext uri="{FF2B5EF4-FFF2-40B4-BE49-F238E27FC236}">
                <a16:creationId xmlns:a16="http://schemas.microsoft.com/office/drawing/2014/main" id="{E3E61D6F-C42B-4B6A-9F0A-18103496B7E5}"/>
              </a:ext>
            </a:extLst>
          </p:cNvPr>
          <p:cNvSpPr>
            <a:spLocks xmlns:a="http://schemas.openxmlformats.org/drawingml/2006/main" noGrp="1"/>
          </p:cNvSpPr>
          <p:nvPr/>
        </p:nvSpPr>
        <p:spPr>
          <a:xfrm xmlns:a="http://schemas.openxmlformats.org/drawingml/2006/main">
            <a:off x="2381250" y="5543550"/>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868"/>
          </a:bodyPr>
          <a:lstStyle xmlns:a="http://schemas.openxmlformats.org/drawingml/2006/main"/>
          <a:p xmlns:a="http://schemas.openxmlformats.org/drawingml/2006/main">
            <a:pPr algn="ctr">
              <a:defRPr sz="2025" b="1">
                <a:solidFill>
                  <a:srgbClr val="347A4A"/>
                </a:solidFill>
                <a:latin typeface="Aptos"/>
                <a:ea typeface="Aptos"/>
                <a:cs typeface="Aptos"/>
              </a:defRPr>
            </a:pPr>
            <a:r>
              <a:rPr sz="2025" b="1">
                <a:solidFill>
                  <a:srgbClr val="347A4A"/>
                </a:solidFill>
                <a:latin typeface="Aptos"/>
                <a:ea typeface="Aptos"/>
                <a:cs typeface="Aptos"/>
              </a:rPr>
              <a:t>Human decision and rationale are recorded separately from both.</a:t>
            </a:r>
          </a:p>
        </p:txBody>
      </p:sp>
    </p:spTree>
    <p:extLst>
      <p:ext uri="{BB962C8B-B14F-4D97-AF65-F5344CB8AC3E}">
        <p14:creationId xmlns:p14="http://schemas.microsoft.com/office/powerpoint/2010/main" val="10325645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3EFB59A-4F22-4813-9DDB-CD58B460353E}"/>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AI ROLE</a:t>
            </a:r>
          </a:p>
        </p:txBody>
      </p:sp>
      <p:sp>
        <p:nvSpPr>
          <p:cNvPr id="2" name="">
            <a:extLst xmlns:a="http://schemas.openxmlformats.org/drawingml/2006/main">
              <a:ext uri="{FF2B5EF4-FFF2-40B4-BE49-F238E27FC236}">
                <a16:creationId xmlns:a16="http://schemas.microsoft.com/office/drawing/2014/main" id="{D3031B7B-A398-457A-826C-A2F7514DAF34}"/>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391"/>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AI explains the evidence. It does not control the decision.</a:t>
            </a:r>
          </a:p>
        </p:txBody>
      </p:sp>
      <p:sp>
        <p:nvSpPr>
          <p:cNvPr id="3" name="">
            <a:extLst xmlns:a="http://schemas.openxmlformats.org/drawingml/2006/main">
              <a:ext uri="{FF2B5EF4-FFF2-40B4-BE49-F238E27FC236}">
                <a16:creationId xmlns:a16="http://schemas.microsoft.com/office/drawing/2014/main" id="{B6C1D05C-DCEF-4E52-BB12-B256EBD6CB51}"/>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46A90A9-D421-45CD-875A-5A136EB3FC95}"/>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AI boundaries, NFR-004</a:t>
            </a:r>
          </a:p>
        </p:txBody>
      </p:sp>
      <p:sp>
        <p:nvSpPr>
          <p:cNvPr id="5" name="">
            <a:extLst xmlns:a="http://schemas.openxmlformats.org/drawingml/2006/main">
              <a:ext uri="{FF2B5EF4-FFF2-40B4-BE49-F238E27FC236}">
                <a16:creationId xmlns:a16="http://schemas.microsoft.com/office/drawing/2014/main" id="{5AFF76EF-9713-4375-8CEE-5E70BCD6FB7A}"/>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370BECF8-1379-4200-A89A-C80F813391D0}"/>
              </a:ext>
            </a:extLst>
          </p:cNvPr>
          <p:cNvSpPr>
            <a:spLocks xmlns:a="http://schemas.openxmlformats.org/drawingml/2006/main" noGrp="1"/>
          </p:cNvSpPr>
          <p:nvPr/>
        </p:nvSpPr>
        <p:spPr>
          <a:xfrm xmlns:a="http://schemas.openxmlformats.org/drawingml/2006/main">
            <a:off x="400050" y="1600200"/>
            <a:ext cx="3562350" cy="4095750"/>
          </a:xfrm>
          <a:prstGeom xmlns:a="http://schemas.openxmlformats.org/drawingml/2006/main" prst="roundRect">
            <a:avLst>
              <a:gd name="adj" fmla="val 4813"/>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B1F550-9665-4FC2-8986-C0F1A03C6EF4}"/>
              </a:ext>
            </a:extLst>
          </p:cNvPr>
          <p:cNvSpPr>
            <a:spLocks xmlns:a="http://schemas.openxmlformats.org/drawingml/2006/main" noGrp="1"/>
          </p:cNvSpPr>
          <p:nvPr/>
        </p:nvSpPr>
        <p:spPr>
          <a:xfrm xmlns:a="http://schemas.openxmlformats.org/drawingml/2006/main">
            <a:off x="666750" y="1924050"/>
            <a:ext cx="3028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400" b="1">
                <a:solidFill>
                  <a:srgbClr val="2D5BFF"/>
                </a:solidFill>
                <a:latin typeface="Aptos"/>
                <a:ea typeface="Aptos"/>
                <a:cs typeface="Aptos"/>
              </a:defRPr>
            </a:pPr>
            <a:r>
              <a:rPr sz="2400" b="1">
                <a:solidFill>
                  <a:srgbClr val="2D5BFF"/>
                </a:solidFill>
                <a:latin typeface="Aptos"/>
                <a:ea typeface="Aptos"/>
                <a:cs typeface="Aptos"/>
              </a:rPr>
              <a:t>AI may</a:t>
            </a:r>
          </a:p>
        </p:txBody>
      </p:sp>
      <p:sp>
        <p:nvSpPr>
          <p:cNvPr id="8" name="">
            <a:extLst xmlns:a="http://schemas.openxmlformats.org/drawingml/2006/main">
              <a:ext uri="{FF2B5EF4-FFF2-40B4-BE49-F238E27FC236}">
                <a16:creationId xmlns:a16="http://schemas.microsoft.com/office/drawing/2014/main" id="{1F3E9C77-6609-4ACF-B97C-CBCCD56286DF}"/>
              </a:ext>
            </a:extLst>
          </p:cNvPr>
          <p:cNvSpPr>
            <a:spLocks xmlns:a="http://schemas.openxmlformats.org/drawingml/2006/main" noGrp="1"/>
          </p:cNvSpPr>
          <p:nvPr/>
        </p:nvSpPr>
        <p:spPr>
          <a:xfrm xmlns:a="http://schemas.openxmlformats.org/drawingml/2006/main">
            <a:off x="666750" y="2705100"/>
            <a:ext cx="30289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Summarize structured results</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Explain score differences</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Identify missing or conflicting evidence</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Draft diligence questions</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Create a source-linked brief</a:t>
            </a:r>
          </a:p>
        </p:txBody>
      </p:sp>
      <p:sp>
        <p:nvSpPr>
          <p:cNvPr id="9" name="">
            <a:extLst xmlns:a="http://schemas.openxmlformats.org/drawingml/2006/main">
              <a:ext uri="{FF2B5EF4-FFF2-40B4-BE49-F238E27FC236}">
                <a16:creationId xmlns:a16="http://schemas.microsoft.com/office/drawing/2014/main" id="{7357D2D3-6650-4504-B210-A6B9ABF8D985}"/>
              </a:ext>
            </a:extLst>
          </p:cNvPr>
          <p:cNvSpPr>
            <a:spLocks xmlns:a="http://schemas.openxmlformats.org/drawingml/2006/main" noGrp="1"/>
          </p:cNvSpPr>
          <p:nvPr/>
        </p:nvSpPr>
        <p:spPr>
          <a:xfrm xmlns:a="http://schemas.openxmlformats.org/drawingml/2006/main">
            <a:off x="4314825" y="1600200"/>
            <a:ext cx="3562350" cy="4095750"/>
          </a:xfrm>
          <a:prstGeom xmlns:a="http://schemas.openxmlformats.org/drawingml/2006/main" prst="roundRect">
            <a:avLst>
              <a:gd name="adj" fmla="val 4813"/>
            </a:avLst>
          </a:prstGeom>
          <a:solidFill xmlns:a="http://schemas.openxmlformats.org/drawingml/2006/main">
            <a:srgbClr val="FCEEE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377DED6-63A1-4149-A02D-E85AA9382DF1}"/>
              </a:ext>
            </a:extLst>
          </p:cNvPr>
          <p:cNvSpPr>
            <a:spLocks xmlns:a="http://schemas.openxmlformats.org/drawingml/2006/main" noGrp="1"/>
          </p:cNvSpPr>
          <p:nvPr/>
        </p:nvSpPr>
        <p:spPr>
          <a:xfrm xmlns:a="http://schemas.openxmlformats.org/drawingml/2006/main">
            <a:off x="4581525" y="1924050"/>
            <a:ext cx="3028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400" b="1">
                <a:solidFill>
                  <a:srgbClr val="9A4040"/>
                </a:solidFill>
                <a:latin typeface="Aptos"/>
                <a:ea typeface="Aptos"/>
                <a:cs typeface="Aptos"/>
              </a:defRPr>
            </a:pPr>
            <a:r>
              <a:rPr sz="2400" b="1">
                <a:solidFill>
                  <a:srgbClr val="9A4040"/>
                </a:solidFill>
                <a:latin typeface="Aptos"/>
                <a:ea typeface="Aptos"/>
                <a:cs typeface="Aptos"/>
              </a:rPr>
              <a:t>AI may not</a:t>
            </a:r>
          </a:p>
        </p:txBody>
      </p:sp>
      <p:sp>
        <p:nvSpPr>
          <p:cNvPr id="11" name="">
            <a:extLst xmlns:a="http://schemas.openxmlformats.org/drawingml/2006/main">
              <a:ext uri="{FF2B5EF4-FFF2-40B4-BE49-F238E27FC236}">
                <a16:creationId xmlns:a16="http://schemas.microsoft.com/office/drawing/2014/main" id="{DF99442C-AF8A-496B-AFA5-AAF8A91A178F}"/>
              </a:ext>
            </a:extLst>
          </p:cNvPr>
          <p:cNvSpPr>
            <a:spLocks xmlns:a="http://schemas.openxmlformats.org/drawingml/2006/main" noGrp="1"/>
          </p:cNvSpPr>
          <p:nvPr/>
        </p:nvSpPr>
        <p:spPr>
          <a:xfrm xmlns:a="http://schemas.openxmlformats.org/drawingml/2006/main">
            <a:off x="4581525" y="2705100"/>
            <a:ext cx="30289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Invent or impute data</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Perform hidden calculations</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Choose or change weights</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Score qualitative comments</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Recommend a lease or clinic opening</a:t>
            </a:r>
          </a:p>
        </p:txBody>
      </p:sp>
      <p:sp>
        <p:nvSpPr>
          <p:cNvPr id="12" name="">
            <a:extLst xmlns:a="http://schemas.openxmlformats.org/drawingml/2006/main">
              <a:ext uri="{FF2B5EF4-FFF2-40B4-BE49-F238E27FC236}">
                <a16:creationId xmlns:a16="http://schemas.microsoft.com/office/drawing/2014/main" id="{58302D8A-114F-4C79-BD81-0D06A5CEC46A}"/>
              </a:ext>
            </a:extLst>
          </p:cNvPr>
          <p:cNvSpPr>
            <a:spLocks xmlns:a="http://schemas.openxmlformats.org/drawingml/2006/main" noGrp="1"/>
          </p:cNvSpPr>
          <p:nvPr/>
        </p:nvSpPr>
        <p:spPr>
          <a:xfrm xmlns:a="http://schemas.openxmlformats.org/drawingml/2006/main">
            <a:off x="8229600" y="1600200"/>
            <a:ext cx="3562350" cy="4095750"/>
          </a:xfrm>
          <a:prstGeom xmlns:a="http://schemas.openxmlformats.org/drawingml/2006/main" prst="roundRect">
            <a:avLst>
              <a:gd name="adj" fmla="val 4813"/>
            </a:avLst>
          </a:prstGeom>
          <a:solidFill xmlns:a="http://schemas.openxmlformats.org/drawingml/2006/main">
            <a:srgbClr val="EDF7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CB1E72D-1681-4459-B83E-DC27B839FC8F}"/>
              </a:ext>
            </a:extLst>
          </p:cNvPr>
          <p:cNvSpPr>
            <a:spLocks xmlns:a="http://schemas.openxmlformats.org/drawingml/2006/main" noGrp="1"/>
          </p:cNvSpPr>
          <p:nvPr/>
        </p:nvSpPr>
        <p:spPr>
          <a:xfrm xmlns:a="http://schemas.openxmlformats.org/drawingml/2006/main">
            <a:off x="8496300" y="1924050"/>
            <a:ext cx="3028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400" b="1">
                <a:solidFill>
                  <a:srgbClr val="347A4A"/>
                </a:solidFill>
                <a:latin typeface="Aptos"/>
                <a:ea typeface="Aptos"/>
                <a:cs typeface="Aptos"/>
              </a:defRPr>
            </a:pPr>
            <a:r>
              <a:rPr sz="2400" b="1">
                <a:solidFill>
                  <a:srgbClr val="347A4A"/>
                </a:solidFill>
                <a:latin typeface="Aptos"/>
                <a:ea typeface="Aptos"/>
                <a:cs typeface="Aptos"/>
              </a:rPr>
              <a:t>Humans retain</a:t>
            </a:r>
          </a:p>
        </p:txBody>
      </p:sp>
      <p:sp>
        <p:nvSpPr>
          <p:cNvPr id="14" name="">
            <a:extLst xmlns:a="http://schemas.openxmlformats.org/drawingml/2006/main">
              <a:ext uri="{FF2B5EF4-FFF2-40B4-BE49-F238E27FC236}">
                <a16:creationId xmlns:a16="http://schemas.microsoft.com/office/drawing/2014/main" id="{B4A2D98F-8324-4D89-A367-B558E7AE80D2}"/>
              </a:ext>
            </a:extLst>
          </p:cNvPr>
          <p:cNvSpPr>
            <a:spLocks xmlns:a="http://schemas.openxmlformats.org/drawingml/2006/main" noGrp="1"/>
          </p:cNvSpPr>
          <p:nvPr/>
        </p:nvSpPr>
        <p:spPr>
          <a:xfrm xmlns:a="http://schemas.openxmlformats.org/drawingml/2006/main">
            <a:off x="8496300" y="2705100"/>
            <a:ext cx="30289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Criteria approval</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Data access approval</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Interpretation and diligence</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Physical inspection</a:t>
            </a:r>
          </a:p>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Final decision and rationale</a:t>
            </a:r>
          </a:p>
        </p:txBody>
      </p:sp>
    </p:spTree>
    <p:extLst>
      <p:ext uri="{BB962C8B-B14F-4D97-AF65-F5344CB8AC3E}">
        <p14:creationId xmlns:p14="http://schemas.microsoft.com/office/powerpoint/2010/main" val="13195871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3524552-EEF4-460A-84C0-974E73A774FD}"/>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WORKFLOW IMPROVEMENT</a:t>
            </a:r>
          </a:p>
        </p:txBody>
      </p:sp>
      <p:sp>
        <p:nvSpPr>
          <p:cNvPr id="2" name="">
            <a:extLst xmlns:a="http://schemas.openxmlformats.org/drawingml/2006/main">
              <a:ext uri="{FF2B5EF4-FFF2-40B4-BE49-F238E27FC236}">
                <a16:creationId xmlns:a16="http://schemas.microsoft.com/office/drawing/2014/main" id="{0AC9A61E-87EB-422C-9C73-56696EB1017D}"/>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72"/>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The first value is a better review process, not a promised business outcome</a:t>
            </a:r>
          </a:p>
        </p:txBody>
      </p:sp>
      <p:sp>
        <p:nvSpPr>
          <p:cNvPr id="3" name="">
            <a:extLst xmlns:a="http://schemas.openxmlformats.org/drawingml/2006/main">
              <a:ext uri="{FF2B5EF4-FFF2-40B4-BE49-F238E27FC236}">
                <a16:creationId xmlns:a16="http://schemas.microsoft.com/office/drawing/2014/main" id="{B913827D-44B2-4FA0-AD54-94164E6D78EE}"/>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941730-26E0-4226-AC9B-B4BF60B01A2C}"/>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OQ-014, Success metrics</a:t>
            </a:r>
          </a:p>
        </p:txBody>
      </p:sp>
      <p:sp>
        <p:nvSpPr>
          <p:cNvPr id="5" name="">
            <a:extLst xmlns:a="http://schemas.openxmlformats.org/drawingml/2006/main">
              <a:ext uri="{FF2B5EF4-FFF2-40B4-BE49-F238E27FC236}">
                <a16:creationId xmlns:a16="http://schemas.microsoft.com/office/drawing/2014/main" id="{B3470CB0-30D0-45B9-B17E-A5345203D01E}"/>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C400E664-DD80-40BC-A1E3-8B90D3C15567}"/>
              </a:ext>
            </a:extLst>
          </p:cNvPr>
          <p:cNvSpPr>
            <a:spLocks xmlns:a="http://schemas.openxmlformats.org/drawingml/2006/main" noGrp="1"/>
          </p:cNvSpPr>
          <p:nvPr/>
        </p:nvSpPr>
        <p:spPr>
          <a:xfrm xmlns:a="http://schemas.openxmlformats.org/drawingml/2006/main">
            <a:off x="400050" y="1619250"/>
            <a:ext cx="514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9A4040"/>
                </a:solidFill>
                <a:latin typeface="Aptos"/>
                <a:ea typeface="Aptos"/>
                <a:cs typeface="Aptos"/>
              </a:defRPr>
            </a:pPr>
            <a:r>
              <a:rPr sz="2250" b="1">
                <a:solidFill>
                  <a:srgbClr val="9A4040"/>
                </a:solidFill>
                <a:latin typeface="Aptos"/>
                <a:ea typeface="Aptos"/>
                <a:cs typeface="Aptos"/>
              </a:rPr>
              <a:t>Current risk</a:t>
            </a:r>
          </a:p>
        </p:txBody>
      </p:sp>
      <p:sp>
        <p:nvSpPr>
          <p:cNvPr id="7" name="">
            <a:extLst xmlns:a="http://schemas.openxmlformats.org/drawingml/2006/main">
              <a:ext uri="{FF2B5EF4-FFF2-40B4-BE49-F238E27FC236}">
                <a16:creationId xmlns:a16="http://schemas.microsoft.com/office/drawing/2014/main" id="{7BDA748B-BF94-4E77-9611-3BADE465F89B}"/>
              </a:ext>
            </a:extLst>
          </p:cNvPr>
          <p:cNvSpPr>
            <a:spLocks xmlns:a="http://schemas.openxmlformats.org/drawingml/2006/main" noGrp="1"/>
          </p:cNvSpPr>
          <p:nvPr/>
        </p:nvSpPr>
        <p:spPr>
          <a:xfrm xmlns:a="http://schemas.openxmlformats.org/drawingml/2006/main">
            <a:off x="400050" y="2209800"/>
            <a:ext cx="5219700" cy="3143250"/>
          </a:xfrm>
          <a:prstGeom xmlns:a="http://schemas.openxmlformats.org/drawingml/2006/main" prst="roundRect">
            <a:avLst>
              <a:gd name="adj" fmla="val 5455"/>
            </a:avLst>
          </a:prstGeom>
          <a:solidFill xmlns:a="http://schemas.openxmlformats.org/drawingml/2006/main">
            <a:srgbClr val="FCEE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FB04D20-0AE2-4CEB-9CC4-683CDA359AF8}"/>
              </a:ext>
            </a:extLst>
          </p:cNvPr>
          <p:cNvSpPr>
            <a:spLocks xmlns:a="http://schemas.openxmlformats.org/drawingml/2006/main" noGrp="1"/>
          </p:cNvSpPr>
          <p:nvPr/>
        </p:nvSpPr>
        <p:spPr>
          <a:xfrm xmlns:a="http://schemas.openxmlformats.org/drawingml/2006/main">
            <a:off x="685800" y="2619375"/>
            <a:ext cx="95250" cy="95250"/>
          </a:xfrm>
          <a:prstGeom xmlns:a="http://schemas.openxmlformats.org/drawingml/2006/main" prst="roundRect">
            <a:avLst>
              <a:gd name="adj" fmla="val 50000"/>
            </a:avLst>
          </a:prstGeom>
          <a:solidFill xmlns:a="http://schemas.openxmlformats.org/drawingml/2006/main">
            <a:srgbClr val="9A404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7D5F0CB-C947-4FD1-B926-5A02FE3CF5F5}"/>
              </a:ext>
            </a:extLst>
          </p:cNvPr>
          <p:cNvSpPr>
            <a:spLocks xmlns:a="http://schemas.openxmlformats.org/drawingml/2006/main" noGrp="1"/>
          </p:cNvSpPr>
          <p:nvPr/>
        </p:nvSpPr>
        <p:spPr>
          <a:xfrm xmlns:a="http://schemas.openxmlformats.org/drawingml/2006/main">
            <a:off x="914400" y="2571750"/>
            <a:ext cx="4438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39455A"/>
                </a:solidFill>
                <a:latin typeface="Aptos"/>
                <a:ea typeface="Aptos"/>
                <a:cs typeface="Aptos"/>
              </a:defRPr>
            </a:pPr>
            <a:r>
              <a:rPr sz="1725" b="0">
                <a:solidFill>
                  <a:srgbClr val="39455A"/>
                </a:solidFill>
                <a:latin typeface="Aptos"/>
                <a:ea typeface="Aptos"/>
                <a:cs typeface="Aptos"/>
              </a:rPr>
              <a:t>Evidence gathered in different places</a:t>
            </a:r>
          </a:p>
        </p:txBody>
      </p:sp>
      <p:sp>
        <p:nvSpPr>
          <p:cNvPr id="10" name="">
            <a:extLst xmlns:a="http://schemas.openxmlformats.org/drawingml/2006/main">
              <a:ext uri="{FF2B5EF4-FFF2-40B4-BE49-F238E27FC236}">
                <a16:creationId xmlns:a16="http://schemas.microsoft.com/office/drawing/2014/main" id="{4FDE085E-37FF-45EC-82DD-276DBD2FAA19}"/>
              </a:ext>
            </a:extLst>
          </p:cNvPr>
          <p:cNvSpPr>
            <a:spLocks xmlns:a="http://schemas.openxmlformats.org/drawingml/2006/main" noGrp="1"/>
          </p:cNvSpPr>
          <p:nvPr/>
        </p:nvSpPr>
        <p:spPr>
          <a:xfrm xmlns:a="http://schemas.openxmlformats.org/drawingml/2006/main">
            <a:off x="685800" y="3238500"/>
            <a:ext cx="95250" cy="95250"/>
          </a:xfrm>
          <a:prstGeom xmlns:a="http://schemas.openxmlformats.org/drawingml/2006/main" prst="roundRect">
            <a:avLst>
              <a:gd name="adj" fmla="val 50000"/>
            </a:avLst>
          </a:prstGeom>
          <a:solidFill xmlns:a="http://schemas.openxmlformats.org/drawingml/2006/main">
            <a:srgbClr val="9A404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6ACFC2B-6D83-4C25-A0F6-B1F80AE6C94C}"/>
              </a:ext>
            </a:extLst>
          </p:cNvPr>
          <p:cNvSpPr>
            <a:spLocks xmlns:a="http://schemas.openxmlformats.org/drawingml/2006/main" noGrp="1"/>
          </p:cNvSpPr>
          <p:nvPr/>
        </p:nvSpPr>
        <p:spPr>
          <a:xfrm xmlns:a="http://schemas.openxmlformats.org/drawingml/2006/main">
            <a:off x="914400" y="3190875"/>
            <a:ext cx="4438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39455A"/>
                </a:solidFill>
                <a:latin typeface="Aptos"/>
                <a:ea typeface="Aptos"/>
                <a:cs typeface="Aptos"/>
              </a:defRPr>
            </a:pPr>
            <a:r>
              <a:rPr sz="1725" b="0">
                <a:solidFill>
                  <a:srgbClr val="39455A"/>
                </a:solidFill>
                <a:latin typeface="Aptos"/>
                <a:ea typeface="Aptos"/>
                <a:cs typeface="Aptos"/>
              </a:rPr>
              <a:t>Definitions and freshness can be unclear</a:t>
            </a:r>
          </a:p>
        </p:txBody>
      </p:sp>
      <p:sp>
        <p:nvSpPr>
          <p:cNvPr id="12" name="">
            <a:extLst xmlns:a="http://schemas.openxmlformats.org/drawingml/2006/main">
              <a:ext uri="{FF2B5EF4-FFF2-40B4-BE49-F238E27FC236}">
                <a16:creationId xmlns:a16="http://schemas.microsoft.com/office/drawing/2014/main" id="{D7648B7A-FB7B-48D2-A04B-E4B4B78A0F75}"/>
              </a:ext>
            </a:extLst>
          </p:cNvPr>
          <p:cNvSpPr>
            <a:spLocks xmlns:a="http://schemas.openxmlformats.org/drawingml/2006/main" noGrp="1"/>
          </p:cNvSpPr>
          <p:nvPr/>
        </p:nvSpPr>
        <p:spPr>
          <a:xfrm xmlns:a="http://schemas.openxmlformats.org/drawingml/2006/main">
            <a:off x="685800" y="3857625"/>
            <a:ext cx="95250" cy="95250"/>
          </a:xfrm>
          <a:prstGeom xmlns:a="http://schemas.openxmlformats.org/drawingml/2006/main" prst="roundRect">
            <a:avLst>
              <a:gd name="adj" fmla="val 50000"/>
            </a:avLst>
          </a:prstGeom>
          <a:solidFill xmlns:a="http://schemas.openxmlformats.org/drawingml/2006/main">
            <a:srgbClr val="9A404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181AE02-0619-433C-B114-48DB4AAA8832}"/>
              </a:ext>
            </a:extLst>
          </p:cNvPr>
          <p:cNvSpPr>
            <a:spLocks xmlns:a="http://schemas.openxmlformats.org/drawingml/2006/main" noGrp="1"/>
          </p:cNvSpPr>
          <p:nvPr/>
        </p:nvSpPr>
        <p:spPr>
          <a:xfrm xmlns:a="http://schemas.openxmlformats.org/drawingml/2006/main">
            <a:off x="914400" y="3810000"/>
            <a:ext cx="4438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39455A"/>
                </a:solidFill>
                <a:latin typeface="Aptos"/>
                <a:ea typeface="Aptos"/>
                <a:cs typeface="Aptos"/>
              </a:defRPr>
            </a:pPr>
            <a:r>
              <a:rPr sz="1725" b="0">
                <a:solidFill>
                  <a:srgbClr val="39455A"/>
                </a:solidFill>
                <a:latin typeface="Aptos"/>
                <a:ea typeface="Aptos"/>
                <a:cs typeface="Aptos"/>
              </a:rPr>
              <a:t>Missing inputs appear late in review</a:t>
            </a:r>
          </a:p>
        </p:txBody>
      </p:sp>
      <p:sp>
        <p:nvSpPr>
          <p:cNvPr id="14" name="">
            <a:extLst xmlns:a="http://schemas.openxmlformats.org/drawingml/2006/main">
              <a:ext uri="{FF2B5EF4-FFF2-40B4-BE49-F238E27FC236}">
                <a16:creationId xmlns:a16="http://schemas.microsoft.com/office/drawing/2014/main" id="{60E55232-0591-4D43-AAC4-9DEF63631264}"/>
              </a:ext>
            </a:extLst>
          </p:cNvPr>
          <p:cNvSpPr>
            <a:spLocks xmlns:a="http://schemas.openxmlformats.org/drawingml/2006/main" noGrp="1"/>
          </p:cNvSpPr>
          <p:nvPr/>
        </p:nvSpPr>
        <p:spPr>
          <a:xfrm xmlns:a="http://schemas.openxmlformats.org/drawingml/2006/main">
            <a:off x="685800" y="4476750"/>
            <a:ext cx="95250" cy="95250"/>
          </a:xfrm>
          <a:prstGeom xmlns:a="http://schemas.openxmlformats.org/drawingml/2006/main" prst="roundRect">
            <a:avLst>
              <a:gd name="adj" fmla="val 50000"/>
            </a:avLst>
          </a:prstGeom>
          <a:solidFill xmlns:a="http://schemas.openxmlformats.org/drawingml/2006/main">
            <a:srgbClr val="9A404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3317DE9-3D5E-4BEF-8C1D-957FB56A2B6D}"/>
              </a:ext>
            </a:extLst>
          </p:cNvPr>
          <p:cNvSpPr>
            <a:spLocks xmlns:a="http://schemas.openxmlformats.org/drawingml/2006/main" noGrp="1"/>
          </p:cNvSpPr>
          <p:nvPr/>
        </p:nvSpPr>
        <p:spPr>
          <a:xfrm xmlns:a="http://schemas.openxmlformats.org/drawingml/2006/main">
            <a:off x="914400" y="4429125"/>
            <a:ext cx="4438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372"/>
          </a:bodyPr>
          <a:lstStyle xmlns:a="http://schemas.openxmlformats.org/drawingml/2006/main"/>
          <a:p xmlns:a="http://schemas.openxmlformats.org/drawingml/2006/main">
            <a:pPr algn="l">
              <a:defRPr sz="1725" b="0">
                <a:solidFill>
                  <a:srgbClr val="39455A"/>
                </a:solidFill>
                <a:latin typeface="Aptos"/>
                <a:ea typeface="Aptos"/>
                <a:cs typeface="Aptos"/>
              </a:defRPr>
            </a:pPr>
            <a:r>
              <a:rPr sz="1725" b="0">
                <a:solidFill>
                  <a:srgbClr val="39455A"/>
                </a:solidFill>
                <a:latin typeface="Aptos"/>
                <a:ea typeface="Aptos"/>
                <a:cs typeface="Aptos"/>
              </a:rPr>
              <a:t>Score differences are hard to explain consistently</a:t>
            </a:r>
          </a:p>
        </p:txBody>
      </p:sp>
      <p:sp>
        <p:nvSpPr>
          <p:cNvPr id="16" name="">
            <a:extLst xmlns:a="http://schemas.openxmlformats.org/drawingml/2006/main">
              <a:ext uri="{FF2B5EF4-FFF2-40B4-BE49-F238E27FC236}">
                <a16:creationId xmlns:a16="http://schemas.microsoft.com/office/drawing/2014/main" id="{B0E59744-95A1-406B-852D-FCD5F2FF1BB4}"/>
              </a:ext>
            </a:extLst>
          </p:cNvPr>
          <p:cNvSpPr>
            <a:spLocks xmlns:a="http://schemas.openxmlformats.org/drawingml/2006/main" noGrp="1"/>
          </p:cNvSpPr>
          <p:nvPr/>
        </p:nvSpPr>
        <p:spPr>
          <a:xfrm xmlns:a="http://schemas.openxmlformats.org/drawingml/2006/main">
            <a:off x="6191250" y="1619250"/>
            <a:ext cx="514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347A4A"/>
                </a:solidFill>
                <a:latin typeface="Aptos"/>
                <a:ea typeface="Aptos"/>
                <a:cs typeface="Aptos"/>
              </a:defRPr>
            </a:pPr>
            <a:r>
              <a:rPr sz="2250" b="1">
                <a:solidFill>
                  <a:srgbClr val="347A4A"/>
                </a:solidFill>
                <a:latin typeface="Aptos"/>
                <a:ea typeface="Aptos"/>
                <a:cs typeface="Aptos"/>
              </a:rPr>
              <a:t>Improved workflow</a:t>
            </a:r>
          </a:p>
        </p:txBody>
      </p:sp>
      <p:sp>
        <p:nvSpPr>
          <p:cNvPr id="17" name="">
            <a:extLst xmlns:a="http://schemas.openxmlformats.org/drawingml/2006/main">
              <a:ext uri="{FF2B5EF4-FFF2-40B4-BE49-F238E27FC236}">
                <a16:creationId xmlns:a16="http://schemas.microsoft.com/office/drawing/2014/main" id="{1B11683E-12E6-47EC-9AEF-B061C759209B}"/>
              </a:ext>
            </a:extLst>
          </p:cNvPr>
          <p:cNvSpPr>
            <a:spLocks xmlns:a="http://schemas.openxmlformats.org/drawingml/2006/main" noGrp="1"/>
          </p:cNvSpPr>
          <p:nvPr/>
        </p:nvSpPr>
        <p:spPr>
          <a:xfrm xmlns:a="http://schemas.openxmlformats.org/drawingml/2006/main">
            <a:off x="6191250" y="2209800"/>
            <a:ext cx="5600700" cy="3143250"/>
          </a:xfrm>
          <a:prstGeom xmlns:a="http://schemas.openxmlformats.org/drawingml/2006/main" prst="roundRect">
            <a:avLst>
              <a:gd name="adj" fmla="val 5455"/>
            </a:avLst>
          </a:prstGeom>
          <a:solidFill xmlns:a="http://schemas.openxmlformats.org/drawingml/2006/main">
            <a:srgbClr val="EDF7F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8ADFEEA-0987-44EF-ACD7-8E8953DB2D3D}"/>
              </a:ext>
            </a:extLst>
          </p:cNvPr>
          <p:cNvSpPr>
            <a:spLocks xmlns:a="http://schemas.openxmlformats.org/drawingml/2006/main" noGrp="1"/>
          </p:cNvSpPr>
          <p:nvPr/>
        </p:nvSpPr>
        <p:spPr>
          <a:xfrm xmlns:a="http://schemas.openxmlformats.org/drawingml/2006/main">
            <a:off x="6477000" y="2619375"/>
            <a:ext cx="95250" cy="9525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36A914C-BE58-4B05-A366-F5CC6EC7AADD}"/>
              </a:ext>
            </a:extLst>
          </p:cNvPr>
          <p:cNvSpPr>
            <a:spLocks xmlns:a="http://schemas.openxmlformats.org/drawingml/2006/main" noGrp="1"/>
          </p:cNvSpPr>
          <p:nvPr/>
        </p:nvSpPr>
        <p:spPr>
          <a:xfrm xmlns:a="http://schemas.openxmlformats.org/drawingml/2006/main">
            <a:off x="6705600" y="2571750"/>
            <a:ext cx="4819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39455A"/>
                </a:solidFill>
                <a:latin typeface="Aptos"/>
                <a:ea typeface="Aptos"/>
                <a:cs typeface="Aptos"/>
              </a:defRPr>
            </a:pPr>
            <a:r>
              <a:rPr sz="1725" b="0">
                <a:solidFill>
                  <a:srgbClr val="39455A"/>
                </a:solidFill>
                <a:latin typeface="Aptos"/>
                <a:ea typeface="Aptos"/>
                <a:cs typeface="Aptos"/>
              </a:rPr>
              <a:t>One source-linked candidate record</a:t>
            </a:r>
          </a:p>
        </p:txBody>
      </p:sp>
      <p:sp>
        <p:nvSpPr>
          <p:cNvPr id="20" name="">
            <a:extLst xmlns:a="http://schemas.openxmlformats.org/drawingml/2006/main">
              <a:ext uri="{FF2B5EF4-FFF2-40B4-BE49-F238E27FC236}">
                <a16:creationId xmlns:a16="http://schemas.microsoft.com/office/drawing/2014/main" id="{3BC4D915-C95E-4CF8-A554-99CB53364AB7}"/>
              </a:ext>
            </a:extLst>
          </p:cNvPr>
          <p:cNvSpPr>
            <a:spLocks xmlns:a="http://schemas.openxmlformats.org/drawingml/2006/main" noGrp="1"/>
          </p:cNvSpPr>
          <p:nvPr/>
        </p:nvSpPr>
        <p:spPr>
          <a:xfrm xmlns:a="http://schemas.openxmlformats.org/drawingml/2006/main">
            <a:off x="6477000" y="3238500"/>
            <a:ext cx="95250" cy="9525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D94AE9C-9684-4045-B340-8AADB22470BE}"/>
              </a:ext>
            </a:extLst>
          </p:cNvPr>
          <p:cNvSpPr>
            <a:spLocks xmlns:a="http://schemas.openxmlformats.org/drawingml/2006/main" noGrp="1"/>
          </p:cNvSpPr>
          <p:nvPr/>
        </p:nvSpPr>
        <p:spPr>
          <a:xfrm xmlns:a="http://schemas.openxmlformats.org/drawingml/2006/main">
            <a:off x="6705600" y="3190875"/>
            <a:ext cx="4819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39455A"/>
                </a:solidFill>
                <a:latin typeface="Aptos"/>
                <a:ea typeface="Aptos"/>
                <a:cs typeface="Aptos"/>
              </a:defRPr>
            </a:pPr>
            <a:r>
              <a:rPr sz="1725" b="0">
                <a:solidFill>
                  <a:srgbClr val="39455A"/>
                </a:solidFill>
                <a:latin typeface="Aptos"/>
                <a:ea typeface="Aptos"/>
                <a:cs typeface="Aptos"/>
              </a:rPr>
              <a:t>Validation before scoring or review</a:t>
            </a:r>
          </a:p>
        </p:txBody>
      </p:sp>
      <p:sp>
        <p:nvSpPr>
          <p:cNvPr id="22" name="">
            <a:extLst xmlns:a="http://schemas.openxmlformats.org/drawingml/2006/main">
              <a:ext uri="{FF2B5EF4-FFF2-40B4-BE49-F238E27FC236}">
                <a16:creationId xmlns:a16="http://schemas.microsoft.com/office/drawing/2014/main" id="{BEABBD3E-FD81-4893-93BB-8DA8B83AA688}"/>
              </a:ext>
            </a:extLst>
          </p:cNvPr>
          <p:cNvSpPr>
            <a:spLocks xmlns:a="http://schemas.openxmlformats.org/drawingml/2006/main" noGrp="1"/>
          </p:cNvSpPr>
          <p:nvPr/>
        </p:nvSpPr>
        <p:spPr>
          <a:xfrm xmlns:a="http://schemas.openxmlformats.org/drawingml/2006/main">
            <a:off x="6477000" y="3857625"/>
            <a:ext cx="95250" cy="9525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9D882B7-39D6-4D44-8482-BB4EBB49D9DD}"/>
              </a:ext>
            </a:extLst>
          </p:cNvPr>
          <p:cNvSpPr>
            <a:spLocks xmlns:a="http://schemas.openxmlformats.org/drawingml/2006/main" noGrp="1"/>
          </p:cNvSpPr>
          <p:nvPr/>
        </p:nvSpPr>
        <p:spPr>
          <a:xfrm xmlns:a="http://schemas.openxmlformats.org/drawingml/2006/main">
            <a:off x="6705600" y="3810000"/>
            <a:ext cx="4819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39455A"/>
                </a:solidFill>
                <a:latin typeface="Aptos"/>
                <a:ea typeface="Aptos"/>
                <a:cs typeface="Aptos"/>
              </a:defRPr>
            </a:pPr>
            <a:r>
              <a:rPr sz="1725" b="0">
                <a:solidFill>
                  <a:srgbClr val="39455A"/>
                </a:solidFill>
                <a:latin typeface="Aptos"/>
                <a:ea typeface="Aptos"/>
                <a:cs typeface="Aptos"/>
              </a:rPr>
              <a:t>Visible contributions, warnings, and constraints</a:t>
            </a:r>
          </a:p>
        </p:txBody>
      </p:sp>
      <p:sp>
        <p:nvSpPr>
          <p:cNvPr id="24" name="">
            <a:extLst xmlns:a="http://schemas.openxmlformats.org/drawingml/2006/main">
              <a:ext uri="{FF2B5EF4-FFF2-40B4-BE49-F238E27FC236}">
                <a16:creationId xmlns:a16="http://schemas.microsoft.com/office/drawing/2014/main" id="{305DAC0A-4B08-4BCD-B79A-442C583517AF}"/>
              </a:ext>
            </a:extLst>
          </p:cNvPr>
          <p:cNvSpPr>
            <a:spLocks xmlns:a="http://schemas.openxmlformats.org/drawingml/2006/main" noGrp="1"/>
          </p:cNvSpPr>
          <p:nvPr/>
        </p:nvSpPr>
        <p:spPr>
          <a:xfrm xmlns:a="http://schemas.openxmlformats.org/drawingml/2006/main">
            <a:off x="6477000" y="4476750"/>
            <a:ext cx="95250" cy="9525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2DBB60D-BF6D-4684-B3FD-23C50E071B5D}"/>
              </a:ext>
            </a:extLst>
          </p:cNvPr>
          <p:cNvSpPr>
            <a:spLocks xmlns:a="http://schemas.openxmlformats.org/drawingml/2006/main" noGrp="1"/>
          </p:cNvSpPr>
          <p:nvPr/>
        </p:nvSpPr>
        <p:spPr>
          <a:xfrm xmlns:a="http://schemas.openxmlformats.org/drawingml/2006/main">
            <a:off x="6705600" y="4429125"/>
            <a:ext cx="48196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39455A"/>
                </a:solidFill>
                <a:latin typeface="Aptos"/>
                <a:ea typeface="Aptos"/>
                <a:cs typeface="Aptos"/>
              </a:defRPr>
            </a:pPr>
            <a:r>
              <a:rPr sz="1725" b="0">
                <a:solidFill>
                  <a:srgbClr val="39455A"/>
                </a:solidFill>
                <a:latin typeface="Aptos"/>
                <a:ea typeface="Aptos"/>
                <a:cs typeface="Aptos"/>
              </a:rPr>
              <a:t>Reusable brief and audit trail for handoff</a:t>
            </a:r>
          </a:p>
        </p:txBody>
      </p:sp>
      <p:sp>
        <p:nvSpPr>
          <p:cNvPr id="26" name="">
            <a:extLst xmlns:a="http://schemas.openxmlformats.org/drawingml/2006/main">
              <a:ext uri="{FF2B5EF4-FFF2-40B4-BE49-F238E27FC236}">
                <a16:creationId xmlns:a16="http://schemas.microsoft.com/office/drawing/2014/main" id="{B63A0DA2-FF4A-4D71-A987-03524B1BE557}"/>
              </a:ext>
            </a:extLst>
          </p:cNvPr>
          <p:cNvSpPr>
            <a:spLocks xmlns:a="http://schemas.openxmlformats.org/drawingml/2006/main" noGrp="1"/>
          </p:cNvSpPr>
          <p:nvPr/>
        </p:nvSpPr>
        <p:spPr>
          <a:xfrm xmlns:a="http://schemas.openxmlformats.org/drawingml/2006/main">
            <a:off x="1809750" y="57150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875" b="1">
                <a:solidFill>
                  <a:srgbClr val="1E43C8"/>
                </a:solidFill>
                <a:latin typeface="Aptos"/>
                <a:ea typeface="Aptos"/>
                <a:cs typeface="Aptos"/>
              </a:defRPr>
            </a:pPr>
            <a:r>
              <a:rPr sz="1875" b="1">
                <a:solidFill>
                  <a:srgbClr val="1E43C8"/>
                </a:solidFill>
                <a:latin typeface="Aptos"/>
                <a:ea typeface="Aptos"/>
                <a:cs typeface="Aptos"/>
              </a:rPr>
              <a:t>Measure the change before claiming the impact.</a:t>
            </a:r>
          </a:p>
        </p:txBody>
      </p:sp>
    </p:spTree>
    <p:extLst>
      <p:ext uri="{BB962C8B-B14F-4D97-AF65-F5344CB8AC3E}">
        <p14:creationId xmlns:p14="http://schemas.microsoft.com/office/powerpoint/2010/main" val="1222156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2BC3D75-3A22-4766-B085-C84BEC1188B1}"/>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IMPACT MEASUREMENT</a:t>
            </a:r>
          </a:p>
        </p:txBody>
      </p:sp>
      <p:sp>
        <p:nvSpPr>
          <p:cNvPr id="2" name="">
            <a:extLst xmlns:a="http://schemas.openxmlformats.org/drawingml/2006/main">
              <a:ext uri="{FF2B5EF4-FFF2-40B4-BE49-F238E27FC236}">
                <a16:creationId xmlns:a16="http://schemas.microsoft.com/office/drawing/2014/main" id="{844590BD-6565-4E26-B2B0-C6027ABCCCF8}"/>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18"/>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A pilot should prove workflow value before outcome value</a:t>
            </a:r>
          </a:p>
        </p:txBody>
      </p:sp>
      <p:sp>
        <p:nvSpPr>
          <p:cNvPr id="3" name="">
            <a:extLst xmlns:a="http://schemas.openxmlformats.org/drawingml/2006/main">
              <a:ext uri="{FF2B5EF4-FFF2-40B4-BE49-F238E27FC236}">
                <a16:creationId xmlns:a16="http://schemas.microsoft.com/office/drawing/2014/main" id="{F65EDA7B-6C2D-4462-821F-D65F080D8655}"/>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E7A0E7-3B91-4644-B63C-D19D59434F0B}"/>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Evaluation plan, Success metrics</a:t>
            </a:r>
          </a:p>
        </p:txBody>
      </p:sp>
      <p:sp>
        <p:nvSpPr>
          <p:cNvPr id="5" name="">
            <a:extLst xmlns:a="http://schemas.openxmlformats.org/drawingml/2006/main">
              <a:ext uri="{FF2B5EF4-FFF2-40B4-BE49-F238E27FC236}">
                <a16:creationId xmlns:a16="http://schemas.microsoft.com/office/drawing/2014/main" id="{C8BBBF98-32ED-4145-B7A5-4A4196327493}"/>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97652CE3-062A-40AD-B261-2281488DD5DE}"/>
              </a:ext>
            </a:extLst>
          </p:cNvPr>
          <p:cNvSpPr>
            <a:spLocks xmlns:a="http://schemas.openxmlformats.org/drawingml/2006/main" noGrp="1"/>
          </p:cNvSpPr>
          <p:nvPr/>
        </p:nvSpPr>
        <p:spPr>
          <a:xfrm xmlns:a="http://schemas.openxmlformats.org/drawingml/2006/main">
            <a:off x="400050" y="1809750"/>
            <a:ext cx="3562350" cy="3600450"/>
          </a:xfrm>
          <a:prstGeom xmlns:a="http://schemas.openxmlformats.org/drawingml/2006/main" prst="roundRect">
            <a:avLst>
              <a:gd name="adj" fmla="val 4813"/>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E33CB91-41DE-4D9C-B566-323F1D128DAA}"/>
              </a:ext>
            </a:extLst>
          </p:cNvPr>
          <p:cNvSpPr>
            <a:spLocks xmlns:a="http://schemas.openxmlformats.org/drawingml/2006/main" noGrp="1"/>
          </p:cNvSpPr>
          <p:nvPr/>
        </p:nvSpPr>
        <p:spPr>
          <a:xfrm xmlns:a="http://schemas.openxmlformats.org/drawingml/2006/main">
            <a:off x="666750" y="2152650"/>
            <a:ext cx="302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2D5BFF"/>
                </a:solidFill>
                <a:latin typeface="Aptos"/>
                <a:ea typeface="Aptos"/>
                <a:cs typeface="Aptos"/>
              </a:defRPr>
            </a:pPr>
            <a:r>
              <a:rPr sz="1125" b="1">
                <a:solidFill>
                  <a:srgbClr val="2D5BFF"/>
                </a:solidFill>
                <a:latin typeface="Aptos"/>
                <a:ea typeface="Aptos"/>
                <a:cs typeface="Aptos"/>
              </a:rPr>
              <a:t>PREPARATION</a:t>
            </a:r>
          </a:p>
        </p:txBody>
      </p:sp>
      <p:sp>
        <p:nvSpPr>
          <p:cNvPr id="8" name="">
            <a:extLst xmlns:a="http://schemas.openxmlformats.org/drawingml/2006/main">
              <a:ext uri="{FF2B5EF4-FFF2-40B4-BE49-F238E27FC236}">
                <a16:creationId xmlns:a16="http://schemas.microsoft.com/office/drawing/2014/main" id="{C8463893-EC41-48A3-91EB-3E34542C2BA7}"/>
              </a:ext>
            </a:extLst>
          </p:cNvPr>
          <p:cNvSpPr>
            <a:spLocks xmlns:a="http://schemas.openxmlformats.org/drawingml/2006/main" noGrp="1"/>
          </p:cNvSpPr>
          <p:nvPr/>
        </p:nvSpPr>
        <p:spPr>
          <a:xfrm xmlns:a="http://schemas.openxmlformats.org/drawingml/2006/main">
            <a:off x="666750" y="2724150"/>
            <a:ext cx="3028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350" b="1">
                <a:solidFill>
                  <a:srgbClr val="13213A"/>
                </a:solidFill>
                <a:latin typeface="Aptos"/>
                <a:ea typeface="Aptos"/>
                <a:cs typeface="Aptos"/>
              </a:defRPr>
            </a:pPr>
            <a:r>
              <a:rPr sz="4350" b="1">
                <a:solidFill>
                  <a:srgbClr val="13213A"/>
                </a:solidFill>
                <a:latin typeface="Aptos"/>
                <a:ea typeface="Aptos"/>
                <a:cs typeface="Aptos"/>
              </a:rPr>
              <a:t>Time</a:t>
            </a:r>
          </a:p>
        </p:txBody>
      </p:sp>
      <p:sp>
        <p:nvSpPr>
          <p:cNvPr id="9" name="">
            <a:extLst xmlns:a="http://schemas.openxmlformats.org/drawingml/2006/main">
              <a:ext uri="{FF2B5EF4-FFF2-40B4-BE49-F238E27FC236}">
                <a16:creationId xmlns:a16="http://schemas.microsoft.com/office/drawing/2014/main" id="{B01F5A6D-9C85-4239-93C7-212AB9C8DD8D}"/>
              </a:ext>
            </a:extLst>
          </p:cNvPr>
          <p:cNvSpPr>
            <a:spLocks xmlns:a="http://schemas.openxmlformats.org/drawingml/2006/main" noGrp="1"/>
          </p:cNvSpPr>
          <p:nvPr/>
        </p:nvSpPr>
        <p:spPr>
          <a:xfrm xmlns:a="http://schemas.openxmlformats.org/drawingml/2006/main">
            <a:off x="666750" y="4000500"/>
            <a:ext cx="3028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Baseline and compare the time required to assemble a candidate comparison.</a:t>
            </a:r>
          </a:p>
        </p:txBody>
      </p:sp>
      <p:sp>
        <p:nvSpPr>
          <p:cNvPr id="10" name="">
            <a:extLst xmlns:a="http://schemas.openxmlformats.org/drawingml/2006/main">
              <a:ext uri="{FF2B5EF4-FFF2-40B4-BE49-F238E27FC236}">
                <a16:creationId xmlns:a16="http://schemas.microsoft.com/office/drawing/2014/main" id="{C13C25E7-08AB-4A66-93A7-61DF25C63904}"/>
              </a:ext>
            </a:extLst>
          </p:cNvPr>
          <p:cNvSpPr>
            <a:spLocks xmlns:a="http://schemas.openxmlformats.org/drawingml/2006/main" noGrp="1"/>
          </p:cNvSpPr>
          <p:nvPr/>
        </p:nvSpPr>
        <p:spPr>
          <a:xfrm xmlns:a="http://schemas.openxmlformats.org/drawingml/2006/main">
            <a:off x="4314825" y="1809750"/>
            <a:ext cx="3562350" cy="3600450"/>
          </a:xfrm>
          <a:prstGeom xmlns:a="http://schemas.openxmlformats.org/drawingml/2006/main" prst="roundRect">
            <a:avLst>
              <a:gd name="adj" fmla="val 4813"/>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CA92E29-3BC3-4E4A-BBC0-FE78FBE1F895}"/>
              </a:ext>
            </a:extLst>
          </p:cNvPr>
          <p:cNvSpPr>
            <a:spLocks xmlns:a="http://schemas.openxmlformats.org/drawingml/2006/main" noGrp="1"/>
          </p:cNvSpPr>
          <p:nvPr/>
        </p:nvSpPr>
        <p:spPr>
          <a:xfrm xmlns:a="http://schemas.openxmlformats.org/drawingml/2006/main">
            <a:off x="4581525" y="2152650"/>
            <a:ext cx="302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A56A00"/>
                </a:solidFill>
                <a:latin typeface="Aptos"/>
                <a:ea typeface="Aptos"/>
                <a:cs typeface="Aptos"/>
              </a:defRPr>
            </a:pPr>
            <a:r>
              <a:rPr sz="1125" b="1">
                <a:solidFill>
                  <a:srgbClr val="A56A00"/>
                </a:solidFill>
                <a:latin typeface="Aptos"/>
                <a:ea typeface="Aptos"/>
                <a:cs typeface="Aptos"/>
              </a:rPr>
              <a:t>EVIDENCE</a:t>
            </a:r>
          </a:p>
        </p:txBody>
      </p:sp>
      <p:sp>
        <p:nvSpPr>
          <p:cNvPr id="12" name="">
            <a:extLst xmlns:a="http://schemas.openxmlformats.org/drawingml/2006/main">
              <a:ext uri="{FF2B5EF4-FFF2-40B4-BE49-F238E27FC236}">
                <a16:creationId xmlns:a16="http://schemas.microsoft.com/office/drawing/2014/main" id="{822B6E9F-810F-4F99-AC04-78ADD6AB0942}"/>
              </a:ext>
            </a:extLst>
          </p:cNvPr>
          <p:cNvSpPr>
            <a:spLocks xmlns:a="http://schemas.openxmlformats.org/drawingml/2006/main" noGrp="1"/>
          </p:cNvSpPr>
          <p:nvPr/>
        </p:nvSpPr>
        <p:spPr>
          <a:xfrm xmlns:a="http://schemas.openxmlformats.org/drawingml/2006/main">
            <a:off x="4581525" y="2724150"/>
            <a:ext cx="3028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350" b="1">
                <a:solidFill>
                  <a:srgbClr val="13213A"/>
                </a:solidFill>
                <a:latin typeface="Aptos"/>
                <a:ea typeface="Aptos"/>
                <a:cs typeface="Aptos"/>
              </a:defRPr>
            </a:pPr>
            <a:r>
              <a:rPr sz="4350" b="1">
                <a:solidFill>
                  <a:srgbClr val="13213A"/>
                </a:solidFill>
                <a:latin typeface="Aptos"/>
                <a:ea typeface="Aptos"/>
                <a:cs typeface="Aptos"/>
              </a:rPr>
              <a:t>Coverage</a:t>
            </a:r>
          </a:p>
        </p:txBody>
      </p:sp>
      <p:sp>
        <p:nvSpPr>
          <p:cNvPr id="13" name="">
            <a:extLst xmlns:a="http://schemas.openxmlformats.org/drawingml/2006/main">
              <a:ext uri="{FF2B5EF4-FFF2-40B4-BE49-F238E27FC236}">
                <a16:creationId xmlns:a16="http://schemas.microsoft.com/office/drawing/2014/main" id="{D2BF959E-F6FC-4628-A251-28210D6B5805}"/>
              </a:ext>
            </a:extLst>
          </p:cNvPr>
          <p:cNvSpPr>
            <a:spLocks xmlns:a="http://schemas.openxmlformats.org/drawingml/2006/main" noGrp="1"/>
          </p:cNvSpPr>
          <p:nvPr/>
        </p:nvSpPr>
        <p:spPr>
          <a:xfrm xmlns:a="http://schemas.openxmlformats.org/drawingml/2006/main">
            <a:off x="4581525" y="4000500"/>
            <a:ext cx="3028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076"/>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Track valid provenance, rejected inputs, and missing-data issues found before review.</a:t>
            </a:r>
          </a:p>
        </p:txBody>
      </p:sp>
      <p:sp>
        <p:nvSpPr>
          <p:cNvPr id="14" name="">
            <a:extLst xmlns:a="http://schemas.openxmlformats.org/drawingml/2006/main">
              <a:ext uri="{FF2B5EF4-FFF2-40B4-BE49-F238E27FC236}">
                <a16:creationId xmlns:a16="http://schemas.microsoft.com/office/drawing/2014/main" id="{AC89D226-A992-4F22-82ED-29BA810DB9F7}"/>
              </a:ext>
            </a:extLst>
          </p:cNvPr>
          <p:cNvSpPr>
            <a:spLocks xmlns:a="http://schemas.openxmlformats.org/drawingml/2006/main" noGrp="1"/>
          </p:cNvSpPr>
          <p:nvPr/>
        </p:nvSpPr>
        <p:spPr>
          <a:xfrm xmlns:a="http://schemas.openxmlformats.org/drawingml/2006/main">
            <a:off x="8229600" y="1809750"/>
            <a:ext cx="3562350" cy="3600450"/>
          </a:xfrm>
          <a:prstGeom xmlns:a="http://schemas.openxmlformats.org/drawingml/2006/main" prst="roundRect">
            <a:avLst>
              <a:gd name="adj" fmla="val 4813"/>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7A0E803-D6D3-46F9-BB78-30BE403E2F2A}"/>
              </a:ext>
            </a:extLst>
          </p:cNvPr>
          <p:cNvSpPr>
            <a:spLocks xmlns:a="http://schemas.openxmlformats.org/drawingml/2006/main" noGrp="1"/>
          </p:cNvSpPr>
          <p:nvPr/>
        </p:nvSpPr>
        <p:spPr>
          <a:xfrm xmlns:a="http://schemas.openxmlformats.org/drawingml/2006/main">
            <a:off x="8496300" y="2152650"/>
            <a:ext cx="3028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a:solidFill>
                  <a:srgbClr val="347A4A"/>
                </a:solidFill>
                <a:latin typeface="Aptos"/>
                <a:ea typeface="Aptos"/>
                <a:cs typeface="Aptos"/>
              </a:defRPr>
            </a:pPr>
            <a:r>
              <a:rPr sz="1125" b="1">
                <a:solidFill>
                  <a:srgbClr val="347A4A"/>
                </a:solidFill>
                <a:latin typeface="Aptos"/>
                <a:ea typeface="Aptos"/>
                <a:cs typeface="Aptos"/>
              </a:rPr>
              <a:t>REVIEW</a:t>
            </a:r>
          </a:p>
        </p:txBody>
      </p:sp>
      <p:sp>
        <p:nvSpPr>
          <p:cNvPr id="16" name="">
            <a:extLst xmlns:a="http://schemas.openxmlformats.org/drawingml/2006/main">
              <a:ext uri="{FF2B5EF4-FFF2-40B4-BE49-F238E27FC236}">
                <a16:creationId xmlns:a16="http://schemas.microsoft.com/office/drawing/2014/main" id="{F06E7494-DC20-433B-BB49-01A08B747D99}"/>
              </a:ext>
            </a:extLst>
          </p:cNvPr>
          <p:cNvSpPr>
            <a:spLocks xmlns:a="http://schemas.openxmlformats.org/drawingml/2006/main" noGrp="1"/>
          </p:cNvSpPr>
          <p:nvPr/>
        </p:nvSpPr>
        <p:spPr>
          <a:xfrm xmlns:a="http://schemas.openxmlformats.org/drawingml/2006/main">
            <a:off x="8496300" y="2724150"/>
            <a:ext cx="30289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350" b="1">
                <a:solidFill>
                  <a:srgbClr val="13213A"/>
                </a:solidFill>
                <a:latin typeface="Aptos"/>
                <a:ea typeface="Aptos"/>
                <a:cs typeface="Aptos"/>
              </a:defRPr>
            </a:pPr>
            <a:r>
              <a:rPr sz="4350" b="1">
                <a:solidFill>
                  <a:srgbClr val="13213A"/>
                </a:solidFill>
                <a:latin typeface="Aptos"/>
                <a:ea typeface="Aptos"/>
                <a:cs typeface="Aptos"/>
              </a:rPr>
              <a:t>Rework</a:t>
            </a:r>
          </a:p>
        </p:txBody>
      </p:sp>
      <p:sp>
        <p:nvSpPr>
          <p:cNvPr id="17" name="">
            <a:extLst xmlns:a="http://schemas.openxmlformats.org/drawingml/2006/main">
              <a:ext uri="{FF2B5EF4-FFF2-40B4-BE49-F238E27FC236}">
                <a16:creationId xmlns:a16="http://schemas.microsoft.com/office/drawing/2014/main" id="{7A6B70C1-8C8C-44C1-9441-CB56D73568A1}"/>
              </a:ext>
            </a:extLst>
          </p:cNvPr>
          <p:cNvSpPr>
            <a:spLocks xmlns:a="http://schemas.openxmlformats.org/drawingml/2006/main" noGrp="1"/>
          </p:cNvSpPr>
          <p:nvPr/>
        </p:nvSpPr>
        <p:spPr>
          <a:xfrm xmlns:a="http://schemas.openxmlformats.org/drawingml/2006/main">
            <a:off x="8496300" y="4000500"/>
            <a:ext cx="3028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076"/>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Measure reviewer understanding, factual corrections, and follow-up needed.</a:t>
            </a:r>
          </a:p>
        </p:txBody>
      </p:sp>
      <p:sp>
        <p:nvSpPr>
          <p:cNvPr id="18" name="">
            <a:extLst xmlns:a="http://schemas.openxmlformats.org/drawingml/2006/main">
              <a:ext uri="{FF2B5EF4-FFF2-40B4-BE49-F238E27FC236}">
                <a16:creationId xmlns:a16="http://schemas.microsoft.com/office/drawing/2014/main" id="{684F50E9-CA1F-4DD1-9FA0-E109683C08DA}"/>
              </a:ext>
            </a:extLst>
          </p:cNvPr>
          <p:cNvSpPr>
            <a:spLocks xmlns:a="http://schemas.openxmlformats.org/drawingml/2006/main" noGrp="1"/>
          </p:cNvSpPr>
          <p:nvPr/>
        </p:nvSpPr>
        <p:spPr>
          <a:xfrm xmlns:a="http://schemas.openxmlformats.org/drawingml/2006/main">
            <a:off x="1524000" y="5715000"/>
            <a:ext cx="914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934"/>
          </a:bodyPr>
          <a:lstStyle xmlns:a="http://schemas.openxmlformats.org/drawingml/2006/main"/>
          <a:p xmlns:a="http://schemas.openxmlformats.org/drawingml/2006/main">
            <a:pPr algn="ctr">
              <a:defRPr sz="1650" b="0">
                <a:solidFill>
                  <a:srgbClr val="687386"/>
                </a:solidFill>
                <a:latin typeface="Aptos"/>
                <a:ea typeface="Aptos"/>
                <a:cs typeface="Aptos"/>
              </a:defRPr>
            </a:pPr>
            <a:r>
              <a:rPr sz="1650" b="0">
                <a:solidFill>
                  <a:srgbClr val="687386"/>
                </a:solidFill>
                <a:latin typeface="Aptos"/>
                <a:ea typeface="Aptos"/>
                <a:cs typeface="Aptos"/>
              </a:rPr>
              <a:t>Later: test decision quality or clinic outcomes only after an approved outcome, cohort, and maturity window exist.</a:t>
            </a:r>
          </a:p>
        </p:txBody>
      </p:sp>
    </p:spTree>
    <p:extLst>
      <p:ext uri="{BB962C8B-B14F-4D97-AF65-F5344CB8AC3E}">
        <p14:creationId xmlns:p14="http://schemas.microsoft.com/office/powerpoint/2010/main" val="17426417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AC76847-09C7-43A4-8AFC-C9DE573CF981}"/>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VALIDATION GATES</a:t>
            </a:r>
          </a:p>
        </p:txBody>
      </p:sp>
      <p:sp>
        <p:nvSpPr>
          <p:cNvPr id="2" name="">
            <a:extLst xmlns:a="http://schemas.openxmlformats.org/drawingml/2006/main">
              <a:ext uri="{FF2B5EF4-FFF2-40B4-BE49-F238E27FC236}">
                <a16:creationId xmlns:a16="http://schemas.microsoft.com/office/drawing/2014/main" id="{5235AFF6-C6AB-4CCC-9FF3-4CA27DB79E7A}"/>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805"/>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Six questions determine whether the idea should move forward</a:t>
            </a:r>
          </a:p>
        </p:txBody>
      </p:sp>
      <p:sp>
        <p:nvSpPr>
          <p:cNvPr id="3" name="">
            <a:extLst xmlns:a="http://schemas.openxmlformats.org/drawingml/2006/main">
              <a:ext uri="{FF2B5EF4-FFF2-40B4-BE49-F238E27FC236}">
                <a16:creationId xmlns:a16="http://schemas.microsoft.com/office/drawing/2014/main" id="{7D232614-ACEB-44EA-8EAA-8C8431D02A4B}"/>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6B6BBB-6F75-4F6C-91B1-F6A5CCE5F8BB}"/>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OQ-001–007</a:t>
            </a:r>
          </a:p>
        </p:txBody>
      </p:sp>
      <p:sp>
        <p:nvSpPr>
          <p:cNvPr id="5" name="">
            <a:extLst xmlns:a="http://schemas.openxmlformats.org/drawingml/2006/main">
              <a:ext uri="{FF2B5EF4-FFF2-40B4-BE49-F238E27FC236}">
                <a16:creationId xmlns:a16="http://schemas.microsoft.com/office/drawing/2014/main" id="{F1ACBFD7-E735-4AC5-AF92-56B9CACED3F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5EE0F8C9-61C4-445C-B712-FE8CEFA67255}"/>
              </a:ext>
            </a:extLst>
          </p:cNvPr>
          <p:cNvSpPr>
            <a:spLocks xmlns:a="http://schemas.openxmlformats.org/drawingml/2006/main" noGrp="1"/>
          </p:cNvSpPr>
          <p:nvPr/>
        </p:nvSpPr>
        <p:spPr>
          <a:xfrm xmlns:a="http://schemas.openxmlformats.org/drawingml/2006/main">
            <a:off x="400050" y="1238250"/>
            <a:ext cx="1123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687386"/>
                </a:solidFill>
                <a:latin typeface="Aptos"/>
                <a:ea typeface="Aptos"/>
                <a:cs typeface="Aptos"/>
              </a:defRPr>
            </a:pPr>
            <a:r>
              <a:rPr sz="1575" b="0">
                <a:solidFill>
                  <a:srgbClr val="687386"/>
                </a:solidFill>
                <a:latin typeface="Aptos"/>
                <a:ea typeface="Aptos"/>
                <a:cs typeface="Aptos"/>
              </a:rPr>
              <a:t>These are not cleanup items. Each can materially change or stop the MVP.</a:t>
            </a:r>
          </a:p>
        </p:txBody>
      </p:sp>
      <p:sp>
        <p:nvSpPr>
          <p:cNvPr id="7" name="">
            <a:extLst xmlns:a="http://schemas.openxmlformats.org/drawingml/2006/main">
              <a:ext uri="{FF2B5EF4-FFF2-40B4-BE49-F238E27FC236}">
                <a16:creationId xmlns:a16="http://schemas.microsoft.com/office/drawing/2014/main" id="{772BAA05-ED1D-49DD-95DD-909DC24AF208}"/>
              </a:ext>
            </a:extLst>
          </p:cNvPr>
          <p:cNvSpPr>
            <a:spLocks xmlns:a="http://schemas.openxmlformats.org/drawingml/2006/main" noGrp="1"/>
          </p:cNvSpPr>
          <p:nvPr/>
        </p:nvSpPr>
        <p:spPr>
          <a:xfrm xmlns:a="http://schemas.openxmlformats.org/drawingml/2006/main">
            <a:off x="400050" y="1790700"/>
            <a:ext cx="113919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8DFEA"/>
            </a:solidFill>
            <a:prstDash val="solid"/>
          </a:ln>
        </p:spPr>
      </p:sp>
      <p:sp>
        <p:nvSpPr>
          <p:cNvPr id="8" name="">
            <a:extLst xmlns:a="http://schemas.openxmlformats.org/drawingml/2006/main">
              <a:ext uri="{FF2B5EF4-FFF2-40B4-BE49-F238E27FC236}">
                <a16:creationId xmlns:a16="http://schemas.microsoft.com/office/drawing/2014/main" id="{F41EDBB4-399B-4E94-BAEF-B3DDD2D07B05}"/>
              </a:ext>
            </a:extLst>
          </p:cNvPr>
          <p:cNvSpPr>
            <a:spLocks xmlns:a="http://schemas.openxmlformats.org/drawingml/2006/main" noGrp="1"/>
          </p:cNvSpPr>
          <p:nvPr/>
        </p:nvSpPr>
        <p:spPr>
          <a:xfrm xmlns:a="http://schemas.openxmlformats.org/drawingml/2006/main">
            <a:off x="571500" y="1914525"/>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1">
                <a:solidFill>
                  <a:srgbClr val="2D5BFF"/>
                </a:solidFill>
                <a:latin typeface="Aptos"/>
                <a:ea typeface="Aptos"/>
                <a:cs typeface="Aptos"/>
              </a:defRPr>
            </a:pPr>
            <a:r>
              <a:rPr sz="1350" b="1">
                <a:solidFill>
                  <a:srgbClr val="2D5B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614977BB-F059-4FC1-BF95-C34F68407CF0}"/>
              </a:ext>
            </a:extLst>
          </p:cNvPr>
          <p:cNvSpPr>
            <a:spLocks xmlns:a="http://schemas.openxmlformats.org/drawingml/2006/main" noGrp="1"/>
          </p:cNvSpPr>
          <p:nvPr/>
        </p:nvSpPr>
        <p:spPr>
          <a:xfrm xmlns:a="http://schemas.openxmlformats.org/drawingml/2006/main">
            <a:off x="1219200" y="19145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defRPr sz="1575" b="1">
                <a:solidFill>
                  <a:srgbClr val="13213A"/>
                </a:solidFill>
                <a:latin typeface="Aptos"/>
                <a:ea typeface="Aptos"/>
                <a:cs typeface="Aptos"/>
              </a:defRPr>
            </a:pPr>
            <a:r>
              <a:rPr sz="1575" b="1">
                <a:solidFill>
                  <a:srgbClr val="13213A"/>
                </a:solidFill>
                <a:latin typeface="Aptos"/>
                <a:ea typeface="Aptos"/>
                <a:cs typeface="Aptos"/>
              </a:rPr>
              <a:t>Ownership</a:t>
            </a:r>
          </a:p>
        </p:txBody>
      </p:sp>
      <p:sp>
        <p:nvSpPr>
          <p:cNvPr id="10" name="">
            <a:extLst xmlns:a="http://schemas.openxmlformats.org/drawingml/2006/main">
              <a:ext uri="{FF2B5EF4-FFF2-40B4-BE49-F238E27FC236}">
                <a16:creationId xmlns:a16="http://schemas.microsoft.com/office/drawing/2014/main" id="{D34BB483-E3C1-48ED-B249-8DD1C1B5AED3}"/>
              </a:ext>
            </a:extLst>
          </p:cNvPr>
          <p:cNvSpPr>
            <a:spLocks xmlns:a="http://schemas.openxmlformats.org/drawingml/2006/main" noGrp="1"/>
          </p:cNvSpPr>
          <p:nvPr/>
        </p:nvSpPr>
        <p:spPr>
          <a:xfrm xmlns:a="http://schemas.openxmlformats.org/drawingml/2006/main">
            <a:off x="3048000" y="1905000"/>
            <a:ext cx="847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39455A"/>
                </a:solidFill>
                <a:latin typeface="Aptos"/>
                <a:ea typeface="Aptos"/>
                <a:cs typeface="Aptos"/>
              </a:defRPr>
            </a:pPr>
            <a:r>
              <a:rPr sz="1500" b="0">
                <a:solidFill>
                  <a:srgbClr val="39455A"/>
                </a:solidFill>
                <a:latin typeface="Aptos"/>
                <a:ea typeface="Aptos"/>
                <a:cs typeface="Aptos"/>
              </a:rPr>
              <a:t>Is the existing Vet Clinic Site Selection plan active, staffed, or implemented?</a:t>
            </a:r>
          </a:p>
        </p:txBody>
      </p:sp>
      <p:sp>
        <p:nvSpPr>
          <p:cNvPr id="11" name="">
            <a:extLst xmlns:a="http://schemas.openxmlformats.org/drawingml/2006/main">
              <a:ext uri="{FF2B5EF4-FFF2-40B4-BE49-F238E27FC236}">
                <a16:creationId xmlns:a16="http://schemas.microsoft.com/office/drawing/2014/main" id="{829CAD0E-1D3F-4E41-BB66-A6F1A8EA335D}"/>
              </a:ext>
            </a:extLst>
          </p:cNvPr>
          <p:cNvSpPr>
            <a:spLocks xmlns:a="http://schemas.openxmlformats.org/drawingml/2006/main" noGrp="1"/>
          </p:cNvSpPr>
          <p:nvPr/>
        </p:nvSpPr>
        <p:spPr>
          <a:xfrm xmlns:a="http://schemas.openxmlformats.org/drawingml/2006/main">
            <a:off x="400050" y="2476500"/>
            <a:ext cx="11391900" cy="571500"/>
          </a:xfrm>
          <a:prstGeom xmlns:a="http://schemas.openxmlformats.org/drawingml/2006/main" prst="roundRect">
            <a:avLst>
              <a:gd name="adj" fmla="val 13333"/>
            </a:avLst>
          </a:prstGeom>
          <a:solidFill xmlns:a="http://schemas.openxmlformats.org/drawingml/2006/main">
            <a:srgbClr val="F5F7FB"/>
          </a:solidFill>
          <a:ln xmlns:a="http://schemas.openxmlformats.org/drawingml/2006/main" w="9525">
            <a:solidFill>
              <a:srgbClr val="D8DFEA"/>
            </a:solidFill>
            <a:prstDash val="solid"/>
          </a:ln>
        </p:spPr>
      </p:sp>
      <p:sp>
        <p:nvSpPr>
          <p:cNvPr id="12" name="">
            <a:extLst xmlns:a="http://schemas.openxmlformats.org/drawingml/2006/main">
              <a:ext uri="{FF2B5EF4-FFF2-40B4-BE49-F238E27FC236}">
                <a16:creationId xmlns:a16="http://schemas.microsoft.com/office/drawing/2014/main" id="{CDBC7F22-9CA6-4633-93CD-497C69DE6784}"/>
              </a:ext>
            </a:extLst>
          </p:cNvPr>
          <p:cNvSpPr>
            <a:spLocks xmlns:a="http://schemas.openxmlformats.org/drawingml/2006/main" noGrp="1"/>
          </p:cNvSpPr>
          <p:nvPr/>
        </p:nvSpPr>
        <p:spPr>
          <a:xfrm xmlns:a="http://schemas.openxmlformats.org/drawingml/2006/main">
            <a:off x="571500" y="2600325"/>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1">
                <a:solidFill>
                  <a:srgbClr val="2D5BFF"/>
                </a:solidFill>
                <a:latin typeface="Aptos"/>
                <a:ea typeface="Aptos"/>
                <a:cs typeface="Aptos"/>
              </a:defRPr>
            </a:pPr>
            <a:r>
              <a:rPr sz="1350" b="1">
                <a:solidFill>
                  <a:srgbClr val="2D5B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67DDB947-EA8C-481F-A641-782FEDD99401}"/>
              </a:ext>
            </a:extLst>
          </p:cNvPr>
          <p:cNvSpPr>
            <a:spLocks xmlns:a="http://schemas.openxmlformats.org/drawingml/2006/main" noGrp="1"/>
          </p:cNvSpPr>
          <p:nvPr/>
        </p:nvSpPr>
        <p:spPr>
          <a:xfrm xmlns:a="http://schemas.openxmlformats.org/drawingml/2006/main">
            <a:off x="1219200" y="26003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defRPr sz="1575" b="1">
                <a:solidFill>
                  <a:srgbClr val="13213A"/>
                </a:solidFill>
                <a:latin typeface="Aptos"/>
                <a:ea typeface="Aptos"/>
                <a:cs typeface="Aptos"/>
              </a:defRPr>
            </a:pPr>
            <a:r>
              <a:rPr sz="1575" b="1">
                <a:solidFill>
                  <a:srgbClr val="13213A"/>
                </a:solidFill>
                <a:latin typeface="Aptos"/>
                <a:ea typeface="Aptos"/>
                <a:cs typeface="Aptos"/>
              </a:rPr>
              <a:t>Fit</a:t>
            </a:r>
          </a:p>
        </p:txBody>
      </p:sp>
      <p:sp>
        <p:nvSpPr>
          <p:cNvPr id="14" name="">
            <a:extLst xmlns:a="http://schemas.openxmlformats.org/drawingml/2006/main">
              <a:ext uri="{FF2B5EF4-FFF2-40B4-BE49-F238E27FC236}">
                <a16:creationId xmlns:a16="http://schemas.microsoft.com/office/drawing/2014/main" id="{49FE67F8-D99A-450A-BC1D-5892D421D8E1}"/>
              </a:ext>
            </a:extLst>
          </p:cNvPr>
          <p:cNvSpPr>
            <a:spLocks xmlns:a="http://schemas.openxmlformats.org/drawingml/2006/main" noGrp="1"/>
          </p:cNvSpPr>
          <p:nvPr/>
        </p:nvSpPr>
        <p:spPr>
          <a:xfrm xmlns:a="http://schemas.openxmlformats.org/drawingml/2006/main">
            <a:off x="3048000" y="2590800"/>
            <a:ext cx="847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39455A"/>
                </a:solidFill>
                <a:latin typeface="Aptos"/>
                <a:ea typeface="Aptos"/>
                <a:cs typeface="Aptos"/>
              </a:defRPr>
            </a:pPr>
            <a:r>
              <a:rPr sz="1500" b="0">
                <a:solidFill>
                  <a:srgbClr val="39455A"/>
                </a:solidFill>
                <a:latin typeface="Aptos"/>
                <a:ea typeface="Aptos"/>
                <a:cs typeface="Aptos"/>
              </a:rPr>
              <a:t>Should this become its review interface, extend it, or stop to avoid duplication?</a:t>
            </a:r>
          </a:p>
        </p:txBody>
      </p:sp>
      <p:sp>
        <p:nvSpPr>
          <p:cNvPr id="15" name="">
            <a:extLst xmlns:a="http://schemas.openxmlformats.org/drawingml/2006/main">
              <a:ext uri="{FF2B5EF4-FFF2-40B4-BE49-F238E27FC236}">
                <a16:creationId xmlns:a16="http://schemas.microsoft.com/office/drawing/2014/main" id="{F1F70AA0-364C-4577-A556-53AA5979D7D9}"/>
              </a:ext>
            </a:extLst>
          </p:cNvPr>
          <p:cNvSpPr>
            <a:spLocks xmlns:a="http://schemas.openxmlformats.org/drawingml/2006/main" noGrp="1"/>
          </p:cNvSpPr>
          <p:nvPr/>
        </p:nvSpPr>
        <p:spPr>
          <a:xfrm xmlns:a="http://schemas.openxmlformats.org/drawingml/2006/main">
            <a:off x="400050" y="3162300"/>
            <a:ext cx="113919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8DFEA"/>
            </a:solidFill>
            <a:prstDash val="solid"/>
          </a:ln>
        </p:spPr>
      </p:sp>
      <p:sp>
        <p:nvSpPr>
          <p:cNvPr id="16" name="">
            <a:extLst xmlns:a="http://schemas.openxmlformats.org/drawingml/2006/main">
              <a:ext uri="{FF2B5EF4-FFF2-40B4-BE49-F238E27FC236}">
                <a16:creationId xmlns:a16="http://schemas.microsoft.com/office/drawing/2014/main" id="{A206E6F2-9F13-4ACF-A829-EF39175AF53F}"/>
              </a:ext>
            </a:extLst>
          </p:cNvPr>
          <p:cNvSpPr>
            <a:spLocks xmlns:a="http://schemas.openxmlformats.org/drawingml/2006/main" noGrp="1"/>
          </p:cNvSpPr>
          <p:nvPr/>
        </p:nvSpPr>
        <p:spPr>
          <a:xfrm xmlns:a="http://schemas.openxmlformats.org/drawingml/2006/main">
            <a:off x="571500" y="3286125"/>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1">
                <a:solidFill>
                  <a:srgbClr val="2D5BFF"/>
                </a:solidFill>
                <a:latin typeface="Aptos"/>
                <a:ea typeface="Aptos"/>
                <a:cs typeface="Aptos"/>
              </a:defRPr>
            </a:pPr>
            <a:r>
              <a:rPr sz="1350" b="1">
                <a:solidFill>
                  <a:srgbClr val="2D5B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F99BB0C5-1007-46E1-9EF0-2C153CECA9CE}"/>
              </a:ext>
            </a:extLst>
          </p:cNvPr>
          <p:cNvSpPr>
            <a:spLocks xmlns:a="http://schemas.openxmlformats.org/drawingml/2006/main" noGrp="1"/>
          </p:cNvSpPr>
          <p:nvPr/>
        </p:nvSpPr>
        <p:spPr>
          <a:xfrm xmlns:a="http://schemas.openxmlformats.org/drawingml/2006/main">
            <a:off x="1219200" y="32861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defRPr sz="1575" b="1">
                <a:solidFill>
                  <a:srgbClr val="13213A"/>
                </a:solidFill>
                <a:latin typeface="Aptos"/>
                <a:ea typeface="Aptos"/>
                <a:cs typeface="Aptos"/>
              </a:defRPr>
            </a:pPr>
            <a:r>
              <a:rPr sz="1575" b="1">
                <a:solidFill>
                  <a:srgbClr val="13213A"/>
                </a:solidFill>
                <a:latin typeface="Aptos"/>
                <a:ea typeface="Aptos"/>
                <a:cs typeface="Aptos"/>
              </a:rPr>
              <a:t>User</a:t>
            </a:r>
          </a:p>
        </p:txBody>
      </p:sp>
      <p:sp>
        <p:nvSpPr>
          <p:cNvPr id="18" name="">
            <a:extLst xmlns:a="http://schemas.openxmlformats.org/drawingml/2006/main">
              <a:ext uri="{FF2B5EF4-FFF2-40B4-BE49-F238E27FC236}">
                <a16:creationId xmlns:a16="http://schemas.microsoft.com/office/drawing/2014/main" id="{2ED99359-2194-4769-9805-84CAA6205CEE}"/>
              </a:ext>
            </a:extLst>
          </p:cNvPr>
          <p:cNvSpPr>
            <a:spLocks xmlns:a="http://schemas.openxmlformats.org/drawingml/2006/main" noGrp="1"/>
          </p:cNvSpPr>
          <p:nvPr/>
        </p:nvSpPr>
        <p:spPr>
          <a:xfrm xmlns:a="http://schemas.openxmlformats.org/drawingml/2006/main">
            <a:off x="3048000" y="3276600"/>
            <a:ext cx="847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39455A"/>
                </a:solidFill>
                <a:latin typeface="Aptos"/>
                <a:ea typeface="Aptos"/>
                <a:cs typeface="Aptos"/>
              </a:defRPr>
            </a:pPr>
            <a:r>
              <a:rPr sz="1500" b="0">
                <a:solidFill>
                  <a:srgbClr val="39455A"/>
                </a:solidFill>
                <a:latin typeface="Aptos"/>
                <a:ea typeface="Aptos"/>
                <a:cs typeface="Aptos"/>
              </a:rPr>
              <a:t>Who is the first analyst or reviewer, and what exact decision do they make?</a:t>
            </a:r>
          </a:p>
        </p:txBody>
      </p:sp>
      <p:sp>
        <p:nvSpPr>
          <p:cNvPr id="19" name="">
            <a:extLst xmlns:a="http://schemas.openxmlformats.org/drawingml/2006/main">
              <a:ext uri="{FF2B5EF4-FFF2-40B4-BE49-F238E27FC236}">
                <a16:creationId xmlns:a16="http://schemas.microsoft.com/office/drawing/2014/main" id="{87864600-A44D-47E7-8F3C-5A14387490EE}"/>
              </a:ext>
            </a:extLst>
          </p:cNvPr>
          <p:cNvSpPr>
            <a:spLocks xmlns:a="http://schemas.openxmlformats.org/drawingml/2006/main" noGrp="1"/>
          </p:cNvSpPr>
          <p:nvPr/>
        </p:nvSpPr>
        <p:spPr>
          <a:xfrm xmlns:a="http://schemas.openxmlformats.org/drawingml/2006/main">
            <a:off x="400050" y="3848100"/>
            <a:ext cx="11391900" cy="571500"/>
          </a:xfrm>
          <a:prstGeom xmlns:a="http://schemas.openxmlformats.org/drawingml/2006/main" prst="roundRect">
            <a:avLst>
              <a:gd name="adj" fmla="val 13333"/>
            </a:avLst>
          </a:prstGeom>
          <a:solidFill xmlns:a="http://schemas.openxmlformats.org/drawingml/2006/main">
            <a:srgbClr val="F5F7FB"/>
          </a:solidFill>
          <a:ln xmlns:a="http://schemas.openxmlformats.org/drawingml/2006/main" w="9525">
            <a:solidFill>
              <a:srgbClr val="D8DFEA"/>
            </a:solidFill>
            <a:prstDash val="solid"/>
          </a:ln>
        </p:spPr>
      </p:sp>
      <p:sp>
        <p:nvSpPr>
          <p:cNvPr id="20" name="">
            <a:extLst xmlns:a="http://schemas.openxmlformats.org/drawingml/2006/main">
              <a:ext uri="{FF2B5EF4-FFF2-40B4-BE49-F238E27FC236}">
                <a16:creationId xmlns:a16="http://schemas.microsoft.com/office/drawing/2014/main" id="{30F38D98-8B15-4B0D-A572-10EA1A6C7514}"/>
              </a:ext>
            </a:extLst>
          </p:cNvPr>
          <p:cNvSpPr>
            <a:spLocks xmlns:a="http://schemas.openxmlformats.org/drawingml/2006/main" noGrp="1"/>
          </p:cNvSpPr>
          <p:nvPr/>
        </p:nvSpPr>
        <p:spPr>
          <a:xfrm xmlns:a="http://schemas.openxmlformats.org/drawingml/2006/main">
            <a:off x="571500" y="3971925"/>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1">
                <a:solidFill>
                  <a:srgbClr val="2D5BFF"/>
                </a:solidFill>
                <a:latin typeface="Aptos"/>
                <a:ea typeface="Aptos"/>
                <a:cs typeface="Aptos"/>
              </a:defRPr>
            </a:pPr>
            <a:r>
              <a:rPr sz="1350" b="1">
                <a:solidFill>
                  <a:srgbClr val="2D5B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14C11D2E-31A2-49FB-A0B3-C07F3E9C5394}"/>
              </a:ext>
            </a:extLst>
          </p:cNvPr>
          <p:cNvSpPr>
            <a:spLocks xmlns:a="http://schemas.openxmlformats.org/drawingml/2006/main" noGrp="1"/>
          </p:cNvSpPr>
          <p:nvPr/>
        </p:nvSpPr>
        <p:spPr>
          <a:xfrm xmlns:a="http://schemas.openxmlformats.org/drawingml/2006/main">
            <a:off x="1219200" y="39719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defRPr sz="1575" b="1">
                <a:solidFill>
                  <a:srgbClr val="13213A"/>
                </a:solidFill>
                <a:latin typeface="Aptos"/>
                <a:ea typeface="Aptos"/>
                <a:cs typeface="Aptos"/>
              </a:defRPr>
            </a:pPr>
            <a:r>
              <a:rPr sz="1575" b="1">
                <a:solidFill>
                  <a:srgbClr val="13213A"/>
                </a:solidFill>
                <a:latin typeface="Aptos"/>
                <a:ea typeface="Aptos"/>
                <a:cs typeface="Aptos"/>
              </a:rPr>
              <a:t>Outcome</a:t>
            </a:r>
          </a:p>
        </p:txBody>
      </p:sp>
      <p:sp>
        <p:nvSpPr>
          <p:cNvPr id="22" name="">
            <a:extLst xmlns:a="http://schemas.openxmlformats.org/drawingml/2006/main">
              <a:ext uri="{FF2B5EF4-FFF2-40B4-BE49-F238E27FC236}">
                <a16:creationId xmlns:a16="http://schemas.microsoft.com/office/drawing/2014/main" id="{2321EABE-B3F0-4812-A5A2-1FADF4CFD0F5}"/>
              </a:ext>
            </a:extLst>
          </p:cNvPr>
          <p:cNvSpPr>
            <a:spLocks xmlns:a="http://schemas.openxmlformats.org/drawingml/2006/main" noGrp="1"/>
          </p:cNvSpPr>
          <p:nvPr/>
        </p:nvSpPr>
        <p:spPr>
          <a:xfrm xmlns:a="http://schemas.openxmlformats.org/drawingml/2006/main">
            <a:off x="3048000" y="3962400"/>
            <a:ext cx="847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39455A"/>
                </a:solidFill>
                <a:latin typeface="Aptos"/>
                <a:ea typeface="Aptos"/>
                <a:cs typeface="Aptos"/>
              </a:defRPr>
            </a:pPr>
            <a:r>
              <a:rPr sz="1500" b="0">
                <a:solidFill>
                  <a:srgbClr val="39455A"/>
                </a:solidFill>
                <a:latin typeface="Aptos"/>
                <a:ea typeface="Aptos"/>
                <a:cs typeface="Aptos"/>
              </a:rPr>
              <a:t>Which clinic outcome, maturity window, and eligibility rule are approved?</a:t>
            </a:r>
          </a:p>
        </p:txBody>
      </p:sp>
      <p:sp>
        <p:nvSpPr>
          <p:cNvPr id="23" name="">
            <a:extLst xmlns:a="http://schemas.openxmlformats.org/drawingml/2006/main">
              <a:ext uri="{FF2B5EF4-FFF2-40B4-BE49-F238E27FC236}">
                <a16:creationId xmlns:a16="http://schemas.microsoft.com/office/drawing/2014/main" id="{116B7780-43AB-43A6-AD52-F8769ECA261F}"/>
              </a:ext>
            </a:extLst>
          </p:cNvPr>
          <p:cNvSpPr>
            <a:spLocks xmlns:a="http://schemas.openxmlformats.org/drawingml/2006/main" noGrp="1"/>
          </p:cNvSpPr>
          <p:nvPr/>
        </p:nvSpPr>
        <p:spPr>
          <a:xfrm xmlns:a="http://schemas.openxmlformats.org/drawingml/2006/main">
            <a:off x="400050" y="4533900"/>
            <a:ext cx="113919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D8DFEA"/>
            </a:solidFill>
            <a:prstDash val="solid"/>
          </a:ln>
        </p:spPr>
      </p:sp>
      <p:sp>
        <p:nvSpPr>
          <p:cNvPr id="24" name="">
            <a:extLst xmlns:a="http://schemas.openxmlformats.org/drawingml/2006/main">
              <a:ext uri="{FF2B5EF4-FFF2-40B4-BE49-F238E27FC236}">
                <a16:creationId xmlns:a16="http://schemas.microsoft.com/office/drawing/2014/main" id="{611BEC05-CCC4-497F-8EBD-84054719AE7E}"/>
              </a:ext>
            </a:extLst>
          </p:cNvPr>
          <p:cNvSpPr>
            <a:spLocks xmlns:a="http://schemas.openxmlformats.org/drawingml/2006/main" noGrp="1"/>
          </p:cNvSpPr>
          <p:nvPr/>
        </p:nvSpPr>
        <p:spPr>
          <a:xfrm xmlns:a="http://schemas.openxmlformats.org/drawingml/2006/main">
            <a:off x="571500" y="4657725"/>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1">
                <a:solidFill>
                  <a:srgbClr val="2D5BFF"/>
                </a:solidFill>
                <a:latin typeface="Aptos"/>
                <a:ea typeface="Aptos"/>
                <a:cs typeface="Aptos"/>
              </a:defRPr>
            </a:pPr>
            <a:r>
              <a:rPr sz="1350" b="1">
                <a:solidFill>
                  <a:srgbClr val="2D5BFF"/>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2546BCC6-66AB-4AA7-AFF1-50CC6172CF9B}"/>
              </a:ext>
            </a:extLst>
          </p:cNvPr>
          <p:cNvSpPr>
            <a:spLocks xmlns:a="http://schemas.openxmlformats.org/drawingml/2006/main" noGrp="1"/>
          </p:cNvSpPr>
          <p:nvPr/>
        </p:nvSpPr>
        <p:spPr>
          <a:xfrm xmlns:a="http://schemas.openxmlformats.org/drawingml/2006/main">
            <a:off x="1219200" y="46577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defRPr sz="1575" b="1">
                <a:solidFill>
                  <a:srgbClr val="13213A"/>
                </a:solidFill>
                <a:latin typeface="Aptos"/>
                <a:ea typeface="Aptos"/>
                <a:cs typeface="Aptos"/>
              </a:defRPr>
            </a:pPr>
            <a:r>
              <a:rPr sz="1575" b="1">
                <a:solidFill>
                  <a:srgbClr val="13213A"/>
                </a:solidFill>
                <a:latin typeface="Aptos"/>
                <a:ea typeface="Aptos"/>
                <a:cs typeface="Aptos"/>
              </a:rPr>
              <a:t>Data</a:t>
            </a:r>
          </a:p>
        </p:txBody>
      </p:sp>
      <p:sp>
        <p:nvSpPr>
          <p:cNvPr id="26" name="">
            <a:extLst xmlns:a="http://schemas.openxmlformats.org/drawingml/2006/main">
              <a:ext uri="{FF2B5EF4-FFF2-40B4-BE49-F238E27FC236}">
                <a16:creationId xmlns:a16="http://schemas.microsoft.com/office/drawing/2014/main" id="{FAF0CE2E-CAE7-4155-B009-B1745935A47B}"/>
              </a:ext>
            </a:extLst>
          </p:cNvPr>
          <p:cNvSpPr>
            <a:spLocks xmlns:a="http://schemas.openxmlformats.org/drawingml/2006/main" noGrp="1"/>
          </p:cNvSpPr>
          <p:nvPr/>
        </p:nvSpPr>
        <p:spPr>
          <a:xfrm xmlns:a="http://schemas.openxmlformats.org/drawingml/2006/main">
            <a:off x="3048000" y="4648200"/>
            <a:ext cx="847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39455A"/>
                </a:solidFill>
                <a:latin typeface="Aptos"/>
                <a:ea typeface="Aptos"/>
                <a:cs typeface="Aptos"/>
              </a:defRPr>
            </a:pPr>
            <a:r>
              <a:rPr sz="1500" b="0">
                <a:solidFill>
                  <a:srgbClr val="39455A"/>
                </a:solidFill>
                <a:latin typeface="Aptos"/>
                <a:ea typeface="Aptos"/>
                <a:cs typeface="Aptos"/>
              </a:rPr>
              <a:t>Which aggregate features and outcomes are available and governed for use?</a:t>
            </a:r>
          </a:p>
        </p:txBody>
      </p:sp>
      <p:sp>
        <p:nvSpPr>
          <p:cNvPr id="27" name="">
            <a:extLst xmlns:a="http://schemas.openxmlformats.org/drawingml/2006/main">
              <a:ext uri="{FF2B5EF4-FFF2-40B4-BE49-F238E27FC236}">
                <a16:creationId xmlns:a16="http://schemas.microsoft.com/office/drawing/2014/main" id="{BEF98CF1-FFF7-4439-84B8-5FC0CCE2B46D}"/>
              </a:ext>
            </a:extLst>
          </p:cNvPr>
          <p:cNvSpPr>
            <a:spLocks xmlns:a="http://schemas.openxmlformats.org/drawingml/2006/main" noGrp="1"/>
          </p:cNvSpPr>
          <p:nvPr/>
        </p:nvSpPr>
        <p:spPr>
          <a:xfrm xmlns:a="http://schemas.openxmlformats.org/drawingml/2006/main">
            <a:off x="400050" y="5219700"/>
            <a:ext cx="11391900" cy="571500"/>
          </a:xfrm>
          <a:prstGeom xmlns:a="http://schemas.openxmlformats.org/drawingml/2006/main" prst="roundRect">
            <a:avLst>
              <a:gd name="adj" fmla="val 13333"/>
            </a:avLst>
          </a:prstGeom>
          <a:solidFill xmlns:a="http://schemas.openxmlformats.org/drawingml/2006/main">
            <a:srgbClr val="F5F7FB"/>
          </a:solidFill>
          <a:ln xmlns:a="http://schemas.openxmlformats.org/drawingml/2006/main" w="9525">
            <a:solidFill>
              <a:srgbClr val="D8DFEA"/>
            </a:solidFill>
            <a:prstDash val="solid"/>
          </a:ln>
        </p:spPr>
      </p:sp>
      <p:sp>
        <p:nvSpPr>
          <p:cNvPr id="28" name="">
            <a:extLst xmlns:a="http://schemas.openxmlformats.org/drawingml/2006/main">
              <a:ext uri="{FF2B5EF4-FFF2-40B4-BE49-F238E27FC236}">
                <a16:creationId xmlns:a16="http://schemas.microsoft.com/office/drawing/2014/main" id="{AD5C24F2-90C9-4E3C-9BDA-80AA488A8709}"/>
              </a:ext>
            </a:extLst>
          </p:cNvPr>
          <p:cNvSpPr>
            <a:spLocks xmlns:a="http://schemas.openxmlformats.org/drawingml/2006/main" noGrp="1"/>
          </p:cNvSpPr>
          <p:nvPr/>
        </p:nvSpPr>
        <p:spPr>
          <a:xfrm xmlns:a="http://schemas.openxmlformats.org/drawingml/2006/main">
            <a:off x="571500" y="5343525"/>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1">
                <a:solidFill>
                  <a:srgbClr val="2D5BFF"/>
                </a:solidFill>
                <a:latin typeface="Aptos"/>
                <a:ea typeface="Aptos"/>
                <a:cs typeface="Aptos"/>
              </a:defRPr>
            </a:pPr>
            <a:r>
              <a:rPr sz="1350" b="1">
                <a:solidFill>
                  <a:srgbClr val="2D5BFF"/>
                </a:solidFill>
                <a:latin typeface="Aptos"/>
                <a:ea typeface="Aptos"/>
                <a:cs typeface="Aptos"/>
              </a:rPr>
              <a:t>6</a:t>
            </a:r>
          </a:p>
        </p:txBody>
      </p:sp>
      <p:sp>
        <p:nvSpPr>
          <p:cNvPr id="29" name="">
            <a:extLst xmlns:a="http://schemas.openxmlformats.org/drawingml/2006/main">
              <a:ext uri="{FF2B5EF4-FFF2-40B4-BE49-F238E27FC236}">
                <a16:creationId xmlns:a16="http://schemas.microsoft.com/office/drawing/2014/main" id="{061EE7C8-D104-458D-8763-F35B1C3813C6}"/>
              </a:ext>
            </a:extLst>
          </p:cNvPr>
          <p:cNvSpPr>
            <a:spLocks xmlns:a="http://schemas.openxmlformats.org/drawingml/2006/main" noGrp="1"/>
          </p:cNvSpPr>
          <p:nvPr/>
        </p:nvSpPr>
        <p:spPr>
          <a:xfrm xmlns:a="http://schemas.openxmlformats.org/drawingml/2006/main">
            <a:off x="1219200" y="534352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825"/>
          </a:bodyPr>
          <a:lstStyle xmlns:a="http://schemas.openxmlformats.org/drawingml/2006/main"/>
          <a:p xmlns:a="http://schemas.openxmlformats.org/drawingml/2006/main">
            <a:pPr algn="l">
              <a:defRPr sz="1575" b="1">
                <a:solidFill>
                  <a:srgbClr val="13213A"/>
                </a:solidFill>
                <a:latin typeface="Aptos"/>
                <a:ea typeface="Aptos"/>
                <a:cs typeface="Aptos"/>
              </a:defRPr>
            </a:pPr>
            <a:r>
              <a:rPr sz="1575" b="1">
                <a:solidFill>
                  <a:srgbClr val="13213A"/>
                </a:solidFill>
                <a:latin typeface="Aptos"/>
                <a:ea typeface="Aptos"/>
                <a:cs typeface="Aptos"/>
              </a:rPr>
              <a:t>Policy</a:t>
            </a:r>
          </a:p>
        </p:txBody>
      </p:sp>
      <p:sp>
        <p:nvSpPr>
          <p:cNvPr id="30" name="">
            <a:extLst xmlns:a="http://schemas.openxmlformats.org/drawingml/2006/main">
              <a:ext uri="{FF2B5EF4-FFF2-40B4-BE49-F238E27FC236}">
                <a16:creationId xmlns:a16="http://schemas.microsoft.com/office/drawing/2014/main" id="{279535A1-DE51-4283-859B-7561CAF20B77}"/>
              </a:ext>
            </a:extLst>
          </p:cNvPr>
          <p:cNvSpPr>
            <a:spLocks xmlns:a="http://schemas.openxmlformats.org/drawingml/2006/main" noGrp="1"/>
          </p:cNvSpPr>
          <p:nvPr/>
        </p:nvSpPr>
        <p:spPr>
          <a:xfrm xmlns:a="http://schemas.openxmlformats.org/drawingml/2006/main">
            <a:off x="3048000" y="5334000"/>
            <a:ext cx="847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39455A"/>
                </a:solidFill>
                <a:latin typeface="Aptos"/>
                <a:ea typeface="Aptos"/>
                <a:cs typeface="Aptos"/>
              </a:defRPr>
            </a:pPr>
            <a:r>
              <a:rPr sz="1500" b="0">
                <a:solidFill>
                  <a:srgbClr val="39455A"/>
                </a:solidFill>
                <a:latin typeface="Aptos"/>
                <a:ea typeface="Aptos"/>
                <a:cs typeface="Aptos"/>
              </a:rPr>
              <a:t>Which criteria, thresholds, weights, exclusions, and hard constraints are approved?</a:t>
            </a:r>
          </a:p>
        </p:txBody>
      </p:sp>
    </p:spTree>
    <p:extLst>
      <p:ext uri="{BB962C8B-B14F-4D97-AF65-F5344CB8AC3E}">
        <p14:creationId xmlns:p14="http://schemas.microsoft.com/office/powerpoint/2010/main" val="10854779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D1D938D-10E3-4F1A-9B2D-8A3E370FA0C4}"/>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PATH FORWARD</a:t>
            </a:r>
          </a:p>
        </p:txBody>
      </p:sp>
      <p:sp>
        <p:nvSpPr>
          <p:cNvPr id="2" name="">
            <a:extLst xmlns:a="http://schemas.openxmlformats.org/drawingml/2006/main">
              <a:ext uri="{FF2B5EF4-FFF2-40B4-BE49-F238E27FC236}">
                <a16:creationId xmlns:a16="http://schemas.microsoft.com/office/drawing/2014/main" id="{9C8E22F5-3241-490C-A314-363FD7FE963E}"/>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714"/>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The next step is a bounded workflow pilot with clear stop conditions</a:t>
            </a:r>
          </a:p>
        </p:txBody>
      </p:sp>
      <p:sp>
        <p:nvSpPr>
          <p:cNvPr id="3" name="">
            <a:extLst xmlns:a="http://schemas.openxmlformats.org/drawingml/2006/main">
              <a:ext uri="{FF2B5EF4-FFF2-40B4-BE49-F238E27FC236}">
                <a16:creationId xmlns:a16="http://schemas.microsoft.com/office/drawing/2014/main" id="{2A87658A-90CA-40C0-A581-A5835B26C413}"/>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F62E200-6870-4F67-9075-DC859909BFCC}"/>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MVP exit criteria, Evaluation stages 1–4</a:t>
            </a:r>
          </a:p>
        </p:txBody>
      </p:sp>
      <p:sp>
        <p:nvSpPr>
          <p:cNvPr id="5" name="">
            <a:extLst xmlns:a="http://schemas.openxmlformats.org/drawingml/2006/main">
              <a:ext uri="{FF2B5EF4-FFF2-40B4-BE49-F238E27FC236}">
                <a16:creationId xmlns:a16="http://schemas.microsoft.com/office/drawing/2014/main" id="{B77B907B-EAD6-4715-9B28-C073E0C587CB}"/>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F9E435D7-5433-4FA7-BA88-DC82E9E5D4AD}"/>
              </a:ext>
            </a:extLst>
          </p:cNvPr>
          <p:cNvSpPr>
            <a:spLocks xmlns:a="http://schemas.openxmlformats.org/drawingml/2006/main" noGrp="1"/>
          </p:cNvSpPr>
          <p:nvPr/>
        </p:nvSpPr>
        <p:spPr>
          <a:xfrm xmlns:a="http://schemas.openxmlformats.org/drawingml/2006/main">
            <a:off x="1381125" y="3143250"/>
            <a:ext cx="9429750" cy="28575"/>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7DC9EF7-232A-45E8-B5F5-BD8AE2340241}"/>
              </a:ext>
            </a:extLst>
          </p:cNvPr>
          <p:cNvSpPr>
            <a:spLocks xmlns:a="http://schemas.openxmlformats.org/drawingml/2006/main" noGrp="1"/>
          </p:cNvSpPr>
          <p:nvPr/>
        </p:nvSpPr>
        <p:spPr>
          <a:xfrm xmlns:a="http://schemas.openxmlformats.org/drawingml/2006/main">
            <a:off x="400050" y="1809750"/>
            <a:ext cx="3562350" cy="3429000"/>
          </a:xfrm>
          <a:prstGeom xmlns:a="http://schemas.openxmlformats.org/drawingml/2006/main" prst="roundRect">
            <a:avLst>
              <a:gd name="adj" fmla="val 5000"/>
            </a:avLst>
          </a:prstGeom>
          <a:solidFill xmlns:a="http://schemas.openxmlformats.org/drawingml/2006/main">
            <a:srgbClr val="EDF3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08D811A-B1A3-45B4-8B98-1AD384E04EB1}"/>
              </a:ext>
            </a:extLst>
          </p:cNvPr>
          <p:cNvSpPr>
            <a:spLocks xmlns:a="http://schemas.openxmlformats.org/drawingml/2006/main" noGrp="1"/>
          </p:cNvSpPr>
          <p:nvPr/>
        </p:nvSpPr>
        <p:spPr>
          <a:xfrm xmlns:a="http://schemas.openxmlformats.org/drawingml/2006/main">
            <a:off x="666750" y="2114550"/>
            <a:ext cx="61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2D5BFF"/>
                </a:solidFill>
                <a:latin typeface="Aptos"/>
                <a:ea typeface="Aptos"/>
                <a:cs typeface="Aptos"/>
              </a:defRPr>
            </a:pPr>
            <a:r>
              <a:rPr sz="1350" b="1">
                <a:solidFill>
                  <a:srgbClr val="2D5BFF"/>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FA06EBDB-1B9D-46B8-BF02-803026FE4671}"/>
              </a:ext>
            </a:extLst>
          </p:cNvPr>
          <p:cNvSpPr>
            <a:spLocks xmlns:a="http://schemas.openxmlformats.org/drawingml/2006/main" noGrp="1"/>
          </p:cNvSpPr>
          <p:nvPr/>
        </p:nvSpPr>
        <p:spPr>
          <a:xfrm xmlns:a="http://schemas.openxmlformats.org/drawingml/2006/main">
            <a:off x="666750" y="2667000"/>
            <a:ext cx="3028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3213A"/>
                </a:solidFill>
                <a:latin typeface="Aptos"/>
                <a:ea typeface="Aptos"/>
                <a:cs typeface="Aptos"/>
              </a:defRPr>
            </a:pPr>
            <a:r>
              <a:rPr sz="2850" b="1">
                <a:solidFill>
                  <a:srgbClr val="13213A"/>
                </a:solidFill>
                <a:latin typeface="Aptos"/>
                <a:ea typeface="Aptos"/>
                <a:cs typeface="Aptos"/>
              </a:rPr>
              <a:t>Align</a:t>
            </a:r>
          </a:p>
        </p:txBody>
      </p:sp>
      <p:sp>
        <p:nvSpPr>
          <p:cNvPr id="10" name="">
            <a:extLst xmlns:a="http://schemas.openxmlformats.org/drawingml/2006/main">
              <a:ext uri="{FF2B5EF4-FFF2-40B4-BE49-F238E27FC236}">
                <a16:creationId xmlns:a16="http://schemas.microsoft.com/office/drawing/2014/main" id="{7CE9C9E4-875C-41D7-A255-288944010746}"/>
              </a:ext>
            </a:extLst>
          </p:cNvPr>
          <p:cNvSpPr>
            <a:spLocks xmlns:a="http://schemas.openxmlformats.org/drawingml/2006/main" noGrp="1"/>
          </p:cNvSpPr>
          <p:nvPr/>
        </p:nvSpPr>
        <p:spPr>
          <a:xfrm xmlns:a="http://schemas.openxmlformats.org/drawingml/2006/main">
            <a:off x="666750" y="3667125"/>
            <a:ext cx="3028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Confirm ownership, first user, decision point, and overlap with the existing plan.</a:t>
            </a:r>
          </a:p>
        </p:txBody>
      </p:sp>
      <p:sp>
        <p:nvSpPr>
          <p:cNvPr id="11" name="">
            <a:extLst xmlns:a="http://schemas.openxmlformats.org/drawingml/2006/main">
              <a:ext uri="{FF2B5EF4-FFF2-40B4-BE49-F238E27FC236}">
                <a16:creationId xmlns:a16="http://schemas.microsoft.com/office/drawing/2014/main" id="{30670068-2571-4A00-9775-E697C0F301A2}"/>
              </a:ext>
            </a:extLst>
          </p:cNvPr>
          <p:cNvSpPr>
            <a:spLocks xmlns:a="http://schemas.openxmlformats.org/drawingml/2006/main" noGrp="1"/>
          </p:cNvSpPr>
          <p:nvPr/>
        </p:nvSpPr>
        <p:spPr>
          <a:xfrm xmlns:a="http://schemas.openxmlformats.org/drawingml/2006/main">
            <a:off x="4314825" y="1809750"/>
            <a:ext cx="3562350" cy="3429000"/>
          </a:xfrm>
          <a:prstGeom xmlns:a="http://schemas.openxmlformats.org/drawingml/2006/main" prst="roundRect">
            <a:avLst>
              <a:gd name="adj" fmla="val 5000"/>
            </a:avLst>
          </a:prstGeom>
          <a:solidFill xmlns:a="http://schemas.openxmlformats.org/drawingml/2006/main">
            <a:srgbClr val="FFF5D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61373D2-7F3F-4C3A-B4F5-96610EE75941}"/>
              </a:ext>
            </a:extLst>
          </p:cNvPr>
          <p:cNvSpPr>
            <a:spLocks xmlns:a="http://schemas.openxmlformats.org/drawingml/2006/main" noGrp="1"/>
          </p:cNvSpPr>
          <p:nvPr/>
        </p:nvSpPr>
        <p:spPr>
          <a:xfrm xmlns:a="http://schemas.openxmlformats.org/drawingml/2006/main">
            <a:off x="4581525" y="2114550"/>
            <a:ext cx="61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A56A00"/>
                </a:solidFill>
                <a:latin typeface="Aptos"/>
                <a:ea typeface="Aptos"/>
                <a:cs typeface="Aptos"/>
              </a:defRPr>
            </a:pPr>
            <a:r>
              <a:rPr sz="1350" b="1">
                <a:solidFill>
                  <a:srgbClr val="A56A00"/>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6B7B53BA-9564-45AB-B3BA-0566E872D8DF}"/>
              </a:ext>
            </a:extLst>
          </p:cNvPr>
          <p:cNvSpPr>
            <a:spLocks xmlns:a="http://schemas.openxmlformats.org/drawingml/2006/main" noGrp="1"/>
          </p:cNvSpPr>
          <p:nvPr/>
        </p:nvSpPr>
        <p:spPr>
          <a:xfrm xmlns:a="http://schemas.openxmlformats.org/drawingml/2006/main">
            <a:off x="4581525" y="2667000"/>
            <a:ext cx="3028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3213A"/>
                </a:solidFill>
                <a:latin typeface="Aptos"/>
                <a:ea typeface="Aptos"/>
                <a:cs typeface="Aptos"/>
              </a:defRPr>
            </a:pPr>
            <a:r>
              <a:rPr sz="2850" b="1">
                <a:solidFill>
                  <a:srgbClr val="13213A"/>
                </a:solidFill>
                <a:latin typeface="Aptos"/>
                <a:ea typeface="Aptos"/>
                <a:cs typeface="Aptos"/>
              </a:rPr>
              <a:t>Validate</a:t>
            </a:r>
          </a:p>
        </p:txBody>
      </p:sp>
      <p:sp>
        <p:nvSpPr>
          <p:cNvPr id="14" name="">
            <a:extLst xmlns:a="http://schemas.openxmlformats.org/drawingml/2006/main">
              <a:ext uri="{FF2B5EF4-FFF2-40B4-BE49-F238E27FC236}">
                <a16:creationId xmlns:a16="http://schemas.microsoft.com/office/drawing/2014/main" id="{C949752C-FA09-44AF-9CE2-FA061F2E18B5}"/>
              </a:ext>
            </a:extLst>
          </p:cNvPr>
          <p:cNvSpPr>
            <a:spLocks xmlns:a="http://schemas.openxmlformats.org/drawingml/2006/main" noGrp="1"/>
          </p:cNvSpPr>
          <p:nvPr/>
        </p:nvSpPr>
        <p:spPr>
          <a:xfrm xmlns:a="http://schemas.openxmlformats.org/drawingml/2006/main">
            <a:off x="4581525" y="3667125"/>
            <a:ext cx="3028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Approve a small data template, criteria version, constraints, and measurement baseline.</a:t>
            </a:r>
          </a:p>
        </p:txBody>
      </p:sp>
      <p:sp>
        <p:nvSpPr>
          <p:cNvPr id="15" name="">
            <a:extLst xmlns:a="http://schemas.openxmlformats.org/drawingml/2006/main">
              <a:ext uri="{FF2B5EF4-FFF2-40B4-BE49-F238E27FC236}">
                <a16:creationId xmlns:a16="http://schemas.microsoft.com/office/drawing/2014/main" id="{E31F9BF5-9443-450D-8C82-2A5E55B3B20F}"/>
              </a:ext>
            </a:extLst>
          </p:cNvPr>
          <p:cNvSpPr>
            <a:spLocks xmlns:a="http://schemas.openxmlformats.org/drawingml/2006/main" noGrp="1"/>
          </p:cNvSpPr>
          <p:nvPr/>
        </p:nvSpPr>
        <p:spPr>
          <a:xfrm xmlns:a="http://schemas.openxmlformats.org/drawingml/2006/main">
            <a:off x="8229600" y="1809750"/>
            <a:ext cx="3562350" cy="3429000"/>
          </a:xfrm>
          <a:prstGeom xmlns:a="http://schemas.openxmlformats.org/drawingml/2006/main" prst="roundRect">
            <a:avLst>
              <a:gd name="adj" fmla="val 5000"/>
            </a:avLst>
          </a:prstGeom>
          <a:solidFill xmlns:a="http://schemas.openxmlformats.org/drawingml/2006/main">
            <a:srgbClr val="EDF7F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0F21026-65F7-4B46-9BD6-8329EA9CAF45}"/>
              </a:ext>
            </a:extLst>
          </p:cNvPr>
          <p:cNvSpPr>
            <a:spLocks xmlns:a="http://schemas.openxmlformats.org/drawingml/2006/main" noGrp="1"/>
          </p:cNvSpPr>
          <p:nvPr/>
        </p:nvSpPr>
        <p:spPr>
          <a:xfrm xmlns:a="http://schemas.openxmlformats.org/drawingml/2006/main">
            <a:off x="8496300" y="2114550"/>
            <a:ext cx="619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347A4A"/>
                </a:solidFill>
                <a:latin typeface="Aptos"/>
                <a:ea typeface="Aptos"/>
                <a:cs typeface="Aptos"/>
              </a:defRPr>
            </a:pPr>
            <a:r>
              <a:rPr sz="1350" b="1">
                <a:solidFill>
                  <a:srgbClr val="347A4A"/>
                </a:solidFill>
                <a:latin typeface="Aptos"/>
                <a:ea typeface="Aptos"/>
                <a:cs typeface="Aptos"/>
              </a:rPr>
              <a:t>03</a:t>
            </a:r>
          </a:p>
        </p:txBody>
      </p:sp>
      <p:sp>
        <p:nvSpPr>
          <p:cNvPr id="17" name="">
            <a:extLst xmlns:a="http://schemas.openxmlformats.org/drawingml/2006/main">
              <a:ext uri="{FF2B5EF4-FFF2-40B4-BE49-F238E27FC236}">
                <a16:creationId xmlns:a16="http://schemas.microsoft.com/office/drawing/2014/main" id="{C035441B-C032-4FF1-B88C-7F4C40226CE3}"/>
              </a:ext>
            </a:extLst>
          </p:cNvPr>
          <p:cNvSpPr>
            <a:spLocks xmlns:a="http://schemas.openxmlformats.org/drawingml/2006/main" noGrp="1"/>
          </p:cNvSpPr>
          <p:nvPr/>
        </p:nvSpPr>
        <p:spPr>
          <a:xfrm xmlns:a="http://schemas.openxmlformats.org/drawingml/2006/main">
            <a:off x="8496300" y="2667000"/>
            <a:ext cx="3028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3213A"/>
                </a:solidFill>
                <a:latin typeface="Aptos"/>
                <a:ea typeface="Aptos"/>
                <a:cs typeface="Aptos"/>
              </a:defRPr>
            </a:pPr>
            <a:r>
              <a:rPr sz="2850" b="1">
                <a:solidFill>
                  <a:srgbClr val="13213A"/>
                </a:solidFill>
                <a:latin typeface="Aptos"/>
                <a:ea typeface="Aptos"/>
                <a:cs typeface="Aptos"/>
              </a:rPr>
              <a:t>Pilot</a:t>
            </a:r>
          </a:p>
        </p:txBody>
      </p:sp>
      <p:sp>
        <p:nvSpPr>
          <p:cNvPr id="18" name="">
            <a:extLst xmlns:a="http://schemas.openxmlformats.org/drawingml/2006/main">
              <a:ext uri="{FF2B5EF4-FFF2-40B4-BE49-F238E27FC236}">
                <a16:creationId xmlns:a16="http://schemas.microsoft.com/office/drawing/2014/main" id="{85EC1BD3-9D40-4806-97AB-BDD2C5CEE910}"/>
              </a:ext>
            </a:extLst>
          </p:cNvPr>
          <p:cNvSpPr>
            <a:spLocks xmlns:a="http://schemas.openxmlformats.org/drawingml/2006/main" noGrp="1"/>
          </p:cNvSpPr>
          <p:nvPr/>
        </p:nvSpPr>
        <p:spPr>
          <a:xfrm xmlns:a="http://schemas.openxmlformats.org/drawingml/2006/main">
            <a:off x="8496300" y="3667125"/>
            <a:ext cx="3028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39455A"/>
                </a:solidFill>
                <a:latin typeface="Aptos"/>
                <a:ea typeface="Aptos"/>
                <a:cs typeface="Aptos"/>
              </a:defRPr>
            </a:pPr>
            <a:r>
              <a:rPr sz="1650" b="0">
                <a:solidFill>
                  <a:srgbClr val="39455A"/>
                </a:solidFill>
                <a:latin typeface="Aptos"/>
                <a:ea typeface="Aptos"/>
                <a:cs typeface="Aptos"/>
              </a:rPr>
              <a:t>Compare three to five candidates, observe review behavior, and measure time, coverage, and rework.</a:t>
            </a:r>
          </a:p>
        </p:txBody>
      </p:sp>
      <p:sp>
        <p:nvSpPr>
          <p:cNvPr id="19" name="">
            <a:extLst xmlns:a="http://schemas.openxmlformats.org/drawingml/2006/main">
              <a:ext uri="{FF2B5EF4-FFF2-40B4-BE49-F238E27FC236}">
                <a16:creationId xmlns:a16="http://schemas.microsoft.com/office/drawing/2014/main" id="{7D784D65-6F33-464B-BFD1-ED8989CD0AF5}"/>
              </a:ext>
            </a:extLst>
          </p:cNvPr>
          <p:cNvSpPr>
            <a:spLocks xmlns:a="http://schemas.openxmlformats.org/drawingml/2006/main" noGrp="1"/>
          </p:cNvSpPr>
          <p:nvPr/>
        </p:nvSpPr>
        <p:spPr>
          <a:xfrm xmlns:a="http://schemas.openxmlformats.org/drawingml/2006/main">
            <a:off x="1666875" y="5667375"/>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811"/>
          </a:bodyPr>
          <a:lstStyle xmlns:a="http://schemas.openxmlformats.org/drawingml/2006/main"/>
          <a:p xmlns:a="http://schemas.openxmlformats.org/drawingml/2006/main">
            <a:pPr algn="ctr">
              <a:defRPr sz="1650" b="1">
                <a:solidFill>
                  <a:srgbClr val="9A4040"/>
                </a:solidFill>
                <a:latin typeface="Aptos"/>
                <a:ea typeface="Aptos"/>
                <a:cs typeface="Aptos"/>
              </a:defRPr>
            </a:pPr>
            <a:r>
              <a:rPr sz="1650" b="1">
                <a:solidFill>
                  <a:srgbClr val="9A4040"/>
                </a:solidFill>
                <a:latin typeface="Aptos"/>
                <a:ea typeface="Aptos"/>
                <a:cs typeface="Aptos"/>
              </a:rPr>
              <a:t>Stop if the workflow duplicates owned work, lacks approved data, or cannot support a named decision.</a:t>
            </a:r>
          </a:p>
        </p:txBody>
      </p:sp>
    </p:spTree>
    <p:extLst>
      <p:ext uri="{BB962C8B-B14F-4D97-AF65-F5344CB8AC3E}">
        <p14:creationId xmlns:p14="http://schemas.microsoft.com/office/powerpoint/2010/main" val="142654589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E7236AA-A7B1-4573-BAEE-8E60E33D7BEC}"/>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DECISION</a:t>
            </a:r>
          </a:p>
        </p:txBody>
      </p:sp>
      <p:sp>
        <p:nvSpPr>
          <p:cNvPr id="2" name="">
            <a:extLst xmlns:a="http://schemas.openxmlformats.org/drawingml/2006/main">
              <a:ext uri="{FF2B5EF4-FFF2-40B4-BE49-F238E27FC236}">
                <a16:creationId xmlns:a16="http://schemas.microsoft.com/office/drawing/2014/main" id="{62A205B0-8AD0-4EBF-BBDE-6AAB8EF0EFCD}"/>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What I need from the room</a:t>
            </a:r>
          </a:p>
        </p:txBody>
      </p:sp>
      <p:sp>
        <p:nvSpPr>
          <p:cNvPr id="3" name="">
            <a:extLst xmlns:a="http://schemas.openxmlformats.org/drawingml/2006/main">
              <a:ext uri="{FF2B5EF4-FFF2-40B4-BE49-F238E27FC236}">
                <a16:creationId xmlns:a16="http://schemas.microsoft.com/office/drawing/2014/main" id="{BC292642-5DC3-429C-B92F-94AA2BA5C464}"/>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F54650-0ED8-448B-A4FA-D81F229600A8}"/>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Open questions and approval gates</a:t>
            </a:r>
          </a:p>
        </p:txBody>
      </p:sp>
      <p:sp>
        <p:nvSpPr>
          <p:cNvPr id="5" name="">
            <a:extLst xmlns:a="http://schemas.openxmlformats.org/drawingml/2006/main">
              <a:ext uri="{FF2B5EF4-FFF2-40B4-BE49-F238E27FC236}">
                <a16:creationId xmlns:a16="http://schemas.microsoft.com/office/drawing/2014/main" id="{DFF66AEE-5BD1-40FD-8BE3-DE9722F87BA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14</a:t>
            </a:r>
          </a:p>
        </p:txBody>
      </p:sp>
      <p:sp>
        <p:nvSpPr>
          <p:cNvPr id="6" name="">
            <a:extLst xmlns:a="http://schemas.openxmlformats.org/drawingml/2006/main">
              <a:ext uri="{FF2B5EF4-FFF2-40B4-BE49-F238E27FC236}">
                <a16:creationId xmlns:a16="http://schemas.microsoft.com/office/drawing/2014/main" id="{DF8DFC10-341E-4C69-B689-370DABB39E47}"/>
              </a:ext>
            </a:extLst>
          </p:cNvPr>
          <p:cNvSpPr>
            <a:spLocks xmlns:a="http://schemas.openxmlformats.org/drawingml/2006/main" noGrp="1"/>
          </p:cNvSpPr>
          <p:nvPr/>
        </p:nvSpPr>
        <p:spPr>
          <a:xfrm xmlns:a="http://schemas.openxmlformats.org/drawingml/2006/main">
            <a:off x="571500" y="1790700"/>
            <a:ext cx="685800" cy="6858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90596"/>
          </a:bodyPr>
          <a:lstStyle xmlns:a="http://schemas.openxmlformats.org/drawingml/2006/main"/>
          <a:p xmlns:a="http://schemas.openxmlformats.org/drawingml/2006/main">
            <a:pPr algn="ctr">
              <a:defRPr sz="2850" b="1">
                <a:solidFill>
                  <a:srgbClr val="FFFFFF"/>
                </a:solidFill>
                <a:latin typeface="Aptos"/>
                <a:ea typeface="Aptos"/>
                <a:cs typeface="Aptos"/>
              </a:defRPr>
            </a:pPr>
            <a:r>
              <a:rPr sz="2850" b="1">
                <a:solidFill>
                  <a:srgbClr val="FFFFFF"/>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C6A9C839-3234-4EAF-8576-55C209519FD8}"/>
              </a:ext>
            </a:extLst>
          </p:cNvPr>
          <p:cNvSpPr>
            <a:spLocks xmlns:a="http://schemas.openxmlformats.org/drawingml/2006/main" noGrp="1"/>
          </p:cNvSpPr>
          <p:nvPr/>
        </p:nvSpPr>
        <p:spPr>
          <a:xfrm xmlns:a="http://schemas.openxmlformats.org/drawingml/2006/main">
            <a:off x="1562100" y="1771650"/>
            <a:ext cx="952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02"/>
          </a:bodyPr>
          <a:lstStyle xmlns:a="http://schemas.openxmlformats.org/drawingml/2006/main"/>
          <a:p xmlns:a="http://schemas.openxmlformats.org/drawingml/2006/main">
            <a:pPr algn="l">
              <a:defRPr sz="2175" b="1">
                <a:solidFill>
                  <a:srgbClr val="13213A"/>
                </a:solidFill>
                <a:latin typeface="Aptos"/>
                <a:ea typeface="Aptos"/>
                <a:cs typeface="Aptos"/>
              </a:defRPr>
            </a:pPr>
            <a:r>
              <a:rPr sz="2175" b="1">
                <a:solidFill>
                  <a:srgbClr val="13213A"/>
                </a:solidFill>
                <a:latin typeface="Aptos"/>
                <a:ea typeface="Aptos"/>
                <a:cs typeface="Aptos"/>
              </a:rPr>
              <a:t>Confirm the right owner and how this should relate to the existing site-selection plan.</a:t>
            </a:r>
          </a:p>
        </p:txBody>
      </p:sp>
      <p:sp>
        <p:nvSpPr>
          <p:cNvPr id="8" name="">
            <a:extLst xmlns:a="http://schemas.openxmlformats.org/drawingml/2006/main">
              <a:ext uri="{FF2B5EF4-FFF2-40B4-BE49-F238E27FC236}">
                <a16:creationId xmlns:a16="http://schemas.microsoft.com/office/drawing/2014/main" id="{76F4F9D3-BF20-4339-BBE5-92C079C9E2A1}"/>
              </a:ext>
            </a:extLst>
          </p:cNvPr>
          <p:cNvSpPr>
            <a:spLocks xmlns:a="http://schemas.openxmlformats.org/drawingml/2006/main" noGrp="1"/>
          </p:cNvSpPr>
          <p:nvPr/>
        </p:nvSpPr>
        <p:spPr>
          <a:xfrm xmlns:a="http://schemas.openxmlformats.org/drawingml/2006/main">
            <a:off x="571500" y="3048000"/>
            <a:ext cx="685800" cy="685800"/>
          </a:xfrm>
          <a:prstGeom xmlns:a="http://schemas.openxmlformats.org/drawingml/2006/main" prst="roundRect">
            <a:avLst>
              <a:gd name="adj" fmla="val 50000"/>
            </a:avLst>
          </a:prstGeom>
          <a:solidFill xmlns:a="http://schemas.openxmlformats.org/drawingml/2006/main">
            <a:srgbClr val="A56A00"/>
          </a:solidFill>
          <a:ln xmlns:a="http://schemas.openxmlformats.org/drawingml/2006/main" w="0">
            <a:noFill/>
            <a:prstDash val="solid"/>
          </a:ln>
        </p:spPr>
        <p:txBody>
          <a:bodyPr xmlns:a="http://schemas.openxmlformats.org/drawingml/2006/main" anchor="ctr">
            <a:normAutofit fontScale="90596"/>
          </a:bodyPr>
          <a:lstStyle xmlns:a="http://schemas.openxmlformats.org/drawingml/2006/main"/>
          <a:p xmlns:a="http://schemas.openxmlformats.org/drawingml/2006/main">
            <a:pPr algn="ctr">
              <a:defRPr sz="2850" b="1">
                <a:solidFill>
                  <a:srgbClr val="FFFFFF"/>
                </a:solidFill>
                <a:latin typeface="Aptos"/>
                <a:ea typeface="Aptos"/>
                <a:cs typeface="Aptos"/>
              </a:defRPr>
            </a:pPr>
            <a:r>
              <a:rPr sz="2850" b="1">
                <a:solidFill>
                  <a:srgbClr val="FFFFFF"/>
                </a:solidFill>
                <a:latin typeface="Aptos"/>
                <a:ea typeface="Aptos"/>
                <a:cs typeface="Aptos"/>
              </a:rPr>
              <a:t>2</a:t>
            </a:r>
          </a:p>
        </p:txBody>
      </p:sp>
      <p:sp>
        <p:nvSpPr>
          <p:cNvPr id="9" name="">
            <a:extLst xmlns:a="http://schemas.openxmlformats.org/drawingml/2006/main">
              <a:ext uri="{FF2B5EF4-FFF2-40B4-BE49-F238E27FC236}">
                <a16:creationId xmlns:a16="http://schemas.microsoft.com/office/drawing/2014/main" id="{2ABBCAB7-DDF5-453E-AD51-1FB2DE1B48C0}"/>
              </a:ext>
            </a:extLst>
          </p:cNvPr>
          <p:cNvSpPr>
            <a:spLocks xmlns:a="http://schemas.openxmlformats.org/drawingml/2006/main" noGrp="1"/>
          </p:cNvSpPr>
          <p:nvPr/>
        </p:nvSpPr>
        <p:spPr>
          <a:xfrm xmlns:a="http://schemas.openxmlformats.org/drawingml/2006/main">
            <a:off x="1562100" y="3028950"/>
            <a:ext cx="952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02"/>
          </a:bodyPr>
          <a:lstStyle xmlns:a="http://schemas.openxmlformats.org/drawingml/2006/main"/>
          <a:p xmlns:a="http://schemas.openxmlformats.org/drawingml/2006/main">
            <a:pPr algn="l">
              <a:defRPr sz="2175" b="1">
                <a:solidFill>
                  <a:srgbClr val="13213A"/>
                </a:solidFill>
                <a:latin typeface="Aptos"/>
                <a:ea typeface="Aptos"/>
                <a:cs typeface="Aptos"/>
              </a:defRPr>
            </a:pPr>
            <a:r>
              <a:rPr sz="2175" b="1">
                <a:solidFill>
                  <a:srgbClr val="13213A"/>
                </a:solidFill>
                <a:latin typeface="Aptos"/>
                <a:ea typeface="Aptos"/>
                <a:cs typeface="Aptos"/>
              </a:rPr>
              <a:t>Name one analyst, one decision point, and a small approved candidate set for workflow validation.</a:t>
            </a:r>
          </a:p>
        </p:txBody>
      </p:sp>
      <p:sp>
        <p:nvSpPr>
          <p:cNvPr id="10" name="">
            <a:extLst xmlns:a="http://schemas.openxmlformats.org/drawingml/2006/main">
              <a:ext uri="{FF2B5EF4-FFF2-40B4-BE49-F238E27FC236}">
                <a16:creationId xmlns:a16="http://schemas.microsoft.com/office/drawing/2014/main" id="{444F1969-B8C9-4BCA-A81A-F6278F5F1BAD}"/>
              </a:ext>
            </a:extLst>
          </p:cNvPr>
          <p:cNvSpPr>
            <a:spLocks xmlns:a="http://schemas.openxmlformats.org/drawingml/2006/main" noGrp="1"/>
          </p:cNvSpPr>
          <p:nvPr/>
        </p:nvSpPr>
        <p:spPr>
          <a:xfrm xmlns:a="http://schemas.openxmlformats.org/drawingml/2006/main">
            <a:off x="571500" y="4305300"/>
            <a:ext cx="685800" cy="68580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txBody>
          <a:bodyPr xmlns:a="http://schemas.openxmlformats.org/drawingml/2006/main" anchor="ctr">
            <a:normAutofit fontScale="90596"/>
          </a:bodyPr>
          <a:lstStyle xmlns:a="http://schemas.openxmlformats.org/drawingml/2006/main"/>
          <a:p xmlns:a="http://schemas.openxmlformats.org/drawingml/2006/main">
            <a:pPr algn="ctr">
              <a:defRPr sz="2850" b="1">
                <a:solidFill>
                  <a:srgbClr val="FFFFFF"/>
                </a:solidFill>
                <a:latin typeface="Aptos"/>
                <a:ea typeface="Aptos"/>
                <a:cs typeface="Aptos"/>
              </a:defRPr>
            </a:pPr>
            <a:r>
              <a:rPr sz="2850" b="1">
                <a:solidFill>
                  <a:srgbClr val="FFFFFF"/>
                </a:solidFill>
                <a:latin typeface="Aptos"/>
                <a:ea typeface="Aptos"/>
                <a:cs typeface="Aptos"/>
              </a:rPr>
              <a:t>3</a:t>
            </a:r>
          </a:p>
        </p:txBody>
      </p:sp>
      <p:sp>
        <p:nvSpPr>
          <p:cNvPr id="11" name="">
            <a:extLst xmlns:a="http://schemas.openxmlformats.org/drawingml/2006/main">
              <a:ext uri="{FF2B5EF4-FFF2-40B4-BE49-F238E27FC236}">
                <a16:creationId xmlns:a16="http://schemas.microsoft.com/office/drawing/2014/main" id="{5AE91EDC-5DD4-4367-842B-4CCF1C7EC782}"/>
              </a:ext>
            </a:extLst>
          </p:cNvPr>
          <p:cNvSpPr>
            <a:spLocks xmlns:a="http://schemas.openxmlformats.org/drawingml/2006/main" noGrp="1"/>
          </p:cNvSpPr>
          <p:nvPr/>
        </p:nvSpPr>
        <p:spPr>
          <a:xfrm xmlns:a="http://schemas.openxmlformats.org/drawingml/2006/main">
            <a:off x="1562100" y="4286250"/>
            <a:ext cx="952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02"/>
          </a:bodyPr>
          <a:lstStyle xmlns:a="http://schemas.openxmlformats.org/drawingml/2006/main"/>
          <a:p xmlns:a="http://schemas.openxmlformats.org/drawingml/2006/main">
            <a:pPr algn="l">
              <a:defRPr sz="2175" b="1">
                <a:solidFill>
                  <a:srgbClr val="13213A"/>
                </a:solidFill>
                <a:latin typeface="Aptos"/>
                <a:ea typeface="Aptos"/>
                <a:cs typeface="Aptos"/>
              </a:defRPr>
            </a:pPr>
            <a:r>
              <a:rPr sz="2175" b="1">
                <a:solidFill>
                  <a:srgbClr val="13213A"/>
                </a:solidFill>
                <a:latin typeface="Aptos"/>
                <a:ea typeface="Aptos"/>
                <a:cs typeface="Aptos"/>
              </a:rPr>
              <a:t>Agree on the baseline measures that would prove the workflow is useful or show that it should stop.</a:t>
            </a:r>
          </a:p>
        </p:txBody>
      </p:sp>
      <p:sp>
        <p:nvSpPr>
          <p:cNvPr id="12" name="">
            <a:extLst xmlns:a="http://schemas.openxmlformats.org/drawingml/2006/main">
              <a:ext uri="{FF2B5EF4-FFF2-40B4-BE49-F238E27FC236}">
                <a16:creationId xmlns:a16="http://schemas.microsoft.com/office/drawing/2014/main" id="{3BED33C4-CA3D-4226-8E64-F937CED973B3}"/>
              </a:ext>
            </a:extLst>
          </p:cNvPr>
          <p:cNvSpPr>
            <a:spLocks xmlns:a="http://schemas.openxmlformats.org/drawingml/2006/main" noGrp="1"/>
          </p:cNvSpPr>
          <p:nvPr/>
        </p:nvSpPr>
        <p:spPr>
          <a:xfrm xmlns:a="http://schemas.openxmlformats.org/drawingml/2006/main">
            <a:off x="2857500" y="56197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37"/>
          </a:bodyPr>
          <a:lstStyle xmlns:a="http://schemas.openxmlformats.org/drawingml/2006/main"/>
          <a:p xmlns:a="http://schemas.openxmlformats.org/drawingml/2006/main">
            <a:pPr algn="ctr">
              <a:defRPr sz="1725" b="0">
                <a:solidFill>
                  <a:srgbClr val="687386"/>
                </a:solidFill>
                <a:latin typeface="Aptos"/>
                <a:ea typeface="Aptos"/>
                <a:cs typeface="Aptos"/>
              </a:defRPr>
            </a:pPr>
            <a:r>
              <a:rPr sz="1725" b="0">
                <a:solidFill>
                  <a:srgbClr val="687386"/>
                </a:solidFill>
                <a:latin typeface="Aptos"/>
                <a:ea typeface="Aptos"/>
                <a:cs typeface="Aptos"/>
              </a:rPr>
              <a:t>No production integration or scoring approval is requested today.</a:t>
            </a:r>
          </a:p>
        </p:txBody>
      </p:sp>
    </p:spTree>
    <p:extLst>
      <p:ext uri="{BB962C8B-B14F-4D97-AF65-F5344CB8AC3E}">
        <p14:creationId xmlns:p14="http://schemas.microsoft.com/office/powerpoint/2010/main" val="18441709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FA66370-CA09-4B1A-ADBC-126DEFAA44F8}"/>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Q&amp;A APPENDIX</a:t>
            </a:r>
          </a:p>
        </p:txBody>
      </p:sp>
      <p:sp>
        <p:nvSpPr>
          <p:cNvPr id="2" name="">
            <a:extLst xmlns:a="http://schemas.openxmlformats.org/drawingml/2006/main">
              <a:ext uri="{FF2B5EF4-FFF2-40B4-BE49-F238E27FC236}">
                <a16:creationId xmlns:a16="http://schemas.microsoft.com/office/drawing/2014/main" id="{186C7789-AF7B-4BF7-AB7F-DBA3AF338BEB}"/>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Likely questions: value, ownership, and scope</a:t>
            </a:r>
          </a:p>
        </p:txBody>
      </p:sp>
      <p:sp>
        <p:nvSpPr>
          <p:cNvPr id="3" name="">
            <a:extLst xmlns:a="http://schemas.openxmlformats.org/drawingml/2006/main">
              <a:ext uri="{FF2B5EF4-FFF2-40B4-BE49-F238E27FC236}">
                <a16:creationId xmlns:a16="http://schemas.microsoft.com/office/drawing/2014/main" id="{4A8A5C5A-8D11-4994-A5DE-3A074D79F71E}"/>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7E3B53B-69C7-40A9-BDB4-F4CF1D547DFB}"/>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SRC-001, OQ-001–004, OQ-014</a:t>
            </a:r>
          </a:p>
        </p:txBody>
      </p:sp>
      <p:sp>
        <p:nvSpPr>
          <p:cNvPr id="5" name="">
            <a:extLst xmlns:a="http://schemas.openxmlformats.org/drawingml/2006/main">
              <a:ext uri="{FF2B5EF4-FFF2-40B4-BE49-F238E27FC236}">
                <a16:creationId xmlns:a16="http://schemas.microsoft.com/office/drawing/2014/main" id="{C50FD1A5-2BAF-44F5-82CA-B93F1CC2827B}"/>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D66D51FA-2BB6-44B6-92C1-BF257B892AC5}"/>
              </a:ext>
            </a:extLst>
          </p:cNvPr>
          <p:cNvSpPr>
            <a:spLocks xmlns:a="http://schemas.openxmlformats.org/drawingml/2006/main" noGrp="1"/>
          </p:cNvSpPr>
          <p:nvPr/>
        </p:nvSpPr>
        <p:spPr>
          <a:xfrm xmlns:a="http://schemas.openxmlformats.org/drawingml/2006/main">
            <a:off x="400050" y="16192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217733DB-1EB3-42B7-AC00-0DF0DB8781E9}"/>
              </a:ext>
            </a:extLst>
          </p:cNvPr>
          <p:cNvSpPr>
            <a:spLocks xmlns:a="http://schemas.openxmlformats.org/drawingml/2006/main" noGrp="1"/>
          </p:cNvSpPr>
          <p:nvPr/>
        </p:nvSpPr>
        <p:spPr>
          <a:xfrm xmlns:a="http://schemas.openxmlformats.org/drawingml/2006/main">
            <a:off x="1066800" y="159067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How is this different from the existing Vet Clinic Site Selection plan?</a:t>
            </a:r>
          </a:p>
        </p:txBody>
      </p:sp>
      <p:sp>
        <p:nvSpPr>
          <p:cNvPr id="8" name="">
            <a:extLst xmlns:a="http://schemas.openxmlformats.org/drawingml/2006/main">
              <a:ext uri="{FF2B5EF4-FFF2-40B4-BE49-F238E27FC236}">
                <a16:creationId xmlns:a16="http://schemas.microsoft.com/office/drawing/2014/main" id="{F46D3356-8742-48EB-B2E3-0D68171106FE}"/>
              </a:ext>
            </a:extLst>
          </p:cNvPr>
          <p:cNvSpPr>
            <a:spLocks xmlns:a="http://schemas.openxmlformats.org/drawingml/2006/main" noGrp="1"/>
          </p:cNvSpPr>
          <p:nvPr/>
        </p:nvSpPr>
        <p:spPr>
          <a:xfrm xmlns:a="http://schemas.openxmlformats.org/drawingml/2006/main">
            <a:off x="400050" y="3000375"/>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00B3F408-27A5-4796-88DE-5D9DA8A2DDB0}"/>
              </a:ext>
            </a:extLst>
          </p:cNvPr>
          <p:cNvSpPr>
            <a:spLocks xmlns:a="http://schemas.openxmlformats.org/drawingml/2006/main" noGrp="1"/>
          </p:cNvSpPr>
          <p:nvPr/>
        </p:nvSpPr>
        <p:spPr>
          <a:xfrm xmlns:a="http://schemas.openxmlformats.org/drawingml/2006/main">
            <a:off x="1066800" y="29718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What problem does this solve that Esri or current dashboards do not?</a:t>
            </a:r>
          </a:p>
        </p:txBody>
      </p:sp>
      <p:sp>
        <p:nvSpPr>
          <p:cNvPr id="10" name="">
            <a:extLst xmlns:a="http://schemas.openxmlformats.org/drawingml/2006/main">
              <a:ext uri="{FF2B5EF4-FFF2-40B4-BE49-F238E27FC236}">
                <a16:creationId xmlns:a16="http://schemas.microsoft.com/office/drawing/2014/main" id="{F8486990-E9A2-4317-A2C7-4E0A4090AF0C}"/>
              </a:ext>
            </a:extLst>
          </p:cNvPr>
          <p:cNvSpPr>
            <a:spLocks xmlns:a="http://schemas.openxmlformats.org/drawingml/2006/main" noGrp="1"/>
          </p:cNvSpPr>
          <p:nvPr/>
        </p:nvSpPr>
        <p:spPr>
          <a:xfrm xmlns:a="http://schemas.openxmlformats.org/drawingml/2006/main">
            <a:off x="400050" y="438150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EFF48805-C5A2-4259-B694-75217A8CF36D}"/>
              </a:ext>
            </a:extLst>
          </p:cNvPr>
          <p:cNvSpPr>
            <a:spLocks xmlns:a="http://schemas.openxmlformats.org/drawingml/2006/main" noGrp="1"/>
          </p:cNvSpPr>
          <p:nvPr/>
        </p:nvSpPr>
        <p:spPr>
          <a:xfrm xmlns:a="http://schemas.openxmlformats.org/drawingml/2006/main">
            <a:off x="1066800" y="435292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Who is the user, and at what point in the workflow would they use it?</a:t>
            </a:r>
          </a:p>
        </p:txBody>
      </p:sp>
      <p:sp>
        <p:nvSpPr>
          <p:cNvPr id="12" name="">
            <a:extLst xmlns:a="http://schemas.openxmlformats.org/drawingml/2006/main">
              <a:ext uri="{FF2B5EF4-FFF2-40B4-BE49-F238E27FC236}">
                <a16:creationId xmlns:a16="http://schemas.microsoft.com/office/drawing/2014/main" id="{353AF446-6826-44A3-A4F8-FA65CC2F8DFC}"/>
              </a:ext>
            </a:extLst>
          </p:cNvPr>
          <p:cNvSpPr>
            <a:spLocks xmlns:a="http://schemas.openxmlformats.org/drawingml/2006/main" noGrp="1"/>
          </p:cNvSpPr>
          <p:nvPr/>
        </p:nvSpPr>
        <p:spPr>
          <a:xfrm xmlns:a="http://schemas.openxmlformats.org/drawingml/2006/main">
            <a:off x="6286500" y="16192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04</a:t>
            </a:r>
          </a:p>
        </p:txBody>
      </p:sp>
      <p:sp>
        <p:nvSpPr>
          <p:cNvPr id="13" name="">
            <a:extLst xmlns:a="http://schemas.openxmlformats.org/drawingml/2006/main">
              <a:ext uri="{FF2B5EF4-FFF2-40B4-BE49-F238E27FC236}">
                <a16:creationId xmlns:a16="http://schemas.microsoft.com/office/drawing/2014/main" id="{4DCFA50A-7954-4013-B9BF-9BAFC60FAD59}"/>
              </a:ext>
            </a:extLst>
          </p:cNvPr>
          <p:cNvSpPr>
            <a:spLocks xmlns:a="http://schemas.openxmlformats.org/drawingml/2006/main" noGrp="1"/>
          </p:cNvSpPr>
          <p:nvPr/>
        </p:nvSpPr>
        <p:spPr>
          <a:xfrm xmlns:a="http://schemas.openxmlformats.org/drawingml/2006/main">
            <a:off x="6953250" y="159067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What business impact can you defend today?</a:t>
            </a:r>
          </a:p>
        </p:txBody>
      </p:sp>
      <p:sp>
        <p:nvSpPr>
          <p:cNvPr id="14" name="">
            <a:extLst xmlns:a="http://schemas.openxmlformats.org/drawingml/2006/main">
              <a:ext uri="{FF2B5EF4-FFF2-40B4-BE49-F238E27FC236}">
                <a16:creationId xmlns:a16="http://schemas.microsoft.com/office/drawing/2014/main" id="{A678646E-C266-4A4D-8409-15D0CF5C1746}"/>
              </a:ext>
            </a:extLst>
          </p:cNvPr>
          <p:cNvSpPr>
            <a:spLocks xmlns:a="http://schemas.openxmlformats.org/drawingml/2006/main" noGrp="1"/>
          </p:cNvSpPr>
          <p:nvPr/>
        </p:nvSpPr>
        <p:spPr>
          <a:xfrm xmlns:a="http://schemas.openxmlformats.org/drawingml/2006/main">
            <a:off x="6286500" y="3000375"/>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05</a:t>
            </a:r>
          </a:p>
        </p:txBody>
      </p:sp>
      <p:sp>
        <p:nvSpPr>
          <p:cNvPr id="15" name="">
            <a:extLst xmlns:a="http://schemas.openxmlformats.org/drawingml/2006/main">
              <a:ext uri="{FF2B5EF4-FFF2-40B4-BE49-F238E27FC236}">
                <a16:creationId xmlns:a16="http://schemas.microsoft.com/office/drawing/2014/main" id="{E11521B0-C0A6-4A36-ACDE-D2BF4FD71021}"/>
              </a:ext>
            </a:extLst>
          </p:cNvPr>
          <p:cNvSpPr>
            <a:spLocks xmlns:a="http://schemas.openxmlformats.org/drawingml/2006/main" noGrp="1"/>
          </p:cNvSpPr>
          <p:nvPr/>
        </p:nvSpPr>
        <p:spPr>
          <a:xfrm xmlns:a="http://schemas.openxmlformats.org/drawingml/2006/main">
            <a:off x="6953250" y="29718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Why use AI at all?</a:t>
            </a:r>
          </a:p>
        </p:txBody>
      </p:sp>
      <p:sp>
        <p:nvSpPr>
          <p:cNvPr id="16" name="">
            <a:extLst xmlns:a="http://schemas.openxmlformats.org/drawingml/2006/main">
              <a:ext uri="{FF2B5EF4-FFF2-40B4-BE49-F238E27FC236}">
                <a16:creationId xmlns:a16="http://schemas.microsoft.com/office/drawing/2014/main" id="{FEFE9F91-351E-43A8-882E-D0FF1661F7D1}"/>
              </a:ext>
            </a:extLst>
          </p:cNvPr>
          <p:cNvSpPr>
            <a:spLocks xmlns:a="http://schemas.openxmlformats.org/drawingml/2006/main" noGrp="1"/>
          </p:cNvSpPr>
          <p:nvPr/>
        </p:nvSpPr>
        <p:spPr>
          <a:xfrm xmlns:a="http://schemas.openxmlformats.org/drawingml/2006/main">
            <a:off x="6286500" y="438150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06</a:t>
            </a:r>
          </a:p>
        </p:txBody>
      </p:sp>
      <p:sp>
        <p:nvSpPr>
          <p:cNvPr id="17" name="">
            <a:extLst xmlns:a="http://schemas.openxmlformats.org/drawingml/2006/main">
              <a:ext uri="{FF2B5EF4-FFF2-40B4-BE49-F238E27FC236}">
                <a16:creationId xmlns:a16="http://schemas.microsoft.com/office/drawing/2014/main" id="{97EDB294-0CB3-4BA9-B35E-B0657FDA83AD}"/>
              </a:ext>
            </a:extLst>
          </p:cNvPr>
          <p:cNvSpPr>
            <a:spLocks xmlns:a="http://schemas.openxmlformats.org/drawingml/2006/main" noGrp="1"/>
          </p:cNvSpPr>
          <p:nvPr/>
        </p:nvSpPr>
        <p:spPr>
          <a:xfrm xmlns:a="http://schemas.openxmlformats.org/drawingml/2006/main">
            <a:off x="6953250" y="435292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What would make you stop or change direction?</a:t>
            </a:r>
          </a:p>
        </p:txBody>
      </p:sp>
    </p:spTree>
    <p:extLst>
      <p:ext uri="{BB962C8B-B14F-4D97-AF65-F5344CB8AC3E}">
        <p14:creationId xmlns:p14="http://schemas.microsoft.com/office/powerpoint/2010/main" val="112259275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41DA711-3383-40A2-B059-B4A4CFA0EA12}"/>
              </a:ext>
            </a:extLst>
          </p:cNvPr>
          <p:cNvSpPr>
            <a:spLocks xmlns:a="http://schemas.openxmlformats.org/drawingml/2006/main" noGrp="1"/>
          </p:cNvSpPr>
          <p:nvPr/>
        </p:nvSpPr>
        <p:spPr>
          <a:xfrm xmlns:a="http://schemas.openxmlformats.org/drawingml/2006/main">
            <a:off x="400050" y="2667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2D5BFF"/>
                </a:solidFill>
                <a:latin typeface="Aptos"/>
                <a:ea typeface="Aptos"/>
                <a:cs typeface="Aptos"/>
              </a:defRPr>
            </a:pPr>
            <a:r>
              <a:rPr sz="1200" b="1">
                <a:solidFill>
                  <a:srgbClr val="2D5BFF"/>
                </a:solidFill>
                <a:latin typeface="Aptos"/>
                <a:ea typeface="Aptos"/>
                <a:cs typeface="Aptos"/>
              </a:rPr>
              <a:t>Q&amp;A APPENDIX</a:t>
            </a:r>
          </a:p>
        </p:txBody>
      </p:sp>
      <p:sp>
        <p:nvSpPr>
          <p:cNvPr id="2" name="">
            <a:extLst xmlns:a="http://schemas.openxmlformats.org/drawingml/2006/main">
              <a:ext uri="{FF2B5EF4-FFF2-40B4-BE49-F238E27FC236}">
                <a16:creationId xmlns:a16="http://schemas.microsoft.com/office/drawing/2014/main" id="{1279F5A1-F2FB-48D3-8847-DC5F5D687007}"/>
              </a:ext>
            </a:extLst>
          </p:cNvPr>
          <p:cNvSpPr>
            <a:spLocks xmlns:a="http://schemas.openxmlformats.org/drawingml/2006/main" noGrp="1"/>
          </p:cNvSpPr>
          <p:nvPr/>
        </p:nvSpPr>
        <p:spPr>
          <a:xfrm xmlns:a="http://schemas.openxmlformats.org/drawingml/2006/main">
            <a:off x="400050" y="590550"/>
            <a:ext cx="113157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13213A"/>
                </a:solidFill>
                <a:latin typeface="Aptos"/>
                <a:ea typeface="Aptos"/>
                <a:cs typeface="Aptos"/>
              </a:defRPr>
            </a:pPr>
            <a:r>
              <a:rPr sz="3600" b="1">
                <a:solidFill>
                  <a:srgbClr val="13213A"/>
                </a:solidFill>
                <a:latin typeface="Aptos"/>
                <a:ea typeface="Aptos"/>
                <a:cs typeface="Aptos"/>
              </a:rPr>
              <a:t>Likely questions: data and risk</a:t>
            </a:r>
          </a:p>
        </p:txBody>
      </p:sp>
      <p:sp>
        <p:nvSpPr>
          <p:cNvPr id="3" name="">
            <a:extLst xmlns:a="http://schemas.openxmlformats.org/drawingml/2006/main">
              <a:ext uri="{FF2B5EF4-FFF2-40B4-BE49-F238E27FC236}">
                <a16:creationId xmlns:a16="http://schemas.microsoft.com/office/drawing/2014/main" id="{26478118-F84C-4BDB-96EA-780EC8BA974C}"/>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CCD8538-6479-404A-B5DF-42D462FAFFAC}"/>
              </a:ext>
            </a:extLst>
          </p:cNvPr>
          <p:cNvSpPr>
            <a:spLocks xmlns:a="http://schemas.openxmlformats.org/drawingml/2006/main" noGrp="1"/>
          </p:cNvSpPr>
          <p:nvPr/>
        </p:nvSpPr>
        <p:spPr>
          <a:xfrm xmlns:a="http://schemas.openxmlformats.org/drawingml/2006/main">
            <a:off x="400050" y="6486525"/>
            <a:ext cx="1000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l">
              <a:defRPr sz="900" b="0">
                <a:solidFill>
                  <a:srgbClr val="687386"/>
                </a:solidFill>
                <a:latin typeface="Aptos"/>
                <a:ea typeface="Aptos"/>
                <a:cs typeface="Aptos"/>
              </a:defRPr>
            </a:pPr>
            <a:r>
              <a:rPr sz="900" b="0">
                <a:solidFill>
                  <a:srgbClr val="687386"/>
                </a:solidFill>
                <a:latin typeface="Aptos"/>
                <a:ea typeface="Aptos"/>
                <a:cs typeface="Aptos"/>
              </a:rPr>
              <a:t>Sources: OQ-005–013, AI boundaries</a:t>
            </a:r>
          </a:p>
        </p:txBody>
      </p:sp>
      <p:sp>
        <p:nvSpPr>
          <p:cNvPr id="5" name="">
            <a:extLst xmlns:a="http://schemas.openxmlformats.org/drawingml/2006/main">
              <a:ext uri="{FF2B5EF4-FFF2-40B4-BE49-F238E27FC236}">
                <a16:creationId xmlns:a16="http://schemas.microsoft.com/office/drawing/2014/main" id="{121A0F5F-0527-49D4-8109-0054C20D70AA}"/>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defRPr sz="975" b="0">
                <a:solidFill>
                  <a:srgbClr val="687386"/>
                </a:solidFill>
                <a:latin typeface="Aptos"/>
                <a:ea typeface="Aptos"/>
                <a:cs typeface="Aptos"/>
              </a:defRPr>
            </a:pPr>
            <a:r>
              <a:rPr sz="975" b="0">
                <a:solidFill>
                  <a:srgbClr val="687386"/>
                </a:solidFill>
                <a:latin typeface="Aptos"/>
                <a:ea typeface="Aptos"/>
                <a:cs typeface="Aptos"/>
              </a:rPr>
              <a:t>16</a:t>
            </a:r>
          </a:p>
        </p:txBody>
      </p:sp>
      <p:sp>
        <p:nvSpPr>
          <p:cNvPr id="6" name="">
            <a:extLst xmlns:a="http://schemas.openxmlformats.org/drawingml/2006/main">
              <a:ext uri="{FF2B5EF4-FFF2-40B4-BE49-F238E27FC236}">
                <a16:creationId xmlns:a16="http://schemas.microsoft.com/office/drawing/2014/main" id="{FD217CF4-88AB-4FC9-A681-E2FE35ED88D8}"/>
              </a:ext>
            </a:extLst>
          </p:cNvPr>
          <p:cNvSpPr>
            <a:spLocks xmlns:a="http://schemas.openxmlformats.org/drawingml/2006/main" noGrp="1"/>
          </p:cNvSpPr>
          <p:nvPr/>
        </p:nvSpPr>
        <p:spPr>
          <a:xfrm xmlns:a="http://schemas.openxmlformats.org/drawingml/2006/main">
            <a:off x="400050" y="16192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347A4A"/>
                </a:solidFill>
                <a:latin typeface="Aptos"/>
                <a:ea typeface="Aptos"/>
                <a:cs typeface="Aptos"/>
              </a:defRPr>
            </a:pPr>
            <a:r>
              <a:rPr sz="1200" b="1">
                <a:solidFill>
                  <a:srgbClr val="347A4A"/>
                </a:solidFill>
                <a:latin typeface="Aptos"/>
                <a:ea typeface="Aptos"/>
                <a:cs typeface="Aptos"/>
              </a:rPr>
              <a:t>07</a:t>
            </a:r>
          </a:p>
        </p:txBody>
      </p:sp>
      <p:sp>
        <p:nvSpPr>
          <p:cNvPr id="7" name="">
            <a:extLst xmlns:a="http://schemas.openxmlformats.org/drawingml/2006/main">
              <a:ext uri="{FF2B5EF4-FFF2-40B4-BE49-F238E27FC236}">
                <a16:creationId xmlns:a16="http://schemas.microsoft.com/office/drawing/2014/main" id="{AD2E1F43-1A67-4084-AF9B-C53E4EBBFF77}"/>
              </a:ext>
            </a:extLst>
          </p:cNvPr>
          <p:cNvSpPr>
            <a:spLocks xmlns:a="http://schemas.openxmlformats.org/drawingml/2006/main" noGrp="1"/>
          </p:cNvSpPr>
          <p:nvPr/>
        </p:nvSpPr>
        <p:spPr>
          <a:xfrm xmlns:a="http://schemas.openxmlformats.org/drawingml/2006/main">
            <a:off x="1066800" y="159067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Do we actually have enough historical data to validate a model?</a:t>
            </a:r>
          </a:p>
        </p:txBody>
      </p:sp>
      <p:sp>
        <p:nvSpPr>
          <p:cNvPr id="8" name="">
            <a:extLst xmlns:a="http://schemas.openxmlformats.org/drawingml/2006/main">
              <a:ext uri="{FF2B5EF4-FFF2-40B4-BE49-F238E27FC236}">
                <a16:creationId xmlns:a16="http://schemas.microsoft.com/office/drawing/2014/main" id="{5B209E4D-ED67-47F3-BDB0-E513893A6C18}"/>
              </a:ext>
            </a:extLst>
          </p:cNvPr>
          <p:cNvSpPr>
            <a:spLocks xmlns:a="http://schemas.openxmlformats.org/drawingml/2006/main" noGrp="1"/>
          </p:cNvSpPr>
          <p:nvPr/>
        </p:nvSpPr>
        <p:spPr>
          <a:xfrm xmlns:a="http://schemas.openxmlformats.org/drawingml/2006/main">
            <a:off x="400050" y="3000375"/>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347A4A"/>
                </a:solidFill>
                <a:latin typeface="Aptos"/>
                <a:ea typeface="Aptos"/>
                <a:cs typeface="Aptos"/>
              </a:defRPr>
            </a:pPr>
            <a:r>
              <a:rPr sz="1200" b="1">
                <a:solidFill>
                  <a:srgbClr val="347A4A"/>
                </a:solidFill>
                <a:latin typeface="Aptos"/>
                <a:ea typeface="Aptos"/>
                <a:cs typeface="Aptos"/>
              </a:rPr>
              <a:t>08</a:t>
            </a:r>
          </a:p>
        </p:txBody>
      </p:sp>
      <p:sp>
        <p:nvSpPr>
          <p:cNvPr id="9" name="">
            <a:extLst xmlns:a="http://schemas.openxmlformats.org/drawingml/2006/main">
              <a:ext uri="{FF2B5EF4-FFF2-40B4-BE49-F238E27FC236}">
                <a16:creationId xmlns:a16="http://schemas.microsoft.com/office/drawing/2014/main" id="{97496CBA-80D7-4458-BE45-63EFF83B35D2}"/>
              </a:ext>
            </a:extLst>
          </p:cNvPr>
          <p:cNvSpPr>
            <a:spLocks xmlns:a="http://schemas.openxmlformats.org/drawingml/2006/main" noGrp="1"/>
          </p:cNvSpPr>
          <p:nvPr/>
        </p:nvSpPr>
        <p:spPr>
          <a:xfrm xmlns:a="http://schemas.openxmlformats.org/drawingml/2006/main">
            <a:off x="1066800" y="29718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48"/>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Where will the customer, competitor, traffic, staffing, and property data come from?</a:t>
            </a:r>
          </a:p>
        </p:txBody>
      </p:sp>
      <p:sp>
        <p:nvSpPr>
          <p:cNvPr id="10" name="">
            <a:extLst xmlns:a="http://schemas.openxmlformats.org/drawingml/2006/main">
              <a:ext uri="{FF2B5EF4-FFF2-40B4-BE49-F238E27FC236}">
                <a16:creationId xmlns:a16="http://schemas.microsoft.com/office/drawing/2014/main" id="{C07A72B3-1AF7-4F21-BF45-037DE4AC3E92}"/>
              </a:ext>
            </a:extLst>
          </p:cNvPr>
          <p:cNvSpPr>
            <a:spLocks xmlns:a="http://schemas.openxmlformats.org/drawingml/2006/main" noGrp="1"/>
          </p:cNvSpPr>
          <p:nvPr/>
        </p:nvSpPr>
        <p:spPr>
          <a:xfrm xmlns:a="http://schemas.openxmlformats.org/drawingml/2006/main">
            <a:off x="400050" y="438150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347A4A"/>
                </a:solidFill>
                <a:latin typeface="Aptos"/>
                <a:ea typeface="Aptos"/>
                <a:cs typeface="Aptos"/>
              </a:defRPr>
            </a:pPr>
            <a:r>
              <a:rPr sz="1200" b="1">
                <a:solidFill>
                  <a:srgbClr val="347A4A"/>
                </a:solidFill>
                <a:latin typeface="Aptos"/>
                <a:ea typeface="Aptos"/>
                <a:cs typeface="Aptos"/>
              </a:rPr>
              <a:t>09</a:t>
            </a:r>
          </a:p>
        </p:txBody>
      </p:sp>
      <p:sp>
        <p:nvSpPr>
          <p:cNvPr id="11" name="">
            <a:extLst xmlns:a="http://schemas.openxmlformats.org/drawingml/2006/main">
              <a:ext uri="{FF2B5EF4-FFF2-40B4-BE49-F238E27FC236}">
                <a16:creationId xmlns:a16="http://schemas.microsoft.com/office/drawing/2014/main" id="{38378E94-E797-4CEE-B8C0-81695C18ACA1}"/>
              </a:ext>
            </a:extLst>
          </p:cNvPr>
          <p:cNvSpPr>
            <a:spLocks xmlns:a="http://schemas.openxmlformats.org/drawingml/2006/main" noGrp="1"/>
          </p:cNvSpPr>
          <p:nvPr/>
        </p:nvSpPr>
        <p:spPr>
          <a:xfrm xmlns:a="http://schemas.openxmlformats.org/drawingml/2006/main">
            <a:off x="1066800" y="435292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Who sets the weights and hard constraints?</a:t>
            </a:r>
          </a:p>
        </p:txBody>
      </p:sp>
      <p:sp>
        <p:nvSpPr>
          <p:cNvPr id="12" name="">
            <a:extLst xmlns:a="http://schemas.openxmlformats.org/drawingml/2006/main">
              <a:ext uri="{FF2B5EF4-FFF2-40B4-BE49-F238E27FC236}">
                <a16:creationId xmlns:a16="http://schemas.microsoft.com/office/drawing/2014/main" id="{5FA4F2D2-D8A7-4038-8FA7-9347D60B4633}"/>
              </a:ext>
            </a:extLst>
          </p:cNvPr>
          <p:cNvSpPr>
            <a:spLocks xmlns:a="http://schemas.openxmlformats.org/drawingml/2006/main" noGrp="1"/>
          </p:cNvSpPr>
          <p:nvPr/>
        </p:nvSpPr>
        <p:spPr>
          <a:xfrm xmlns:a="http://schemas.openxmlformats.org/drawingml/2006/main">
            <a:off x="6286500" y="16192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347A4A"/>
                </a:solidFill>
                <a:latin typeface="Aptos"/>
                <a:ea typeface="Aptos"/>
                <a:cs typeface="Aptos"/>
              </a:defRPr>
            </a:pPr>
            <a:r>
              <a:rPr sz="1200" b="1">
                <a:solidFill>
                  <a:srgbClr val="347A4A"/>
                </a:solidFill>
                <a:latin typeface="Aptos"/>
                <a:ea typeface="Aptos"/>
                <a:cs typeface="Aptos"/>
              </a:rPr>
              <a:t>010</a:t>
            </a:r>
          </a:p>
        </p:txBody>
      </p:sp>
      <p:sp>
        <p:nvSpPr>
          <p:cNvPr id="13" name="">
            <a:extLst xmlns:a="http://schemas.openxmlformats.org/drawingml/2006/main">
              <a:ext uri="{FF2B5EF4-FFF2-40B4-BE49-F238E27FC236}">
                <a16:creationId xmlns:a16="http://schemas.microsoft.com/office/drawing/2014/main" id="{82B3B0D5-6C8C-4DAF-8461-F41F16774973}"/>
              </a:ext>
            </a:extLst>
          </p:cNvPr>
          <p:cNvSpPr>
            <a:spLocks xmlns:a="http://schemas.openxmlformats.org/drawingml/2006/main" noGrp="1"/>
          </p:cNvSpPr>
          <p:nvPr/>
        </p:nvSpPr>
        <p:spPr>
          <a:xfrm xmlns:a="http://schemas.openxmlformats.org/drawingml/2006/main">
            <a:off x="6953250" y="159067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How do you prevent missing data from creating a misleading score?</a:t>
            </a:r>
          </a:p>
        </p:txBody>
      </p:sp>
      <p:sp>
        <p:nvSpPr>
          <p:cNvPr id="14" name="">
            <a:extLst xmlns:a="http://schemas.openxmlformats.org/drawingml/2006/main">
              <a:ext uri="{FF2B5EF4-FFF2-40B4-BE49-F238E27FC236}">
                <a16:creationId xmlns:a16="http://schemas.microsoft.com/office/drawing/2014/main" id="{CA7AFC31-9447-4516-BC7D-C0BF14A12A1D}"/>
              </a:ext>
            </a:extLst>
          </p:cNvPr>
          <p:cNvSpPr>
            <a:spLocks xmlns:a="http://schemas.openxmlformats.org/drawingml/2006/main" noGrp="1"/>
          </p:cNvSpPr>
          <p:nvPr/>
        </p:nvSpPr>
        <p:spPr>
          <a:xfrm xmlns:a="http://schemas.openxmlformats.org/drawingml/2006/main">
            <a:off x="6286500" y="3000375"/>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347A4A"/>
                </a:solidFill>
                <a:latin typeface="Aptos"/>
                <a:ea typeface="Aptos"/>
                <a:cs typeface="Aptos"/>
              </a:defRPr>
            </a:pPr>
            <a:r>
              <a:rPr sz="1200" b="1">
                <a:solidFill>
                  <a:srgbClr val="347A4A"/>
                </a:solidFill>
                <a:latin typeface="Aptos"/>
                <a:ea typeface="Aptos"/>
                <a:cs typeface="Aptos"/>
              </a:rPr>
              <a:t>011</a:t>
            </a:r>
          </a:p>
        </p:txBody>
      </p:sp>
      <p:sp>
        <p:nvSpPr>
          <p:cNvPr id="15" name="">
            <a:extLst xmlns:a="http://schemas.openxmlformats.org/drawingml/2006/main">
              <a:ext uri="{FF2B5EF4-FFF2-40B4-BE49-F238E27FC236}">
                <a16:creationId xmlns:a16="http://schemas.microsoft.com/office/drawing/2014/main" id="{FD9E7C12-7C7A-4BC9-AB8D-4C8AF1257F28}"/>
              </a:ext>
            </a:extLst>
          </p:cNvPr>
          <p:cNvSpPr>
            <a:spLocks xmlns:a="http://schemas.openxmlformats.org/drawingml/2006/main" noGrp="1"/>
          </p:cNvSpPr>
          <p:nvPr/>
        </p:nvSpPr>
        <p:spPr>
          <a:xfrm xmlns:a="http://schemas.openxmlformats.org/drawingml/2006/main">
            <a:off x="6953250" y="29718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Could AI hallucinate or bias the recommendation?</a:t>
            </a:r>
          </a:p>
        </p:txBody>
      </p:sp>
      <p:sp>
        <p:nvSpPr>
          <p:cNvPr id="16" name="">
            <a:extLst xmlns:a="http://schemas.openxmlformats.org/drawingml/2006/main">
              <a:ext uri="{FF2B5EF4-FFF2-40B4-BE49-F238E27FC236}">
                <a16:creationId xmlns:a16="http://schemas.microsoft.com/office/drawing/2014/main" id="{40B1462E-1B81-4195-A889-E2F114A9E9BC}"/>
              </a:ext>
            </a:extLst>
          </p:cNvPr>
          <p:cNvSpPr>
            <a:spLocks xmlns:a="http://schemas.openxmlformats.org/drawingml/2006/main" noGrp="1"/>
          </p:cNvSpPr>
          <p:nvPr/>
        </p:nvSpPr>
        <p:spPr>
          <a:xfrm xmlns:a="http://schemas.openxmlformats.org/drawingml/2006/main">
            <a:off x="6286500" y="438150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a:solidFill>
                  <a:srgbClr val="347A4A"/>
                </a:solidFill>
                <a:latin typeface="Aptos"/>
                <a:ea typeface="Aptos"/>
                <a:cs typeface="Aptos"/>
              </a:defRPr>
            </a:pPr>
            <a:r>
              <a:rPr sz="1200" b="1">
                <a:solidFill>
                  <a:srgbClr val="347A4A"/>
                </a:solidFill>
                <a:latin typeface="Aptos"/>
                <a:ea typeface="Aptos"/>
                <a:cs typeface="Aptos"/>
              </a:rPr>
              <a:t>012</a:t>
            </a:r>
          </a:p>
        </p:txBody>
      </p:sp>
      <p:sp>
        <p:nvSpPr>
          <p:cNvPr id="17" name="">
            <a:extLst xmlns:a="http://schemas.openxmlformats.org/drawingml/2006/main">
              <a:ext uri="{FF2B5EF4-FFF2-40B4-BE49-F238E27FC236}">
                <a16:creationId xmlns:a16="http://schemas.microsoft.com/office/drawing/2014/main" id="{6AC639FF-FECE-40BC-AD6C-176510793199}"/>
              </a:ext>
            </a:extLst>
          </p:cNvPr>
          <p:cNvSpPr>
            <a:spLocks xmlns:a="http://schemas.openxmlformats.org/drawingml/2006/main" noGrp="1"/>
          </p:cNvSpPr>
          <p:nvPr/>
        </p:nvSpPr>
        <p:spPr>
          <a:xfrm xmlns:a="http://schemas.openxmlformats.org/drawingml/2006/main">
            <a:off x="6953250" y="4352925"/>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370"/>
          </a:bodyPr>
          <a:lstStyle xmlns:a="http://schemas.openxmlformats.org/drawingml/2006/main"/>
          <a:p xmlns:a="http://schemas.openxmlformats.org/drawingml/2006/main">
            <a:pPr algn="l">
              <a:defRPr sz="1800" b="1">
                <a:solidFill>
                  <a:srgbClr val="13213A"/>
                </a:solidFill>
                <a:latin typeface="Aptos"/>
                <a:ea typeface="Aptos"/>
                <a:cs typeface="Aptos"/>
              </a:defRPr>
            </a:pPr>
            <a:r>
              <a:rPr sz="1800" b="1">
                <a:solidFill>
                  <a:srgbClr val="13213A"/>
                </a:solidFill>
                <a:latin typeface="Aptos"/>
                <a:ea typeface="Aptos"/>
                <a:cs typeface="Aptos"/>
              </a:rPr>
              <a:t>How will you know the tool improves decisions rather than just creating another dashboard?</a:t>
            </a:r>
          </a:p>
        </p:txBody>
      </p:sp>
    </p:spTree>
    <p:extLst>
      <p:ext uri="{BB962C8B-B14F-4D97-AF65-F5344CB8AC3E}">
        <p14:creationId xmlns:p14="http://schemas.microsoft.com/office/powerpoint/2010/main" val="7885312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BEAA55-5BF8-4BCE-9240-0AB80DB2A2CD}"/>
              </a:ext>
            </a:extLst>
          </p:cNvPr>
          <p:cNvSpPr>
            <a:spLocks xmlns:a="http://schemas.openxmlformats.org/drawingml/2006/main" noGrp="1"/>
          </p:cNvSpPr>
          <p:nvPr/>
        </p:nvSpPr>
        <p:spPr>
          <a:xfrm xmlns:a="http://schemas.openxmlformats.org/drawingml/2006/main">
            <a:off x="400050" y="4000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2D5BFF"/>
                </a:solidFill>
                <a:latin typeface="Aptos"/>
                <a:ea typeface="Aptos"/>
                <a:cs typeface="Aptos"/>
              </a:defRPr>
            </a:pPr>
            <a:r>
              <a:rPr sz="1275" b="1">
                <a:solidFill>
                  <a:srgbClr val="2D5BFF"/>
                </a:solidFill>
                <a:latin typeface="Aptos"/>
                <a:ea typeface="Aptos"/>
                <a:cs typeface="Aptos"/>
              </a:rPr>
              <a:t>THE TAKEAWAY</a:t>
            </a:r>
          </a:p>
        </p:txBody>
      </p:sp>
      <p:sp>
        <p:nvSpPr>
          <p:cNvPr id="2" name="">
            <a:extLst xmlns:a="http://schemas.openxmlformats.org/drawingml/2006/main">
              <a:ext uri="{FF2B5EF4-FFF2-40B4-BE49-F238E27FC236}">
                <a16:creationId xmlns:a16="http://schemas.microsoft.com/office/drawing/2014/main" id="{B1B6D86A-9491-4B39-A19C-B8652B5B3B7E}"/>
              </a:ext>
            </a:extLst>
          </p:cNvPr>
          <p:cNvSpPr>
            <a:spLocks xmlns:a="http://schemas.openxmlformats.org/drawingml/2006/main" noGrp="1"/>
          </p:cNvSpPr>
          <p:nvPr/>
        </p:nvSpPr>
        <p:spPr>
          <a:xfrm xmlns:a="http://schemas.openxmlformats.org/drawingml/2006/main">
            <a:off x="400050" y="1809750"/>
            <a:ext cx="10001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5250" b="1">
                <a:solidFill>
                  <a:srgbClr val="13213A"/>
                </a:solidFill>
                <a:latin typeface="Aptos"/>
                <a:ea typeface="Aptos"/>
                <a:cs typeface="Aptos"/>
              </a:defRPr>
            </a:pPr>
            <a:r>
              <a:rPr sz="5250" b="1">
                <a:solidFill>
                  <a:srgbClr val="13213A"/>
                </a:solidFill>
                <a:latin typeface="Aptos"/>
                <a:ea typeface="Aptos"/>
                <a:cs typeface="Aptos"/>
              </a:rPr>
              <a:t>Decision support,</a:t>
            </a:r>
          </a:p>
          <a:p xmlns:a="http://schemas.openxmlformats.org/drawingml/2006/main">
            <a:pPr algn="l">
              <a:defRPr sz="5250" b="1">
                <a:solidFill>
                  <a:srgbClr val="13213A"/>
                </a:solidFill>
                <a:latin typeface="Aptos"/>
                <a:ea typeface="Aptos"/>
                <a:cs typeface="Aptos"/>
              </a:defRPr>
            </a:pPr>
            <a:r>
              <a:rPr sz="5250" b="1">
                <a:solidFill>
                  <a:srgbClr val="13213A"/>
                </a:solidFill>
                <a:latin typeface="Aptos"/>
                <a:ea typeface="Aptos"/>
                <a:cs typeface="Aptos"/>
              </a:rPr>
              <a:t>not decision replacement.</a:t>
            </a:r>
          </a:p>
        </p:txBody>
      </p:sp>
      <p:sp>
        <p:nvSpPr>
          <p:cNvPr id="3" name="">
            <a:extLst xmlns:a="http://schemas.openxmlformats.org/drawingml/2006/main">
              <a:ext uri="{FF2B5EF4-FFF2-40B4-BE49-F238E27FC236}">
                <a16:creationId xmlns:a16="http://schemas.microsoft.com/office/drawing/2014/main" id="{2AD9CCC8-862F-449C-8081-114AA1CB26AD}"/>
              </a:ext>
            </a:extLst>
          </p:cNvPr>
          <p:cNvSpPr>
            <a:spLocks xmlns:a="http://schemas.openxmlformats.org/drawingml/2006/main" noGrp="1"/>
          </p:cNvSpPr>
          <p:nvPr/>
        </p:nvSpPr>
        <p:spPr>
          <a:xfrm xmlns:a="http://schemas.openxmlformats.org/drawingml/2006/main">
            <a:off x="400050" y="5095875"/>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75" b="0">
                <a:solidFill>
                  <a:srgbClr val="39455A"/>
                </a:solidFill>
                <a:latin typeface="Aptos"/>
                <a:ea typeface="Aptos"/>
                <a:cs typeface="Aptos"/>
              </a:defRPr>
            </a:pPr>
            <a:r>
              <a:rPr sz="2175" b="0">
                <a:solidFill>
                  <a:srgbClr val="39455A"/>
                </a:solidFill>
                <a:latin typeface="Aptos"/>
                <a:ea typeface="Aptos"/>
                <a:cs typeface="Aptos"/>
              </a:rPr>
              <a:t>Align the owner. Validate the workflow. Measure the value.</a:t>
            </a:r>
          </a:p>
        </p:txBody>
      </p:sp>
      <p:sp>
        <p:nvSpPr>
          <p:cNvPr id="4" name="">
            <a:extLst xmlns:a="http://schemas.openxmlformats.org/drawingml/2006/main">
              <a:ext uri="{FF2B5EF4-FFF2-40B4-BE49-F238E27FC236}">
                <a16:creationId xmlns:a16="http://schemas.microsoft.com/office/drawing/2014/main" id="{538EFEAF-EF3B-4DE1-B116-B7D06CFA8259}"/>
              </a:ext>
            </a:extLst>
          </p:cNvPr>
          <p:cNvSpPr>
            <a:spLocks xmlns:a="http://schemas.openxmlformats.org/drawingml/2006/main" noGrp="1"/>
          </p:cNvSpPr>
          <p:nvPr/>
        </p:nvSpPr>
        <p:spPr>
          <a:xfrm xmlns:a="http://schemas.openxmlformats.org/drawingml/2006/main">
            <a:off x="400050" y="59055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E43C8"/>
                </a:solidFill>
                <a:latin typeface="Aptos"/>
                <a:ea typeface="Aptos"/>
                <a:cs typeface="Aptos"/>
              </a:defRPr>
            </a:pPr>
            <a:r>
              <a:rPr sz="1575" b="1">
                <a:solidFill>
                  <a:srgbClr val="1E43C8"/>
                </a:solidFill>
                <a:latin typeface="Aptos"/>
                <a:ea typeface="Aptos"/>
                <a:cs typeface="Aptos"/>
              </a:rPr>
              <a:t>Questions</a:t>
            </a:r>
          </a:p>
        </p:txBody>
      </p:sp>
    </p:spTree>
    <p:extLst>
      <p:ext uri="{BB962C8B-B14F-4D97-AF65-F5344CB8AC3E}">
        <p14:creationId xmlns:p14="http://schemas.microsoft.com/office/powerpoint/2010/main" val="164883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2026-07-30T20:44:33.2810000Z</dcterms:created>
  <dcterms:modified xsi:type="dcterms:W3CDTF">2026-07-30T20:44:33.2810000Z</dcterms:modified>
</coreProperties>
</file>
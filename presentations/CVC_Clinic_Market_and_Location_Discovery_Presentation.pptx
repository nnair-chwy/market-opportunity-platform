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bea77100674e4e" /><Relationship Type="http://schemas.openxmlformats.org/officeDocument/2006/relationships/extended-properties" Target="/docProps/app.xml" Id="R844db40ff88c492c" /><Relationship Type="http://schemas.openxmlformats.org/officeDocument/2006/relationships/officeDocument" Target="/ppt/presentation.xml" Id="R88f6332d999e43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9fbeafe577460e"/>
  </p:sldMasterIdLst>
  <p:notesMasterIdLst>
    <p:notesMasterId xmlns:r="http://schemas.openxmlformats.org/officeDocument/2006/relationships" r:id="R405dbe401774451d"/>
  </p:notesMasterIdLst>
  <p:sldIdLst>
    <p:sldId xmlns:r="http://schemas.openxmlformats.org/officeDocument/2006/relationships" id="256" r:id="R3b1fce4dbc584105"/>
    <p:sldId xmlns:r="http://schemas.openxmlformats.org/officeDocument/2006/relationships" id="257" r:id="Rb53ff85a52684a02"/>
    <p:sldId xmlns:r="http://schemas.openxmlformats.org/officeDocument/2006/relationships" id="258" r:id="Rd5e0dcfb11734a65"/>
    <p:sldId xmlns:r="http://schemas.openxmlformats.org/officeDocument/2006/relationships" id="259" r:id="Rd2ff8f1eddea424c"/>
    <p:sldId xmlns:r="http://schemas.openxmlformats.org/officeDocument/2006/relationships" id="260" r:id="R49b74d68db564e5a"/>
    <p:sldId xmlns:r="http://schemas.openxmlformats.org/officeDocument/2006/relationships" id="261" r:id="Rb9c1275eb98c45f0"/>
    <p:sldId xmlns:r="http://schemas.openxmlformats.org/officeDocument/2006/relationships" id="262" r:id="R04a2214b531e4c08"/>
    <p:sldId xmlns:r="http://schemas.openxmlformats.org/officeDocument/2006/relationships" id="263" r:id="R994e27bc10c34ed8"/>
    <p:sldId xmlns:r="http://schemas.openxmlformats.org/officeDocument/2006/relationships" id="264" r:id="Rf661cfa8076f4bbb"/>
    <p:sldId xmlns:r="http://schemas.openxmlformats.org/officeDocument/2006/relationships" id="265" r:id="R0c29364edf124daf"/>
    <p:sldId xmlns:r="http://schemas.openxmlformats.org/officeDocument/2006/relationships" id="266" r:id="Ref3a14ab34c54b58"/>
    <p:sldId xmlns:r="http://schemas.openxmlformats.org/officeDocument/2006/relationships" id="267" r:id="Rb45760c8356e487b"/>
    <p:sldId xmlns:r="http://schemas.openxmlformats.org/officeDocument/2006/relationships" id="268" r:id="R159b0ad9058f4266"/>
    <p:sldId xmlns:r="http://schemas.openxmlformats.org/officeDocument/2006/relationships" id="269" r:id="R4c9fc4d8074c4e92"/>
    <p:sldId xmlns:r="http://schemas.openxmlformats.org/officeDocument/2006/relationships" id="270" r:id="R4059bf0624684916"/>
    <p:sldId xmlns:r="http://schemas.openxmlformats.org/officeDocument/2006/relationships" id="271" r:id="Rc51e253a267249f7"/>
    <p:sldId xmlns:r="http://schemas.openxmlformats.org/officeDocument/2006/relationships" id="272" r:id="R09038e899b46494c"/>
    <p:sldId xmlns:r="http://schemas.openxmlformats.org/officeDocument/2006/relationships" id="273" r:id="Refbe8772a73f47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871b74c0a447c2" /><Relationship Type="http://schemas.openxmlformats.org/officeDocument/2006/relationships/slideMaster" Target="/ppt/slideMasters/slideMaster1.xml" Id="Rfb9fbeafe577460e" /><Relationship Type="http://schemas.openxmlformats.org/officeDocument/2006/relationships/notesMaster" Target="/ppt/notesMasters/notesMaster1.xml" Id="R405dbe401774451d" /><Relationship Type="http://schemas.openxmlformats.org/officeDocument/2006/relationships/presProps" Target="/ppt/presProps.xml" Id="R1c67df74d68343cc" /><Relationship Type="http://schemas.openxmlformats.org/officeDocument/2006/relationships/tableStyles" Target="/ppt/tableStyles.xml" Id="Re0eb90e1319a4666" /><Relationship Type="http://schemas.openxmlformats.org/officeDocument/2006/relationships/slide" Target="/ppt/slides/slide1.xml" Id="R3b1fce4dbc584105" /><Relationship Type="http://schemas.openxmlformats.org/officeDocument/2006/relationships/slide" Target="/ppt/slides/slide2.xml" Id="Rb53ff85a52684a02" /><Relationship Type="http://schemas.openxmlformats.org/officeDocument/2006/relationships/slide" Target="/ppt/slides/slide3.xml" Id="Rd5e0dcfb11734a65" /><Relationship Type="http://schemas.openxmlformats.org/officeDocument/2006/relationships/slide" Target="/ppt/slides/slide4.xml" Id="Rd2ff8f1eddea424c" /><Relationship Type="http://schemas.openxmlformats.org/officeDocument/2006/relationships/slide" Target="/ppt/slides/slide5.xml" Id="R49b74d68db564e5a" /><Relationship Type="http://schemas.openxmlformats.org/officeDocument/2006/relationships/slide" Target="/ppt/slides/slide6.xml" Id="Rb9c1275eb98c45f0" /><Relationship Type="http://schemas.openxmlformats.org/officeDocument/2006/relationships/slide" Target="/ppt/slides/slide7.xml" Id="R04a2214b531e4c08" /><Relationship Type="http://schemas.openxmlformats.org/officeDocument/2006/relationships/slide" Target="/ppt/slides/slide8.xml" Id="R994e27bc10c34ed8" /><Relationship Type="http://schemas.openxmlformats.org/officeDocument/2006/relationships/slide" Target="/ppt/slides/slide9.xml" Id="Rf661cfa8076f4bbb" /><Relationship Type="http://schemas.openxmlformats.org/officeDocument/2006/relationships/slide" Target="/ppt/slides/slide10.xml" Id="R0c29364edf124daf" /><Relationship Type="http://schemas.openxmlformats.org/officeDocument/2006/relationships/slide" Target="/ppt/slides/slide11.xml" Id="Ref3a14ab34c54b58" /><Relationship Type="http://schemas.openxmlformats.org/officeDocument/2006/relationships/slide" Target="/ppt/slides/slide12.xml" Id="Rb45760c8356e487b" /><Relationship Type="http://schemas.openxmlformats.org/officeDocument/2006/relationships/slide" Target="/ppt/slides/slide13.xml" Id="R159b0ad9058f4266" /><Relationship Type="http://schemas.openxmlformats.org/officeDocument/2006/relationships/slide" Target="/ppt/slides/slide14.xml" Id="R4c9fc4d8074c4e92" /><Relationship Type="http://schemas.openxmlformats.org/officeDocument/2006/relationships/slide" Target="/ppt/slides/slide15.xml" Id="R4059bf0624684916" /><Relationship Type="http://schemas.openxmlformats.org/officeDocument/2006/relationships/slide" Target="/ppt/slides/slide16.xml" Id="Rc51e253a267249f7" /><Relationship Type="http://schemas.openxmlformats.org/officeDocument/2006/relationships/slide" Target="/ppt/slides/slide17.xml" Id="R09038e899b46494c" /><Relationship Type="http://schemas.openxmlformats.org/officeDocument/2006/relationships/slide" Target="/ppt/slides/slide18.xml" Id="Refbe8772a73f47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400aa077e34f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91c5c73a5d4254" /><Relationship Type="http://schemas.openxmlformats.org/officeDocument/2006/relationships/notesMaster" Target="/ppt/notesMasters/notesMaster1.xml" Id="R8d1ff9b21a784a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8fbe2e78694eda" /><Relationship Type="http://schemas.openxmlformats.org/officeDocument/2006/relationships/notesMaster" Target="/ppt/notesMasters/notesMaster1.xml" Id="Rb3da77bac1fd48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7f7748747a431f" /><Relationship Type="http://schemas.openxmlformats.org/officeDocument/2006/relationships/notesMaster" Target="/ppt/notesMasters/notesMaster1.xml" Id="Re1c299786cb443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c2ec9ec26ef4ea5" /><Relationship Type="http://schemas.openxmlformats.org/officeDocument/2006/relationships/notesMaster" Target="/ppt/notesMasters/notesMaster1.xml" Id="Rbaec9852532646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df4a774c4947a6" /><Relationship Type="http://schemas.openxmlformats.org/officeDocument/2006/relationships/notesMaster" Target="/ppt/notesMasters/notesMaster1.xml" Id="R49b3d53a18e44b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5c08de1c79409c" /><Relationship Type="http://schemas.openxmlformats.org/officeDocument/2006/relationships/notesMaster" Target="/ppt/notesMasters/notesMaster1.xml" Id="Rb67155d2ee384a1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f330e913b94074" /><Relationship Type="http://schemas.openxmlformats.org/officeDocument/2006/relationships/notesMaster" Target="/ppt/notesMasters/notesMaster1.xml" Id="R4399d9d11e9c4d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308134ad29458a" /><Relationship Type="http://schemas.openxmlformats.org/officeDocument/2006/relationships/notesMaster" Target="/ppt/notesMasters/notesMaster1.xml" Id="R5548a5234bd147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7c6a13f9374951" /><Relationship Type="http://schemas.openxmlformats.org/officeDocument/2006/relationships/notesMaster" Target="/ppt/notesMasters/notesMaster1.xml" Id="R0f40ef39ef384f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5dfe99bd434df6" /><Relationship Type="http://schemas.openxmlformats.org/officeDocument/2006/relationships/notesMaster" Target="/ppt/notesMasters/notesMaster1.xml" Id="R82f0ab3082504fc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df401644c84efc" /><Relationship Type="http://schemas.openxmlformats.org/officeDocument/2006/relationships/notesMaster" Target="/ppt/notesMasters/notesMaster1.xml" Id="R2f1e079478f642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e1409d54b3f411d" /><Relationship Type="http://schemas.openxmlformats.org/officeDocument/2006/relationships/notesMaster" Target="/ppt/notesMasters/notesMaster1.xml" Id="Rbd3ca450e2fb44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171435fffc4c53" /><Relationship Type="http://schemas.openxmlformats.org/officeDocument/2006/relationships/notesMaster" Target="/ppt/notesMasters/notesMaster1.xml" Id="R60e982631b4644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f2a18452fd463d" /><Relationship Type="http://schemas.openxmlformats.org/officeDocument/2006/relationships/notesMaster" Target="/ppt/notesMasters/notesMaster1.xml" Id="Rce00fd0752e347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9a30055d1647f3" /><Relationship Type="http://schemas.openxmlformats.org/officeDocument/2006/relationships/notesMaster" Target="/ppt/notesMasters/notesMaster1.xml" Id="R46792f9b5e78481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2e8f084962c46b7" /><Relationship Type="http://schemas.openxmlformats.org/officeDocument/2006/relationships/notesMaster" Target="/ppt/notesMasters/notesMaster1.xml" Id="Rae3638f4a3d7494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a42dc970b234b11" /><Relationship Type="http://schemas.openxmlformats.org/officeDocument/2006/relationships/notesMaster" Target="/ppt/notesMasters/notesMaster1.xml" Id="R568afb2f28f749c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7e78f1636d407d" /><Relationship Type="http://schemas.openxmlformats.org/officeDocument/2006/relationships/notesMaster" Target="/ppt/notesMasters/notesMaster1.xml" Id="R94dc7270344645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new vision: this is not another site-scoring map. It is a market and location discovery platform that connects national opportunity scanning to a transparent execution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docs/product/user-workflows.md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Cale's reported workflow showed that mapping and scoring are already covered. The differentiated problem is preserving the logic and evidence as a portfolio moves across stages, owners, and changing constraints.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Cale meeting notes, Confluence page 5352949587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process can be locally effective while still losing context at handoffs. The platform creates a durable line of sight from one question to the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Cale meeting notes, Confluence page 5352949587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concise product definition. The platform is a decision-support and orchestration layer, not a replacement for the source systems or accountable decision owners.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docs/product/mvp-scope.md</a:t>
            </a:r>
          </a:p>
          <a:p xmlns:a="http://schemas.openxmlformats.org/drawingml/2006/main">
            <a:r>
              <a:t>docs/technical/ai-boundaries.md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This is a hierarchy, not a flat list of sites. A property only makes sense inside a sub-area, a sub-area inside a market, and execution priority inside a constrained portfolio.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docs/decisions/ADR-009-market-first-workspaces-and-location-prerequisite.md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separation prevents a high market score from being mistaken for a ready-to-open clinic. The outputs answer different business questions and can legitimately point in different directions.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demo moment to emphasize. A slightly lower attractiveness score can lead the execution queue because an actual property, buildout cost, delivery timing, or staffing window changes what is feasible now.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Synthetic example created for this 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Scale here means systematic coverage and refresh, not an unsupported claim of perfect prediction. The system evaluates the complete approved market universe on a schedule and brings changes to people for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docs/technical/data-contracts.md</a:t>
            </a:r>
          </a:p>
          <a:p xmlns:a="http://schemas.openxmlformats.org/drawingml/2006/main">
            <a:r>
              <a:t>docs/technical/architecture.md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public layer is enough to build the evaluation universe and demonstrate a consistent national workflow. Public context remains source-labeled and non-scored until criteria and governance are explicitly approved.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docs/research/source-registry.md: SRC-014, SRC-015, SRC-016</a:t>
            </a:r>
          </a:p>
          <a:p xmlns:a="http://schemas.openxmlformats.org/drawingml/2006/main">
            <a:r>
              <a:t>docs/technical/data-contracts.md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ask for full source-system integration on day one. Request bounded, versioned, de-identified extracts that preserve definitions, ownership, and allowed 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docs/technical/data-contracts.md</a:t>
            </a:r>
          </a:p>
          <a:p xmlns:a="http://schemas.openxmlformats.org/drawingml/2006/main">
            <a:r>
              <a:t>docs/technical/ai-boundaries.md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scenario manager is not a playground for arbitrary inputs. It compares bounded, named cases and preserves the assumptions that changed the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docs/technical/data-contracts.md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is useful after the deterministic calculations are stable. Its role is to make evidence and tradeoffs easier to inspect, never to hide the rules or replace the accountable decision maker.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docs/technical/ai-boundaries.md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promise is not that every handoff disappears. The improvement is that handoffs occur inside one visible decision structure with evidence, assumptions, and ownership preserved.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docs/product/user-workflows.md</a:t>
            </a:r>
          </a:p>
          <a:p xmlns:a="http://schemas.openxmlformats.org/drawingml/2006/main">
            <a:r>
              <a:t>docs/technical/architecture.md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operational and decision-quality metrics first. Do not claim dollar savings, opening acceleration, or prediction lift until there is a validated baseline and approved Finance methodology.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docs/evaluation/success-metrics.md</a:t>
            </a:r>
          </a:p>
          <a:p xmlns:a="http://schemas.openxmlformats.org/drawingml/2006/main">
            <a:r>
              <a:t>docs/evaluation/evaluation-plan.md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demo should make the product's differentiated behavior undeniable. It can use synthetic internal-like data as long as every synthetic input is clearly labeled and the public foundation is real.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PROJECT_CONTEXT.md</a:t>
            </a:r>
          </a:p>
          <a:p xmlns:a="http://schemas.openxmlformats.org/drawingml/2006/main">
            <a:r>
              <a:t>docs/product/mvp-scope.md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pilot is designed to invalidate the idea as much as validate it. The core hypothesis is that CVC lacks a transparent, cross-stage scenario and decision trace at portfolio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docs/product/open-questions.md</a:t>
            </a:r>
          </a:p>
          <a:p xmlns:a="http://schemas.openxmlformats.org/drawingml/2006/main">
            <a:r>
              <a:t>docs/evaluation/evaluation-plan.md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the boundary plainly. The platform connects and explains the decision process. It does not compete with the specialist tools and expertise already doing their jobs.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docs/technical/ai-boundaries.md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concrete ask for validation, not broad approval. Choose one real portfolio decision and prove that a shared scenario and evidence trace improves the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Plan: Pivot After Cale - Market Focus &amp; Scale, Codex task 019faeb9-15a2-7672-b98a-205121d3b824</a:t>
            </a:r>
          </a:p>
          <a:p xmlns:a="http://schemas.openxmlformats.org/drawingml/2006/main">
            <a:r>
              <a:t>docs/product/open-questions.md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3b0cb7cc194a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be28e898cc4d0f" /><Relationship Type="http://schemas.openxmlformats.org/officeDocument/2006/relationships/slideLayout" Target="/ppt/slideLayouts/slideLayout1.xml" Id="Rfb489cd407794a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489cd407794a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0a95dc24c0446c" /><Relationship Type="http://schemas.openxmlformats.org/officeDocument/2006/relationships/notesSlide" Target="/ppt/notesSlides/notesSlide1.xml" Id="Rf1a2d06f0da742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1b33fa93140a9" /><Relationship Type="http://schemas.openxmlformats.org/officeDocument/2006/relationships/notesSlide" Target="/ppt/notesSlides/notesSlide2.xml" Id="Rc25a17b9ca3745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d0e9f1ba64d64" /><Relationship Type="http://schemas.openxmlformats.org/officeDocument/2006/relationships/notesSlide" Target="/ppt/notesSlides/notesSlide3.xml" Id="Rd1d390a41e9f48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f5463e01f4ab7" /><Relationship Type="http://schemas.openxmlformats.org/officeDocument/2006/relationships/notesSlide" Target="/ppt/notesSlides/notesSlide4.xml" Id="Rb0d637905a0f46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27ddb3a9fc46d6" /><Relationship Type="http://schemas.openxmlformats.org/officeDocument/2006/relationships/notesSlide" Target="/ppt/notesSlides/notesSlide5.xml" Id="R7e0777cafdf145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86912644a4889" /><Relationship Type="http://schemas.openxmlformats.org/officeDocument/2006/relationships/notesSlide" Target="/ppt/notesSlides/notesSlide6.xml" Id="R43699f68dbfa4b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e84ec9d33d4adf" /><Relationship Type="http://schemas.openxmlformats.org/officeDocument/2006/relationships/notesSlide" Target="/ppt/notesSlides/notesSlide7.xml" Id="R1e16399faf274d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8f7d60c8d34641" /><Relationship Type="http://schemas.openxmlformats.org/officeDocument/2006/relationships/notesSlide" Target="/ppt/notesSlides/notesSlide8.xml" Id="R7c964cf00de2445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43fc52d85a4a5c" /><Relationship Type="http://schemas.openxmlformats.org/officeDocument/2006/relationships/notesSlide" Target="/ppt/notesSlides/notesSlide9.xml" Id="Rcf543c5dd9b94b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64c1eaae6f4e28" /><Relationship Type="http://schemas.openxmlformats.org/officeDocument/2006/relationships/notesSlide" Target="/ppt/notesSlides/notesSlide10.xml" Id="Rfe6e481ca58f4b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5c27d6dc3445d" /><Relationship Type="http://schemas.openxmlformats.org/officeDocument/2006/relationships/notesSlide" Target="/ppt/notesSlides/notesSlide11.xml" Id="Rc2a7bbceec70426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f3c35d84646e9" /><Relationship Type="http://schemas.openxmlformats.org/officeDocument/2006/relationships/notesSlide" Target="/ppt/notesSlides/notesSlide12.xml" Id="Rf07a28e2929a4eb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4a5805fa54940" /><Relationship Type="http://schemas.openxmlformats.org/officeDocument/2006/relationships/notesSlide" Target="/ppt/notesSlides/notesSlide13.xml" Id="Rc1200f15c1d649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cfb619a71e4103" /><Relationship Type="http://schemas.openxmlformats.org/officeDocument/2006/relationships/notesSlide" Target="/ppt/notesSlides/notesSlide14.xml" Id="Rcd4d22c8114e4e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b15c2c3484183" /><Relationship Type="http://schemas.openxmlformats.org/officeDocument/2006/relationships/notesSlide" Target="/ppt/notesSlides/notesSlide15.xml" Id="R6f07edb1ad40456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ae7978d054320" /><Relationship Type="http://schemas.openxmlformats.org/officeDocument/2006/relationships/notesSlide" Target="/ppt/notesSlides/notesSlide16.xml" Id="R325d3d29723e41a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4aa779a984e25" /><Relationship Type="http://schemas.openxmlformats.org/officeDocument/2006/relationships/notesSlide" Target="/ppt/notesSlides/notesSlide17.xml" Id="R2fb92dc2d86f485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2f882bfc32418d" /><Relationship Type="http://schemas.openxmlformats.org/officeDocument/2006/relationships/notesSlide" Target="/ppt/notesSlides/notesSlide18.xml" Id="R3640fbe314cc43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DFE6D-620F-4692-95D8-0C4B37EB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CHEWY VET CARE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6B219-F69C-439C-9BF4-C1C5D277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88582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CVC Clinic Market</a:t>
            </a:r>
          </a:p>
          <a:p xmlns:a="http://schemas.openxmlformats.org/drawingml/2006/main">
            <a:pPr algn="l">
              <a:defRPr sz="49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49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and Location Discovery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AB941-9A84-416B-A04C-AC2676777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00550"/>
            <a:ext cx="809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From nationwide market opportunity to an explainable clinic-opening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21ABA6-F7BC-4C3D-A666-2814363B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VISION AND VALIDATION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507C1-DAC9-4107-89C7-DF7C0A00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85800"/>
            <a:ext cx="1371600" cy="13716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B196F-D5A1-42E5-A274-4AE661DF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85800"/>
            <a:ext cx="1371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CVC</a:t>
            </a:r>
          </a:p>
        </p:txBody>
      </p:sp>
    </p:spTree>
    <p:extLst>
      <p:ext uri="{BB962C8B-B14F-4D97-AF65-F5344CB8AC3E}">
        <p14:creationId xmlns:p14="http://schemas.microsoft.com/office/powerpoint/2010/main" val="16852644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C7431-9AE7-4D75-A2AB-86C53EBE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WHY THE VISION CHANGED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E88497-2EA0-4D4F-9828-68961409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6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pivot: the niche is not another map or weighted score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5256D-9652-4060-87E3-A7E8BC2E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AE681-CABB-46DA-BB82-49432F71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Cale notes; pivot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0A317-F7F8-41CC-8681-CB10C4C8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25081B-98FC-4EB1-9527-C8B73DB2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76400"/>
            <a:ext cx="3476625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8BED9-52B8-42BC-9814-64A721D78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6690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ALREADY STRONG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726E2F-6034-4134-B789-F41A40D0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Esri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EA48DF-F467-4638-9D70-27F4D2016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30194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Mapping, overlays, drive-time analysis, competitive context, and large customer calculations.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DA8DC6-1404-43F1-BC68-0739C012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76400"/>
            <a:ext cx="3476625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43D723-FE65-4C54-9C4C-2D6CBA2F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6690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ALREADY FAMILIAR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45A279-B429-4964-8553-7F4CED6B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2885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Excel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20633C-70F2-4518-8B46-39F9C9D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90850"/>
            <a:ext cx="3019425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Weighted, rules-based ranking that teams can adjust and understand.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DC3DD6-1547-4A74-9E64-2A142B86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3467100" cy="346710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B7562-8D16-4A06-AE96-B6227B9DC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669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STILL MISSING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68C7E-B461-4896-B1A7-58817412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2885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connective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DB3EEE-736A-4AD4-A77D-9C34AEA9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90850"/>
            <a:ext cx="30099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 shared scenario and evidence trail from market attractiveness through property feasibility and execution sequence.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92211A-2941-4F0C-95D3-45B88841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The opportunity is between the tools, not inside one more scoring screen.</a:t>
            </a:r>
          </a:p>
        </p:txBody>
      </p:sp>
    </p:spTree>
    <p:extLst>
      <p:ext uri="{BB962C8B-B14F-4D97-AF65-F5344CB8AC3E}">
        <p14:creationId xmlns:p14="http://schemas.microsoft.com/office/powerpoint/2010/main" val="1510707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3385F3-EB0C-4E2A-B352-333941605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THE FRAGMENTATION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D8C783-3F50-4B6B-B557-2C785262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399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Each team answers a different question, but no shared trace connects them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CC6E0-CA30-44B8-BC85-950E86B8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044F61-A595-4F67-8D7E-8CAC9320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Cale notes; pivot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7A95E-1F71-4D20-A144-710CD8EE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BB585-4246-4ECA-A905-2F82365C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13157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FA3D4-ACF3-44EE-A5DC-54B1BAFE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ESRI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50E33-03E0-46B7-ABCE-E19EB971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764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Where is demand and competitive whitespace?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1CF13-206F-40F3-A735-7600252A6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13157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C7DBB-BDAA-40A7-AC23-43C2E369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EXCEL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49835-CE5D-4633-B423-602A6770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717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How do approved criteria rank markets or sub-areas?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3B178-632B-4DF2-A8CD-07413DCE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157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2C5C4-5704-46C6-9A6A-B5DB2F98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BROKERS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A6486-B981-4AA0-AB01-E7CC28F8F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671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Which real properties are actually available?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F963F-9DF8-4503-97F5-9D037D6B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113157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2CACF2-313A-489A-8D98-AEDF74EC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00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76A8C0-500E-4E93-B376-9524BC17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624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What do base, downside, and upside economics imply?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4C2CC1-190D-45BA-8C4D-458523CF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86350"/>
            <a:ext cx="113157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30A9C6-DFF7-4260-B687-BAD0162C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49D5F-BB3C-4B92-914D-320FF273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5780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What can CVC staff, build, and open in sequence?</a:t>
            </a:r>
          </a:p>
        </p:txBody>
      </p:sp>
    </p:spTree>
    <p:extLst>
      <p:ext uri="{BB962C8B-B14F-4D97-AF65-F5344CB8AC3E}">
        <p14:creationId xmlns:p14="http://schemas.microsoft.com/office/powerpoint/2010/main" val="1471930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81473F-28FD-4EDF-BBB7-F4094496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PRODUCT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FBAC3C-B014-44EA-8759-1B53733E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09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One scenario layer connects discovery, diligence, and sequencing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72D625-0E87-42AD-A135-74F48924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EB327-9774-4920-85C3-DB49205E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MVP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24F67-35E1-41A1-82BF-27E15EF15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65BED-EA33-40D9-9D46-720281959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CVC Clinic Market and Location Discovery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B121C2-CDD5-43F8-BB39-5ABF8A4A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62200"/>
            <a:ext cx="72390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is an evidence-backed scenario layer that connects national market discovery, sub-area opportunity, real properties, feasibility, Finance scenarios, and execution priority.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8D9B3-EF0F-4589-96D8-69E3DC45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38300"/>
            <a:ext cx="3486150" cy="3733800"/>
          </a:xfrm>
          <a:prstGeom xmlns:a="http://schemas.openxmlformats.org/drawingml/2006/main" prst="roundRect">
            <a:avLst>
              <a:gd name="adj" fmla="val 6011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F6C76-4B60-487D-8267-C227015B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62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IT HELPS CVC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7C227-C048-46B2-9812-C2110E18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4317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B3DD8-1CBC-4169-981E-EB90C3F8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476500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Scan consistently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09D78-743C-4E37-8853-C16CA744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119438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D13E9-7C8D-4D01-BFC0-8A1CA210F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052763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Compare scenarios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93611-712A-41FF-B14C-3DBA470A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957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7D60D-6D45-4DD8-861A-DC097354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29025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Explain tradeoffs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00392-71BC-4E82-9786-A32B1D7F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71963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AE1BD-110A-4A6D-B6F6-D88B8EFE8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205288"/>
            <a:ext cx="2476500" cy="4048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Preserve decisions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474008-DCBA-4868-9698-CF917834D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It prepares the portfolio case. People make the decisions.</a:t>
            </a:r>
          </a:p>
        </p:txBody>
      </p:sp>
    </p:spTree>
    <p:extLst>
      <p:ext uri="{BB962C8B-B14F-4D97-AF65-F5344CB8AC3E}">
        <p14:creationId xmlns:p14="http://schemas.microsoft.com/office/powerpoint/2010/main" val="263023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BDA6EF-7C78-4062-8B50-8CAEC27BE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END-TO-END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158C76-52EC-42F0-B662-83D18132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323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decision funnel moves from the country to the opening queue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E681D0-5E6E-43B5-B2E0-E7B32636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5B145-D984-4BE5-A7E4-878875BFD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user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A5705-58A4-4E93-BC9C-902C6540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8633C5-4708-4B28-A4A8-9C37C7C3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050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01C4C-8163-4642-9E79-0CF305684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FD5CEE-7D1C-488E-90CF-DBAF807A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Markets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741E1E-7531-4E80-8536-8A64D157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National attractiveness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C65A94-9245-4C1B-A179-921F54577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038350"/>
            <a:ext cx="25050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84922-C9AD-4FAA-A815-1590FFC1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32448B-FAD2-46F8-8DEB-E1511038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2890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Sub-areas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C5224-D7D2-48C7-A85B-2C816BF3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2194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Local preference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CF458-7B56-45AF-975D-9E7C5583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38350"/>
            <a:ext cx="25050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99FE9-D4B2-489C-B683-8E0B0E0F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80A42B-00DD-44D4-B6CE-BDF294069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28900"/>
            <a:ext cx="20859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Properties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3035BE-4012-4B10-98C9-D89DC0D6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19450"/>
            <a:ext cx="2085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Feasibility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DA382-7DF0-4B45-94A2-B179AEB4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38350"/>
            <a:ext cx="2962275" cy="179070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0F6561-9C17-4DD9-B000-DFFC0565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2098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5AF32-3FFB-47E6-8425-FABBED6C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628900"/>
            <a:ext cx="25431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Portfolio 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BE5E3-F862-41C7-BCA0-E7A41DFF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219450"/>
            <a:ext cx="25431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Execution priority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14DDA9-E6DF-44ED-AE3A-F4EBB182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146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5400DD-5371-443E-B728-7769B714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3845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F4445C-A64D-4882-8DDF-F053870A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9146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5317A-88A1-43E9-92BD-EDE7FCE5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83845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46114-8DE9-47C8-9804-CA0F20EC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14650"/>
            <a:ext cx="95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A74166-780E-4886-AE68-010B1A87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38450"/>
            <a:ext cx="114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73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170B89-F1DE-4060-97B4-C45B4BC9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4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Every transition keeps the assumptions, evidence state, scenario, and rationale visible.</a:t>
            </a:r>
          </a:p>
        </p:txBody>
      </p:sp>
    </p:spTree>
    <p:extLst>
      <p:ext uri="{BB962C8B-B14F-4D97-AF65-F5344CB8AC3E}">
        <p14:creationId xmlns:p14="http://schemas.microsoft.com/office/powerpoint/2010/main" val="2307665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7672B6-F32D-4A8C-9D1D-D2A54DF8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CORE PRODUCT PRINCIPLE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DD2111-6573-43D8-877F-48241BEE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Three outputs must stay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1FF62-1481-473C-804F-535A1C05D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06176-D641-414F-ADCF-DE15899D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AB315-2EE1-4FB0-9A42-3F88C5338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A8619D-5DC1-409F-B08E-1E0F4BFC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3476625" cy="3714750"/>
          </a:xfrm>
          <a:prstGeom xmlns:a="http://schemas.openxmlformats.org/drawingml/2006/main" prst="roundRect">
            <a:avLst>
              <a:gd name="adj" fmla="val 4932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11367E-5DE5-4C1D-8520-A86C6BB4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STRATEGIC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A8500-C3CE-4E41-BD12-F00D5DC1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Attractiveness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31DD4-E75C-473A-B6A1-9B402DF0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9900"/>
            <a:ext cx="3019425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Is the market or sub-area strategically favorable based on approved evidence and criteria?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C62A9-BAD9-4750-A571-0EF35DBA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95450"/>
            <a:ext cx="3476625" cy="3714750"/>
          </a:xfrm>
          <a:prstGeom xmlns:a="http://schemas.openxmlformats.org/drawingml/2006/main" prst="roundRect">
            <a:avLst>
              <a:gd name="adj" fmla="val 4932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0ABA5-C068-4D2A-BC04-928A6CCB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85950"/>
            <a:ext cx="3019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88F99F-DAA4-4530-AF27-7DEC89BA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47900"/>
            <a:ext cx="30194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Feasibility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3B56E-4076-4882-8DBF-CD2F90E8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3019425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Does an available location pass mandatory physical, legal, operational, and financial requirements?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4B65E-EFE3-4A4D-8EA4-653A8437C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95450"/>
            <a:ext cx="3467100" cy="3714750"/>
          </a:xfrm>
          <a:prstGeom xmlns:a="http://schemas.openxmlformats.org/drawingml/2006/main" prst="roundRect">
            <a:avLst>
              <a:gd name="adj" fmla="val 4945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124D9-97A8-4400-9DB5-0CCB8CED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PORTFOLIO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5EE36A-F9E7-4EA9-BCB6-10610A1C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247900"/>
            <a:ext cx="3009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Execution priority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70D03A-E4FE-4039-A0CE-AD6D6E39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009900"/>
            <a:ext cx="3009900" cy="220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Given timing, capital, staffing, readiness, and dependencies, what should be reviewed or opened first?</a:t>
            </a:r>
          </a:p>
        </p:txBody>
      </p:sp>
    </p:spTree>
    <p:extLst>
      <p:ext uri="{BB962C8B-B14F-4D97-AF65-F5344CB8AC3E}">
        <p14:creationId xmlns:p14="http://schemas.microsoft.com/office/powerpoint/2010/main" val="18380436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AEF587-0FD9-41C2-9645-111CDE6C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SYNTHETIC SEQUENCING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EDB33-66D2-4C06-8F74-7245CEDD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262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best-looking opportunity may not be the next one to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FBCFC-BB65-42B1-868E-13151644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0B61D-CFDD-462E-B423-F2592CDF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Illustrative scenario based on pivot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8A4B3-423F-44A4-B3F8-A424CECA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1D3E4A-E1AC-4559-8D02-ABB8D4CC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SYNTHETIC ILLUSTRATION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6342D-0F09-45F6-81F1-4CB8201E9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51435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61D0F-2D49-4884-9F7C-37CF98D5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ATTRACTIVENESS 90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2266E-3734-4746-9385-11F18A8B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0"/>
            <a:ext cx="468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Opportunity 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DB97D8-F156-4AB9-9F25-AB3B47804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0"/>
            <a:ext cx="4686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Strong demand and market fit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No feasible property today</a:t>
            </a:r>
          </a:p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Higher buildout uncertainty</a:t>
            </a:r>
          </a:p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Later delivery window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F48C79-55A4-4160-92B0-33E163E7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24050"/>
            <a:ext cx="5143500" cy="3143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77B269-0C1F-48FF-A8BE-55FC10C93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14550"/>
            <a:ext cx="468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ATTRACTIVENESS 89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E3443A-EB36-468F-9CCB-94FE46FA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4686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Opportunity B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53CD7-1579-42DA-A728-E03C2F573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4686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Nearly equal market fit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Feasible property available</a:t>
            </a:r>
          </a:p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Lower buildout requirement</a:t>
            </a:r>
          </a:p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Earlier staffing window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90C2A5-DFC7-4DC0-A449-0C42CA69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8384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C1791A-B80D-442D-B1A0-B72B76BB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838450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125818-4618-4C58-B718-83D607D1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292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Opportunity B can move first without pretending it is more attractive.</a:t>
            </a:r>
          </a:p>
        </p:txBody>
      </p:sp>
    </p:spTree>
    <p:extLst>
      <p:ext uri="{BB962C8B-B14F-4D97-AF65-F5344CB8AC3E}">
        <p14:creationId xmlns:p14="http://schemas.microsoft.com/office/powerpoint/2010/main" val="14303688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DB08C1-9EFB-4D76-A463-3D9336B9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1947D-2816-4D7B-994F-965D9284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431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An always-on scan turns national coverage into a repeatable capability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AEB474-BD0C-4E86-9E89-ACC4CB06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8E33C0-E90D-46A1-AFD5-4069BCE0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public data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06FB1-AE1D-4FFD-8A7D-C7EED75F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91663-7631-437C-82F3-E0A25DD1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905500" cy="3695700"/>
          </a:xfrm>
          <a:prstGeom xmlns:a="http://schemas.openxmlformats.org/drawingml/2006/main" prst="roundRect">
            <a:avLst>
              <a:gd name="adj" fmla="val 567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4095D-3A50-44AB-8397-45B5014A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APPROVED MARKET UNIVERSE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CC309-1830-40A0-83B5-0E7A9652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3730"/>
            <a:ext cx="285750" cy="147447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E9B29-92DC-49FE-8E27-1892CBCA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68065"/>
            <a:ext cx="285750" cy="108013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4B75B-F844-4FE4-B692-B326696B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345180"/>
            <a:ext cx="285750" cy="13030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C8CB5-F64F-4388-9AEA-9B52392B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876675"/>
            <a:ext cx="285750" cy="7715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3FCC9E-2017-4BC3-8517-CCA50511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65195"/>
            <a:ext cx="285750" cy="118300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0B2BAB-9190-441B-9FAA-5190BC2C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88080"/>
            <a:ext cx="285750" cy="9601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B65521-1330-4DB5-A1D5-15ED03CE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88005"/>
            <a:ext cx="285750" cy="156019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97D0E6-9CFC-4755-8BCA-9CEE4C81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413760"/>
            <a:ext cx="285750" cy="123444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43ABC-0E02-4932-8BA8-ED06622D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73805"/>
            <a:ext cx="285750" cy="87439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38A0FB-62C0-4E69-B8D9-8702DA8E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76600"/>
            <a:ext cx="285750" cy="13716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9A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E02472-ECAA-4DC0-BB2C-3365B4D22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Scheduled nationwide evaluation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F0FB45-8DAB-4AC0-8AE5-C666D1CD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90700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529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No analyst needs to prompt the system market by market.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DA5523-7D61-4C43-850C-C3B570E1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194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2B9132-BD4E-4574-9567-DFEE2E68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527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Complete, versioned CBSA universe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E3CAD0-9F91-4BE9-80E5-DEBAAC3B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29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41FED-F8DD-4390-BD7E-FB0BC199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623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Consistent rules across every market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8C5EF-2555-4ECF-95CD-1D01B30F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386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252F52-C1AB-43BD-9371-8C5FD55E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719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Refreshes when approved data changes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6E551D-C316-4443-A083-3B8CC8AA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482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064DC-E632-4C08-88DB-C2AC5945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815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Flags new opportunities and stale evidence</a:t>
            </a:r>
          </a:p>
        </p:txBody>
      </p:sp>
    </p:spTree>
    <p:extLst>
      <p:ext uri="{BB962C8B-B14F-4D97-AF65-F5344CB8AC3E}">
        <p14:creationId xmlns:p14="http://schemas.microsoft.com/office/powerpoint/2010/main" val="5498514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48B7D8-9D71-4D68-B62C-D81430B0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DATA AVAILABLE NOW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72F072-9D04-4807-80EA-59944F19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47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 public foundation can support the first national market scan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0C3B4D-0C99-4328-93C7-3EA15304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679D4-273B-4B79-BDD3-230DE5F7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SRC-014, SRC-015, SRC-016; pivot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29A20-2570-4056-9377-1FFE3D81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52E412-712D-46F5-80E9-ED2564FC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1FDC0-BAE6-49D0-84C4-46BBB8DA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MARKET UNIVERSE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6D6A39-7132-44B2-955A-FB2696AF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097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Census CBSA definitions and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B34BD-3F0A-4B3D-AEB0-D6D39497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097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Defines what gets evaluated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B5B04C-8982-4DBA-97C7-D38A9367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42048-2CD8-43E0-B4BF-E6C11270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MARKET CONTEXT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66EF5-CDED-4032-B327-DD1441F4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241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33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ACS demographics and socioeconomic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05E729-5721-46AA-ABA3-A985169FD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241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0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Provides approved context, not automatic truth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0D9ECD-5DFA-44D2-8332-E36233DC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0A5EDA-7423-4990-9D68-01DA7CCF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ANALYSIS CELLS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5DB44-03AA-453B-A082-A230AEBB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385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Tracts and block groups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2A6971-AA83-4389-B224-C40DF91A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385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Supports sub-area aggregation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4D277-50CF-4F67-A613-A34602F4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100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D7B69C-00D1-4230-A9A6-B186B671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PROVIDER SUPPLY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B36090-A106-43C7-B3CA-C9F8F49C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3529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61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County Business Patterns veterinary establishments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BFE91B-2B9F-46A1-96AF-4742FD79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529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Provides a public competition proxy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C7C0BD-E07E-418B-9B18-0E5CF3DF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113919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4B21E4-C305-459C-BC2C-B44C15CA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LABOR 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2A08C-92F3-4DF0-86E1-40DFC850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673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BLS employment and wage data, if useful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CDEBA-F24C-459E-B352-673F7ED7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267325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Adds workforce context</a:t>
            </a:r>
          </a:p>
        </p:txBody>
      </p:sp>
    </p:spTree>
    <p:extLst>
      <p:ext uri="{BB962C8B-B14F-4D97-AF65-F5344CB8AC3E}">
        <p14:creationId xmlns:p14="http://schemas.microsoft.com/office/powerpoint/2010/main" val="20631933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A66B7B-BFE2-4F60-9BD8-B0BD38CE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DATA NEEDED TO MATURE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4C70A-2B3B-4CBB-BC3A-A8E53346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05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differentiated decisions require bounded internal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DCE9B-D701-4901-9B20-B751518B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EAE360-68D8-454E-A4A3-82697D75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data contracts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184A43-440C-43AB-8BA2-4403B3CD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EAC6BE-B217-4FEC-84C9-5D4AE65B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7B3E6B-68FF-45B5-A0C0-4FA2742E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DEMAND +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802C3C-1C33-4121-A6BC-6C3BE736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Demand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BEF042-3D68-423A-B6E1-503E2501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Approved Esri or internal aggregates for demand, drive time, overlap, and competitive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D45134-7E95-4E9C-94E8-9A8368F8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49C125-1A19-4FE3-9E54-E6409C4B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REAL PROPERTIES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E3C16-9DE9-4754-8BA9-32ECC4F29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Properties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1F2BC3-811C-42D6-A097-C1B8F706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Broker-provided availability, economics, physical facts, dates, and confidence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02026C-AD0E-43BB-A1F8-E9677242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A6FB62-0699-464F-B062-F45C768E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69455E-1D34-4539-B9AC-75C40BD9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Economics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353E46-39D2-41F3-8DF1-566DE0821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Versioned base, downside, and upside extracts from the existing forecast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A09FD8-AA77-4BBC-9320-268EBFF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1714500"/>
            <a:ext cx="2609850" cy="3638550"/>
          </a:xfrm>
          <a:prstGeom xmlns:a="http://schemas.openxmlformats.org/drawingml/2006/main" prst="roundRect">
            <a:avLst>
              <a:gd name="adj" fmla="val 6569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E7A170-9123-4523-9293-1AB63A25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9050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F8640E-615D-4CA7-87F5-CF8E7722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266950"/>
            <a:ext cx="2152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B21F0-71AD-4163-8E9E-5A42DBC3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028950"/>
            <a:ext cx="21526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Staffing readiness, capital limits, delivery timing, dependencies, and active pipeline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E09820-38CB-46F6-88A0-751AA589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388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E43C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E43C8"/>
                </a:solidFill>
                <a:latin typeface="Aptos"/>
                <a:ea typeface="Aptos"/>
                <a:cs typeface="Aptos"/>
              </a:rPr>
              <a:t>Synthetic or approved de-identified data is enough for the first validation.</a:t>
            </a:r>
          </a:p>
        </p:txBody>
      </p:sp>
    </p:spTree>
    <p:extLst>
      <p:ext uri="{BB962C8B-B14F-4D97-AF65-F5344CB8AC3E}">
        <p14:creationId xmlns:p14="http://schemas.microsoft.com/office/powerpoint/2010/main" val="14178780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6FCDAF-377F-42CA-B09E-841EC423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SCENARIO ORCHESTRATION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C68CFC-C54E-4CA7-9E9E-42EA6F9B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8475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scenario manager shows how the portfolio changes when reality changes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04595-10F2-4A51-BC2A-22A6A447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E76AE-9AA7-442F-8E4B-B4DC4D9D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891780-F9A1-4FFB-B663-6D0B90E3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2DA04-103F-4985-A5FC-AAFE4FC6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113919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1321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69777-F9A6-4FE4-800D-B431E0DA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BFDFB-2AC6-4663-B06F-60A5C84DC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47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DOWNSIDE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6114A-D5DC-4077-86E8-32F7EA58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478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UPSIDE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F603BA-7A30-4197-9F82-DF0550A0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84785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OPERATING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760A3-2D25-42DE-9B1F-C523F79A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9BA09D-5459-43B7-88C7-83F039DA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33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Finance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8E6FC-8DBD-4AC6-B2A8-1EDEBD7E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Revenue, labor, lease, and buildout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5AABCF-7D1F-4009-AB32-11EFD12C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62250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2F2ABA-0B84-463B-8F39-4562ECCA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933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Delivery timing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C40C49-1618-464E-B442-C6969DDE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3718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Property and construction delays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7D8FE-B772-43F4-A143-DE891391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A19EF-0290-463B-B7B4-F39725AF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Staffing windows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85F1AB-3FAF-47B6-8F4C-D034AA30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When teams can safely launch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39610-1BB9-4524-AD73-7D2E7D88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43375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A128A-CCD8-4C25-BA97-97B3FA0D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14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Capital constraints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D9D443-7DED-48C9-89F4-4E1E9E78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529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What the portfolio can fund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E77BDE-4A89-41F4-BCB2-434E5BDE7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143375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711EE-9429-4C2A-B489-38311138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14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Approved criteria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7CA3A-0F4E-47CE-8DEB-40A9403C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7529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Versioned weights and thresholds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E12088-D006-49DC-BAC4-321FB079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43375"/>
            <a:ext cx="35528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B82333-CA85-4E20-867D-1A3B69ADB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14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Property changes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BEDC39-4185-40B2-B3A5-0282CDE0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5297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Availability, terms, and diligence</a:t>
            </a:r>
          </a:p>
        </p:txBody>
      </p:sp>
    </p:spTree>
    <p:extLst>
      <p:ext uri="{BB962C8B-B14F-4D97-AF65-F5344CB8AC3E}">
        <p14:creationId xmlns:p14="http://schemas.microsoft.com/office/powerpoint/2010/main" val="10332278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E6D119-33FA-4963-8A3E-9E9E8A478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RESPONSIBLE AI ROLE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F42A6-AC14-4399-B760-6D11E502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216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AI explains structured results, but does not create the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FD16F6-F8BE-456C-BB3D-0043E6C2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B93BB-0B7F-4142-92FA-E285D3C1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AI boundaries; pivot task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70BAB6-6B8D-44C4-BCB1-459D43FD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F8919-94DA-4BEE-BD92-96B3BCD5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410200" cy="3905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39F3E-AD5F-4A5C-9560-109AB5B5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AI MAY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64F77F-0D53-42FD-9407-61F31623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77AE07-1855-4DB5-B506-C6B34D2D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Explain why scenarios or sequences differ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CBC23-FEA1-457C-8923-0096A0B0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704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095BA5-9D9B-4DD1-8AA0-CDF424BC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6037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Summarize evidence and missing information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5E5AA-5834-4851-9B80-CC8EC30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806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96A32-0A7B-45E5-BA80-7058D82B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139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Flag conflicts, fragile rankings, or stale inputs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51FE33-982C-4B09-AAAA-215F8B00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0908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218163-EEE2-4AAF-8395-27F86BB0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4241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Extract broker facts for human confirmation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83E843-1FCA-4A91-99F9-0DAA9863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010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4CA5E-92A0-4987-80CD-77A6EA2A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8343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Draft source-linked review briefs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0C23B3-69BB-4F33-9CDC-FAA313CE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410200" cy="3905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732E0-00C5-4477-AD0C-A9FAF359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AI MAY NOT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B22BA3-359E-4926-9801-EB4CE395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860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DD26A-DD4D-4670-B032-9698786D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1935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Choose weights or silently change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3A0BFF-4EB4-4A66-8DF3-6FAE8D52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2704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E3E8D-1651-4DB2-BE76-384C2A3F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6037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Invent, impute, or overwrite missing data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94320-4646-461C-A1F0-B730EBD9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806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E12DE1-4135-43B1-863D-ECB911F0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139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Calculate authoritative geography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CA29BC-0A2E-4B63-9F24-82AFCE10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0908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9E8F3C-74F6-44EA-8F23-6CC6F4C9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4241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Create unsupported Finance forecasts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A15A14-59C0-4BD1-ABBB-90C10B926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010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848032-1101-42BC-A652-A58FE77C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83430"/>
            <a:ext cx="4533900" cy="40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Make the lease or opening decision</a:t>
            </a:r>
          </a:p>
        </p:txBody>
      </p:sp>
    </p:spTree>
    <p:extLst>
      <p:ext uri="{BB962C8B-B14F-4D97-AF65-F5344CB8AC3E}">
        <p14:creationId xmlns:p14="http://schemas.microsoft.com/office/powerpoint/2010/main" val="4872816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123C35-CA7A-4346-AB97-EBAF20C3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BEFORE AND AFTER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8429C-DFCA-437D-B13A-F4ABF184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66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workflow improvement is a shared decision trace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62740E-3D83-4F82-BCBC-E4182F5F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318562-918A-47C9-8C07-AB4D7E4F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user workflows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AA3926-EB77-4942-BFB3-31145C4E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4006A-B13E-408A-8166-2804DC4F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87386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73ACEB-5F59-456E-AE2D-A69CF8DC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WITH THE PLATFORM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EE83A-03C7-47F1-9AB8-2C41456A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9FF14-8975-4ECB-81B1-4A224D68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Market shortlist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EFAB8D-DDE8-4EAE-AAFC-6EE4F53D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9AB7BC-28B4-499C-BA9D-04A4292A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Sub-area analysis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CCF0F9-9016-499B-97E0-256474A5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888673-E2AA-42C7-9E8D-9BBD583D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Broker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DE9599-04E3-4A6A-B157-C1EE31E5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209976-E5EB-4619-BE3F-069746EB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Finance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4DF697-9416-4B5F-8E62-F1632339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8196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FAAC09-D66F-43C6-842B-B6883EF20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0"/>
            <a:ext cx="428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Opening sequence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F9541-D5C0-42C0-8751-8B4ECC3C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F25BEE-CDCC-4502-8546-88E86556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717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One market-to-property hierarchy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622566-F47C-4AC1-882E-EFDC6A7D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06EEC-2097-457D-B8B0-0F7D0F0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146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Named, versioned scenarios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E04B81-52E9-44FA-995B-E52EDFEC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210CC-FC7F-4D0A-AE2F-44C3917A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576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Evidence and missingness at every stage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CAFD62-374E-4856-A91E-0363D15A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6720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EBBF17-9A25-4B88-84B9-2CEC759C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0055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Explainable overrides and sequencing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7ED43-5ECA-4CE6-A895-FEF471F9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010150"/>
            <a:ext cx="5410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F7D7A0-E097-4A2F-B4D3-664A7B63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143500"/>
            <a:ext cx="4895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Durable decision history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ADFEAB-3C09-441F-B32B-540BEBE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337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handoffs</a:t>
            </a:r>
          </a:p>
        </p:txBody>
      </p:sp>
    </p:spTree>
    <p:extLst>
      <p:ext uri="{BB962C8B-B14F-4D97-AF65-F5344CB8AC3E}">
        <p14:creationId xmlns:p14="http://schemas.microsoft.com/office/powerpoint/2010/main" val="21031407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326E7C4-9A23-4157-B194-EB922429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IMPACT FRAMEWORK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B4E57-BF3B-4938-92D8-E7A1B2B0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4166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Measure decision quality and operating speed without inventing savings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EF10A-CB1A-4A92-98D3-42C21916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CADFD-2C85-4186-BA8B-77C7FAD7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evaluation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2A66BE-5FAE-4F5A-9489-8D1543E2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03A4A-41C7-43D5-A496-33896273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51B4B-1DBB-4F96-82DB-4CE59D68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526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C9ACB1-A531-4031-9A08-612A7F39B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145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EF3A2E-B8CB-41DB-B7B6-9FDADAE1D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41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Share of the approved national market universe evaluated on schedule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360955-6192-48C9-AED3-4AB7B7D7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5621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588035-1E69-454E-BFB3-72D87779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7526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3A8C6-FB19-4FC0-80D0-5C5DCBF9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1145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Consistency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473C9-6F0A-4677-82DA-05A7928C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765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094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Share of markets and locations processed under the same versioned rules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2194A-509D-422D-A42E-F030E8D21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621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417500-C13A-4F91-ADCC-B0DE1043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1DFE3-9D18-45FC-AF78-FFAB41D2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145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Scenario speed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7DDBF-2AA3-4A6C-91A9-2E4DA14F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765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2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Time to refresh and compare a portfolio scenario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43E4DA-12CB-4A56-89B2-9C8B7C0D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A345E8-BF02-4D2D-A383-34064F21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5C5F8A-9C71-4031-A838-CDBB4DE5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100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Evidence readiness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37AE24-54C5-416F-BED7-D43C5A21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900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Missing, stale, or conflicting inputs found before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ADA5EC-5EF3-458F-84C8-1AB51E07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6576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7F6219-43D5-48F6-AAF2-E08DE649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8481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A0E400-729F-4A83-BF53-FD584BDA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2100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8CEFE8-26CB-4666-B76F-028D4AA3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9720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5825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Time and completeness required to explain a sequencing change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F5A91F-7CA9-4A3B-815A-E47F5CAA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3552825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D65E1B-45FC-4651-BF7A-F2742AE7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48100"/>
            <a:ext cx="3095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1F0388-2F67-4CA0-AF01-83122A900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10050"/>
            <a:ext cx="3095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EE421F-B177-48A8-95C9-B4279097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72050"/>
            <a:ext cx="3095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192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Whether another reviewer can recreate the result and rationale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F804E-A57E-4CD9-9EC6-F9A474FD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76900"/>
            <a:ext cx="9677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85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56A00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A56A00"/>
                </a:solidFill>
                <a:latin typeface="Aptos"/>
                <a:ea typeface="Aptos"/>
                <a:cs typeface="Aptos"/>
              </a:rPr>
              <a:t>Financial impact should be modeled only after Finance provides approved inputs and a baseline.</a:t>
            </a:r>
          </a:p>
        </p:txBody>
      </p:sp>
    </p:spTree>
    <p:extLst>
      <p:ext uri="{BB962C8B-B14F-4D97-AF65-F5344CB8AC3E}">
        <p14:creationId xmlns:p14="http://schemas.microsoft.com/office/powerpoint/2010/main" val="41833192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592F96-0EE8-41DD-AD31-C6021EE9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WORKING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4DBC7-6E33-4724-8ECB-A8B80DD4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123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The first demo should prove the hard part, not the entire 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340C0-B064-4033-864E-00A18F22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FC375-17F9-4FB9-B3BC-740284050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current prototype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1E72F8-F91C-4AB1-A276-12AF5C35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F2238E-CA6B-4F68-907B-54801E8B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EA097-F3F8-4B6F-8B20-13880193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9B40E-6B38-4B9B-84D8-548D14E3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525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National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5EDDD-F477-4996-8726-C11B7AFB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525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Evaluate a versioned public CBSA universe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7680A-BF2C-4EE0-BEBE-A3295636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B2A1A-FBAF-44DE-A325-DD621D0AF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10A367-79B3-4AE8-AE7A-B6D1DB29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288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Portfolio hierarchy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161BA-91C3-4C42-BCE9-88BF3077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288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Move from markets to sub-areas to properties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6E2D66-A242-4045-94DA-C18D3AAE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55F5A4-B6AF-4D40-B43D-B4776C15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575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7BC9E-D8B1-43FA-9C39-4079CDFF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051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Three scenarios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EFD15-C6A7-4E04-B28E-C2A029C8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051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Compare base, downside, and upside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BFDA91-77C8-4D1E-8FE6-12F073B2F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44139C-2A21-4A5F-B357-641A794D1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338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A535D-491D-44D8-9422-4920856F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814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Counterintuitive sequence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F7939-FEE6-4721-BA25-9E88E398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814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Show a lower score moving first for valid reasons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F2160-350F-4BAE-82C1-902ED016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8191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7CFF4-6CC0-4CC0-A501-BE739032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819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B8DA6B-9AD6-4D4E-929E-84E76998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057775"/>
            <a:ext cx="3162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Evidence 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686262-87AD-44B0-BB97-F0D233BC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57775"/>
            <a:ext cx="666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Explain every change, gap, and override</a:t>
            </a:r>
          </a:p>
        </p:txBody>
      </p:sp>
    </p:spTree>
    <p:extLst>
      <p:ext uri="{BB962C8B-B14F-4D97-AF65-F5344CB8AC3E}">
        <p14:creationId xmlns:p14="http://schemas.microsoft.com/office/powerpoint/2010/main" val="157090805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099AD7-B488-4452-9AB6-374CF4A6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VALIDATION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6E7AB-13D1-4B35-A1C1-202519C2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8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A bounded pilot can test whether the connective layer is truly missing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D0621C-D75B-41C8-B6E0-5AA5A2EC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C90B3F-6D10-4F7F-B837-5C745ADA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3E8BC-C82A-4E20-9B03-BB19CF27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4F7F4E-3D17-48B5-AFDD-03CC583E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8AD2A-EBBD-4D40-AE11-2FAAEE74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80A53-F24F-4902-8F41-6DB8A4D8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Confirm the gap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F18E7E-D3EC-4485-9491-C7C31ECE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Observe current handoffs, tools, owners, and workarounds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FFE19-7E36-44DA-9152-729D5A71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FAC32-18F9-44A4-AFCC-7166ADD0A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0E7EB-FB7B-446A-BEF6-65312FCD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444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Secure bounded inputs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0C56A-F998-4684-AD38-755F0355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Use approved de-identified exports and named Finance scenarios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2E46C-7F53-4103-AB18-4EE3217C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87ECE-1A51-44AE-8ACA-A759E366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165645-74B3-4479-9F9E-0C9C1234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502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Run one real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C6784-0C91-4F06-93B7-3A06BCAE8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Test one live portfolio decision from market to property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7DD66B-DA13-4F5F-8B2C-2D87ECD1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5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9627BC-C9AF-4C2E-B0F1-1FB3A278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1E4B9B-1B7B-4FB8-8D81-EEBEE0FB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Compare to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3B819A-0EFE-40B8-B398-BC3E66F6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03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Measure coverage, scenario speed, explainability, and reproducibility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152077-3D05-4BD4-AE31-EE71B850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09750"/>
            <a:ext cx="1943100" cy="33337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27B79E-648E-40D8-B370-B2D33690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19300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1488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93BEA8-0954-4AD4-83BE-957EE1DA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724150"/>
            <a:ext cx="152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Decide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63F3F-C759-4ACD-9499-649023E1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95700"/>
            <a:ext cx="152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Pursue, narrow, or stop based on demonstrated workflow value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19564B-299C-4393-9E78-BB964821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24500"/>
            <a:ext cx="10172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5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Stop if the same traceability already exists, the required inputs cannot be governed, or the workflow does not improve.</a:t>
            </a:r>
          </a:p>
        </p:txBody>
      </p:sp>
    </p:spTree>
    <p:extLst>
      <p:ext uri="{BB962C8B-B14F-4D97-AF65-F5344CB8AC3E}">
        <p14:creationId xmlns:p14="http://schemas.microsoft.com/office/powerpoint/2010/main" val="12202673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E85830-B89E-41F8-BC00-1EE8ABC1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D5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5BFF"/>
                </a:solidFill>
                <a:latin typeface="Aptos"/>
                <a:ea typeface="Aptos"/>
                <a:cs typeface="Aptos"/>
              </a:rPr>
              <a:t>SCOPE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AEC2F-F5FD-468E-AC70-6FEA5BC6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3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934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3213A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3213A"/>
                </a:solidFill>
                <a:latin typeface="Aptos"/>
                <a:ea typeface="Aptos"/>
                <a:cs typeface="Aptos"/>
              </a:rPr>
              <a:t>What this product does, and what it deliberately leaves alone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BD39C-BCCA-4C6A-B7D0-50338D05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19850"/>
            <a:ext cx="11391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636C9-171E-4A55-ABC5-35C8976D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86525"/>
            <a:ext cx="1028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Sources: Pivot task; AI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C508AC-F9F0-4D2A-B571-168C8827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6E293-2857-4CB5-8678-E8B511B0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5410200" cy="392430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EDF7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604A2-C2DC-4E89-A438-0BE50138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7A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47A4A"/>
                </a:solidFill>
                <a:latin typeface="Aptos"/>
                <a:ea typeface="Aptos"/>
                <a:cs typeface="Aptos"/>
              </a:rPr>
              <a:t>IN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68A29-5890-4F32-AC08-36AEFB01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FB80DB-CEFA-42F8-8643-8F811FA3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453390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National market discovery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430407-8D6F-4A61-B4C1-BE965786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609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AAE5A-028F-494A-81FD-118418B6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79420"/>
            <a:ext cx="453390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Market-to-property hierarchy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5138C-72A4-41BC-9E21-0AE5AFF4F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806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9F4A1-3B5A-4C23-973E-3116B6AC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1390"/>
            <a:ext cx="453390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Scenario comparison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92F7E-C492-43A9-82D7-3C9B5938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003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D23D7-1274-4729-B90E-8F5C9B7E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23360"/>
            <a:ext cx="453390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Constraint-aware sequencing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A66357-F47C-4F47-95AE-851E8F98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200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47A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07B0FA-A6C3-40BA-8E90-C6845B7F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45330"/>
            <a:ext cx="453390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Evidence and decision history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4A0CD-77CE-4860-9F53-BC928176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410200" cy="392430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53C78E-2E83-4057-AD5F-16F093AF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43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404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4040"/>
                </a:solidFill>
                <a:latin typeface="Aptos"/>
                <a:ea typeface="Aptos"/>
                <a:cs typeface="Aptos"/>
              </a:rPr>
              <a:t>NOT REPLACED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85FE3-9DBD-4234-B146-AA27433AC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2412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0141DB-CFDB-4810-A170-C21D11C3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57450"/>
            <a:ext cx="453390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Esri analysis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4BFA44-57F2-42BF-B976-48D13B98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4609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0538B-712C-4D07-92DE-299CCFF6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79420"/>
            <a:ext cx="453390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Broker relationships and diligence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7F6FE4-468D-4491-B94D-A4D9C7B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806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3D3DEC-EE12-40E5-AA9A-9C2C16E1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01390"/>
            <a:ext cx="453390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Finance forecasting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E20879-1998-48A1-9AB5-58993148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003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73A566-4BD8-4172-A8E3-E424E3C1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23360"/>
            <a:ext cx="453390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Physical site visits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743164-08F9-4E3B-9EBF-00A6B68D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12005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40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5B758A-6D03-4E8C-B5A8-E3A272E1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45330"/>
            <a:ext cx="4533900" cy="3695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9455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39455A"/>
                </a:solidFill>
                <a:latin typeface="Aptos"/>
                <a:ea typeface="Aptos"/>
                <a:cs typeface="Aptos"/>
              </a:rPr>
              <a:t>Accountable human decisions</a:t>
            </a:r>
          </a:p>
        </p:txBody>
      </p:sp>
    </p:spTree>
    <p:extLst>
      <p:ext uri="{BB962C8B-B14F-4D97-AF65-F5344CB8AC3E}">
        <p14:creationId xmlns:p14="http://schemas.microsoft.com/office/powerpoint/2010/main" val="801561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321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147F49-94A7-4E8E-A6EA-0CD2EDFA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AB1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B1FF"/>
                </a:solidFill>
                <a:latin typeface="Aptos"/>
                <a:ea typeface="Aptos"/>
                <a:cs typeface="Aptos"/>
              </a:rPr>
              <a:t>THE ASK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3D337-3A40-4605-A81C-0DB33CC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477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the gap.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 the evidence.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 the sequence.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9F1EA6-0BB4-442A-BB7D-65BA40A05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828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CE5FF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DCE5FF"/>
                </a:solidFill>
                <a:latin typeface="Aptos"/>
                <a:ea typeface="Aptos"/>
                <a:cs typeface="Aptos"/>
              </a:rPr>
              <a:t>Next step: select one portfolio decision, one accountable user, and a bounded set of approved inputs for a working pilot.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48AE29-FAD7-4EC8-875A-D75A26F6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85800"/>
            <a:ext cx="1485900" cy="1485900"/>
          </a:xfrm>
          <a:prstGeom xmlns:a="http://schemas.openxmlformats.org/drawingml/2006/main" prst="roundRect">
            <a:avLst>
              <a:gd name="adj" fmla="val 21795"/>
            </a:avLst>
          </a:prstGeom>
          <a:solidFill xmlns:a="http://schemas.openxmlformats.org/drawingml/2006/main">
            <a:srgbClr val="2D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A0CAD-F9A5-4D1C-A91F-4CE5FA12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685800"/>
            <a:ext cx="14859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CVC</a:t>
            </a:r>
          </a:p>
        </p:txBody>
      </p:sp>
    </p:spTree>
    <p:extLst>
      <p:ext uri="{BB962C8B-B14F-4D97-AF65-F5344CB8AC3E}">
        <p14:creationId xmlns:p14="http://schemas.microsoft.com/office/powerpoint/2010/main" val="14404180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2026-07-31T00:04:18.0070000Z</dcterms:created>
  <dcterms:modified xsi:type="dcterms:W3CDTF">2026-07-31T00:04:18.0070000Z</dcterms:modified>
</coreProperties>
</file>
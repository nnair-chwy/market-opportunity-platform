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1c223127de042d5" /><Relationship Type="http://schemas.openxmlformats.org/officeDocument/2006/relationships/extended-properties" Target="/docProps/app.xml" Id="R965a02bea9a54696" /><Relationship Type="http://schemas.openxmlformats.org/officeDocument/2006/relationships/officeDocument" Target="/ppt/presentation.xml" Id="R92f812bce645496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a0c0af5efe44d25"/>
  </p:sldMasterIdLst>
  <p:notesMasterIdLst>
    <p:notesMasterId xmlns:r="http://schemas.openxmlformats.org/officeDocument/2006/relationships" r:id="R4b41dd3438254046"/>
  </p:notesMasterIdLst>
  <p:sldIdLst>
    <p:sldId xmlns:r="http://schemas.openxmlformats.org/officeDocument/2006/relationships" id="256" r:id="Rb828e47a7b9946be"/>
    <p:sldId xmlns:r="http://schemas.openxmlformats.org/officeDocument/2006/relationships" id="257" r:id="R083c5d23d3fa49b2"/>
    <p:sldId xmlns:r="http://schemas.openxmlformats.org/officeDocument/2006/relationships" id="258" r:id="R08ec694957604f71"/>
    <p:sldId xmlns:r="http://schemas.openxmlformats.org/officeDocument/2006/relationships" id="259" r:id="R65eff2250ea34baf"/>
    <p:sldId xmlns:r="http://schemas.openxmlformats.org/officeDocument/2006/relationships" id="260" r:id="R891d1b018e664539"/>
    <p:sldId xmlns:r="http://schemas.openxmlformats.org/officeDocument/2006/relationships" id="261" r:id="Raa8e61996bf4424a"/>
    <p:sldId xmlns:r="http://schemas.openxmlformats.org/officeDocument/2006/relationships" id="262" r:id="R07a1199f1a7a436b"/>
    <p:sldId xmlns:r="http://schemas.openxmlformats.org/officeDocument/2006/relationships" id="263" r:id="Ra01aa27cd1f14a0a"/>
    <p:sldId xmlns:r="http://schemas.openxmlformats.org/officeDocument/2006/relationships" id="264" r:id="Ra7250b03aae74506"/>
    <p:sldId xmlns:r="http://schemas.openxmlformats.org/officeDocument/2006/relationships" id="265" r:id="R0356ff5f72ab4e46"/>
    <p:sldId xmlns:r="http://schemas.openxmlformats.org/officeDocument/2006/relationships" id="266" r:id="R699c144238f14664"/>
    <p:sldId xmlns:r="http://schemas.openxmlformats.org/officeDocument/2006/relationships" id="267" r:id="Ra1fee5caa75b443e"/>
    <p:sldId xmlns:r="http://schemas.openxmlformats.org/officeDocument/2006/relationships" id="268" r:id="Red50eae29a17461e"/>
    <p:sldId xmlns:r="http://schemas.openxmlformats.org/officeDocument/2006/relationships" id="269" r:id="R37d27f3dc67f47ce"/>
    <p:sldId xmlns:r="http://schemas.openxmlformats.org/officeDocument/2006/relationships" id="270" r:id="R00f043fef65e46cb"/>
    <p:sldId xmlns:r="http://schemas.openxmlformats.org/officeDocument/2006/relationships" id="271" r:id="Rb9eb1a4a3759429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8f2ff5f1a914e99" /><Relationship Type="http://schemas.openxmlformats.org/officeDocument/2006/relationships/slideMaster" Target="/ppt/slideMasters/slideMaster1.xml" Id="R8a0c0af5efe44d25" /><Relationship Type="http://schemas.openxmlformats.org/officeDocument/2006/relationships/notesMaster" Target="/ppt/notesMasters/notesMaster1.xml" Id="R4b41dd3438254046" /><Relationship Type="http://schemas.openxmlformats.org/officeDocument/2006/relationships/presProps" Target="/ppt/presProps.xml" Id="R73a35de2e3bb46ab" /><Relationship Type="http://schemas.openxmlformats.org/officeDocument/2006/relationships/tableStyles" Target="/ppt/tableStyles.xml" Id="R3829d1efe0c245da" /><Relationship Type="http://schemas.openxmlformats.org/officeDocument/2006/relationships/slide" Target="/ppt/slides/slide1.xml" Id="Rb828e47a7b9946be" /><Relationship Type="http://schemas.openxmlformats.org/officeDocument/2006/relationships/slide" Target="/ppt/slides/slide2.xml" Id="R083c5d23d3fa49b2" /><Relationship Type="http://schemas.openxmlformats.org/officeDocument/2006/relationships/slide" Target="/ppt/slides/slide3.xml" Id="R08ec694957604f71" /><Relationship Type="http://schemas.openxmlformats.org/officeDocument/2006/relationships/slide" Target="/ppt/slides/slide4.xml" Id="R65eff2250ea34baf" /><Relationship Type="http://schemas.openxmlformats.org/officeDocument/2006/relationships/slide" Target="/ppt/slides/slide5.xml" Id="R891d1b018e664539" /><Relationship Type="http://schemas.openxmlformats.org/officeDocument/2006/relationships/slide" Target="/ppt/slides/slide6.xml" Id="Raa8e61996bf4424a" /><Relationship Type="http://schemas.openxmlformats.org/officeDocument/2006/relationships/slide" Target="/ppt/slides/slide7.xml" Id="R07a1199f1a7a436b" /><Relationship Type="http://schemas.openxmlformats.org/officeDocument/2006/relationships/slide" Target="/ppt/slides/slide8.xml" Id="Ra01aa27cd1f14a0a" /><Relationship Type="http://schemas.openxmlformats.org/officeDocument/2006/relationships/slide" Target="/ppt/slides/slide9.xml" Id="Ra7250b03aae74506" /><Relationship Type="http://schemas.openxmlformats.org/officeDocument/2006/relationships/slide" Target="/ppt/slides/slide10.xml" Id="R0356ff5f72ab4e46" /><Relationship Type="http://schemas.openxmlformats.org/officeDocument/2006/relationships/slide" Target="/ppt/slides/slide11.xml" Id="R699c144238f14664" /><Relationship Type="http://schemas.openxmlformats.org/officeDocument/2006/relationships/slide" Target="/ppt/slides/slide12.xml" Id="Ra1fee5caa75b443e" /><Relationship Type="http://schemas.openxmlformats.org/officeDocument/2006/relationships/slide" Target="/ppt/slides/slide13.xml" Id="Red50eae29a17461e" /><Relationship Type="http://schemas.openxmlformats.org/officeDocument/2006/relationships/slide" Target="/ppt/slides/slide14.xml" Id="R37d27f3dc67f47ce" /><Relationship Type="http://schemas.openxmlformats.org/officeDocument/2006/relationships/slide" Target="/ppt/slides/slide15.xml" Id="R00f043fef65e46cb" /><Relationship Type="http://schemas.openxmlformats.org/officeDocument/2006/relationships/slide" Target="/ppt/slides/slide16.xml" Id="Rb9eb1a4a3759429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519e0bdbe97491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a4ffdffeea348e5" /><Relationship Type="http://schemas.openxmlformats.org/officeDocument/2006/relationships/notesMaster" Target="/ppt/notesMasters/notesMaster1.xml" Id="Rd3e4e0c9ce544c5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043198e28164eab" /><Relationship Type="http://schemas.openxmlformats.org/officeDocument/2006/relationships/notesMaster" Target="/ppt/notesMasters/notesMaster1.xml" Id="R36efb3f27b0b42b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58d95a9e1824e6b" /><Relationship Type="http://schemas.openxmlformats.org/officeDocument/2006/relationships/notesMaster" Target="/ppt/notesMasters/notesMaster1.xml" Id="R3ff15632c0474ca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039bdb9e49c4812" /><Relationship Type="http://schemas.openxmlformats.org/officeDocument/2006/relationships/notesMaster" Target="/ppt/notesMasters/notesMaster1.xml" Id="R54be7a7e76154ac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7ce8f31d36644d8" /><Relationship Type="http://schemas.openxmlformats.org/officeDocument/2006/relationships/notesMaster" Target="/ppt/notesMasters/notesMaster1.xml" Id="Rfdee1fa4e867447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b05e07d72b64f01" /><Relationship Type="http://schemas.openxmlformats.org/officeDocument/2006/relationships/notesMaster" Target="/ppt/notesMasters/notesMaster1.xml" Id="Rdd3a4fa0e7774b9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2b11799ca3541a7" /><Relationship Type="http://schemas.openxmlformats.org/officeDocument/2006/relationships/notesMaster" Target="/ppt/notesMasters/notesMaster1.xml" Id="Rfd190a32fac2490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e487d9124fe4435" /><Relationship Type="http://schemas.openxmlformats.org/officeDocument/2006/relationships/notesMaster" Target="/ppt/notesMasters/notesMaster1.xml" Id="Rb68527f526b8432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3d59bc6f0d34797" /><Relationship Type="http://schemas.openxmlformats.org/officeDocument/2006/relationships/notesMaster" Target="/ppt/notesMasters/notesMaster1.xml" Id="R188a5ac022d54c5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aaaee6435104842" /><Relationship Type="http://schemas.openxmlformats.org/officeDocument/2006/relationships/notesMaster" Target="/ppt/notesMasters/notesMaster1.xml" Id="Re5bb2b53455d435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bd311dceae74114" /><Relationship Type="http://schemas.openxmlformats.org/officeDocument/2006/relationships/notesMaster" Target="/ppt/notesMasters/notesMaster1.xml" Id="Raa63179e600040b3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6fdbab3d29c84d21" /><Relationship Type="http://schemas.openxmlformats.org/officeDocument/2006/relationships/notesMaster" Target="/ppt/notesMasters/notesMaster1.xml" Id="R76391d159e734634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e114775c60a04c00" /><Relationship Type="http://schemas.openxmlformats.org/officeDocument/2006/relationships/notesMaster" Target="/ppt/notesMasters/notesMaster1.xml" Id="R0d143cd0418a4ff5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6a91fd6d40264a97" /><Relationship Type="http://schemas.openxmlformats.org/officeDocument/2006/relationships/notesMaster" Target="/ppt/notesMasters/notesMaster1.xml" Id="R29c3939325c1438e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bed1ca3cc2b34bdb" /><Relationship Type="http://schemas.openxmlformats.org/officeDocument/2006/relationships/notesMaster" Target="/ppt/notesMasters/notesMaster1.xml" Id="Re52116c49d124397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c69c3dd1b2ab40da" /><Relationship Type="http://schemas.openxmlformats.org/officeDocument/2006/relationships/notesMaster" Target="/ppt/notesMasters/notesMaster1.xml" Id="R749f44dc943549c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Suggested time: 0:40</a:t>
            </a:r>
          </a:p>
          <a:p xmlns:a="http://schemas.openxmlformats.org/drawingml/2006/main">
            <a:r>
              <a:t>Open with the idea in one sentence. The platform progressively narrows the national search and keeps execution priority separate from attractiveness.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docs/product/mvp-scope.md</a:t>
            </a:r>
          </a:p>
          <a:p xmlns:a="http://schemas.openxmlformats.org/drawingml/2006/main">
            <a:r>
              <a:t>docs/product/user-workflows.md</a:t>
            </a:r>
          </a:p>
          <a:p xmlns:a="http://schemas.openxmlformats.org/drawingml/2006/main">
            <a:r>
              <a:t>docs/product/open-questions.md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Suggested time: 0:50</a:t>
            </a:r>
          </a:p>
          <a:p xmlns:a="http://schemas.openxmlformats.org/drawingml/2006/main">
            <a:r>
              <a:t>Explain why the product is not another map or spreadsheet score. The opportunity is the connective decision layer.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Plan: Pivot After Cale - Market Focus &amp; Scale</a:t>
            </a:r>
          </a:p>
          <a:p xmlns:a="http://schemas.openxmlformats.org/drawingml/2006/main">
            <a:r>
              <a:t>Cale meeting notes, Confluence page 5352949587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Suggested time: 0:45</a:t>
            </a:r>
          </a:p>
          <a:p xmlns:a="http://schemas.openxmlformats.org/drawingml/2006/main">
            <a:r>
              <a:t>Give the product definition and emphasize that people make the final decisions.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docs/product/mvp-scope.md</a:t>
            </a:r>
          </a:p>
          <a:p xmlns:a="http://schemas.openxmlformats.org/drawingml/2006/main">
            <a:r>
              <a:t>docs/product/user-workflows.md</a:t>
            </a:r>
          </a:p>
          <a:p xmlns:a="http://schemas.openxmlformats.org/drawingml/2006/main">
            <a:r>
              <a:t>docs/product/open-questions.md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Suggested time: 1:00</a:t>
            </a:r>
          </a:p>
          <a:p xmlns:a="http://schemas.openxmlformats.org/drawingml/2006/main">
            <a:r>
              <a:t>Introduce the four-level funnel. Each level has a different question and output, so one national property score is neither necessary nor desirable.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docs/product/mvp-scope.md</a:t>
            </a:r>
          </a:p>
          <a:p xmlns:a="http://schemas.openxmlformats.org/drawingml/2006/main">
            <a:r>
              <a:t>docs/product/user-workflows.md</a:t>
            </a:r>
          </a:p>
          <a:p xmlns:a="http://schemas.openxmlformats.org/drawingml/2006/main">
            <a:r>
              <a:t>docs/product/open-questions.md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Suggested time: 0:55</a:t>
            </a:r>
          </a:p>
          <a:p xmlns:a="http://schemas.openxmlformats.org/drawingml/2006/main">
            <a:r>
              <a:t>Walk through steps one through four. Scale comes from scheduled coverage and progressive narrowing.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docs/product/mvp-scope.md</a:t>
            </a:r>
          </a:p>
          <a:p xmlns:a="http://schemas.openxmlformats.org/drawingml/2006/main">
            <a:r>
              <a:t>docs/product/user-workflows.md</a:t>
            </a:r>
          </a:p>
          <a:p xmlns:a="http://schemas.openxmlformats.org/drawingml/2006/main">
            <a:r>
              <a:t>docs/product/open-questions.md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Suggested time: 1:00</a:t>
            </a:r>
          </a:p>
          <a:p xmlns:a="http://schemas.openxmlformats.org/drawingml/2006/main">
            <a:r>
              <a:t>Continue with submarket construction, broker properties, property gates, and the separate execution queue.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docs/product/mvp-scope.md</a:t>
            </a:r>
          </a:p>
          <a:p xmlns:a="http://schemas.openxmlformats.org/drawingml/2006/main">
            <a:r>
              <a:t>docs/product/user-workflows.md</a:t>
            </a:r>
          </a:p>
          <a:p xmlns:a="http://schemas.openxmlformats.org/drawingml/2006/main">
            <a:r>
              <a:t>docs/product/open-questions.md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Suggested time: 0:55</a:t>
            </a:r>
          </a:p>
          <a:p xmlns:a="http://schemas.openxmlformats.org/drawingml/2006/main">
            <a:r>
              <a:t>Describe the analyst experience from national map to review sequence. The key is that every view stays connected to evidence and scenario state.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docs/product/mvp-scope.md</a:t>
            </a:r>
          </a:p>
          <a:p xmlns:a="http://schemas.openxmlformats.org/drawingml/2006/main">
            <a:r>
              <a:t>docs/product/user-workflows.md</a:t>
            </a:r>
          </a:p>
          <a:p xmlns:a="http://schemas.openxmlformats.org/drawingml/2006/main">
            <a:r>
              <a:t>docs/product/open-questions.md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Suggested time: 0:55</a:t>
            </a:r>
          </a:p>
          <a:p xmlns:a="http://schemas.openxmlformats.org/drawingml/2006/main">
            <a:r>
              <a:t>Pause on the distinction among attractiveness, feasibility, and execution priority. These outputs may legitimately disagree.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Plan: Pivot After Cale - Market Focus &amp; Scale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Suggested time: 1:00</a:t>
            </a:r>
          </a:p>
          <a:p xmlns:a="http://schemas.openxmlformats.org/drawingml/2006/main">
            <a:r>
              <a:t>Use the synthetic example to show why Property B can be first to investigate while Property A has the higher location score.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Synthetic example supplied for presentation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Suggested time: 0:55</a:t>
            </a:r>
          </a:p>
          <a:p xmlns:a="http://schemas.openxmlformats.org/drawingml/2006/main">
            <a:r>
              <a:t>Be candid about the current boundary. The prototype demonstrates pieces of the workflow but does not yet rank the country legitimately.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docs/product/mvp-scope.md</a:t>
            </a:r>
          </a:p>
          <a:p xmlns:a="http://schemas.openxmlformats.org/drawingml/2006/main">
            <a:r>
              <a:t>docs/product/user-workflows.md</a:t>
            </a:r>
          </a:p>
          <a:p xmlns:a="http://schemas.openxmlformats.org/drawingml/2006/main">
            <a:r>
              <a:t>docs/product/open-questions.md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Suggested time: 1:00</a:t>
            </a:r>
          </a:p>
          <a:p xmlns:a="http://schemas.openxmlformats.org/drawingml/2006/main">
            <a:r>
              <a:t>Frame the four decisions as the minimum governance needed before rankings are credible.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docs/product/mvp-scope.md</a:t>
            </a:r>
          </a:p>
          <a:p xmlns:a="http://schemas.openxmlformats.org/drawingml/2006/main">
            <a:r>
              <a:t>docs/product/user-workflows.md</a:t>
            </a:r>
          </a:p>
          <a:p xmlns:a="http://schemas.openxmlformats.org/drawingml/2006/main">
            <a:r>
              <a:t>docs/product/open-questions.md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Suggested time: 0:40</a:t>
            </a:r>
          </a:p>
          <a:p xmlns:a="http://schemas.openxmlformats.org/drawingml/2006/main">
            <a:r>
              <a:t>Keep this brief. AI explains structured results and missing evidence but does not choose the site, rules, weights, geography, or forecast.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docs/technical/ai-boundaries.md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Suggested time: 0:40</a:t>
            </a:r>
          </a:p>
          <a:p xmlns:a="http://schemas.openxmlformats.org/drawingml/2006/main">
            <a:r>
              <a:t>Explain that the workflow benefit is a shared decision trace across existing tools and teams.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docs/product/mvp-scope.md</a:t>
            </a:r>
          </a:p>
          <a:p xmlns:a="http://schemas.openxmlformats.org/drawingml/2006/main">
            <a:r>
              <a:t>docs/product/user-workflows.md</a:t>
            </a:r>
          </a:p>
          <a:p xmlns:a="http://schemas.openxmlformats.org/drawingml/2006/main">
            <a:r>
              <a:t>docs/product/open-questions.md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Suggested time: 0:40</a:t>
            </a:r>
          </a:p>
          <a:p xmlns:a="http://schemas.openxmlformats.org/drawingml/2006/main">
            <a:r>
              <a:t>Describe measurable early impact without claiming unverified financial savings.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docs/evaluation/success-metrics.md</a:t>
            </a:r>
          </a:p>
          <a:p xmlns:a="http://schemas.openxmlformats.org/drawingml/2006/main">
            <a:r>
              <a:t>docs/evaluation/evaluation-plan.md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Suggested time: 6:00 demo</a:t>
            </a:r>
          </a:p>
          <a:p xmlns:a="http://schemas.openxmlformats.org/drawingml/2006/main">
            <a:r>
              <a:t>Transition into the live product. Aim for approximately six minutes and follow these five checkpoints.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docs/product/mvp-scope.md</a:t>
            </a:r>
          </a:p>
          <a:p xmlns:a="http://schemas.openxmlformats.org/drawingml/2006/main">
            <a:r>
              <a:t>docs/product/user-workflows.md</a:t>
            </a:r>
          </a:p>
          <a:p xmlns:a="http://schemas.openxmlformats.org/drawingml/2006/main">
            <a:r>
              <a:t>docs/product/open-questions.md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Suggested time: 0:40</a:t>
            </a:r>
          </a:p>
          <a:p xmlns:a="http://schemas.openxmlformats.org/drawingml/2006/main">
            <a:r>
              <a:t>Close with the requested decisions and one bounded pilot. Leave the audience with the progressive funnel and separate queue as the product direction.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docs/product/mvp-scope.md</a:t>
            </a:r>
          </a:p>
          <a:p xmlns:a="http://schemas.openxmlformats.org/drawingml/2006/main">
            <a:r>
              <a:t>docs/product/user-workflows.md</a:t>
            </a:r>
          </a:p>
          <a:p xmlns:a="http://schemas.openxmlformats.org/drawingml/2006/main">
            <a:r>
              <a:t>docs/product/open-questions.md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177477174af4a0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ffa7d93813a44d0" /><Relationship Type="http://schemas.openxmlformats.org/officeDocument/2006/relationships/slideLayout" Target="/ppt/slideLayouts/slideLayout1.xml" Id="Raa7699381ccc432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a7699381ccc432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d743eb668644a1" /><Relationship Type="http://schemas.openxmlformats.org/officeDocument/2006/relationships/notesSlide" Target="/ppt/notesSlides/notesSlide1.xml" Id="Rc7b0a41febdc4b6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278d16d5ec4c8c" /><Relationship Type="http://schemas.openxmlformats.org/officeDocument/2006/relationships/notesSlide" Target="/ppt/notesSlides/notesSlide2.xml" Id="R05b7a1d69523473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392e585957404e" /><Relationship Type="http://schemas.openxmlformats.org/officeDocument/2006/relationships/notesSlide" Target="/ppt/notesSlides/notesSlide3.xml" Id="Rfb2aaf47549e4fa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364cbd33dc41d5" /><Relationship Type="http://schemas.openxmlformats.org/officeDocument/2006/relationships/notesSlide" Target="/ppt/notesSlides/notesSlide4.xml" Id="Rc195f73288b944b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fc913577804102" /><Relationship Type="http://schemas.openxmlformats.org/officeDocument/2006/relationships/notesSlide" Target="/ppt/notesSlides/notesSlide5.xml" Id="R5a787a99673f4d0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3e415427374ba2" /><Relationship Type="http://schemas.openxmlformats.org/officeDocument/2006/relationships/notesSlide" Target="/ppt/notesSlides/notesSlide6.xml" Id="R6202ca4c54064d9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d88a12f1d34f67" /><Relationship Type="http://schemas.openxmlformats.org/officeDocument/2006/relationships/notesSlide" Target="/ppt/notesSlides/notesSlide7.xml" Id="R024586ce52644b5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a9c8875a234bd2" /><Relationship Type="http://schemas.openxmlformats.org/officeDocument/2006/relationships/notesSlide" Target="/ppt/notesSlides/notesSlide8.xml" Id="R46f5e760c7be4d6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3d5b7124024d07" /><Relationship Type="http://schemas.openxmlformats.org/officeDocument/2006/relationships/notesSlide" Target="/ppt/notesSlides/notesSlide9.xml" Id="Rddc81f64b63e4c0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7409b1024d48e3" /><Relationship Type="http://schemas.openxmlformats.org/officeDocument/2006/relationships/notesSlide" Target="/ppt/notesSlides/notesSlide10.xml" Id="Rd504b444f377422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892858750f4344" /><Relationship Type="http://schemas.openxmlformats.org/officeDocument/2006/relationships/notesSlide" Target="/ppt/notesSlides/notesSlide11.xml" Id="Rbe5d9e26b8274f41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193160c4a94e4c" /><Relationship Type="http://schemas.openxmlformats.org/officeDocument/2006/relationships/notesSlide" Target="/ppt/notesSlides/notesSlide12.xml" Id="R770aca0a1b254ce2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b66dfcd3374ccd" /><Relationship Type="http://schemas.openxmlformats.org/officeDocument/2006/relationships/notesSlide" Target="/ppt/notesSlides/notesSlide13.xml" Id="R3fd1d4ebd9954d1c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8bca36508a44a7" /><Relationship Type="http://schemas.openxmlformats.org/officeDocument/2006/relationships/notesSlide" Target="/ppt/notesSlides/notesSlide14.xml" Id="R74d1271195a84002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bf1eced66e4648" /><Relationship Type="http://schemas.openxmlformats.org/officeDocument/2006/relationships/notesSlide" Target="/ppt/notesSlides/notesSlide15.xml" Id="R4f93a64440cf4835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678ab02bbd475f" /><Relationship Type="http://schemas.openxmlformats.org/officeDocument/2006/relationships/notesSlide" Target="/ppt/notesSlides/notesSlide16.xml" Id="R3a7ecc52ee4c45c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8DFE6D-620F-4692-95D8-0C4B37EB0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2D5B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D5BFF"/>
                </a:solidFill>
                <a:latin typeface="Aptos"/>
                <a:ea typeface="Aptos"/>
                <a:cs typeface="Aptos"/>
              </a:rPr>
              <a:t>CHEWY VET CARE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E6B219-F69C-439C-9BF4-C1C5D2777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24000"/>
            <a:ext cx="8858250" cy="2324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4950" b="1">
                <a:solidFill>
                  <a:srgbClr val="13213A"/>
                </a:solidFill>
                <a:latin typeface="Aptos"/>
                <a:ea typeface="Aptos"/>
                <a:cs typeface="Aptos"/>
              </a:defRPr>
            </a:pPr>
            <a:r>
              <a:rPr sz="4950" b="1">
                <a:solidFill>
                  <a:srgbClr val="13213A"/>
                </a:solidFill>
                <a:latin typeface="Aptos"/>
                <a:ea typeface="Aptos"/>
                <a:cs typeface="Aptos"/>
              </a:rPr>
              <a:t>CVC Clinic Market</a:t>
            </a:r>
          </a:p>
          <a:p xmlns:a="http://schemas.openxmlformats.org/drawingml/2006/main">
            <a:pPr algn="l">
              <a:buNone/>
              <a:defRPr sz="4950" b="1">
                <a:solidFill>
                  <a:srgbClr val="13213A"/>
                </a:solidFill>
                <a:latin typeface="Aptos"/>
                <a:ea typeface="Aptos"/>
                <a:cs typeface="Aptos"/>
              </a:defRPr>
            </a:pPr>
            <a:r>
              <a:rPr sz="4950" b="1">
                <a:solidFill>
                  <a:srgbClr val="13213A"/>
                </a:solidFill>
                <a:latin typeface="Aptos"/>
                <a:ea typeface="Aptos"/>
                <a:cs typeface="Aptos"/>
              </a:rPr>
              <a:t>and Location Discovery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7AB941-9A84-416B-A04C-AC2676777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400550"/>
            <a:ext cx="8096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0">
                <a:solidFill>
                  <a:srgbClr val="39455A"/>
                </a:solidFill>
                <a:latin typeface="Aptos"/>
                <a:ea typeface="Aptos"/>
                <a:cs typeface="Aptos"/>
              </a:defRPr>
            </a:pPr>
            <a:r>
              <a:rPr sz="2175" b="0">
                <a:solidFill>
                  <a:srgbClr val="39455A"/>
                </a:solidFill>
                <a:latin typeface="Aptos"/>
                <a:ea typeface="Aptos"/>
                <a:cs typeface="Aptos"/>
              </a:rPr>
              <a:t>From nationwide market opportunity to an explainable clinic-opening sequence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21ABA6-F7BC-4C3D-A666-2814363BD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10250"/>
            <a:ext cx="361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A56A00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A56A00"/>
                </a:solidFill>
                <a:latin typeface="Aptos"/>
                <a:ea typeface="Aptos"/>
                <a:cs typeface="Aptos"/>
              </a:rPr>
              <a:t>VISION AND VALIDATION PLAN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E507C1-DAC9-4107-89C7-DF7C0A00B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85800"/>
            <a:ext cx="1371600" cy="13716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2D5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1B196F-D5A1-42E5-A274-4AE661DFC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85800"/>
            <a:ext cx="1371600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31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CVC</a:t>
            </a:r>
          </a:p>
        </p:txBody>
      </p:sp>
    </p:spTree>
    <p:extLst>
      <p:ext uri="{BB962C8B-B14F-4D97-AF65-F5344CB8AC3E}">
        <p14:creationId xmlns:p14="http://schemas.microsoft.com/office/powerpoint/2010/main" val="168526440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E2C7431-9AE7-4D75-A2AB-86C53EBEA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2D5B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D5BFF"/>
                </a:solidFill>
                <a:latin typeface="Aptos"/>
                <a:ea typeface="Aptos"/>
                <a:cs typeface="Aptos"/>
              </a:rPr>
              <a:t>WHY THE VISION CHANGED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E88497-2EA0-4D4F-9828-689614093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1334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564"/>
          </a:bodyPr>
          <a:lstStyle xmlns:a="http://schemas.openxmlformats.org/drawingml/2006/main"/>
          <a:p xmlns:a="http://schemas.openxmlformats.org/drawingml/2006/main">
            <a:pPr algn="l">
              <a:buNone/>
              <a:defRPr sz="3450" b="1">
                <a:solidFill>
                  <a:srgbClr val="13213A"/>
                </a:solidFill>
                <a:latin typeface="Aptos"/>
                <a:ea typeface="Aptos"/>
                <a:cs typeface="Aptos"/>
              </a:defRPr>
            </a:pPr>
            <a:r>
              <a:rPr sz="3450" b="1">
                <a:solidFill>
                  <a:srgbClr val="13213A"/>
                </a:solidFill>
                <a:latin typeface="Aptos"/>
                <a:ea typeface="Aptos"/>
                <a:cs typeface="Aptos"/>
              </a:rPr>
              <a:t>The pivot: the niche is not another map or weighted score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35256D-9652-4060-87E3-A7E8BC2E4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113919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F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BAE681-CABB-46DA-BB82-49432F711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86525"/>
            <a:ext cx="1028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68738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87386"/>
                </a:solidFill>
                <a:latin typeface="Aptos"/>
                <a:ea typeface="Aptos"/>
                <a:cs typeface="Aptos"/>
              </a:rPr>
              <a:t>Sources: Cale notes; pivot task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F0A317-F7F8-41CC-8681-CB10C4C8C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7700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87386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87386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25081B-98FC-4EB1-9527-C8B73DB21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76400"/>
            <a:ext cx="3476625" cy="3467100"/>
          </a:xfrm>
          <a:prstGeom xmlns:a="http://schemas.openxmlformats.org/drawingml/2006/main" prst="roundRect">
            <a:avLst>
              <a:gd name="adj" fmla="val 4945"/>
            </a:avLst>
          </a:prstGeom>
          <a:solidFill xmlns:a="http://schemas.openxmlformats.org/drawingml/2006/main">
            <a:srgbClr val="EDF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388BED9-52B8-42BC-9814-64A721D78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66900"/>
            <a:ext cx="30194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D5B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D5BFF"/>
                </a:solidFill>
                <a:latin typeface="Aptos"/>
                <a:ea typeface="Aptos"/>
                <a:cs typeface="Aptos"/>
              </a:rPr>
              <a:t>ALREADY STRONG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726E2F-6034-4134-B789-F41A40D09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28850"/>
            <a:ext cx="30194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3213A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3213A"/>
                </a:solidFill>
                <a:latin typeface="Aptos"/>
                <a:ea typeface="Aptos"/>
                <a:cs typeface="Aptos"/>
              </a:rPr>
              <a:t>Esri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EEA48DF-F467-4638-9D70-27F4D2016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990850"/>
            <a:ext cx="3019425" cy="1962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39455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39455A"/>
                </a:solidFill>
                <a:latin typeface="Aptos"/>
                <a:ea typeface="Aptos"/>
                <a:cs typeface="Aptos"/>
              </a:rPr>
              <a:t>Mapping, overlays, drive-time analysis, competitive context, and large customer calculations.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DA8DC6-1404-43F1-BC68-0739C0127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676400"/>
            <a:ext cx="3476625" cy="3467100"/>
          </a:xfrm>
          <a:prstGeom xmlns:a="http://schemas.openxmlformats.org/drawingml/2006/main" prst="roundRect">
            <a:avLst>
              <a:gd name="adj" fmla="val 4945"/>
            </a:avLst>
          </a:prstGeom>
          <a:solidFill xmlns:a="http://schemas.openxmlformats.org/drawingml/2006/main">
            <a:srgbClr val="FFF5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143D723-FE65-4C54-9C4C-2D6CBA2FE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1866900"/>
            <a:ext cx="30194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A56A00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A56A00"/>
                </a:solidFill>
                <a:latin typeface="Aptos"/>
                <a:ea typeface="Aptos"/>
                <a:cs typeface="Aptos"/>
              </a:rPr>
              <a:t>ALREADY FAMILIAR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545A279-B429-4964-8553-7F4CED6B5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228850"/>
            <a:ext cx="30194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3213A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3213A"/>
                </a:solidFill>
                <a:latin typeface="Aptos"/>
                <a:ea typeface="Aptos"/>
                <a:cs typeface="Aptos"/>
              </a:rPr>
              <a:t>Excel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220633C-70F2-4518-8B46-39F9C9D98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990850"/>
            <a:ext cx="3019425" cy="1962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39455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39455A"/>
                </a:solidFill>
                <a:latin typeface="Aptos"/>
                <a:ea typeface="Aptos"/>
                <a:cs typeface="Aptos"/>
              </a:rPr>
              <a:t>Weighted, rules-based ranking that teams can adjust and understand.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8DC3DD6-1547-4A74-9E64-2A142B86E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1676400"/>
            <a:ext cx="3467100" cy="3467100"/>
          </a:xfrm>
          <a:prstGeom xmlns:a="http://schemas.openxmlformats.org/drawingml/2006/main" prst="roundRect">
            <a:avLst>
              <a:gd name="adj" fmla="val 4945"/>
            </a:avLst>
          </a:prstGeom>
          <a:solidFill xmlns:a="http://schemas.openxmlformats.org/drawingml/2006/main">
            <a:srgbClr val="EDF7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A0B7562-8D16-4A06-AE96-B6227B9DC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1866900"/>
            <a:ext cx="3009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347A4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347A4A"/>
                </a:solidFill>
                <a:latin typeface="Aptos"/>
                <a:ea typeface="Aptos"/>
                <a:cs typeface="Aptos"/>
              </a:rPr>
              <a:t>STILL MISSING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0168C7E-B461-4896-B1A7-58817412C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228850"/>
            <a:ext cx="3009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3213A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3213A"/>
                </a:solidFill>
                <a:latin typeface="Aptos"/>
                <a:ea typeface="Aptos"/>
                <a:cs typeface="Aptos"/>
              </a:rPr>
              <a:t>The connective layer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3DB3EEE-736A-4AD4-A77D-9C34AEA95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990850"/>
            <a:ext cx="3009900" cy="1962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39455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39455A"/>
                </a:solidFill>
                <a:latin typeface="Aptos"/>
                <a:ea typeface="Aptos"/>
                <a:cs typeface="Aptos"/>
              </a:rPr>
              <a:t>A shared scenario and evidence trail from market attractiveness through property feasibility and execution sequence.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892211A-2941-4F0C-95D3-45B888413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476875"/>
            <a:ext cx="9144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4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1E43C8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E43C8"/>
                </a:solidFill>
                <a:latin typeface="Aptos"/>
                <a:ea typeface="Aptos"/>
                <a:cs typeface="Aptos"/>
              </a:rPr>
              <a:t>The opportunity is between the tools, not inside one more scoring screen.</a:t>
            </a:r>
          </a:p>
        </p:txBody>
      </p:sp>
    </p:spTree>
    <p:extLst>
      <p:ext uri="{BB962C8B-B14F-4D97-AF65-F5344CB8AC3E}">
        <p14:creationId xmlns:p14="http://schemas.microsoft.com/office/powerpoint/2010/main" val="151070730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081473F-28FD-4EDF-BBB7-F40944968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2D5B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D5BFF"/>
                </a:solidFill>
                <a:latin typeface="Aptos"/>
                <a:ea typeface="Aptos"/>
                <a:cs typeface="Aptos"/>
              </a:rPr>
              <a:t>PRODUCT STATEMENT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FBAC3C-B014-44EA-8759-1B53733E6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1334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1090"/>
          </a:bodyPr>
          <a:lstStyle xmlns:a="http://schemas.openxmlformats.org/drawingml/2006/main"/>
          <a:p xmlns:a="http://schemas.openxmlformats.org/drawingml/2006/main">
            <a:pPr algn="l">
              <a:buNone/>
              <a:defRPr sz="3450" b="1">
                <a:solidFill>
                  <a:srgbClr val="13213A"/>
                </a:solidFill>
                <a:latin typeface="Aptos"/>
                <a:ea typeface="Aptos"/>
                <a:cs typeface="Aptos"/>
              </a:defRPr>
            </a:pPr>
            <a:r>
              <a:rPr sz="3450" b="1">
                <a:solidFill>
                  <a:srgbClr val="13213A"/>
                </a:solidFill>
                <a:latin typeface="Aptos"/>
                <a:ea typeface="Aptos"/>
                <a:cs typeface="Aptos"/>
              </a:rPr>
              <a:t>One scenario layer connects discovery, diligence, and sequencing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72D625-0E87-42AD-A135-74F48924A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113919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F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5EB327-9774-4920-85C3-DB49205E4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86525"/>
            <a:ext cx="1028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68738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87386"/>
                </a:solidFill>
                <a:latin typeface="Aptos"/>
                <a:ea typeface="Aptos"/>
                <a:cs typeface="Aptos"/>
              </a:rPr>
              <a:t>Sources: Pivot task; MVP scope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024F67-35E1-41A1-82BF-27E15EF15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7700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87386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87386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765BED-EA33-40D9-9D46-720281959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57350"/>
            <a:ext cx="8191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E43C8"/>
                </a:solidFill>
                <a:latin typeface="Aptos"/>
                <a:ea typeface="Aptos"/>
                <a:cs typeface="Aptos"/>
              </a:defRPr>
            </a:pPr>
            <a:r>
              <a:rPr sz="2625" b="1">
                <a:solidFill>
                  <a:srgbClr val="1E43C8"/>
                </a:solidFill>
                <a:latin typeface="Aptos"/>
                <a:ea typeface="Aptos"/>
                <a:cs typeface="Aptos"/>
              </a:rPr>
              <a:t>CVC Clinic Market and Location Discovery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B121C2-CDD5-43F8-BB39-5ABF8A4AF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62200"/>
            <a:ext cx="7239000" cy="2247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13213A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13213A"/>
                </a:solidFill>
                <a:latin typeface="Aptos"/>
                <a:ea typeface="Aptos"/>
                <a:cs typeface="Aptos"/>
              </a:rPr>
              <a:t>is an evidence-backed scenario layer that connects national market discovery, sub-area opportunity, real properties, feasibility, Finance scenarios, and execution priority.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D8D9B3-EF0F-4589-96D8-69E3DC45D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638300"/>
            <a:ext cx="3486150" cy="3733800"/>
          </a:xfrm>
          <a:prstGeom xmlns:a="http://schemas.openxmlformats.org/drawingml/2006/main" prst="roundRect">
            <a:avLst>
              <a:gd name="adj" fmla="val 6011"/>
            </a:avLst>
          </a:prstGeom>
          <a:solidFill xmlns:a="http://schemas.openxmlformats.org/drawingml/2006/main">
            <a:srgbClr val="EDF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A3F6C76-4B60-487D-8267-C227015B3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19621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2D5B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D5BFF"/>
                </a:solidFill>
                <a:latin typeface="Aptos"/>
                <a:ea typeface="Aptos"/>
                <a:cs typeface="Aptos"/>
              </a:rPr>
              <a:t>IT HELPS CVC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EA7C227-C048-46B2-9812-C2110E18E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54317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D5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33B3DD8-1CBC-4169-981E-EB90C3F8B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476500"/>
            <a:ext cx="2476500" cy="4048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39455A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39455A"/>
                </a:solidFill>
                <a:latin typeface="Aptos"/>
                <a:ea typeface="Aptos"/>
                <a:cs typeface="Aptos"/>
              </a:rPr>
              <a:t>Scan consistently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6209D78-743C-4E37-8853-C16CA7443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119438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D5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F7D13E9-7C8D-4D01-BFC0-8A1CA210F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052763"/>
            <a:ext cx="2476500" cy="4048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39455A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39455A"/>
                </a:solidFill>
                <a:latin typeface="Aptos"/>
                <a:ea typeface="Aptos"/>
                <a:cs typeface="Aptos"/>
              </a:rPr>
              <a:t>Compare scenarios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F093611-712A-41FF-B14C-3DBA470AE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6957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D5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FC7D60D-6D45-4DD8-861A-DC097354E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629025"/>
            <a:ext cx="2476500" cy="4048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39455A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39455A"/>
                </a:solidFill>
                <a:latin typeface="Aptos"/>
                <a:ea typeface="Aptos"/>
                <a:cs typeface="Aptos"/>
              </a:rPr>
              <a:t>Explain tradeoffs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BB00392-71BC-4E82-9786-A32B1D7F1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271963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D5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25AE1BD-110A-4A6D-B6F6-D88B8EFE8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4205288"/>
            <a:ext cx="2476500" cy="4048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39455A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39455A"/>
                </a:solidFill>
                <a:latin typeface="Aptos"/>
                <a:ea typeface="Aptos"/>
                <a:cs typeface="Aptos"/>
              </a:rPr>
              <a:t>Preserve decisions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9474008-DCBA-4868-9698-CF917834D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57800"/>
            <a:ext cx="7524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347A4A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347A4A"/>
                </a:solidFill>
                <a:latin typeface="Aptos"/>
                <a:ea typeface="Aptos"/>
                <a:cs typeface="Aptos"/>
              </a:rPr>
              <a:t>It prepares the portfolio case. People make the decisions.</a:t>
            </a:r>
          </a:p>
        </p:txBody>
      </p:sp>
    </p:spTree>
    <p:extLst>
      <p:ext uri="{BB962C8B-B14F-4D97-AF65-F5344CB8AC3E}">
        <p14:creationId xmlns:p14="http://schemas.microsoft.com/office/powerpoint/2010/main" val="26302310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6BDA6EF-7C78-4062-8B50-8CAEC27BE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2D5B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D5BFF"/>
                </a:solidFill>
                <a:latin typeface="Aptos"/>
                <a:ea typeface="Aptos"/>
                <a:cs typeface="Aptos"/>
              </a:rPr>
              <a:t>THE SCALABLE FUNNEL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158C76-52EC-42F0-B662-83D181328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1334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450" b="1">
                <a:solidFill>
                  <a:srgbClr val="13213A"/>
                </a:solidFill>
                <a:latin typeface="Aptos"/>
                <a:ea typeface="Aptos"/>
                <a:cs typeface="Aptos"/>
              </a:defRPr>
            </a:pPr>
            <a:r>
              <a:rPr sz="3450" b="1">
                <a:solidFill>
                  <a:srgbClr val="13213A"/>
                </a:solidFill>
                <a:latin typeface="Aptos"/>
                <a:ea typeface="Aptos"/>
                <a:cs typeface="Aptos"/>
              </a:rPr>
              <a:t>A funnel narrows the search without one giant score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E681D0-5E6E-43B5-B2E0-E7B326362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113919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F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E5B145-D984-4BE5-A7E4-878875BFD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86525"/>
            <a:ext cx="1028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68738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87386"/>
                </a:solidFill>
                <a:latin typeface="Aptos"/>
                <a:ea typeface="Aptos"/>
                <a:cs typeface="Aptos"/>
              </a:rPr>
              <a:t>Sources: MVP scope; user workflows; open questions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2A5705-58A4-4E93-BC9C-902C6540C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7700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87386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87386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8633C5-4708-4B28-A4A8-9C37C7C30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38350"/>
            <a:ext cx="2505075" cy="1790700"/>
          </a:xfrm>
          <a:prstGeom xmlns:a="http://schemas.openxmlformats.org/drawingml/2006/main" prst="roundRect">
            <a:avLst>
              <a:gd name="adj" fmla="val 9574"/>
            </a:avLst>
          </a:prstGeom>
          <a:solidFill xmlns:a="http://schemas.openxmlformats.org/drawingml/2006/main">
            <a:srgbClr val="EDF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E01C4C-8163-4642-9E79-0CF305684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980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2D5B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D5BFF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3FD5CEE-7D1C-488E-90CF-DBAF807A4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28900"/>
            <a:ext cx="20859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13213A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13213A"/>
                </a:solidFill>
                <a:latin typeface="Aptos"/>
                <a:ea typeface="Aptos"/>
                <a:cs typeface="Aptos"/>
              </a:rPr>
              <a:t>Market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3741E1E-7531-4E80-8536-8A64D157D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19450"/>
            <a:ext cx="20859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4953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39455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39455A"/>
                </a:solidFill>
                <a:latin typeface="Aptos"/>
                <a:ea typeface="Aptos"/>
                <a:cs typeface="Aptos"/>
              </a:rPr>
              <a:t>Which metros deserve attention?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39455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39455A"/>
                </a:solidFill>
                <a:latin typeface="Aptos"/>
                <a:ea typeface="Aptos"/>
                <a:cs typeface="Aptos"/>
              </a:rPr>
              <a:t>Tier + rank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EC65A94-9245-4C1B-A179-921F54577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2038350"/>
            <a:ext cx="2505075" cy="1790700"/>
          </a:xfrm>
          <a:prstGeom xmlns:a="http://schemas.openxmlformats.org/drawingml/2006/main" prst="roundRect">
            <a:avLst>
              <a:gd name="adj" fmla="val 9574"/>
            </a:avLst>
          </a:prstGeom>
          <a:solidFill xmlns:a="http://schemas.openxmlformats.org/drawingml/2006/main">
            <a:srgbClr val="EDF7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2784922-C9AD-4FAA-A815-1590FFC1C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220980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347A4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347A4A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A32448B-FAD2-46F8-8DEB-E15110381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2628900"/>
            <a:ext cx="20859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13213A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13213A"/>
                </a:solidFill>
                <a:latin typeface="Aptos"/>
                <a:ea typeface="Aptos"/>
                <a:cs typeface="Aptos"/>
              </a:rPr>
              <a:t>Submarket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C6C5224-D7D2-48C7-A85B-2C816BF37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3219450"/>
            <a:ext cx="20859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9086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39455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39455A"/>
                </a:solidFill>
                <a:latin typeface="Aptos"/>
                <a:ea typeface="Aptos"/>
                <a:cs typeface="Aptos"/>
              </a:rPr>
              <a:t>Where is opportunity concentrated?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39455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39455A"/>
                </a:solidFill>
                <a:latin typeface="Aptos"/>
                <a:ea typeface="Aptos"/>
                <a:cs typeface="Aptos"/>
              </a:rPr>
              <a:t>Ranked heat-map areas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17CF458-7B56-45AF-975D-9E7C55834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038350"/>
            <a:ext cx="2505075" cy="1790700"/>
          </a:xfrm>
          <a:prstGeom xmlns:a="http://schemas.openxmlformats.org/drawingml/2006/main" prst="roundRect">
            <a:avLst>
              <a:gd name="adj" fmla="val 9574"/>
            </a:avLst>
          </a:prstGeom>
          <a:solidFill xmlns:a="http://schemas.openxmlformats.org/drawingml/2006/main">
            <a:srgbClr val="FFF5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5C99FE9-D4B2-489C-B683-8E0B0E0F2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20980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A56A00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A56A00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380A42B-00DD-44D4-B6CE-BDF294069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628900"/>
            <a:ext cx="20859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13213A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13213A"/>
                </a:solidFill>
                <a:latin typeface="Aptos"/>
                <a:ea typeface="Aptos"/>
                <a:cs typeface="Aptos"/>
              </a:rPr>
              <a:t>Property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13035BE-4012-4B10-98C9-D89DC0D6B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219450"/>
            <a:ext cx="20859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1886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39455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39455A"/>
                </a:solidFill>
                <a:latin typeface="Aptos"/>
                <a:ea typeface="Aptos"/>
                <a:cs typeface="Aptos"/>
              </a:rPr>
              <a:t>Which properties are feasible?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39455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39455A"/>
                </a:solidFill>
                <a:latin typeface="Aptos"/>
                <a:ea typeface="Aptos"/>
                <a:cs typeface="Aptos"/>
              </a:rPr>
              <a:t>Advance, review, or blocked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68DA382-7DF0-4B45-94A2-B179AEB4C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2038350"/>
            <a:ext cx="2962275" cy="1790700"/>
          </a:xfrm>
          <a:prstGeom xmlns:a="http://schemas.openxmlformats.org/drawingml/2006/main" prst="roundRect">
            <a:avLst>
              <a:gd name="adj" fmla="val 9574"/>
            </a:avLst>
          </a:prstGeom>
          <a:solidFill xmlns:a="http://schemas.openxmlformats.org/drawingml/2006/main">
            <a:srgbClr val="FCEE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90F6561-9C17-4DD9-B000-DFFC05655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220980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9A4040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9A4040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2A5AF32-3FFB-47E6-8425-FABBED6CF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2628900"/>
            <a:ext cx="25431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13213A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13213A"/>
                </a:solidFill>
                <a:latin typeface="Aptos"/>
                <a:ea typeface="Aptos"/>
                <a:cs typeface="Aptos"/>
              </a:rPr>
              <a:t>Sequence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E1BE5E3-F862-41C7-BCA0-E7A41DFFD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3219450"/>
            <a:ext cx="25431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889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39455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39455A"/>
                </a:solidFill>
                <a:latin typeface="Aptos"/>
                <a:ea typeface="Aptos"/>
                <a:cs typeface="Aptos"/>
              </a:rPr>
              <a:t>What should Chewy pursue first?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39455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39455A"/>
                </a:solidFill>
                <a:latin typeface="Aptos"/>
                <a:ea typeface="Aptos"/>
                <a:cs typeface="Aptos"/>
              </a:rPr>
              <a:t>Queue + rationale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814DDA9-E6DF-44ED-AE3A-F4EBB182E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914650"/>
            <a:ext cx="95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873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75400DD-5371-443E-B728-7769B714B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838450"/>
            <a:ext cx="114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873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AF4445C-A64D-4882-8DDF-F053870AD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9775" y="2914650"/>
            <a:ext cx="95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873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805317A-88A1-43E9-92BD-EDE7FCE54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5025" y="2838450"/>
            <a:ext cx="114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873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6246114-8DE9-47C8-9804-CA0F20EC9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914650"/>
            <a:ext cx="95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873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EA74166-780E-4886-AE68-010B1A87D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838450"/>
            <a:ext cx="114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873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D170B89-F1DE-4060-97B4-C45B4BC9D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476750"/>
            <a:ext cx="10096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75" b="1">
                <a:solidFill>
                  <a:srgbClr val="1E43C8"/>
                </a:solidFill>
                <a:latin typeface="Aptos"/>
                <a:ea typeface="Aptos"/>
                <a:cs typeface="Aptos"/>
              </a:defRPr>
            </a:pPr>
            <a:r>
              <a:rPr sz="2175" b="1">
                <a:solidFill>
                  <a:srgbClr val="1E43C8"/>
                </a:solidFill>
                <a:latin typeface="Aptos"/>
                <a:ea typeface="Aptos"/>
                <a:cs typeface="Aptos"/>
              </a:rPr>
              <a:t>Each level answers a different question before the search gets narrower.</a:t>
            </a:r>
          </a:p>
        </p:txBody>
      </p:sp>
    </p:spTree>
    <p:extLst>
      <p:ext uri="{BB962C8B-B14F-4D97-AF65-F5344CB8AC3E}">
        <p14:creationId xmlns:p14="http://schemas.microsoft.com/office/powerpoint/2010/main" val="23076650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CDB08C1-9EFB-4D76-A463-3D9336B93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2D5B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D5BFF"/>
                </a:solidFill>
                <a:latin typeface="Aptos"/>
                <a:ea typeface="Aptos"/>
                <a:cs typeface="Aptos"/>
              </a:rPr>
              <a:t>HOW IT WORKS AT SCALE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A1947D-2816-4D7B-994F-965D92843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1334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684"/>
          </a:bodyPr>
          <a:lstStyle xmlns:a="http://schemas.openxmlformats.org/drawingml/2006/main"/>
          <a:p xmlns:a="http://schemas.openxmlformats.org/drawingml/2006/main">
            <a:pPr algn="l">
              <a:buNone/>
              <a:defRPr sz="3450" b="1">
                <a:solidFill>
                  <a:srgbClr val="13213A"/>
                </a:solidFill>
                <a:latin typeface="Aptos"/>
                <a:ea typeface="Aptos"/>
                <a:cs typeface="Aptos"/>
              </a:defRPr>
            </a:pPr>
            <a:r>
              <a:rPr sz="3450" b="1">
                <a:solidFill>
                  <a:srgbClr val="13213A"/>
                </a:solidFill>
                <a:latin typeface="Aptos"/>
                <a:ea typeface="Aptos"/>
                <a:cs typeface="Aptos"/>
              </a:rPr>
              <a:t>The national process starts broad, then earns deeper analysis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AEB474-BD0C-4E86-9E89-ACC4CB06C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113919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F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8E33C0-E90D-46A1-AFD5-4069BCE07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86525"/>
            <a:ext cx="1028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68738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87386"/>
                </a:solidFill>
                <a:latin typeface="Aptos"/>
                <a:ea typeface="Aptos"/>
                <a:cs typeface="Aptos"/>
              </a:rPr>
              <a:t>Sources: MVP scope; user workflows; open questions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D06FB1-AE1D-4FFD-8A7D-C7EED75FF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7700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87386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87386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091663-7631-437C-82F3-E0A25DD12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19250"/>
            <a:ext cx="5905500" cy="3695700"/>
          </a:xfrm>
          <a:prstGeom xmlns:a="http://schemas.openxmlformats.org/drawingml/2006/main" prst="roundRect">
            <a:avLst>
              <a:gd name="adj" fmla="val 5670"/>
            </a:avLst>
          </a:prstGeom>
          <a:solidFill xmlns:a="http://schemas.openxmlformats.org/drawingml/2006/main">
            <a:srgbClr val="EDF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D4095D-3A50-44AB-8397-45B5014A0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283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2D5B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D5BFF"/>
                </a:solidFill>
                <a:latin typeface="Aptos"/>
                <a:ea typeface="Aptos"/>
                <a:cs typeface="Aptos"/>
              </a:rPr>
              <a:t>COMPLETE APPROVED U.S. MARKET UNIVERSE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9CC309-1830-40A0-83B5-0E7A96520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173730"/>
            <a:ext cx="285750" cy="147447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2D5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AFE9B29-92DC-49FE-8E27-1892CBCAC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568065"/>
            <a:ext cx="285750" cy="1080135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2D5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AF4B75B-F844-4FE4-B692-B326696B2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3345180"/>
            <a:ext cx="285750" cy="130302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2D5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37C8CB5-F64F-4388-9AEA-9B52392B3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3876675"/>
            <a:ext cx="285750" cy="771525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9AB1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23FCC9E-2017-4BC3-8517-CCA505119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465195"/>
            <a:ext cx="285750" cy="1183005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9AB1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90B2BAB-9190-441B-9FAA-5190BC2C5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688080"/>
            <a:ext cx="285750" cy="96012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9AB1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FB65521-1330-4DB5-A1D5-15ED03CE6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3088005"/>
            <a:ext cx="285750" cy="1560195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9AB1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897D0E6-9CFC-4755-8BCA-9CEE4C818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413760"/>
            <a:ext cx="285750" cy="123444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9AB1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2543ABC-0E02-4932-8BA8-ED06622DA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3773805"/>
            <a:ext cx="285750" cy="874395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9AB1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E38A0FB-62C0-4E69-B8D9-8702DA8EA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276600"/>
            <a:ext cx="285750" cy="137160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9AB1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BE02472-ECAA-4DC0-BB2C-3365B4D22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0"/>
            <a:ext cx="495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899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3213A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3213A"/>
                </a:solidFill>
                <a:latin typeface="Aptos"/>
                <a:ea typeface="Aptos"/>
                <a:cs typeface="Aptos"/>
              </a:rPr>
              <a:t>Scheduled evaluation, not market-by-market prompting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7F0FB45-8DAB-4AC0-8AE5-C666D1CD7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1790700"/>
            <a:ext cx="4762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060"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3213A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3213A"/>
                </a:solidFill>
                <a:latin typeface="Aptos"/>
                <a:ea typeface="Aptos"/>
                <a:cs typeface="Aptos"/>
              </a:rPr>
              <a:t>The first four steps decide where deeper analysis is warranted.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2DA5523-7D61-4C43-850C-C3B570E15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01942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D5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82B9132-BD4E-4574-9567-DFEE2E688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952750"/>
            <a:ext cx="4533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934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39455A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39455A"/>
                </a:solidFill>
                <a:latin typeface="Aptos"/>
                <a:ea typeface="Aptos"/>
                <a:cs typeface="Aptos"/>
              </a:rPr>
              <a:t>1. Evaluate every approved market on a schedule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5E3CAD0-9F91-4BE9-80E5-DEBAAC3B6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62902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D5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E541FED-F8DD-4390-BD7E-FB0BC199B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562350"/>
            <a:ext cx="4533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39455A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39455A"/>
                </a:solidFill>
                <a:latin typeface="Aptos"/>
                <a:ea typeface="Aptos"/>
                <a:cs typeface="Aptos"/>
              </a:rPr>
              <a:t>2. Remove ineligible markets with hard rules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A88C5EF-2555-4ECF-95CD-1D01B30F6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23862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D5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A252F52-C1AB-43BD-9371-8C5FD55E3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171950"/>
            <a:ext cx="4533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39455A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39455A"/>
                </a:solidFill>
                <a:latin typeface="Aptos"/>
                <a:ea typeface="Aptos"/>
                <a:cs typeface="Aptos"/>
              </a:rPr>
              <a:t>3. Apply transparent approved market metrics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76E551D-C316-4443-A083-3B8CC8AA1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84822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D5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24064DC-E632-4C08-88DB-C2AC5945B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781550"/>
            <a:ext cx="4533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234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39455A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39455A"/>
                </a:solidFill>
                <a:latin typeface="Aptos"/>
                <a:ea typeface="Aptos"/>
                <a:cs typeface="Aptos"/>
              </a:rPr>
              <a:t>4. Analyze submarkets only in promising metros</a:t>
            </a:r>
          </a:p>
        </p:txBody>
      </p:sp>
    </p:spTree>
    <p:extLst>
      <p:ext uri="{BB962C8B-B14F-4D97-AF65-F5344CB8AC3E}">
        <p14:creationId xmlns:p14="http://schemas.microsoft.com/office/powerpoint/2010/main" val="54985143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E6FCDAF-377F-42CA-B09E-841EC4236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2D5B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D5BFF"/>
                </a:solidFill>
                <a:latin typeface="Aptos"/>
                <a:ea typeface="Aptos"/>
                <a:cs typeface="Aptos"/>
              </a:rPr>
              <a:t>HOW IT WORKS AT SCALE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C68CFC-C54E-4CA7-9E9E-42EA6F9B7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1334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205"/>
          </a:bodyPr>
          <a:lstStyle xmlns:a="http://schemas.openxmlformats.org/drawingml/2006/main"/>
          <a:p xmlns:a="http://schemas.openxmlformats.org/drawingml/2006/main">
            <a:pPr algn="l">
              <a:buNone/>
              <a:defRPr sz="3450" b="1">
                <a:solidFill>
                  <a:srgbClr val="13213A"/>
                </a:solidFill>
                <a:latin typeface="Aptos"/>
                <a:ea typeface="Aptos"/>
                <a:cs typeface="Aptos"/>
              </a:defRPr>
            </a:pPr>
            <a:r>
              <a:rPr sz="3450" b="1">
                <a:solidFill>
                  <a:srgbClr val="13213A"/>
                </a:solidFill>
                <a:latin typeface="Aptos"/>
                <a:ea typeface="Aptos"/>
                <a:cs typeface="Aptos"/>
              </a:rPr>
              <a:t>Promising markets progress to submarkets, properties, and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D04595-10F2-4A51-BC2A-22A6A4477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113919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F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0E76AE-9AA7-442F-8E4B-B4DC4D9D7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86525"/>
            <a:ext cx="1028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68738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87386"/>
                </a:solidFill>
                <a:latin typeface="Aptos"/>
                <a:ea typeface="Aptos"/>
                <a:cs typeface="Aptos"/>
              </a:rPr>
              <a:t>Sources: MVP scope; user workflows; open questions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891780-F9A1-4FFB-B663-6D0B90E39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7700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87386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87386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12DA04-103F-4985-A5FC-AAFE4FC65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19250"/>
            <a:ext cx="11391900" cy="819150"/>
          </a:xfrm>
          <a:prstGeom xmlns:a="http://schemas.openxmlformats.org/drawingml/2006/main" prst="roundRect">
            <a:avLst>
              <a:gd name="adj" fmla="val 18605"/>
            </a:avLst>
          </a:prstGeom>
          <a:solidFill xmlns:a="http://schemas.openxmlformats.org/drawingml/2006/main">
            <a:srgbClr val="1321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569777-F9A6-4FE4-800D-B431E0DA5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47850"/>
            <a:ext cx="1619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SUBMARKETS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6BFDFB-2AC6-4663-B06F-60A5C84DC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1847850"/>
            <a:ext cx="1619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731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OPPORTUNITY AREAS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DD6114A-D5DC-4077-86E8-32F7EA58F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1847850"/>
            <a:ext cx="1619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PROPERTIES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BF603BA-7A30-4197-9F82-DF0550A07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1847850"/>
            <a:ext cx="180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892"/>
          </a:bodyPr>
          <a:lstStyle xmlns:a="http://schemas.openxmlformats.org/drawingml/2006/main"/>
          <a:p xmlns:a="http://schemas.openxmlformats.org/drawingml/2006/main">
            <a:pPr algn="r">
              <a:buNone/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EXECUTION QUEUE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15760A3-2D25-42DE-9B1F-C523F79A3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762250"/>
            <a:ext cx="3552825" cy="1123950"/>
          </a:xfrm>
          <a:prstGeom xmlns:a="http://schemas.openxmlformats.org/drawingml/2006/main" prst="roundRect">
            <a:avLst>
              <a:gd name="adj" fmla="val 15254"/>
            </a:avLst>
          </a:prstGeom>
          <a:solidFill xmlns:a="http://schemas.openxmlformats.org/drawingml/2006/main">
            <a:srgbClr val="EDF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A9BA09D-5459-43B7-88C7-83F039DA8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933700"/>
            <a:ext cx="3095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652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3213A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3213A"/>
                </a:solidFill>
                <a:latin typeface="Aptos"/>
                <a:ea typeface="Aptos"/>
                <a:cs typeface="Aptos"/>
              </a:rPr>
              <a:t>Consistent analysis units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D98E6FC-8DBD-4AC6-B2A8-1EDEBD7ED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371850"/>
            <a:ext cx="3095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39455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39455A"/>
                </a:solidFill>
                <a:latin typeface="Aptos"/>
                <a:ea typeface="Aptos"/>
                <a:cs typeface="Aptos"/>
              </a:rPr>
              <a:t>Tracts, block groups, or hex cells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65AABCF-7D1F-4009-AB32-11EFD12C5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9575" y="2762250"/>
            <a:ext cx="3552825" cy="1123950"/>
          </a:xfrm>
          <a:prstGeom xmlns:a="http://schemas.openxmlformats.org/drawingml/2006/main" prst="roundRect">
            <a:avLst>
              <a:gd name="adj" fmla="val 15254"/>
            </a:avLst>
          </a:prstGeom>
          <a:solidFill xmlns:a="http://schemas.openxmlformats.org/drawingml/2006/main">
            <a:srgbClr val="EDF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A2F2ABA-0B84-463B-8F39-4562ECCAD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2933700"/>
            <a:ext cx="3095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652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3213A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3213A"/>
                </a:solidFill>
                <a:latin typeface="Aptos"/>
                <a:ea typeface="Aptos"/>
                <a:cs typeface="Aptos"/>
              </a:rPr>
              <a:t>Grouped opportunity cells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4C40C49-1618-464E-B442-C6969DDEF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3371850"/>
            <a:ext cx="3095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39455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39455A"/>
                </a:solidFill>
                <a:latin typeface="Aptos"/>
                <a:ea typeface="Aptos"/>
                <a:cs typeface="Aptos"/>
              </a:rPr>
              <a:t>Approved drive-time and overlap logic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287D8FE-B772-43F4-A143-DE8913916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762250"/>
            <a:ext cx="3552825" cy="1123950"/>
          </a:xfrm>
          <a:prstGeom xmlns:a="http://schemas.openxmlformats.org/drawingml/2006/main" prst="roundRect">
            <a:avLst>
              <a:gd name="adj" fmla="val 15254"/>
            </a:avLst>
          </a:prstGeom>
          <a:solidFill xmlns:a="http://schemas.openxmlformats.org/drawingml/2006/main">
            <a:srgbClr val="EDF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17A19EF-0290-463B-B7B4-F39725AF6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933700"/>
            <a:ext cx="3095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652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3213A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3213A"/>
                </a:solidFill>
                <a:latin typeface="Aptos"/>
                <a:ea typeface="Aptos"/>
                <a:cs typeface="Aptos"/>
              </a:rPr>
              <a:t>Broker availability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985F1AB-3FAF-47B6-8F4C-D034AA300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371850"/>
            <a:ext cx="3095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39455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39455A"/>
                </a:solidFill>
                <a:latin typeface="Aptos"/>
                <a:ea typeface="Aptos"/>
                <a:cs typeface="Aptos"/>
              </a:rPr>
              <a:t>Attach real properties to submarkets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F739610-1BB9-4524-AD73-7D2E7D882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43375"/>
            <a:ext cx="3552825" cy="1123950"/>
          </a:xfrm>
          <a:prstGeom xmlns:a="http://schemas.openxmlformats.org/drawingml/2006/main" prst="roundRect">
            <a:avLst>
              <a:gd name="adj" fmla="val 15254"/>
            </a:avLst>
          </a:prstGeom>
          <a:solidFill xmlns:a="http://schemas.openxmlformats.org/drawingml/2006/main">
            <a:srgbClr val="EDF7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C6A128A-CCD8-4C25-BA97-97B3FA0D1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314825"/>
            <a:ext cx="3095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652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3213A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3213A"/>
                </a:solidFill>
                <a:latin typeface="Aptos"/>
                <a:ea typeface="Aptos"/>
                <a:cs typeface="Aptos"/>
              </a:rPr>
              <a:t>Hard property constraints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7D9D443-7DED-48C9-89F4-4E1E9E788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752975"/>
            <a:ext cx="3095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39455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39455A"/>
                </a:solidFill>
                <a:latin typeface="Aptos"/>
                <a:ea typeface="Aptos"/>
                <a:cs typeface="Aptos"/>
              </a:rPr>
              <a:t>Block infeasible candidates first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CE77BDE-4A89-41F4-BCB2-434E5BDE7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9575" y="4143375"/>
            <a:ext cx="3552825" cy="1123950"/>
          </a:xfrm>
          <a:prstGeom xmlns:a="http://schemas.openxmlformats.org/drawingml/2006/main" prst="roundRect">
            <a:avLst>
              <a:gd name="adj" fmla="val 15254"/>
            </a:avLst>
          </a:prstGeom>
          <a:solidFill xmlns:a="http://schemas.openxmlformats.org/drawingml/2006/main">
            <a:srgbClr val="EDF7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DE711EE-9429-4C2A-B489-38311138D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4314825"/>
            <a:ext cx="3095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652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3213A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3213A"/>
                </a:solidFill>
                <a:latin typeface="Aptos"/>
                <a:ea typeface="Aptos"/>
                <a:cs typeface="Aptos"/>
              </a:rPr>
              <a:t>Weighted preferences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577CA3A-0F4E-47CE-8DEB-40A9403C2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4752975"/>
            <a:ext cx="3095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39455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39455A"/>
                </a:solidFill>
                <a:latin typeface="Aptos"/>
                <a:ea typeface="Aptos"/>
                <a:cs typeface="Aptos"/>
              </a:rPr>
              <a:t>Compare only viable properties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AE12088-D006-49DC-BAC4-321FB0799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143375"/>
            <a:ext cx="3552825" cy="1123950"/>
          </a:xfrm>
          <a:prstGeom xmlns:a="http://schemas.openxmlformats.org/drawingml/2006/main" prst="roundRect">
            <a:avLst>
              <a:gd name="adj" fmla="val 15254"/>
            </a:avLst>
          </a:prstGeom>
          <a:solidFill xmlns:a="http://schemas.openxmlformats.org/drawingml/2006/main">
            <a:srgbClr val="EDF7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DB82333-CA85-4E20-867D-1A3B69ADB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314825"/>
            <a:ext cx="3095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652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3213A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3213A"/>
                </a:solidFill>
                <a:latin typeface="Aptos"/>
                <a:ea typeface="Aptos"/>
                <a:cs typeface="Aptos"/>
              </a:rPr>
              <a:t>Separate review sequence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0BEDC39-4185-40B2-B3A5-0282CDE00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752975"/>
            <a:ext cx="3095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39455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39455A"/>
                </a:solidFill>
                <a:latin typeface="Aptos"/>
                <a:ea typeface="Aptos"/>
                <a:cs typeface="Aptos"/>
              </a:rPr>
              <a:t>Availability, staffing, economics, timing</a:t>
            </a:r>
          </a:p>
        </p:txBody>
      </p:sp>
    </p:spTree>
    <p:extLst>
      <p:ext uri="{BB962C8B-B14F-4D97-AF65-F5344CB8AC3E}">
        <p14:creationId xmlns:p14="http://schemas.microsoft.com/office/powerpoint/2010/main" val="103322781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148B7D8-9D71-4D68-B62C-D81430B0E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2D5B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D5BFF"/>
                </a:solidFill>
                <a:latin typeface="Aptos"/>
                <a:ea typeface="Aptos"/>
                <a:cs typeface="Aptos"/>
              </a:rPr>
              <a:t>WHAT ANALYSTS WOULD SEE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72F072-9D04-4807-80EA-59944F19B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1334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199"/>
          </a:bodyPr>
          <a:lstStyle xmlns:a="http://schemas.openxmlformats.org/drawingml/2006/main"/>
          <a:p xmlns:a="http://schemas.openxmlformats.org/drawingml/2006/main">
            <a:pPr algn="l">
              <a:buNone/>
              <a:defRPr sz="3450" b="1">
                <a:solidFill>
                  <a:srgbClr val="13213A"/>
                </a:solidFill>
                <a:latin typeface="Aptos"/>
                <a:ea typeface="Aptos"/>
                <a:cs typeface="Aptos"/>
              </a:defRPr>
            </a:pPr>
            <a:r>
              <a:rPr sz="3450" b="1">
                <a:solidFill>
                  <a:srgbClr val="13213A"/>
                </a:solidFill>
                <a:latin typeface="Aptos"/>
                <a:ea typeface="Aptos"/>
                <a:cs typeface="Aptos"/>
              </a:rPr>
              <a:t>The interface keeps geography, evidence, and sequence connected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0C3B4D-0C99-4328-93C7-3EA15304A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113919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F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4679D4-273B-4B79-BDD3-230DE5F75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86525"/>
            <a:ext cx="1028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68738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87386"/>
                </a:solidFill>
                <a:latin typeface="Aptos"/>
                <a:ea typeface="Aptos"/>
                <a:cs typeface="Aptos"/>
              </a:rPr>
              <a:t>Sources: MVP scope; user workflows; open questions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C29A20-2570-4056-9377-1FFE3D819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7700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87386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87386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52E412-712D-46F5-80E9-ED2564FCD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113919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EDF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A1FDC0-BAE6-49D0-84C4-46BBB8DAA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47825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D5B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D5BFF"/>
                </a:solidFill>
                <a:latin typeface="Aptos"/>
                <a:ea typeface="Aptos"/>
                <a:cs typeface="Aptos"/>
              </a:rPr>
              <a:t>NATIONAL OVERVIEW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6D6A39-7132-44B2-955A-FB2696AFF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1609725"/>
            <a:ext cx="4857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3213A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3213A"/>
                </a:solidFill>
                <a:latin typeface="Aptos"/>
                <a:ea typeface="Aptos"/>
                <a:cs typeface="Aptos"/>
              </a:rPr>
              <a:t>Market attractiveness map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55B34BD-3F0A-4B3D-AEB0-D6D394977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609725"/>
            <a:ext cx="3562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39455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39455A"/>
                </a:solidFill>
                <a:latin typeface="Aptos"/>
                <a:ea typeface="Aptos"/>
                <a:cs typeface="Aptos"/>
              </a:rPr>
              <a:t>Tiered view of where attention is warranted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DB5B04C-8982-4DBA-97C7-D38A93673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81250"/>
            <a:ext cx="113919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5F7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6942048-2CD8-43E0-B4BF-E6C11270D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62225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D5B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D5BFF"/>
                </a:solidFill>
                <a:latin typeface="Aptos"/>
                <a:ea typeface="Aptos"/>
                <a:cs typeface="Aptos"/>
              </a:rPr>
              <a:t>MARKET TABLE + FILTERS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8366EF5-CDED-4032-B327-DD1441F47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524125"/>
            <a:ext cx="4857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3213A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3213A"/>
                </a:solidFill>
                <a:latin typeface="Aptos"/>
                <a:ea typeface="Aptos"/>
                <a:cs typeface="Aptos"/>
              </a:rPr>
              <a:t>Top opportunities, scenario, region, evidence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405E729-5721-46AA-ABA3-A985169FD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524125"/>
            <a:ext cx="3562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9008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39455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39455A"/>
                </a:solidFill>
                <a:latin typeface="Aptos"/>
                <a:ea typeface="Aptos"/>
                <a:cs typeface="Aptos"/>
              </a:rPr>
              <a:t>Sort by coverage, freshness, and constraints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20D9ECD-5DFA-44D2-8332-E36233DCE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95650"/>
            <a:ext cx="113919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EDF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F0A5EDA-7423-4990-9D68-01DA7CCFF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76625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D5B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D5BFF"/>
                </a:solidFill>
                <a:latin typeface="Aptos"/>
                <a:ea typeface="Aptos"/>
                <a:cs typeface="Aptos"/>
              </a:rPr>
              <a:t>SUBMARKET DRILL-DOWN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6D5DB44-03AA-453B-A082-A230AEBBD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438525"/>
            <a:ext cx="4857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3213A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3213A"/>
                </a:solidFill>
                <a:latin typeface="Aptos"/>
                <a:ea typeface="Aptos"/>
                <a:cs typeface="Aptos"/>
              </a:rPr>
              <a:t>Opportunity heat map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72A6971-AA83-4389-B224-C40DF91A5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438525"/>
            <a:ext cx="3562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39455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39455A"/>
                </a:solidFill>
                <a:latin typeface="Aptos"/>
                <a:ea typeface="Aptos"/>
                <a:cs typeface="Aptos"/>
              </a:rPr>
              <a:t>Shows where opportunity is concentrated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0B4D277-50CF-4F67-A613-A34602F4E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210050"/>
            <a:ext cx="113919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5F7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AD7B69C-00D1-4230-A9A6-B186B671B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91025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D5B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D5BFF"/>
                </a:solidFill>
                <a:latin typeface="Aptos"/>
                <a:ea typeface="Aptos"/>
                <a:cs typeface="Aptos"/>
              </a:rPr>
              <a:t>PROPERTY COMPARISON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BB36090-A106-43C7-B3CA-C9F8F49CA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4352925"/>
            <a:ext cx="4857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602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3213A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3213A"/>
                </a:solidFill>
                <a:latin typeface="Aptos"/>
                <a:ea typeface="Aptos"/>
                <a:cs typeface="Aptos"/>
              </a:rPr>
              <a:t>Score, constraints, missing evidence, movement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EBFE91B-2B9F-46A1-96AF-4742FD79B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352925"/>
            <a:ext cx="3562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39455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39455A"/>
                </a:solidFill>
                <a:latin typeface="Aptos"/>
                <a:ea typeface="Aptos"/>
                <a:cs typeface="Aptos"/>
              </a:rPr>
              <a:t>Explains why each candidate moved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BC7C0BD-E07E-418B-9B18-0E5CF3DF8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24450"/>
            <a:ext cx="113919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EDF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F4B21E4-C305-459C-BC2C-B44C15CAA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05425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D5B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D5BFF"/>
                </a:solidFill>
                <a:latin typeface="Aptos"/>
                <a:ea typeface="Aptos"/>
                <a:cs typeface="Aptos"/>
              </a:rPr>
              <a:t>REVIEW SEQUENCE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742A08C-92F3-4DF0-86E1-40DFC850D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5267325"/>
            <a:ext cx="4857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3213A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3213A"/>
                </a:solidFill>
                <a:latin typeface="Aptos"/>
                <a:ea typeface="Aptos"/>
                <a:cs typeface="Aptos"/>
              </a:rPr>
              <a:t>Separate queue with rationale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08CDEBA-F24C-459E-B352-673F7ED73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5267325"/>
            <a:ext cx="3562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39455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39455A"/>
                </a:solidFill>
                <a:latin typeface="Aptos"/>
                <a:ea typeface="Aptos"/>
                <a:cs typeface="Aptos"/>
              </a:rPr>
              <a:t>Shows what to investigate first</a:t>
            </a:r>
          </a:p>
        </p:txBody>
      </p:sp>
    </p:spTree>
    <p:extLst>
      <p:ext uri="{BB962C8B-B14F-4D97-AF65-F5344CB8AC3E}">
        <p14:creationId xmlns:p14="http://schemas.microsoft.com/office/powerpoint/2010/main" val="206319337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B7672B6-F32D-4A8C-9D1D-D2A54DF8C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2D5B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D5BFF"/>
                </a:solidFill>
                <a:latin typeface="Aptos"/>
                <a:ea typeface="Aptos"/>
                <a:cs typeface="Aptos"/>
              </a:rPr>
              <a:t>CORE PRODUCT PRINCIPLE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DD2111-6573-43D8-877F-48241BEED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1334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450" b="1">
                <a:solidFill>
                  <a:srgbClr val="13213A"/>
                </a:solidFill>
                <a:latin typeface="Aptos"/>
                <a:ea typeface="Aptos"/>
                <a:cs typeface="Aptos"/>
              </a:defRPr>
            </a:pPr>
            <a:r>
              <a:rPr sz="3450" b="1">
                <a:solidFill>
                  <a:srgbClr val="13213A"/>
                </a:solidFill>
                <a:latin typeface="Aptos"/>
                <a:ea typeface="Aptos"/>
                <a:cs typeface="Aptos"/>
              </a:rPr>
              <a:t>Three outputs must stay separate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41FF62-1481-473C-804F-535A1C05D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113919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F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706176-D641-414F-ADCF-DE15899D3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86525"/>
            <a:ext cx="1028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68738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87386"/>
                </a:solidFill>
                <a:latin typeface="Aptos"/>
                <a:ea typeface="Aptos"/>
                <a:cs typeface="Aptos"/>
              </a:rPr>
              <a:t>Sources: Pivot task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6AB315-2EE1-4FB0-9A42-3F88C5338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7700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87386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87386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A8619D-5DC1-409F-B08E-1E0F4BFCF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95450"/>
            <a:ext cx="3476625" cy="3714750"/>
          </a:xfrm>
          <a:prstGeom xmlns:a="http://schemas.openxmlformats.org/drawingml/2006/main" prst="roundRect">
            <a:avLst>
              <a:gd name="adj" fmla="val 4932"/>
            </a:avLst>
          </a:prstGeom>
          <a:solidFill xmlns:a="http://schemas.openxmlformats.org/drawingml/2006/main">
            <a:srgbClr val="EDF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B11367E-5DE5-4C1D-8520-A86C6BB4C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85950"/>
            <a:ext cx="30194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D5B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D5BFF"/>
                </a:solidFill>
                <a:latin typeface="Aptos"/>
                <a:ea typeface="Aptos"/>
                <a:cs typeface="Aptos"/>
              </a:rPr>
              <a:t>STRATEGIC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78A8500-C3CE-4E41-BD12-F00D5DC1A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47900"/>
            <a:ext cx="30194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3213A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3213A"/>
                </a:solidFill>
                <a:latin typeface="Aptos"/>
                <a:ea typeface="Aptos"/>
                <a:cs typeface="Aptos"/>
              </a:rPr>
              <a:t>Attractiveness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C031DD4-E75C-473A-B6A1-9B402DF0C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009900"/>
            <a:ext cx="3019425" cy="2209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39455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39455A"/>
                </a:solidFill>
                <a:latin typeface="Aptos"/>
                <a:ea typeface="Aptos"/>
                <a:cs typeface="Aptos"/>
              </a:rPr>
              <a:t>Is the market or sub-area strategically favorable based on approved evidence and criteria?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2AC62A9-BAD9-4750-A571-0EF35DBA5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695450"/>
            <a:ext cx="3476625" cy="3714750"/>
          </a:xfrm>
          <a:prstGeom xmlns:a="http://schemas.openxmlformats.org/drawingml/2006/main" prst="roundRect">
            <a:avLst>
              <a:gd name="adj" fmla="val 4932"/>
            </a:avLst>
          </a:prstGeom>
          <a:solidFill xmlns:a="http://schemas.openxmlformats.org/drawingml/2006/main">
            <a:srgbClr val="FFF5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850ABA5-C068-4D2A-BC04-928A6CCBA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1885950"/>
            <a:ext cx="30194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A56A00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A56A00"/>
                </a:solidFill>
                <a:latin typeface="Aptos"/>
                <a:ea typeface="Aptos"/>
                <a:cs typeface="Aptos"/>
              </a:rPr>
              <a:t>PROPERTY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688F99F-DAA4-4530-AF27-7DEC89BA7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247900"/>
            <a:ext cx="30194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3213A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3213A"/>
                </a:solidFill>
                <a:latin typeface="Aptos"/>
                <a:ea typeface="Aptos"/>
                <a:cs typeface="Aptos"/>
              </a:rPr>
              <a:t>Feasibility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A23B56E-4076-4882-8DBF-CD2F90E85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009900"/>
            <a:ext cx="3019425" cy="2209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39455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39455A"/>
                </a:solidFill>
                <a:latin typeface="Aptos"/>
                <a:ea typeface="Aptos"/>
                <a:cs typeface="Aptos"/>
              </a:rPr>
              <a:t>Does an available location pass mandatory physical, legal, operational, and financial requirements?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A54B65E-EFE3-4A4D-8EA4-653A8437C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1695450"/>
            <a:ext cx="3467100" cy="3714750"/>
          </a:xfrm>
          <a:prstGeom xmlns:a="http://schemas.openxmlformats.org/drawingml/2006/main" prst="roundRect">
            <a:avLst>
              <a:gd name="adj" fmla="val 4945"/>
            </a:avLst>
          </a:prstGeom>
          <a:solidFill xmlns:a="http://schemas.openxmlformats.org/drawingml/2006/main">
            <a:srgbClr val="EDF7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42124D9-97A8-4400-9DB5-0CCB8CED8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1885950"/>
            <a:ext cx="3009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347A4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347A4A"/>
                </a:solidFill>
                <a:latin typeface="Aptos"/>
                <a:ea typeface="Aptos"/>
                <a:cs typeface="Aptos"/>
              </a:rPr>
              <a:t>PORTFOLIO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05EE36A-F9E7-4EA9-BCB6-10610A1C0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247900"/>
            <a:ext cx="3009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3213A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3213A"/>
                </a:solidFill>
                <a:latin typeface="Aptos"/>
                <a:ea typeface="Aptos"/>
                <a:cs typeface="Aptos"/>
              </a:rPr>
              <a:t>Execution priority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470D03A-E4FE-4039-A0CE-AD6D6E395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009900"/>
            <a:ext cx="3009900" cy="2209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39455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39455A"/>
                </a:solidFill>
                <a:latin typeface="Aptos"/>
                <a:ea typeface="Aptos"/>
                <a:cs typeface="Aptos"/>
              </a:rPr>
              <a:t>Given timing, capital, staffing, readiness, and dependencies, what should be reviewed or opened first?</a:t>
            </a:r>
          </a:p>
        </p:txBody>
      </p:sp>
    </p:spTree>
    <p:extLst>
      <p:ext uri="{BB962C8B-B14F-4D97-AF65-F5344CB8AC3E}">
        <p14:creationId xmlns:p14="http://schemas.microsoft.com/office/powerpoint/2010/main" val="183804361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8AEF587-0FD9-41C2-9645-111CDE6C7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2D5B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D5BFF"/>
                </a:solidFill>
                <a:latin typeface="Aptos"/>
                <a:ea typeface="Aptos"/>
                <a:cs typeface="Aptos"/>
              </a:rPr>
              <a:t>SYNTHETIC SEQUENCING EXAMPLE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7EDB33-66D2-4C06-8F74-7245CEDD9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1334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166"/>
          </a:bodyPr>
          <a:lstStyle xmlns:a="http://schemas.openxmlformats.org/drawingml/2006/main"/>
          <a:p xmlns:a="http://schemas.openxmlformats.org/drawingml/2006/main">
            <a:pPr algn="l">
              <a:buNone/>
              <a:defRPr sz="3450" b="1">
                <a:solidFill>
                  <a:srgbClr val="13213A"/>
                </a:solidFill>
                <a:latin typeface="Aptos"/>
                <a:ea typeface="Aptos"/>
                <a:cs typeface="Aptos"/>
              </a:defRPr>
            </a:pPr>
            <a:r>
              <a:rPr sz="3450" b="1">
                <a:solidFill>
                  <a:srgbClr val="13213A"/>
                </a:solidFill>
                <a:latin typeface="Aptos"/>
                <a:ea typeface="Aptos"/>
                <a:cs typeface="Aptos"/>
              </a:rPr>
              <a:t>The highest location score can still be fourth in the queue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FFBCFC-BB65-42B1-868E-131516440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113919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F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F0B61D-CFDD-462E-B423-F2592CDF9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86525"/>
            <a:ext cx="1028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68738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87386"/>
                </a:solidFill>
                <a:latin typeface="Aptos"/>
                <a:ea typeface="Aptos"/>
                <a:cs typeface="Aptos"/>
              </a:rPr>
              <a:t>Sources: Synthetic example based on user-provided scenario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88A4B3-423F-44A4-B3F8-A424CECAD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7700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87386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87386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1D3E4A-E1AC-4559-8D02-ABB8D4CC0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0495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A56A00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A56A00"/>
                </a:solidFill>
                <a:latin typeface="Aptos"/>
                <a:ea typeface="Aptos"/>
                <a:cs typeface="Aptos"/>
              </a:rPr>
              <a:t>SYNTHETIC ILLUSTRATION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E6342D-0F09-45F6-81F1-4CB8201E9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24050"/>
            <a:ext cx="5143500" cy="314325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EDF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F61D0F-2D49-4884-9F7C-37CF98D5F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14550"/>
            <a:ext cx="4686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D5B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D5BFF"/>
                </a:solidFill>
                <a:latin typeface="Aptos"/>
                <a:ea typeface="Aptos"/>
                <a:cs typeface="Aptos"/>
              </a:rPr>
              <a:t>ATTRACTIVENESS 90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612266E-3734-4746-9385-11F18A8B2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476500"/>
            <a:ext cx="4686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3213A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3213A"/>
                </a:solidFill>
                <a:latin typeface="Aptos"/>
                <a:ea typeface="Aptos"/>
                <a:cs typeface="Aptos"/>
              </a:rPr>
              <a:t>Property 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7DB97D8-F156-4AB9-9F25-AB3B47804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38500"/>
            <a:ext cx="468630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39455A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39455A"/>
                </a:solidFill>
                <a:latin typeface="Aptos"/>
                <a:ea typeface="Aptos"/>
                <a:cs typeface="Aptos"/>
              </a:rPr>
              <a:t>Strong northern submarket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650" b="0">
                <a:solidFill>
                  <a:srgbClr val="39455A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39455A"/>
                </a:solidFill>
                <a:latin typeface="Aptos"/>
                <a:ea typeface="Aptos"/>
                <a:cs typeface="Aptos"/>
              </a:rPr>
              <a:t>Highest location score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39455A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39455A"/>
                </a:solidFill>
                <a:latin typeface="Aptos"/>
                <a:ea typeface="Aptos"/>
                <a:cs typeface="Aptos"/>
              </a:rPr>
              <a:t>Availability unconfirmed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39455A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39455A"/>
                </a:solidFill>
                <a:latin typeface="Aptos"/>
                <a:ea typeface="Aptos"/>
                <a:cs typeface="Aptos"/>
              </a:rPr>
              <a:t>Execution queue: fourth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9F48C79-55A4-4160-92B0-33E163E78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1924050"/>
            <a:ext cx="5143500" cy="314325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EDF7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377B269-0C1F-48FF-A8BE-55FC10C93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114550"/>
            <a:ext cx="4686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347A4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347A4A"/>
                </a:solidFill>
                <a:latin typeface="Aptos"/>
                <a:ea typeface="Aptos"/>
                <a:cs typeface="Aptos"/>
              </a:rPr>
              <a:t>ATTRACTIVENESS 89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6E3443A-EB36-468F-9CCB-94FE46FA6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476500"/>
            <a:ext cx="4686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3213A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3213A"/>
                </a:solidFill>
                <a:latin typeface="Aptos"/>
                <a:ea typeface="Aptos"/>
                <a:cs typeface="Aptos"/>
              </a:rPr>
              <a:t>Property B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E653CD7-1579-42DA-A728-E03C2F573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238500"/>
            <a:ext cx="468630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39455A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39455A"/>
                </a:solidFill>
                <a:latin typeface="Aptos"/>
                <a:ea typeface="Aptos"/>
                <a:cs typeface="Aptos"/>
              </a:rPr>
              <a:t>Slightly lower location score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650" b="0">
                <a:solidFill>
                  <a:srgbClr val="39455A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39455A"/>
                </a:solidFill>
                <a:latin typeface="Aptos"/>
                <a:ea typeface="Aptos"/>
                <a:cs typeface="Aptos"/>
              </a:rPr>
              <a:t>Confirmed available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39455A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39455A"/>
                </a:solidFill>
                <a:latin typeface="Aptos"/>
                <a:ea typeface="Aptos"/>
                <a:cs typeface="Aptos"/>
              </a:rPr>
              <a:t>Passes mandatory constraints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39455A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39455A"/>
                </a:solidFill>
                <a:latin typeface="Aptos"/>
                <a:ea typeface="Aptos"/>
                <a:cs typeface="Aptos"/>
              </a:rPr>
              <a:t>Stronger evidence coverage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390C2A5-DFC7-4DC0-A449-0C42CA699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3575" y="2838450"/>
            <a:ext cx="704850" cy="704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47A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FC1791A-B80D-442D-B1A0-B72B76BBF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3575" y="2838450"/>
            <a:ext cx="7048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1st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1125818-4618-4C58-B718-83D607D13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429250"/>
            <a:ext cx="9334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8173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1E43C8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E43C8"/>
                </a:solidFill>
                <a:latin typeface="Aptos"/>
                <a:ea typeface="Aptos"/>
                <a:cs typeface="Aptos"/>
              </a:rPr>
              <a:t>Property B moves first because it is viable now, not because it has the higher location score.</a:t>
            </a:r>
          </a:p>
        </p:txBody>
      </p:sp>
    </p:spTree>
    <p:extLst>
      <p:ext uri="{BB962C8B-B14F-4D97-AF65-F5344CB8AC3E}">
        <p14:creationId xmlns:p14="http://schemas.microsoft.com/office/powerpoint/2010/main" val="143036887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FA66B7B-BFE2-4F60-9BD8-B0BD38CE3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2D5B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D5BFF"/>
                </a:solidFill>
                <a:latin typeface="Aptos"/>
                <a:ea typeface="Aptos"/>
                <a:cs typeface="Aptos"/>
              </a:rPr>
              <a:t>WHERE THE PROTOTYPE STANDS TODAY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64C70A-2B3B-4CBB-BC3A-A8E533461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1334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2360"/>
          </a:bodyPr>
          <a:lstStyle xmlns:a="http://schemas.openxmlformats.org/drawingml/2006/main"/>
          <a:p xmlns:a="http://schemas.openxmlformats.org/drawingml/2006/main">
            <a:pPr algn="l">
              <a:buNone/>
              <a:defRPr sz="3450" b="1">
                <a:solidFill>
                  <a:srgbClr val="13213A"/>
                </a:solidFill>
                <a:latin typeface="Aptos"/>
                <a:ea typeface="Aptos"/>
                <a:cs typeface="Aptos"/>
              </a:defRPr>
            </a:pPr>
            <a:r>
              <a:rPr sz="3450" b="1">
                <a:solidFill>
                  <a:srgbClr val="13213A"/>
                </a:solidFill>
                <a:latin typeface="Aptos"/>
                <a:ea typeface="Aptos"/>
                <a:cs typeface="Aptos"/>
              </a:rPr>
              <a:t>The prototype does not yet produce a legitimate national ranking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2DCE9B-D701-4901-9B20-B751518B7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113919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F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EAE360-68D8-454E-A4A3-82697D75B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86525"/>
            <a:ext cx="1028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68738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87386"/>
                </a:solidFill>
                <a:latin typeface="Aptos"/>
                <a:ea typeface="Aptos"/>
                <a:cs typeface="Aptos"/>
              </a:rPr>
              <a:t>Sources: MVP scope; user workflows; open questions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184A43-440C-43AB-8BA2-4403B3CD8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7700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87386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87386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EAC6BE-B217-4FEC-84C9-5D4AE65B7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14500"/>
            <a:ext cx="2609850" cy="3638550"/>
          </a:xfrm>
          <a:prstGeom xmlns:a="http://schemas.openxmlformats.org/drawingml/2006/main" prst="roundRect">
            <a:avLst>
              <a:gd name="adj" fmla="val 6569"/>
            </a:avLst>
          </a:prstGeom>
          <a:solidFill xmlns:a="http://schemas.openxmlformats.org/drawingml/2006/main">
            <a:srgbClr val="EDF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7B3E6B-68FF-45B5-A0C0-4FA2742EA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905000"/>
            <a:ext cx="2152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D5B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D5BFF"/>
                </a:solidFill>
                <a:latin typeface="Aptos"/>
                <a:ea typeface="Aptos"/>
                <a:cs typeface="Aptos"/>
              </a:rPr>
              <a:t>PUBLIC CONTEXT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2802C3C-1C33-4121-A6BC-6C3BE7364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66950"/>
            <a:ext cx="21526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13213A"/>
                </a:solidFill>
                <a:latin typeface="Aptos"/>
                <a:ea typeface="Aptos"/>
                <a:cs typeface="Aptos"/>
              </a:defRPr>
            </a:pPr>
            <a:r>
              <a:rPr sz="2175" b="1">
                <a:solidFill>
                  <a:srgbClr val="13213A"/>
                </a:solidFill>
                <a:latin typeface="Aptos"/>
                <a:ea typeface="Aptos"/>
                <a:cs typeface="Aptos"/>
              </a:rPr>
              <a:t>Census + ACS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7BEF042-3D68-423A-B6E1-503E25019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028950"/>
            <a:ext cx="2152650" cy="213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39455A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39455A"/>
                </a:solidFill>
                <a:latin typeface="Aptos"/>
                <a:ea typeface="Aptos"/>
                <a:cs typeface="Aptos"/>
              </a:rPr>
              <a:t>Explicitly non-scored market context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AD45134-7E95-4E9C-94E8-9A8368F8A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8025" y="1714500"/>
            <a:ext cx="2609850" cy="3638550"/>
          </a:xfrm>
          <a:prstGeom xmlns:a="http://schemas.openxmlformats.org/drawingml/2006/main" prst="roundRect">
            <a:avLst>
              <a:gd name="adj" fmla="val 6569"/>
            </a:avLst>
          </a:prstGeom>
          <a:solidFill xmlns:a="http://schemas.openxmlformats.org/drawingml/2006/main">
            <a:srgbClr val="EDF7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449C125-1A19-4FE3-9E54-E6409C4BE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1905000"/>
            <a:ext cx="2152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347A4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347A4A"/>
                </a:solidFill>
                <a:latin typeface="Aptos"/>
                <a:ea typeface="Aptos"/>
                <a:cs typeface="Aptos"/>
              </a:rPr>
              <a:t>ESRI DEMO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EDE3C16-9DE9-4754-8BA9-32ECC4F29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266950"/>
            <a:ext cx="21526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9655"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13213A"/>
                </a:solidFill>
                <a:latin typeface="Aptos"/>
                <a:ea typeface="Aptos"/>
                <a:cs typeface="Aptos"/>
              </a:defRPr>
            </a:pPr>
            <a:r>
              <a:rPr sz="2175" b="1">
                <a:solidFill>
                  <a:srgbClr val="13213A"/>
                </a:solidFill>
                <a:latin typeface="Aptos"/>
                <a:ea typeface="Aptos"/>
                <a:cs typeface="Aptos"/>
              </a:rPr>
              <a:t>Descriptive evidence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41F2BC3-811C-42D6-A097-C1B8F7062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028950"/>
            <a:ext cx="2152650" cy="213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39455A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39455A"/>
                </a:solidFill>
                <a:latin typeface="Aptos"/>
                <a:ea typeface="Aptos"/>
                <a:cs typeface="Aptos"/>
              </a:rPr>
              <a:t>Marked ineligible for scoring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B02026C-AD0E-43BB-A1F8-E96772420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714500"/>
            <a:ext cx="2609850" cy="3638550"/>
          </a:xfrm>
          <a:prstGeom xmlns:a="http://schemas.openxmlformats.org/drawingml/2006/main" prst="roundRect">
            <a:avLst>
              <a:gd name="adj" fmla="val 6569"/>
            </a:avLst>
          </a:prstGeom>
          <a:solidFill xmlns:a="http://schemas.openxmlformats.org/drawingml/2006/main">
            <a:srgbClr val="FFF5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BA6FB62-0699-464F-B062-F45C768EB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905000"/>
            <a:ext cx="2152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A56A00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A56A00"/>
                </a:solidFill>
                <a:latin typeface="Aptos"/>
                <a:ea typeface="Aptos"/>
                <a:cs typeface="Aptos"/>
              </a:rPr>
              <a:t>WORKFLOW STATES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869455E-1D34-4539-B9AC-75C40BD92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266950"/>
            <a:ext cx="21526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9655"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13213A"/>
                </a:solidFill>
                <a:latin typeface="Aptos"/>
                <a:ea typeface="Aptos"/>
                <a:cs typeface="Aptos"/>
              </a:defRPr>
            </a:pPr>
            <a:r>
              <a:rPr sz="2175" b="1">
                <a:solidFill>
                  <a:srgbClr val="13213A"/>
                </a:solidFill>
                <a:latin typeface="Aptos"/>
                <a:ea typeface="Aptos"/>
                <a:cs typeface="Aptos"/>
              </a:rPr>
              <a:t>Potential + Evaluated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0353E46-39D2-41F3-8DF1-566DE0821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028950"/>
            <a:ext cx="2152650" cy="213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39455A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39455A"/>
                </a:solidFill>
                <a:latin typeface="Aptos"/>
                <a:ea typeface="Aptos"/>
                <a:cs typeface="Aptos"/>
              </a:rPr>
              <a:t>Labels, not attractiveness scores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8A09FD8-AA77-4BBC-9320-268EBFF84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975" y="1714500"/>
            <a:ext cx="2609850" cy="3638550"/>
          </a:xfrm>
          <a:prstGeom xmlns:a="http://schemas.openxmlformats.org/drawingml/2006/main" prst="roundRect">
            <a:avLst>
              <a:gd name="adj" fmla="val 6569"/>
            </a:avLst>
          </a:prstGeom>
          <a:solidFill xmlns:a="http://schemas.openxmlformats.org/drawingml/2006/main">
            <a:srgbClr val="FCEE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2E7A170-9123-4523-9293-1AB63A25E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1905000"/>
            <a:ext cx="2152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9A4040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9A4040"/>
                </a:solidFill>
                <a:latin typeface="Aptos"/>
                <a:ea typeface="Aptos"/>
                <a:cs typeface="Aptos"/>
              </a:rPr>
              <a:t>SCORING SANDBOX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AF8640E-615D-4CA7-87F5-CF8E77227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2266950"/>
            <a:ext cx="21526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9655"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13213A"/>
                </a:solidFill>
                <a:latin typeface="Aptos"/>
                <a:ea typeface="Aptos"/>
                <a:cs typeface="Aptos"/>
              </a:defRPr>
            </a:pPr>
            <a:r>
              <a:rPr sz="2175" b="1">
                <a:solidFill>
                  <a:srgbClr val="13213A"/>
                </a:solidFill>
                <a:latin typeface="Aptos"/>
                <a:ea typeface="Aptos"/>
                <a:cs typeface="Aptos"/>
              </a:rPr>
              <a:t>Deterministic comparison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89B21F0-71AD-4163-8E9E-5A42DBC3C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3028950"/>
            <a:ext cx="2152650" cy="213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39455A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39455A"/>
                </a:solidFill>
                <a:latin typeface="Aptos"/>
                <a:ea typeface="Aptos"/>
                <a:cs typeface="Aptos"/>
              </a:rPr>
              <a:t>Production criteria and weights remain unresolved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FE09820-38CB-46F6-88A0-751AA589A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638800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1E43C8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E43C8"/>
                </a:solidFill>
                <a:latin typeface="Aptos"/>
                <a:ea typeface="Aptos"/>
                <a:cs typeface="Aptos"/>
              </a:rPr>
              <a:t>We should not present “most promising locations” as a current product output.</a:t>
            </a:r>
          </a:p>
        </p:txBody>
      </p:sp>
    </p:spTree>
    <p:extLst>
      <p:ext uri="{BB962C8B-B14F-4D97-AF65-F5344CB8AC3E}">
        <p14:creationId xmlns:p14="http://schemas.microsoft.com/office/powerpoint/2010/main" val="141787804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4099AD7-B488-4452-9AB6-374CF4A68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2D5B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D5BFF"/>
                </a:solidFill>
                <a:latin typeface="Aptos"/>
                <a:ea typeface="Aptos"/>
                <a:cs typeface="Aptos"/>
              </a:rPr>
              <a:t>WHAT MUST BE DECIDED NEXT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16E7AB-13D1-4B35-A1C1-202519C20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1334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373"/>
          </a:bodyPr>
          <a:lstStyle xmlns:a="http://schemas.openxmlformats.org/drawingml/2006/main"/>
          <a:p xmlns:a="http://schemas.openxmlformats.org/drawingml/2006/main">
            <a:pPr algn="l">
              <a:buNone/>
              <a:defRPr sz="3450" b="1">
                <a:solidFill>
                  <a:srgbClr val="13213A"/>
                </a:solidFill>
                <a:latin typeface="Aptos"/>
                <a:ea typeface="Aptos"/>
                <a:cs typeface="Aptos"/>
              </a:defRPr>
            </a:pPr>
            <a:r>
              <a:rPr sz="3450" b="1">
                <a:solidFill>
                  <a:srgbClr val="13213A"/>
                </a:solidFill>
                <a:latin typeface="Aptos"/>
                <a:ea typeface="Aptos"/>
                <a:cs typeface="Aptos"/>
              </a:rPr>
              <a:t>Four decisions are required before real rankings are credible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D0621C-D75B-41C8-B6E0-5AA5A2ECB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113919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F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C90B3F-6D10-4F7F-B837-5C745ADA4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86525"/>
            <a:ext cx="1028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68738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87386"/>
                </a:solidFill>
                <a:latin typeface="Aptos"/>
                <a:ea typeface="Aptos"/>
                <a:cs typeface="Aptos"/>
              </a:rPr>
              <a:t>Sources: MVP scope; user workflows; open questions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C3E8BC-C82A-4E20-9B03-BB19CF27B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7700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87386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87386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4F7F4E-3D17-48B5-AFDD-03CC583EE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09750"/>
            <a:ext cx="1943100" cy="3333750"/>
          </a:xfrm>
          <a:prstGeom xmlns:a="http://schemas.openxmlformats.org/drawingml/2006/main" prst="roundRect">
            <a:avLst>
              <a:gd name="adj" fmla="val 8824"/>
            </a:avLst>
          </a:prstGeom>
          <a:solidFill xmlns:a="http://schemas.openxmlformats.org/drawingml/2006/main">
            <a:srgbClr val="EDF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F8AD2A-EBBD-4D40-AE11-2FAAEE74B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19300"/>
            <a:ext cx="419100" cy="419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D5B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1488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A280A53-F24F-4902-8F41-6DB8A4D8F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24150"/>
            <a:ext cx="1524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3213A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3213A"/>
                </a:solidFill>
                <a:latin typeface="Aptos"/>
                <a:ea typeface="Aptos"/>
                <a:cs typeface="Aptos"/>
              </a:rPr>
              <a:t>Market model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DF18E7E-D3EC-4485-9491-C7C31ECEC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95700"/>
            <a:ext cx="1524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39455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39455A"/>
                </a:solidFill>
                <a:latin typeface="Aptos"/>
                <a:ea typeface="Aptos"/>
                <a:cs typeface="Aptos"/>
              </a:rPr>
              <a:t>Approved attractiveness criteria and weights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C4FFE19-7E36-44DA-9152-729D5A710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6525" y="1809750"/>
            <a:ext cx="1943100" cy="3333750"/>
          </a:xfrm>
          <a:prstGeom xmlns:a="http://schemas.openxmlformats.org/drawingml/2006/main" prst="roundRect">
            <a:avLst>
              <a:gd name="adj" fmla="val 8824"/>
            </a:avLst>
          </a:prstGeom>
          <a:solidFill xmlns:a="http://schemas.openxmlformats.org/drawingml/2006/main">
            <a:srgbClr val="EDF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2DFAC32-18F9-44A4-AFCC-7166ADD0A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6075" y="2019300"/>
            <a:ext cx="419100" cy="419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D5B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1488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6D0E7EB-FB7B-446A-BEF6-65312FCD6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6075" y="2724150"/>
            <a:ext cx="1524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3213A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3213A"/>
                </a:solidFill>
                <a:latin typeface="Aptos"/>
                <a:ea typeface="Aptos"/>
                <a:cs typeface="Aptos"/>
              </a:rPr>
              <a:t>Submarket definition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4A0C56A-F998-4684-AD38-755F03552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6075" y="3695700"/>
            <a:ext cx="1524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39455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39455A"/>
                </a:solidFill>
                <a:latin typeface="Aptos"/>
                <a:ea typeface="Aptos"/>
                <a:cs typeface="Aptos"/>
              </a:rPr>
              <a:t>Units, grouping rules, drive-time, and overlap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662E46C-7F53-4103-AB18-4EE3217C8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809750"/>
            <a:ext cx="1943100" cy="3333750"/>
          </a:xfrm>
          <a:prstGeom xmlns:a="http://schemas.openxmlformats.org/drawingml/2006/main" prst="roundRect">
            <a:avLst>
              <a:gd name="adj" fmla="val 8824"/>
            </a:avLst>
          </a:prstGeom>
          <a:solidFill xmlns:a="http://schemas.openxmlformats.org/drawingml/2006/main">
            <a:srgbClr val="FFF5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7887ECE-1A51-44AE-8ACA-A759E3667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019300"/>
            <a:ext cx="419100" cy="419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D5B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1488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F165645-74B3-4479-9F9E-0C9C12348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724150"/>
            <a:ext cx="1524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3213A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3213A"/>
                </a:solidFill>
                <a:latin typeface="Aptos"/>
                <a:ea typeface="Aptos"/>
                <a:cs typeface="Aptos"/>
              </a:rPr>
              <a:t>Property gate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5EC6784-0C91-4F06-93B7-3A06BCAE8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3695700"/>
            <a:ext cx="1524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39455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39455A"/>
                </a:solidFill>
                <a:latin typeface="Aptos"/>
                <a:ea typeface="Aptos"/>
                <a:cs typeface="Aptos"/>
              </a:rPr>
              <a:t>Mandatory constraints and availability source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67DD66B-DA13-4F5F-8B2C-2D87ECD10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9475" y="1809750"/>
            <a:ext cx="1943100" cy="3333750"/>
          </a:xfrm>
          <a:prstGeom xmlns:a="http://schemas.openxmlformats.org/drawingml/2006/main" prst="roundRect">
            <a:avLst>
              <a:gd name="adj" fmla="val 8824"/>
            </a:avLst>
          </a:prstGeom>
          <a:solidFill xmlns:a="http://schemas.openxmlformats.org/drawingml/2006/main">
            <a:srgbClr val="FFF5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69627BC-C9AF-4C2E-B0F1-1FB3A2789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9025" y="2019300"/>
            <a:ext cx="419100" cy="419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D5B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1488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E1E4B9B-1B7B-4FB8-8D81-EEBEE0FB5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9025" y="2724150"/>
            <a:ext cx="1524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3213A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3213A"/>
                </a:solidFill>
                <a:latin typeface="Aptos"/>
                <a:ea typeface="Aptos"/>
                <a:cs typeface="Aptos"/>
              </a:rPr>
              <a:t>Queue logic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93B819A-0EFE-40B8-B398-BC3E66F6C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9025" y="3695700"/>
            <a:ext cx="1524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39455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39455A"/>
                </a:solidFill>
                <a:latin typeface="Aptos"/>
                <a:ea typeface="Aptos"/>
                <a:cs typeface="Aptos"/>
              </a:rPr>
              <a:t>Rules separating attractiveness from priority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8152077-3D05-4BD4-AE31-EE71B8509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1809750"/>
            <a:ext cx="1943100" cy="3333750"/>
          </a:xfrm>
          <a:prstGeom xmlns:a="http://schemas.openxmlformats.org/drawingml/2006/main" prst="roundRect">
            <a:avLst>
              <a:gd name="adj" fmla="val 8824"/>
            </a:avLst>
          </a:prstGeom>
          <a:solidFill xmlns:a="http://schemas.openxmlformats.org/drawingml/2006/main">
            <a:srgbClr val="EDF7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627B79E-648E-40D8-B370-B2D336903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019300"/>
            <a:ext cx="419100" cy="419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47A4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1488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993BEA8-0954-4AD4-83BE-957EE1DA7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724150"/>
            <a:ext cx="1524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3213A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3213A"/>
                </a:solidFill>
                <a:latin typeface="Aptos"/>
                <a:ea typeface="Aptos"/>
                <a:cs typeface="Aptos"/>
              </a:rPr>
              <a:t>Clear direction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7963F3F-C759-4ACD-9499-649023E14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695700"/>
            <a:ext cx="1524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53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39455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39455A"/>
                </a:solidFill>
                <a:latin typeface="Aptos"/>
                <a:ea typeface="Aptos"/>
                <a:cs typeface="Aptos"/>
              </a:rPr>
              <a:t>National screen → submarket map → property gate → human-reviewed queue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419564B-299C-4393-9E78-BB9648219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524500"/>
            <a:ext cx="10172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9A4040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9A4040"/>
                </a:solidFill>
                <a:latin typeface="Aptos"/>
                <a:ea typeface="Aptos"/>
                <a:cs typeface="Aptos"/>
              </a:rPr>
              <a:t>Scale comes from progressive narrowing, not one giant property score.</a:t>
            </a:r>
          </a:p>
        </p:txBody>
      </p:sp>
    </p:spTree>
    <p:extLst>
      <p:ext uri="{BB962C8B-B14F-4D97-AF65-F5344CB8AC3E}">
        <p14:creationId xmlns:p14="http://schemas.microsoft.com/office/powerpoint/2010/main" val="122026739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7E6D119-33FA-4963-8A3E-9E9E8A478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2D5B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D5BFF"/>
                </a:solidFill>
                <a:latin typeface="Aptos"/>
                <a:ea typeface="Aptos"/>
                <a:cs typeface="Aptos"/>
              </a:rPr>
              <a:t>RESPONSIBLE AI ROLE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FF42A6-AC14-4399-B760-6D11E502B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1334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216"/>
          </a:bodyPr>
          <a:lstStyle xmlns:a="http://schemas.openxmlformats.org/drawingml/2006/main"/>
          <a:p xmlns:a="http://schemas.openxmlformats.org/drawingml/2006/main">
            <a:pPr algn="l">
              <a:buNone/>
              <a:defRPr sz="3450" b="1">
                <a:solidFill>
                  <a:srgbClr val="13213A"/>
                </a:solidFill>
                <a:latin typeface="Aptos"/>
                <a:ea typeface="Aptos"/>
                <a:cs typeface="Aptos"/>
              </a:defRPr>
            </a:pPr>
            <a:r>
              <a:rPr sz="3450" b="1">
                <a:solidFill>
                  <a:srgbClr val="13213A"/>
                </a:solidFill>
                <a:latin typeface="Aptos"/>
                <a:ea typeface="Aptos"/>
                <a:cs typeface="Aptos"/>
              </a:rPr>
              <a:t>AI explains structured results, but does not create the decision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FD16F6-F8BE-456C-BB3D-0043E6C2B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113919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F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EB93BB-0B7F-4142-92FA-E285D3C1D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86525"/>
            <a:ext cx="1028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68738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87386"/>
                </a:solidFill>
                <a:latin typeface="Aptos"/>
                <a:ea typeface="Aptos"/>
                <a:cs typeface="Aptos"/>
              </a:rPr>
              <a:t>Sources: AI boundaries; pivot task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70BAB6-6B8D-44C4-BCB1-459D43FD2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7700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87386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87386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1F8919-94DA-4BEE-BD92-96B3BCD55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19250"/>
            <a:ext cx="5410200" cy="3905250"/>
          </a:xfrm>
          <a:prstGeom xmlns:a="http://schemas.openxmlformats.org/drawingml/2006/main" prst="roundRect">
            <a:avLst>
              <a:gd name="adj" fmla="val 4878"/>
            </a:avLst>
          </a:prstGeom>
          <a:solidFill xmlns:a="http://schemas.openxmlformats.org/drawingml/2006/main">
            <a:srgbClr val="EDF7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339F3E-AD5F-4A5C-9560-109AB5B5F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4310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347A4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347A4A"/>
                </a:solidFill>
                <a:latin typeface="Aptos"/>
                <a:ea typeface="Aptos"/>
                <a:cs typeface="Aptos"/>
              </a:rPr>
              <a:t>AI MAY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B64F77F-0D53-42FD-9407-61F316236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8602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47A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A77AE07-1855-4DB5-B506-C6B34D2D7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19350"/>
            <a:ext cx="4533900" cy="4076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39455A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39455A"/>
                </a:solidFill>
                <a:latin typeface="Aptos"/>
                <a:ea typeface="Aptos"/>
                <a:cs typeface="Aptos"/>
              </a:rPr>
              <a:t>Explain why scenarios or sequences differ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58CBC23-FEA1-457C-8923-0096A0B08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2704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47A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3095BA5-9D9B-4DD1-8AA0-CDF424BC2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60370"/>
            <a:ext cx="4533900" cy="4076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39455A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39455A"/>
                </a:solidFill>
                <a:latin typeface="Aptos"/>
                <a:ea typeface="Aptos"/>
                <a:cs typeface="Aptos"/>
              </a:rPr>
              <a:t>Summarize evidence and missing information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4D5E5AA-5834-4851-9B80-CC8EC30FF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6806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47A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7996A32-0A7B-45E5-BA80-7058D82B1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01390"/>
            <a:ext cx="4533900" cy="4076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39455A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39455A"/>
                </a:solidFill>
                <a:latin typeface="Aptos"/>
                <a:ea typeface="Aptos"/>
                <a:cs typeface="Aptos"/>
              </a:rPr>
              <a:t>Flag conflicts, fragile rankings, or stale inputs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D51FE33-982C-4B09-AAAA-215F8B000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0908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47A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8218163-EEE2-4AAF-8395-27F86BB05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42410"/>
            <a:ext cx="4533900" cy="4076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39455A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39455A"/>
                </a:solidFill>
                <a:latin typeface="Aptos"/>
                <a:ea typeface="Aptos"/>
                <a:cs typeface="Aptos"/>
              </a:rPr>
              <a:t>Extract broker facts for human confirmation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D83E843-1FCA-4A91-99F9-0DAA98634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5010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47A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A44CA5E-92A0-4987-80CD-77A6EA2A0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583430"/>
            <a:ext cx="4533900" cy="4076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39455A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39455A"/>
                </a:solidFill>
                <a:latin typeface="Aptos"/>
                <a:ea typeface="Aptos"/>
                <a:cs typeface="Aptos"/>
              </a:rPr>
              <a:t>Draft source-linked review briefs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40C23B3-69BB-4F33-9CDC-FAA313CED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5410200" cy="3905250"/>
          </a:xfrm>
          <a:prstGeom xmlns:a="http://schemas.openxmlformats.org/drawingml/2006/main" prst="roundRect">
            <a:avLst>
              <a:gd name="adj" fmla="val 4878"/>
            </a:avLst>
          </a:prstGeom>
          <a:solidFill xmlns:a="http://schemas.openxmlformats.org/drawingml/2006/main">
            <a:srgbClr val="FCEE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36732E0-00C5-4477-AD0C-A9FAF3596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9431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9A4040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9A4040"/>
                </a:solidFill>
                <a:latin typeface="Aptos"/>
                <a:ea typeface="Aptos"/>
                <a:cs typeface="Aptos"/>
              </a:rPr>
              <a:t>AI MAY NOT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DB22BA3-359E-4926-9801-EB4CE395C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48602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9A404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92DD26A-DD4D-4670-B032-9698786DA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419350"/>
            <a:ext cx="4533900" cy="4076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39455A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39455A"/>
                </a:solidFill>
                <a:latin typeface="Aptos"/>
                <a:ea typeface="Aptos"/>
                <a:cs typeface="Aptos"/>
              </a:rPr>
              <a:t>Choose weights or silently change rules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D3A0BFF-4EB4-4A66-8DF3-6FAE8D521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02704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9A404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DDE3E8D-1651-4DB2-BE76-384C2A3FB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960370"/>
            <a:ext cx="4533900" cy="4076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39455A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39455A"/>
                </a:solidFill>
                <a:latin typeface="Aptos"/>
                <a:ea typeface="Aptos"/>
                <a:cs typeface="Aptos"/>
              </a:rPr>
              <a:t>Invent, impute, or overwrite missing data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F994320-4646-461C-A1F0-B730EBD9F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56806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9A404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BE12DE1-4135-43B1-863D-ECB911F06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501390"/>
            <a:ext cx="4533900" cy="4076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39455A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39455A"/>
                </a:solidFill>
                <a:latin typeface="Aptos"/>
                <a:ea typeface="Aptos"/>
                <a:cs typeface="Aptos"/>
              </a:rPr>
              <a:t>Calculate authoritative geography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DCA29BC-0A2E-4B63-9F24-82AFCE10E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10908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9A404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C9E8F3C-74F6-44EA-8F23-6CC6F4C90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042410"/>
            <a:ext cx="4533900" cy="4076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39455A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39455A"/>
                </a:solidFill>
                <a:latin typeface="Aptos"/>
                <a:ea typeface="Aptos"/>
                <a:cs typeface="Aptos"/>
              </a:rPr>
              <a:t>Create unsupported Finance forecasts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9A15A14-59C0-4BD1-ABBB-90C10B926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65010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9A404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B848032-1101-42BC-A652-A58FE77CE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583430"/>
            <a:ext cx="4533900" cy="4076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39455A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39455A"/>
                </a:solidFill>
                <a:latin typeface="Aptos"/>
                <a:ea typeface="Aptos"/>
                <a:cs typeface="Aptos"/>
              </a:rPr>
              <a:t>Make the lease or opening decision</a:t>
            </a:r>
          </a:p>
        </p:txBody>
      </p:sp>
    </p:spTree>
    <p:extLst>
      <p:ext uri="{BB962C8B-B14F-4D97-AF65-F5344CB8AC3E}">
        <p14:creationId xmlns:p14="http://schemas.microsoft.com/office/powerpoint/2010/main" val="48728164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D123C35-CA7A-4346-AB97-EBAF20C31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2D5B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D5BFF"/>
                </a:solidFill>
                <a:latin typeface="Aptos"/>
                <a:ea typeface="Aptos"/>
                <a:cs typeface="Aptos"/>
              </a:rPr>
              <a:t>BEFORE AND AFTER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C8429C-DFCA-437D-B13A-F4ABF1840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1334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9664"/>
          </a:bodyPr>
          <a:lstStyle xmlns:a="http://schemas.openxmlformats.org/drawingml/2006/main"/>
          <a:p xmlns:a="http://schemas.openxmlformats.org/drawingml/2006/main">
            <a:pPr algn="l">
              <a:buNone/>
              <a:defRPr sz="3450" b="1">
                <a:solidFill>
                  <a:srgbClr val="13213A"/>
                </a:solidFill>
                <a:latin typeface="Aptos"/>
                <a:ea typeface="Aptos"/>
                <a:cs typeface="Aptos"/>
              </a:defRPr>
            </a:pPr>
            <a:r>
              <a:rPr sz="3450" b="1">
                <a:solidFill>
                  <a:srgbClr val="13213A"/>
                </a:solidFill>
                <a:latin typeface="Aptos"/>
                <a:ea typeface="Aptos"/>
                <a:cs typeface="Aptos"/>
              </a:rPr>
              <a:t>The workflow improvement is a shared decision trace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62740E-3D83-4F82-BCBC-E4182F5F4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113919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F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318562-918A-47C9-8C07-AB4D7E4F1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86525"/>
            <a:ext cx="1028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68738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87386"/>
                </a:solidFill>
                <a:latin typeface="Aptos"/>
                <a:ea typeface="Aptos"/>
                <a:cs typeface="Aptos"/>
              </a:rPr>
              <a:t>Sources: Pivot task; user workflows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AA3926-EB77-4942-BFB3-31145C4E3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7700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87386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87386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24006A-B13E-408A-8166-2804DC4F8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8115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687386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687386"/>
                </a:solidFill>
                <a:latin typeface="Aptos"/>
                <a:ea typeface="Aptos"/>
                <a:cs typeface="Aptos"/>
              </a:rPr>
              <a:t>TODAY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E73ACEB-5F59-456E-AE2D-A69CF8DCB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5811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2D5B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D5BFF"/>
                </a:solidFill>
                <a:latin typeface="Aptos"/>
                <a:ea typeface="Aptos"/>
                <a:cs typeface="Aptos"/>
              </a:rPr>
              <a:t>WITH THE PLATFORM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14EE83A-03C7-47F1-9AB8-2C41456AB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38350"/>
            <a:ext cx="481965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5F7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5F9FF14-8975-4ECB-81B1-4A224D68F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71700"/>
            <a:ext cx="428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952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39455A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39455A"/>
                </a:solidFill>
                <a:latin typeface="Aptos"/>
                <a:ea typeface="Aptos"/>
                <a:cs typeface="Aptos"/>
              </a:rPr>
              <a:t>Market shortlist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AEFAB8D-DDE8-4EAE-AAFC-6EE4F53DF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781300"/>
            <a:ext cx="481965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5F7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E9AB7BC-28B4-499C-BA9D-04A4292AC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914650"/>
            <a:ext cx="428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952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39455A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39455A"/>
                </a:solidFill>
                <a:latin typeface="Aptos"/>
                <a:ea typeface="Aptos"/>
                <a:cs typeface="Aptos"/>
              </a:rPr>
              <a:t>Sub-area analysis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6CCF0F9-9016-499B-97E0-256474A5E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524250"/>
            <a:ext cx="481965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5F7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9888673-E2AA-42C7-9E8D-9BBD583D7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657600"/>
            <a:ext cx="428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952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39455A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39455A"/>
                </a:solidFill>
                <a:latin typeface="Aptos"/>
                <a:ea typeface="Aptos"/>
                <a:cs typeface="Aptos"/>
              </a:rPr>
              <a:t>Broker search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6DE9599-04E3-4A6A-B157-C1EE31E54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267200"/>
            <a:ext cx="481965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5F7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8209976-E5EB-4619-BE3F-069746EB6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400550"/>
            <a:ext cx="428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952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39455A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39455A"/>
                </a:solidFill>
                <a:latin typeface="Aptos"/>
                <a:ea typeface="Aptos"/>
                <a:cs typeface="Aptos"/>
              </a:rPr>
              <a:t>Finance review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94DF697-9416-4B5F-8E62-F1632339B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010150"/>
            <a:ext cx="481965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5F7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FFAAC09-D66F-43C6-842B-B6883EF20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143500"/>
            <a:ext cx="428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952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39455A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39455A"/>
                </a:solidFill>
                <a:latin typeface="Aptos"/>
                <a:ea typeface="Aptos"/>
                <a:cs typeface="Aptos"/>
              </a:rPr>
              <a:t>Opening sequence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1EF9541-D5C0-42C0-8751-8B4ECC3C2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038350"/>
            <a:ext cx="541020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EDF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6F25BEE-CDCC-4502-8546-88E865562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171700"/>
            <a:ext cx="4895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952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3213A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3213A"/>
                </a:solidFill>
                <a:latin typeface="Aptos"/>
                <a:ea typeface="Aptos"/>
                <a:cs typeface="Aptos"/>
              </a:rPr>
              <a:t>One market-to-property hierarchy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A622566-F47C-4AC1-882E-EFDC6A7D5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781300"/>
            <a:ext cx="541020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EDF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4206EEC-2097-457D-B8B0-0F7D0F018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914650"/>
            <a:ext cx="4895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952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3213A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3213A"/>
                </a:solidFill>
                <a:latin typeface="Aptos"/>
                <a:ea typeface="Aptos"/>
                <a:cs typeface="Aptos"/>
              </a:rPr>
              <a:t>Named, versioned scenarios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BE04B81-52E9-44FA-995B-E52EDFEC5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524250"/>
            <a:ext cx="541020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EDF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C3210CC-FC7F-4D0A-AE2F-44C3917A3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657600"/>
            <a:ext cx="4895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952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3213A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3213A"/>
                </a:solidFill>
                <a:latin typeface="Aptos"/>
                <a:ea typeface="Aptos"/>
                <a:cs typeface="Aptos"/>
              </a:rPr>
              <a:t>Evidence and missingness at every stage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6CAFD62-374E-4856-A91E-0363D15A6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267200"/>
            <a:ext cx="541020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EDF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CEBBF17-9A25-4B88-84B9-2CEC759CB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400550"/>
            <a:ext cx="4895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952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3213A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3213A"/>
                </a:solidFill>
                <a:latin typeface="Aptos"/>
                <a:ea typeface="Aptos"/>
                <a:cs typeface="Aptos"/>
              </a:rPr>
              <a:t>Explainable overrides and sequencing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D27ED43-5ECA-4CE6-A895-FEF471F93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5010150"/>
            <a:ext cx="541020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EDF7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BF7D7A0-E097-4A2F-B4D3-664A7B63C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5143500"/>
            <a:ext cx="4895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952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3213A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3213A"/>
                </a:solidFill>
                <a:latin typeface="Aptos"/>
                <a:ea typeface="Aptos"/>
                <a:cs typeface="Aptos"/>
              </a:rPr>
              <a:t>Durable decision history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FADFEAB-3C09-441F-B32B-540BEBE36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5425" y="3333750"/>
            <a:ext cx="1000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A56A00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A56A00"/>
                </a:solidFill>
                <a:latin typeface="Aptos"/>
                <a:ea typeface="Aptos"/>
                <a:cs typeface="Aptos"/>
              </a:rPr>
              <a:t>handoffs</a:t>
            </a:r>
          </a:p>
        </p:txBody>
      </p:sp>
    </p:spTree>
    <p:extLst>
      <p:ext uri="{BB962C8B-B14F-4D97-AF65-F5344CB8AC3E}">
        <p14:creationId xmlns:p14="http://schemas.microsoft.com/office/powerpoint/2010/main" val="210314072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326E7C4-9A23-4157-B194-EB9224299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2D5B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D5BFF"/>
                </a:solidFill>
                <a:latin typeface="Aptos"/>
                <a:ea typeface="Aptos"/>
                <a:cs typeface="Aptos"/>
              </a:rPr>
              <a:t>IMPACT FRAMEWORK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BB4E57-BF3B-4938-92D8-E7A1B2B06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1334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4166"/>
          </a:bodyPr>
          <a:lstStyle xmlns:a="http://schemas.openxmlformats.org/drawingml/2006/main"/>
          <a:p xmlns:a="http://schemas.openxmlformats.org/drawingml/2006/main">
            <a:pPr algn="l">
              <a:buNone/>
              <a:defRPr sz="3450" b="1">
                <a:solidFill>
                  <a:srgbClr val="13213A"/>
                </a:solidFill>
                <a:latin typeface="Aptos"/>
                <a:ea typeface="Aptos"/>
                <a:cs typeface="Aptos"/>
              </a:defRPr>
            </a:pPr>
            <a:r>
              <a:rPr sz="3450" b="1">
                <a:solidFill>
                  <a:srgbClr val="13213A"/>
                </a:solidFill>
                <a:latin typeface="Aptos"/>
                <a:ea typeface="Aptos"/>
                <a:cs typeface="Aptos"/>
              </a:rPr>
              <a:t>Measure decision quality and operating speed without inventing savings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EEF10A-CB1A-4A92-98D3-42C21916A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113919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F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4CADFD-2C85-4186-BA8B-77C7FAD77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86525"/>
            <a:ext cx="1028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68738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87386"/>
                </a:solidFill>
                <a:latin typeface="Aptos"/>
                <a:ea typeface="Aptos"/>
                <a:cs typeface="Aptos"/>
              </a:rPr>
              <a:t>Sources: Pivot task; evaluation plan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2A66BE-5FAE-4F5A-9489-8D1543E2E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7700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87386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87386"/>
                </a:solidFill>
                <a:latin typeface="Aptos"/>
                <a:ea typeface="Aptos"/>
                <a:cs typeface="Aptos"/>
              </a:rPr>
              <a:t>14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103A4A-41C7-43D5-A496-33896273F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3552825" cy="177165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EDF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B51B4B-1DBB-4F96-82DB-4CE59D68D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52600"/>
            <a:ext cx="3095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D5B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D5BFF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C9ACB1-A531-4031-9A08-612A7F39B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14550"/>
            <a:ext cx="30956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13213A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13213A"/>
                </a:solidFill>
                <a:latin typeface="Aptos"/>
                <a:ea typeface="Aptos"/>
                <a:cs typeface="Aptos"/>
              </a:rPr>
              <a:t>Coverage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4EF3A2E-B8CB-41DB-B7B6-9FDADAE1D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876550"/>
            <a:ext cx="3095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4136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39455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39455A"/>
                </a:solidFill>
                <a:latin typeface="Aptos"/>
                <a:ea typeface="Aptos"/>
                <a:cs typeface="Aptos"/>
              </a:rPr>
              <a:t>Share of the approved national market universe evaluated on schedule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4360955-6192-48C9-AED3-4AB7B7D7B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9575" y="1562100"/>
            <a:ext cx="3552825" cy="177165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EDF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9588035-1E69-454E-BFB3-72D87779E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1752600"/>
            <a:ext cx="3095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D5B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D5BFF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893A8C6-FB19-4FC0-80D0-5C5DCBF91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2114550"/>
            <a:ext cx="30956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13213A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13213A"/>
                </a:solidFill>
                <a:latin typeface="Aptos"/>
                <a:ea typeface="Aptos"/>
                <a:cs typeface="Aptos"/>
              </a:rPr>
              <a:t>Consistency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15473C9-6F0A-4677-82DA-05A7928C5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2876550"/>
            <a:ext cx="3095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0942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39455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39455A"/>
                </a:solidFill>
                <a:latin typeface="Aptos"/>
                <a:ea typeface="Aptos"/>
                <a:cs typeface="Aptos"/>
              </a:rPr>
              <a:t>Share of markets and locations processed under the same versioned rules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7B2194A-509D-422D-A42E-F030E8D21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562100"/>
            <a:ext cx="3552825" cy="177165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EDF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C417500-C13A-4F91-ADCC-B0DE10430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1752600"/>
            <a:ext cx="3095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D5B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D5BFF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351DFE3-9D18-45FC-AF78-FFAB41D25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114550"/>
            <a:ext cx="30956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13213A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13213A"/>
                </a:solidFill>
                <a:latin typeface="Aptos"/>
                <a:ea typeface="Aptos"/>
                <a:cs typeface="Aptos"/>
              </a:rPr>
              <a:t>Scenario speed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9F7DDBF-2AA3-4A6C-91A9-2E4DA14F7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876550"/>
            <a:ext cx="3095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8236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39455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39455A"/>
                </a:solidFill>
                <a:latin typeface="Aptos"/>
                <a:ea typeface="Aptos"/>
                <a:cs typeface="Aptos"/>
              </a:rPr>
              <a:t>Time to refresh and compare a portfolio scenario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843E4DA-12CB-4A56-89B2-9C8B7C0D9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57600"/>
            <a:ext cx="3552825" cy="177165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EDF7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4A345E8-BF02-4D2D-A383-34064F213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848100"/>
            <a:ext cx="3095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347A4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347A4A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85C5F8A-9C71-4031-A838-CDBB4DE5E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210050"/>
            <a:ext cx="30956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13213A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13213A"/>
                </a:solidFill>
                <a:latin typeface="Aptos"/>
                <a:ea typeface="Aptos"/>
                <a:cs typeface="Aptos"/>
              </a:rPr>
              <a:t>Evidence readiness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237AE24-54C5-416F-BED7-D43C5A21D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972050"/>
            <a:ext cx="3095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9003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39455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39455A"/>
                </a:solidFill>
                <a:latin typeface="Aptos"/>
                <a:ea typeface="Aptos"/>
                <a:cs typeface="Aptos"/>
              </a:rPr>
              <a:t>Missing, stale, or conflicting inputs found before review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DADA5EC-5EF3-458F-84C8-1AB51E075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9575" y="3657600"/>
            <a:ext cx="3552825" cy="177165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EDF7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97F6219-43D5-48F6-AAF2-E08DE6491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3848100"/>
            <a:ext cx="3095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347A4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347A4A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0A0E400-729F-4A83-BF53-FD584BDAB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4210050"/>
            <a:ext cx="30956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13213A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13213A"/>
                </a:solidFill>
                <a:latin typeface="Aptos"/>
                <a:ea typeface="Aptos"/>
                <a:cs typeface="Aptos"/>
              </a:rPr>
              <a:t>Explainability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B8CEFE8-26CB-4666-B76F-028D4AA39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4972050"/>
            <a:ext cx="3095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8253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39455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39455A"/>
                </a:solidFill>
                <a:latin typeface="Aptos"/>
                <a:ea typeface="Aptos"/>
                <a:cs typeface="Aptos"/>
              </a:rPr>
              <a:t>Time and completeness required to explain a sequencing change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5F5A91F-7CA9-4A3B-815A-E47F5CAA0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657600"/>
            <a:ext cx="3552825" cy="177165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EDF7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0D65E1B-45FC-4651-BF7A-F2742AE7C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848100"/>
            <a:ext cx="3095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347A4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347A4A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E1F0388-2F67-4CA0-AF01-83122A900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210050"/>
            <a:ext cx="30956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13213A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13213A"/>
                </a:solidFill>
                <a:latin typeface="Aptos"/>
                <a:ea typeface="Aptos"/>
                <a:cs typeface="Aptos"/>
              </a:rPr>
              <a:t>Reproducibility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CEE421F-B177-48A8-95C9-B42790977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972050"/>
            <a:ext cx="3095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1192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39455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39455A"/>
                </a:solidFill>
                <a:latin typeface="Aptos"/>
                <a:ea typeface="Aptos"/>
                <a:cs typeface="Aptos"/>
              </a:rPr>
              <a:t>Whether another reviewer can recreate the result and rationale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61F804E-A57E-4CD9-9EC6-F9A474FD1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676900"/>
            <a:ext cx="9677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685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A56A00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A56A00"/>
                </a:solidFill>
                <a:latin typeface="Aptos"/>
                <a:ea typeface="Aptos"/>
                <a:cs typeface="Aptos"/>
              </a:rPr>
              <a:t>Financial impact should be modeled only after Finance provides approved inputs and a baseline.</a:t>
            </a:r>
          </a:p>
        </p:txBody>
      </p:sp>
    </p:spTree>
    <p:extLst>
      <p:ext uri="{BB962C8B-B14F-4D97-AF65-F5344CB8AC3E}">
        <p14:creationId xmlns:p14="http://schemas.microsoft.com/office/powerpoint/2010/main" val="418331922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2592F96-0EE8-41DD-AD31-C6021EE98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2D5B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D5BFF"/>
                </a:solidFill>
                <a:latin typeface="Aptos"/>
                <a:ea typeface="Aptos"/>
                <a:cs typeface="Aptos"/>
              </a:rPr>
              <a:t>LIVE DEMO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74DBC7-6E33-4724-8ECB-A8B80DD4E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1334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801"/>
          </a:bodyPr>
          <a:lstStyle xmlns:a="http://schemas.openxmlformats.org/drawingml/2006/main"/>
          <a:p xmlns:a="http://schemas.openxmlformats.org/drawingml/2006/main">
            <a:pPr algn="l">
              <a:buNone/>
              <a:defRPr sz="3450" b="1">
                <a:solidFill>
                  <a:srgbClr val="13213A"/>
                </a:solidFill>
                <a:latin typeface="Aptos"/>
                <a:ea typeface="Aptos"/>
                <a:cs typeface="Aptos"/>
              </a:defRPr>
            </a:pPr>
            <a:r>
              <a:rPr sz="3450" b="1">
                <a:solidFill>
                  <a:srgbClr val="13213A"/>
                </a:solidFill>
                <a:latin typeface="Aptos"/>
                <a:ea typeface="Aptos"/>
                <a:cs typeface="Aptos"/>
              </a:rPr>
              <a:t>The demo follows the same funnel the product is designed to support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6340C0-B064-4033-864E-00A18F22D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113919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F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9FC375-17F9-4FB9-B3BC-740284050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86525"/>
            <a:ext cx="1028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68738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87386"/>
                </a:solidFill>
                <a:latin typeface="Aptos"/>
                <a:ea typeface="Aptos"/>
                <a:cs typeface="Aptos"/>
              </a:rPr>
              <a:t>Sources: Current local prototype; MVP scope; user workflows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1E72F8-F91C-4AB1-A276-12AF5C356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7700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87386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87386"/>
                </a:solidFill>
                <a:latin typeface="Aptos"/>
                <a:ea typeface="Aptos"/>
                <a:cs typeface="Aptos"/>
              </a:rPr>
              <a:t>15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F2238E-CA6B-4F68-907B-54801E8BC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04950"/>
            <a:ext cx="819150" cy="6858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2D5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7EA097-F3F8-4B6F-8B20-138801930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04950"/>
            <a:ext cx="8191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CE9B40E-6B38-4B9B-84D8-548D14E34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1552575"/>
            <a:ext cx="3162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7778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3213A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3213A"/>
                </a:solidFill>
                <a:latin typeface="Aptos"/>
                <a:ea typeface="Aptos"/>
                <a:cs typeface="Aptos"/>
              </a:rPr>
              <a:t>National view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285EDDD-F477-4996-8726-C11B7AFB8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552575"/>
            <a:ext cx="6667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39455A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39455A"/>
                </a:solidFill>
                <a:latin typeface="Aptos"/>
                <a:ea typeface="Aptos"/>
                <a:cs typeface="Aptos"/>
              </a:rPr>
              <a:t>Show market states, public context, and evidence boundaries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FE7680A-BF2C-4EE0-BEBE-A32956369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81250"/>
            <a:ext cx="819150" cy="6858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2D5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E6B2A1A-FBAF-44DE-A325-DD621D0AF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81250"/>
            <a:ext cx="8191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210A367-79B3-4AE8-AE7A-B6D1DB295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428875"/>
            <a:ext cx="3162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7778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3213A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3213A"/>
                </a:solidFill>
                <a:latin typeface="Aptos"/>
                <a:ea typeface="Aptos"/>
                <a:cs typeface="Aptos"/>
              </a:rPr>
              <a:t>Market drill-down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1E161BA-91C3-4C42-BCE9-88BF30776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428875"/>
            <a:ext cx="6667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39455A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39455A"/>
                </a:solidFill>
                <a:latin typeface="Aptos"/>
                <a:ea typeface="Aptos"/>
                <a:cs typeface="Aptos"/>
              </a:rPr>
              <a:t>Show how a market becomes the parent for locations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46E2D66-A242-4045-94DA-C18D3AAE8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57550"/>
            <a:ext cx="819150" cy="6858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2D5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855F5A4-B6AF-4D40-B43D-B4776C153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57550"/>
            <a:ext cx="8191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C47BC9E-D8B1-43FA-9C39-4079CDFF1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3305175"/>
            <a:ext cx="3162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7778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3213A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3213A"/>
                </a:solidFill>
                <a:latin typeface="Aptos"/>
                <a:ea typeface="Aptos"/>
                <a:cs typeface="Aptos"/>
              </a:rPr>
              <a:t>Property screen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04EFD15-C6A7-4E04-B28E-C2A029C80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305175"/>
            <a:ext cx="6667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39455A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39455A"/>
                </a:solidFill>
                <a:latin typeface="Aptos"/>
                <a:ea typeface="Aptos"/>
                <a:cs typeface="Aptos"/>
              </a:rPr>
              <a:t>Show deterministic scoring, constraints, and missing evidence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FBFDA91-77C8-4D1E-8FE6-12F073B2F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33850"/>
            <a:ext cx="819150" cy="6858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2D5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A44139C-2A21-4A5F-B357-641A794D1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33850"/>
            <a:ext cx="8191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52A535D-491D-44D8-9422-4920856FC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181475"/>
            <a:ext cx="3162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7778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3213A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3213A"/>
                </a:solidFill>
                <a:latin typeface="Aptos"/>
                <a:ea typeface="Aptos"/>
                <a:cs typeface="Aptos"/>
              </a:rPr>
              <a:t>Sequence example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F3F7939-FEE6-4721-BA25-9E88E3988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181475"/>
            <a:ext cx="6667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39455A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39455A"/>
                </a:solidFill>
                <a:latin typeface="Aptos"/>
                <a:ea typeface="Aptos"/>
                <a:cs typeface="Aptos"/>
              </a:rPr>
              <a:t>Explain why a lower score could move first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88F2160-350F-4BAE-82C1-902ED016E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010150"/>
            <a:ext cx="819150" cy="6858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347A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E97CFF4-6CC0-4CC0-A501-BE7390328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010150"/>
            <a:ext cx="8191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5B8DA6B-9AD6-4D4E-929E-84E769980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5057775"/>
            <a:ext cx="3162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7778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3213A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3213A"/>
                </a:solidFill>
                <a:latin typeface="Aptos"/>
                <a:ea typeface="Aptos"/>
                <a:cs typeface="Aptos"/>
              </a:rPr>
              <a:t>Boundary check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1686262-87AD-44B0-BB97-F0D233BC8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5057775"/>
            <a:ext cx="6667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39455A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39455A"/>
                </a:solidFill>
                <a:latin typeface="Aptos"/>
                <a:ea typeface="Aptos"/>
                <a:cs typeface="Aptos"/>
              </a:rPr>
              <a:t>Call out what remains synthetic, non-scored, or unresolved</a:t>
            </a:r>
          </a:p>
        </p:txBody>
      </p:sp>
    </p:spTree>
    <p:extLst>
      <p:ext uri="{BB962C8B-B14F-4D97-AF65-F5344CB8AC3E}">
        <p14:creationId xmlns:p14="http://schemas.microsoft.com/office/powerpoint/2010/main" val="1570908050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1321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147F49-94A7-4E8E-A6EA-0CD2EDFAB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9AB1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9AB1FF"/>
                </a:solidFill>
                <a:latin typeface="Aptos"/>
                <a:ea typeface="Aptos"/>
                <a:cs typeface="Aptos"/>
              </a:rPr>
              <a:t>THE ASK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53D337-3A40-4605-A81C-0DB33CCAF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28750"/>
            <a:ext cx="847725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4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4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Approve the definitions.</a:t>
            </a:r>
          </a:p>
          <a:p xmlns:a="http://schemas.openxmlformats.org/drawingml/2006/main">
            <a:pPr algn="l">
              <a:buNone/>
              <a:defRPr sz="4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4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Pilot the funnel.</a:t>
            </a:r>
          </a:p>
          <a:p xmlns:a="http://schemas.openxmlformats.org/drawingml/2006/main">
            <a:pPr algn="l">
              <a:buNone/>
              <a:defRPr sz="4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4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Validate the queue.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9F1EA6-0BB4-442A-BB7D-65BA40A05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762500"/>
            <a:ext cx="8286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DCE5FF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DCE5FF"/>
                </a:solidFill>
                <a:latin typeface="Aptos"/>
                <a:ea typeface="Aptos"/>
                <a:cs typeface="Aptos"/>
              </a:rPr>
              <a:t>Next step: confirm the four decision rules, select one accountable user, and run one bounded portfolio decision through the workflow.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48AE29-FAD7-4EC8-875A-D75A26F69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685800"/>
            <a:ext cx="1485900" cy="1485900"/>
          </a:xfrm>
          <a:prstGeom xmlns:a="http://schemas.openxmlformats.org/drawingml/2006/main" prst="roundRect">
            <a:avLst>
              <a:gd name="adj" fmla="val 21795"/>
            </a:avLst>
          </a:prstGeom>
          <a:solidFill xmlns:a="http://schemas.openxmlformats.org/drawingml/2006/main">
            <a:srgbClr val="2D5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9A0CAD-F9A5-4D1C-A91F-4CE5FA12C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685800"/>
            <a:ext cx="1485900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33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3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CVC</a:t>
            </a:r>
          </a:p>
        </p:txBody>
      </p:sp>
    </p:spTree>
    <p:extLst>
      <p:ext uri="{BB962C8B-B14F-4D97-AF65-F5344CB8AC3E}">
        <p14:creationId xmlns:p14="http://schemas.microsoft.com/office/powerpoint/2010/main" val="144041809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2026-07-31T18:49:35.7710000Z</dcterms:created>
  <dcterms:modified xsi:type="dcterms:W3CDTF">2026-07-31T18:49:35.7710000Z</dcterms:modified>
</coreProperties>
</file>
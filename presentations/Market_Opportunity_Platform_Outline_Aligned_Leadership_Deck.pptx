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a25f471a94c73" /><Relationship Type="http://schemas.openxmlformats.org/officeDocument/2006/relationships/extended-properties" Target="/docProps/app.xml" Id="R2f834305d78944ef" /><Relationship Type="http://schemas.openxmlformats.org/officeDocument/2006/relationships/officeDocument" Target="/ppt/presentation.xml" Id="Racf7a38df0ce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98a48c2ae4983"/>
  </p:sldMasterIdLst>
  <p:notesMasterIdLst>
    <p:notesMasterId xmlns:r="http://schemas.openxmlformats.org/officeDocument/2006/relationships" r:id="R70dc9ee3618c4ba1"/>
  </p:notesMasterIdLst>
  <p:sldIdLst>
    <p:sldId xmlns:r="http://schemas.openxmlformats.org/officeDocument/2006/relationships" id="256" r:id="R189486baefd74839"/>
    <p:sldId xmlns:r="http://schemas.openxmlformats.org/officeDocument/2006/relationships" id="257" r:id="R3fd43fc2e998488a"/>
    <p:sldId xmlns:r="http://schemas.openxmlformats.org/officeDocument/2006/relationships" id="258" r:id="R2cc64efd76a340a0"/>
    <p:sldId xmlns:r="http://schemas.openxmlformats.org/officeDocument/2006/relationships" id="259" r:id="R171d3813b1d14d77"/>
    <p:sldId xmlns:r="http://schemas.openxmlformats.org/officeDocument/2006/relationships" id="260" r:id="R75ac3c99a41744ae"/>
    <p:sldId xmlns:r="http://schemas.openxmlformats.org/officeDocument/2006/relationships" id="261" r:id="R1c18012c87294ca2"/>
    <p:sldId xmlns:r="http://schemas.openxmlformats.org/officeDocument/2006/relationships" id="262" r:id="Rab6a8ce62378456f"/>
    <p:sldId xmlns:r="http://schemas.openxmlformats.org/officeDocument/2006/relationships" id="263" r:id="Rc8439a523d9c41d0"/>
    <p:sldId xmlns:r="http://schemas.openxmlformats.org/officeDocument/2006/relationships" id="264" r:id="R8b7be82301c54968"/>
    <p:sldId xmlns:r="http://schemas.openxmlformats.org/officeDocument/2006/relationships" id="265" r:id="R93064f4235a54d97"/>
    <p:sldId xmlns:r="http://schemas.openxmlformats.org/officeDocument/2006/relationships" id="266" r:id="Ref50f553b8b241f9"/>
    <p:sldId xmlns:r="http://schemas.openxmlformats.org/officeDocument/2006/relationships" id="267" r:id="R3638cf53cc44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b5ba237564136" /><Relationship Type="http://schemas.openxmlformats.org/officeDocument/2006/relationships/slideMaster" Target="/ppt/slideMasters/slideMaster1.xml" Id="R4b898a48c2ae4983" /><Relationship Type="http://schemas.openxmlformats.org/officeDocument/2006/relationships/notesMaster" Target="/ppt/notesMasters/notesMaster1.xml" Id="R70dc9ee3618c4ba1" /><Relationship Type="http://schemas.openxmlformats.org/officeDocument/2006/relationships/presProps" Target="/ppt/presProps.xml" Id="R3e28aa8313484843" /><Relationship Type="http://schemas.openxmlformats.org/officeDocument/2006/relationships/tableStyles" Target="/ppt/tableStyles.xml" Id="R08f1c4bd59664495" /><Relationship Type="http://schemas.openxmlformats.org/officeDocument/2006/relationships/slide" Target="/ppt/slides/slide1.xml" Id="R189486baefd74839" /><Relationship Type="http://schemas.openxmlformats.org/officeDocument/2006/relationships/slide" Target="/ppt/slides/slide2.xml" Id="R3fd43fc2e998488a" /><Relationship Type="http://schemas.openxmlformats.org/officeDocument/2006/relationships/slide" Target="/ppt/slides/slide3.xml" Id="R2cc64efd76a340a0" /><Relationship Type="http://schemas.openxmlformats.org/officeDocument/2006/relationships/slide" Target="/ppt/slides/slide4.xml" Id="R171d3813b1d14d77" /><Relationship Type="http://schemas.openxmlformats.org/officeDocument/2006/relationships/slide" Target="/ppt/slides/slide5.xml" Id="R75ac3c99a41744ae" /><Relationship Type="http://schemas.openxmlformats.org/officeDocument/2006/relationships/slide" Target="/ppt/slides/slide6.xml" Id="R1c18012c87294ca2" /><Relationship Type="http://schemas.openxmlformats.org/officeDocument/2006/relationships/slide" Target="/ppt/slides/slide7.xml" Id="Rab6a8ce62378456f" /><Relationship Type="http://schemas.openxmlformats.org/officeDocument/2006/relationships/slide" Target="/ppt/slides/slide8.xml" Id="Rc8439a523d9c41d0" /><Relationship Type="http://schemas.openxmlformats.org/officeDocument/2006/relationships/slide" Target="/ppt/slides/slide9.xml" Id="R8b7be82301c54968" /><Relationship Type="http://schemas.openxmlformats.org/officeDocument/2006/relationships/slide" Target="/ppt/slides/slide10.xml" Id="R93064f4235a54d97" /><Relationship Type="http://schemas.openxmlformats.org/officeDocument/2006/relationships/slide" Target="/ppt/slides/slide11.xml" Id="Ref50f553b8b241f9" /><Relationship Type="http://schemas.openxmlformats.org/officeDocument/2006/relationships/slide" Target="/ppt/slides/slide12.xml" Id="R3638cf53cc44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930d02c981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0a71c1c03e4ff1" /><Relationship Type="http://schemas.openxmlformats.org/officeDocument/2006/relationships/notesMaster" Target="/ppt/notesMasters/notesMaster1.xml" Id="R484710d5f43e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d0d8a0fe824af1" /><Relationship Type="http://schemas.openxmlformats.org/officeDocument/2006/relationships/notesMaster" Target="/ppt/notesMasters/notesMaster1.xml" Id="R66215c3ff443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a0f82c7d694d38" /><Relationship Type="http://schemas.openxmlformats.org/officeDocument/2006/relationships/notesMaster" Target="/ppt/notesMasters/notesMaster1.xml" Id="R8f58be424108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062609e834fa2" /><Relationship Type="http://schemas.openxmlformats.org/officeDocument/2006/relationships/notesMaster" Target="/ppt/notesMasters/notesMaster1.xml" Id="R2f086d31e6f34d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7ea9b7dda4ed1" /><Relationship Type="http://schemas.openxmlformats.org/officeDocument/2006/relationships/notesMaster" Target="/ppt/notesMasters/notesMaster1.xml" Id="R248eefe8e0a0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5e2decc1b94571" /><Relationship Type="http://schemas.openxmlformats.org/officeDocument/2006/relationships/notesMaster" Target="/ppt/notesMasters/notesMaster1.xml" Id="Rfd7c444cbbcc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78cdaa48f842c3" /><Relationship Type="http://schemas.openxmlformats.org/officeDocument/2006/relationships/notesMaster" Target="/ppt/notesMasters/notesMaster1.xml" Id="R467882179703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eaaf664cdb43e7" /><Relationship Type="http://schemas.openxmlformats.org/officeDocument/2006/relationships/notesMaster" Target="/ppt/notesMasters/notesMaster1.xml" Id="R8bb980b0fbec49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be0b96eea4e02" /><Relationship Type="http://schemas.openxmlformats.org/officeDocument/2006/relationships/notesMaster" Target="/ppt/notesMasters/notesMaster1.xml" Id="R4c28b1a63b6c4a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cf4d6de93c4d66" /><Relationship Type="http://schemas.openxmlformats.org/officeDocument/2006/relationships/notesMaster" Target="/ppt/notesMasters/notesMaster1.xml" Id="Rc2d5f7203dd843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c790fb59944926" /><Relationship Type="http://schemas.openxmlformats.org/officeDocument/2006/relationships/notesMaster" Target="/ppt/notesMasters/notesMaster1.xml" Id="R944460c47faa4b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82fa33d0dd4aca" /><Relationship Type="http://schemas.openxmlformats.org/officeDocument/2006/relationships/notesMaster" Target="/ppt/notesMasters/notesMaster1.xml" Id="Rcb43297545f1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started with a focused clinic decision and used it to discover a broader regional opportunity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began with two high-value problem spaces. Clinic expansion became the first wedge because it gave us a focused regional decision with clear constraints and human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discovery conversations narrowed broad ideas into a sharper clinic opportunity and revealed that market, property, and execution decisions need different evidence and owners.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most important learning was that attractiveness, property feasibility, and execution priority are separate decisions. A single hidden score should not combine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project is governed clinic decision support. It makes evidence, calculations, missing information, and human review visible. It is not a production locator or autonomous recommendation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can demonstrate market context, comparisons, candidate briefs, bounded AI explanations, and controlled sandbox behavior with public, reported, or synthetic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demo, show the current clinic workflow from market context through comparison, evidence review, and bounded decision preparation.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future direction is bigger than connecting data. The platform should turn a qualified regional signal into a sector-specific action plan with an owner, deadline, outcome, guardrails, and stop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future operating model is detect, qualify, prepare the action, then measure and learn. Evidence remains traceable underneath, but the user experience leads with what should happen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illustrative home page shows the future destination: one regional workspace where teams can identify opportunity signals and move them into the right sector playbook.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- /Users/nnair/Documents/Market Opportunity Platform/assets/market-opportunity-platform-home-concept-v2.png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credible pilot needs one owner, one regional question, an approved market definition, governed inputs, and a measurable business outcome with guardrails and stop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is to choose one real regional question and prove whether the platform improves the quality and speed of an accountable action before expanding by sector.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/Users/nnair/Documents/Market Opportunity Platform/presentations/Market_Opportunity_Platform_Leadership_Script.md</a:t>
            </a:r>
          </a:p>
          <a:p xmlns:a="http://schemas.openxmlformats.org/drawingml/2006/main">
            <a:r>
              <a:t>- /Users/nnair/Documents/Market Opportunity Platform/docs/strategy/opportunity-inbox-implementation-plan.md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7f658b1b548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efb9e20e045c2" /><Relationship Type="http://schemas.openxmlformats.org/officeDocument/2006/relationships/slideLayout" Target="/ppt/slideLayouts/slideLayout1.xml" Id="Rebbaa2c3c878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baa2c3c878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ac77ab77942b0" /><Relationship Type="http://schemas.openxmlformats.org/officeDocument/2006/relationships/notesSlide" Target="/ppt/notesSlides/notesSlide1.xml" Id="R7ee898b0499e41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b68bfa8bf42ab" /><Relationship Type="http://schemas.openxmlformats.org/officeDocument/2006/relationships/notesSlide" Target="/ppt/notesSlides/notesSlide2.xml" Id="Rbb50f31e78114a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e25145d84941" /><Relationship Type="http://schemas.openxmlformats.org/officeDocument/2006/relationships/notesSlide" Target="/ppt/notesSlides/notesSlide3.xml" Id="R854bcdf7d6a7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9e68bdbd4d65" /><Relationship Type="http://schemas.openxmlformats.org/officeDocument/2006/relationships/notesSlide" Target="/ppt/notesSlides/notesSlide4.xml" Id="R5d4336521d9a4b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5e40799444a0b" /><Relationship Type="http://schemas.openxmlformats.org/officeDocument/2006/relationships/notesSlide" Target="/ppt/notesSlides/notesSlide5.xml" Id="R095e829a9275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5c39193b64cff" /><Relationship Type="http://schemas.openxmlformats.org/officeDocument/2006/relationships/notesSlide" Target="/ppt/notesSlides/notesSlide6.xml" Id="R79868e27d4d44f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48623c54a4375" /><Relationship Type="http://schemas.openxmlformats.org/officeDocument/2006/relationships/notesSlide" Target="/ppt/notesSlides/notesSlide7.xml" Id="Rd277a9a1df03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e420d2fa44597" /><Relationship Type="http://schemas.openxmlformats.org/officeDocument/2006/relationships/notesSlide" Target="/ppt/notesSlides/notesSlide8.xml" Id="R26b69268b0444e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d0c70a384c52" /><Relationship Type="http://schemas.openxmlformats.org/officeDocument/2006/relationships/notesSlide" Target="/ppt/notesSlides/notesSlide9.xml" Id="R493a20c718fe42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ce1673b14e82" /><Relationship Type="http://schemas.openxmlformats.org/officeDocument/2006/relationships/image" Target="/ppt/media/image.png" Id="R5b97f8ae45fe4712" /><Relationship Type="http://schemas.openxmlformats.org/officeDocument/2006/relationships/notesSlide" Target="/ppt/notesSlides/notesSlide10.xml" Id="Rc9cbb1772b8445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84156a1534f77" /><Relationship Type="http://schemas.openxmlformats.org/officeDocument/2006/relationships/notesSlide" Target="/ppt/notesSlides/notesSlide11.xml" Id="Rc04f1f8b7ea245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807566c664819" /><Relationship Type="http://schemas.openxmlformats.org/officeDocument/2006/relationships/notesSlide" Target="/ppt/notesSlides/notesSlide12.xml" Id="R59e766edd5924f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DFE6D-620F-4692-95D8-0C4B37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B219-F69C-439C-9BF4-C1C5D27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85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From Clinic Discovery to a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B941-9A84-416B-A04C-AC26767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Regional insights across business sectors, online and offline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1ABA6-F7BC-4C3D-A666-2814363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7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DISCOVERY JOURNEY | CURRENT DEMO | FUTURE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07C1-DAC9-4107-89C7-DF7C0A0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B196F-D5A1-42E5-A274-4AE661D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MOP</a:t>
            </a:r>
          </a:p>
        </p:txBody>
      </p:sp>
    </p:spTree>
    <p:extLst>
      <p:ext uri="{BB962C8B-B14F-4D97-AF65-F5344CB8AC3E}">
        <p14:creationId xmlns:p14="http://schemas.microsoft.com/office/powerpoint/2010/main" val="168526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C7431-9AE7-4D75-A2AB-86C53EB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WHERE WE STARTED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8497-2EA0-4D4F-9828-6896140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We started with two high-value problem spaces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256D-9652-4060-87E3-A7E8BC2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AE681-CABB-46DA-BB82-49432F71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Top 5 Ideas; Contacts &amp; Conversations; Matt check-in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0A317-F7F8-41CC-8681-CB10C4C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81B-98FC-4EB1-9527-C8B73DB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8BED9-52B8-42BC-9814-64A721D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CLINIC EXPANSION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6E2F-6034-4134-B789-F41A40D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Location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A48DF-F467-4638-9D70-27F4D20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Teams combine market, site, and feasibility signals to compare opportunities and prepare human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8DC6-1404-43F1-BC68-0739C01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D723-FE65-4C54-9C4C-2D6CBA2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USER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5A279-B429-4964-8553-7F4CED6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User Profile 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0633C-70F2-4518-8B46-39F9C9D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Useful customer and pet context exists, but it is not always translated into the next helpful action across experiences.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3DD6-1547-4A74-9E64-2A142B8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4671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7562-8D16-4A06-AE96-B6227B9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WHY THESE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68C7E-B461-4896-B1A7-5881741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Governed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B3EEE-736A-4AD4-A77D-9C34AEA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30099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Both offered a clear role for AI: organize validated evidence and explain tradeoffs without taking ownership from people.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2211A-2941-4F0C-95D3-45B8884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7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Clinic expansion became the first wedge because it offered a focused, high-value decision we could prototype.</a:t>
            </a:r>
          </a:p>
        </p:txBody>
      </p:sp>
    </p:spTree>
    <p:extLst>
      <p:ext uri="{BB962C8B-B14F-4D97-AF65-F5344CB8AC3E}">
        <p14:creationId xmlns:p14="http://schemas.microsoft.com/office/powerpoint/2010/main" val="151070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23C35-CA7A-4346-AB97-EBAF20C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DISCOVERY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429C-DFCA-437D-B13A-F4ABF18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21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Conversations moved us from broad ideas to a sharper clinic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740E-3D83-4F82-BCBC-E4182F5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18562-918A-47C9-8C07-AB4D7E4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Contacts &amp; Conversations; Cale notes; Matt check-in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3926-EB77-4942-BFB3-31145C4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006A-B13E-408A-8166-2804DC4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WHO WE HEARD FROM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ACEB-5F59-456E-AE2D-A69CF8D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E83A-03C7-47F1-9AB8-2C41456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FF14-8975-4ECB-81B1-4A224D6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Cathy Harley • CVC / hybrid 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FAB8D-DDE8-4EAE-AAFC-6EE4F53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B7BC-28B4-499C-BA9D-04A4292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Mike Cammarota • CVC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F0F9-9016-499B-97E0-256474A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8673-E2AA-42C7-9E8D-9BBD583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Krista Bardelli • CVC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E9599-04E3-4A6A-B157-C1EE31E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09976-E5EB-4619-BE3F-069746E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Lana Lee • search + personalization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DF697-9416-4B5F-8E62-F163233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AAC09-D66F-43C6-842B-B6883E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Matt Merrill + Cale Harrington • expansion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F9541-D5C0-42C0-8751-8B4ECC3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5BEE-CDCC-4502-8546-88E8655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Customer and pet context is not always connected to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2566-F47C-4AC1-882E-EFDC6A7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6EEC-2097-457D-B8B0-0F7D0F0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Clinic work crosses systems, owners, and handoffs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04B81-52E9-44FA-995B-E52EDFE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210CC-FC7F-4D0A-AE2F-44C3917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Esri and Excel already cover major parts of analysis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AFD62-374E-4856-A91E-0363D15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BBF17-9A25-4B88-84B9-2CEC759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Market, property, and sequence are different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7ED43-5ECA-4CE6-A895-FEF471F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7D7A0-E097-4A2F-B4D3-664A7B6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gap is a shared, reviewable decision trace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DFEAB-3C09-441F-B32B-540BEBE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337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210314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72B6-F32D-4A8C-9D1D-D2A54DF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2111-6573-43D8-877F-48241BE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Attractiveness, feasibility, and execution priority are different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FF62-1481-473C-804F-535A1C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6176-D641-414F-ADCF-DE15899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transition brief; MVP scope;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AB315-2EE1-4FB0-9A42-3F88C53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619D-5DC1-409F-B08E-1E0F4BFC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367E-5DE5-4C1D-8520-A86C6BB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GEOGRAPHY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A8500-C3CE-4E41-BD12-F00D5DC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Attractiveness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31DD4-E75C-473A-B6A1-9B402DF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Is this market or submarket appealing enough to justify deeper diligence?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62A9-BAD9-4750-A571-0EF35DB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ABA5-C068-4D2A-BC04-928A6CC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F99F-DAA4-4530-AF27-7DEC89B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B56E-4076-4882-8DBF-CD2F90E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Can this available property pass mandatory physical, legal, operational, and financial constraints?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B65E-EFE3-4A4D-8EA4-653A843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467100" cy="371475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24D9-97A8-4400-9DB5-0CCB8CE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EE36A-F9E7-4EA9-BCB6-10610A1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Execution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D03A-E4FE-4039-A0CE-AD6D6E3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Given availability, staffing, economics, timing, and dependencies, what should be reviewed first?</a:t>
            </a:r>
          </a:p>
        </p:txBody>
      </p:sp>
    </p:spTree>
    <p:extLst>
      <p:ext uri="{BB962C8B-B14F-4D97-AF65-F5344CB8AC3E}">
        <p14:creationId xmlns:p14="http://schemas.microsoft.com/office/powerpoint/2010/main" val="1838043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66B7B-BFE2-4F60-9BD8-B0BD38C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OUR CURRENT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4C70A-2B3B-4CBB-BC3A-A8E5334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51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current demo is governed decision support, not a production locator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CE9B-D701-4901-9B20-B751518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E360-68D8-454E-A4A3-82697D7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current implementation; MVP scope;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4A43-440C-43AB-8BA2-4403B3CD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AC6BE-B217-4FEC-84C9-5D4AE65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3E6B-68FF-45B5-A0C0-4FA2742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PUBLIC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02C3C-1C33-4121-A6BC-6C3BE736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Census + ACS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F042-3D68-423A-B6E1-503E250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Versioned CBSA universe, boundaries, and public context. Explicitly non-scored.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45134-7E95-4E9C-94E8-9A8368F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9C125-1A19-4FE3-9E54-E6409C4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SYNTHETIC MARKETS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3C16-9DE9-4754-8BA9-32ECC4F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Map + 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2BC3-811C-42D6-A097-C1B8F70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Synthetic attractiveness map and rank; compare 2 to 5 same-cohort markets with sensitivity.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026C-AD0E-43BB-A1F8-E967724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6FB62-0699-464F-B062-F45C768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REPORTED SITE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9455E-1D34-4539-B9AC-75C40BD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Briefs +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53E46-39D2-41F3-8DF1-566DE08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Minimized Esri demo evidence, provenance, missingness, and raw comparison. Not scored.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09FD8-AA77-4BBC-9320-268EBFF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7A170-9123-4523-9293-1AB63A2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HUMAN-GATED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640E-615D-4CA7-87F5-CF8E772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Agent + sandbox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21F0-71AD-4163-8E9E-5A42DBC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The agent pauses on ambiguity; the sandbox tests constraints and weights. No recommendation.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9820-38CB-46F6-88A0-751AA58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7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Demonstrable now: traceable workflows and boundaries. Production inputs and ownership remain unresolved.</a:t>
            </a:r>
          </a:p>
        </p:txBody>
      </p:sp>
    </p:spTree>
    <p:extLst>
      <p:ext uri="{BB962C8B-B14F-4D97-AF65-F5344CB8AC3E}">
        <p14:creationId xmlns:p14="http://schemas.microsoft.com/office/powerpoint/2010/main" val="1417878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FCDAF-377F-42CA-B09E-841EC42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CURRENT DEMO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8CFC-C54E-4CA7-9E9E-42EA6F9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What the prototype can demonstrate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4595-10F2-4A51-BC2A-22A6A44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76AE-9AA7-442F-8E4B-B4DC4D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current implementation and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1780-F9A1-4FFB-B663-6D0B90E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DA04-103F-4985-A5FC-AAFE4FC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3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9777-F9A6-4FE4-800D-B431E0D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BFDFB-2AC6-4663-B06F-60A5C84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114A-D5DC-4077-86E8-32F7EA5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603BA-7A30-4197-9F82-DF0550A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760A3-2D25-42DE-9B1F-C523F79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BA09D-5459-43B7-88C7-83F039D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Map and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E6FC-8DBD-4AC6-B2A8-1EDEBD7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Explore public CBSA boundaries, ACS context, workflow states, and selection.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BCF-7D1F-4009-AB32-11EFD12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F2ABA-0B84-463B-8F39-4562ECCA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Synthetic market 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40C49-1618-464E-B442-C6969DD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2 to 5 same-cohort results with rank, gaps, warnings, and sensitivity.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D8FE-B772-43F4-A143-DE89139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A19EF-0290-463B-B7B4-F39725A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Bounded Ask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5F1AB-3FAF-47B6-8F4C-D034AA3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supplied structured results without changing scores or choosing a market.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39610-1BB9-4524-AD73-7D2E7D8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A128A-CCD8-4C25-BA97-97B3FA0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Candidate briefs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9D443-7DED-48C9-89F4-4E1E9E7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Prepare source-linked drafts and show missing or conflicting demo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7BDE-4A89-41F4-BCB2-434E5BD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711EE-9429-4C2A-B489-3831113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Raw location compare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7CA3A-0F4E-47CE-8DEB-40A9403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2 to 5 audited candidates field by field, with no composite or winner.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12088-D006-49DC-BAC4-321FB07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82333-CA85-4E20-867D-1A3B69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Sandbox + Seattle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DC39-4185-40B2-B3A5-0282CDE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Test synthetic weights and constraints; run one human-confirmed synthetic deep dive.</a:t>
            </a:r>
          </a:p>
        </p:txBody>
      </p:sp>
    </p:spTree>
    <p:extLst>
      <p:ext uri="{BB962C8B-B14F-4D97-AF65-F5344CB8AC3E}">
        <p14:creationId xmlns:p14="http://schemas.microsoft.com/office/powerpoint/2010/main" val="1033227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92F96-0EE8-41DD-AD31-C6021EE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DBC7-6E33-4724-8ECB-A8B80DD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42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 seven-minute demo shows what the prototype can do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40C0-B064-4033-864E-00A18F22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C375-17F9-4FB9-B3BC-7402840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current local prototype; user workflows;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72F8-F91C-4AB1-A276-12AF5C3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2238E-CA6B-4F68-907B-54801E8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A097-F3F8-4B6F-8B20-1388019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9B40E-6B38-4B9B-84D8-548D14E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525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Markets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5EDDD-F477-4996-8726-C11B7AF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Select a market; show public context, synthetic score, and workflow-state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680A-BF2C-4EE0-BEBE-A329563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B2A1A-FBAF-44DE-A325-DD621D0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A367-79B3-4AE8-AE7A-B6D1DB2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61BA-91C3-4C42-BCE9-88BF307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Add two same-cohort markets; inspect subscores, missingness, sensitivity, and Ask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E2D66-A242-4045-94DA-C18D3AA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F5A4-B6AF-4D40-B43D-B4776C1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BC9E-D8B1-43FA-9C39-4079CDF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51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Seattle deep dive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EFD15-C6A7-4E04-B28E-C2A029C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Confirm synthetic segmentation before comparison; show tool activity and evidence receipts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FDA91-77C8-4D1E-8FE6-12F073B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139C-2A21-4A5F-B357-641A794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A535D-491D-44D8-9422-4920856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814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Candidate briefs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7939-FEE6-4721-BA25-9E88E39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14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Prepare a bounded brief, then compare audited locations without a winner or 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F2160-350F-4BAE-82C1-902ED01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7CFF4-6CC0-4CC0-A501-BE73903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8DA6B-9AD6-4D4E-929E-84E7699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577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Sandbox +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86262-87AD-44B0-BB97-F0D233B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577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Adjust synthetic weights and constraints; name what is non-scored, process-local, or unresolved</a:t>
            </a:r>
          </a:p>
        </p:txBody>
      </p:sp>
    </p:spTree>
    <p:extLst>
      <p:ext uri="{BB962C8B-B14F-4D97-AF65-F5344CB8AC3E}">
        <p14:creationId xmlns:p14="http://schemas.microsoft.com/office/powerpoint/2010/main" val="1570908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1473F-28FD-4EDF-BBB7-F409449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FUTURE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BAC3C-B014-44EA-8759-1B53733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platform turns regional signals into sector-specific action plans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D625-0E87-42AD-A135-74F4892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B327-9774-4920-85C3-DB49205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user direction; market opportunity transition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24F67-35E1-41A1-82BF-27E15EF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5BED-EA33-40D9-9D46-7202819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Market Opportunity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21C2-CDD5-43F8-BB39-5ABF8A4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23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qualifies regional changes through business-owned playbooks, then prepares the owner, action, deadline, outcome, guardrails, and stop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D9B3-EF0F-4589-96D8-69E3DC4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486150" cy="373380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6C76-4B60-487D-8267-C227015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IT WOULD HELP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C227-C048-46B2-9812-C2110E18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3DD8-1CBC-4169-981E-EB90C3F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Detect meaningful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9D78-743C-4E37-8853-C16CA7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943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13E9-7C8D-4D01-BFC0-8A1CA2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2763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Qualify opportunities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93611-712A-41FF-B14C-3DBA470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7D60D-6D45-4DD8-861A-DC09735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29025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Prepare owned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00392-71BC-4E82-9786-A32B1D7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1963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E1BD-110A-4A6D-B6F6-D88B8EF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05288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Measure and improve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4008-DCBA-4868-9698-CF91783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Clinic location evaluation is where we learned the pattern. The future platform applies it across sectors.</a:t>
            </a:r>
          </a:p>
        </p:txBody>
      </p:sp>
    </p:spTree>
    <p:extLst>
      <p:ext uri="{BB962C8B-B14F-4D97-AF65-F5344CB8AC3E}">
        <p14:creationId xmlns:p14="http://schemas.microsoft.com/office/powerpoint/2010/main" val="263023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DA6EF-7C78-4062-8B50-8CAEC27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FUTURE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8C76-52EC-42F0-B662-83D1813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Qualified opportunities end in accountable action plans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81D0-5E6E-43B5-B2E0-E7B32636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B145-D984-4BE5-A7E4-878875B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user direction; market opportunity transition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5705-58A4-4E93-BC9C-902C654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33C5-4708-4B28-A4A8-9C37C7C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01C4C-8163-4642-9E79-0CF3056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D5CEE-7D1C-488E-90CF-DBAF807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Detect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41E1E-7531-4E80-8536-8A64D15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Observe a regional shift in demand, capacity, coverage, or the local ecosystem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65A94-9245-4C1B-A179-921F545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4922-C9AD-4FAA-A815-1590FFC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2448B-FAD2-46F8-8DEB-E151103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Qualify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5224-D7D2-48C7-A85B-2C816BF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Test the baseline, supporting evidence, contradictions, readiness, and expiration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CF458-7B56-45AF-975D-9E7C558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99FE9-D4B2-489C-B683-8E0B0E0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A42B-00DD-44D4-B6CE-BDF2940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Prepare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35BE-4012-4B10-98C9-D89DC0D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Name the owner, deadline, ordered steps, guardrails, and stop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DA382-7DF0-4B45-94A2-B179AE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38350"/>
            <a:ext cx="29622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6561-9C17-4DD9-B000-DFFC056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AF32-3FFB-47E6-8425-FABBED6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289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Measure + 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BE5E3-F862-41C7-BCA0-E7A41DF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Record the outcome, decision trail, and playbook changes for the next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4DDA9-E6DF-44ED-AE3A-F4EBB18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400DD-5371-443E-B728-7769B71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445C-A64D-4882-8DDF-F05387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5317A-88A1-43E9-92BD-EDE7FCE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46114-8DE9-47C8-9804-CA0F20E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74166-780E-4886-AE68-010B1A8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70B89-F1DE-4060-97B4-C45B4BC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One operating model can support Growth, Pet Health, Market Ecosystem, and future sectors.</a:t>
            </a:r>
          </a:p>
        </p:txBody>
      </p:sp>
    </p:spTree>
    <p:extLst>
      <p:ext uri="{BB962C8B-B14F-4D97-AF65-F5344CB8AC3E}">
        <p14:creationId xmlns:p14="http://schemas.microsoft.com/office/powerpoint/2010/main" val="230766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B08C1-9EFB-4D76-A463-3D9336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FUTURE HOME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947D-2816-4D7B-994F-965D92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future home page makes regional opportunities ready for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B474-BD0C-4E86-9E89-ACC4CB0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33C0-E90D-46A1-AFD5-4069BCE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Illustrative future-state concept. Example sectors and signals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06FB1-AE1D-4FFD-8A7D-C7EED75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7f8ae45fe4712"/>
          <a:stretch xmlns:a="http://schemas.openxmlformats.org/drawingml/2006/main"/>
        </p:blipFill>
        <p:spPr>
          <a:xfrm xmlns:a="http://schemas.openxmlformats.org/drawingml/2006/main" flipH="0" flipV="0">
            <a:off x="1636438" y="1333500"/>
            <a:ext cx="8919125" cy="5019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51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99AD7-B488-4452-9AB6-374CF4A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WE NEED TO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E7AB-13D1-4B35-A1C1-202519C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Five decisions define a measurable platform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621C-D75B-41C8-B6E0-5AA5A2E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0B3F-6D10-4F7F-B837-5C745AD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user direction; market opportunity transition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E8BC-C82A-4E20-9B03-BB19CF2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7F4E-3D17-48B5-AFDD-03CC583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8AD2A-EBBD-4D40-AE11-2FAAEE7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0A53-F24F-4902-8F41-6DB8A4D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Pilot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18E7E-D3EC-4485-9491-C7C31E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One sector, one regional decision, and one accountable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FFE19-7E36-44DA-9152-729D5A7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AC32-18F9-44A4-AFCC-7166ADD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E7EB-FB7B-446A-BEF6-65312FC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0C56A-F998-4684-AD38-755F035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regions, hierarchy, and comparison universe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2E46C-7F53-4103-AB18-4EE3217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7ECE-1A51-44AE-8ACA-A759E36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5645-74B3-4479-9F9E-0C9C123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Channel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C6784-0C91-4F06-93B7-3A06BCA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Clear meanings for online, offline, and hybrid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DD66B-DA13-4F5F-8B2C-2D87ECD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627BC-C9AF-4C2E-B0F1-1FB3A2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4B9B-1B7B-4FB8-8D81-EEBEE0F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B819A-0EFE-40B8-B398-BC3E66F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Sources, permissions, freshness, gaps, and collection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52077-3D05-4BD4-AE31-EE71B850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7B79E-648E-40D8-B370-B2D3369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3BEA8-0954-4AD4-83BE-957EE1D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Business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63F3F-C759-4ACD-9499-649023E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Baseline, target, measurement window, guardrails, and stop conditions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9564B-299C-4393-9E78-BB96482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Start with one action-ready opportunity, then improve and extend the playbook by sector.</a:t>
            </a:r>
          </a:p>
        </p:txBody>
      </p:sp>
    </p:spTree>
    <p:extLst>
      <p:ext uri="{BB962C8B-B14F-4D97-AF65-F5344CB8AC3E}">
        <p14:creationId xmlns:p14="http://schemas.microsoft.com/office/powerpoint/2010/main" val="1220267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7F49-94A7-4E8E-A6EA-0CD2EDF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B1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B1FF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D337-3A40-4605-A81C-0DB33CC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47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one regional question. Prove the action workflow. Expand by sector.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1EA6-0BB4-442A-BB7D-65BA40A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04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CE5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5FF"/>
                </a:solidFill>
                <a:latin typeface="Aptos"/>
                <a:ea typeface="Aptos"/>
                <a:cs typeface="Aptos"/>
              </a:rPr>
              <a:t>Next step: select one accountable owner and one real regional decision. Test whether the platform shortens time to action, produces a measurable result, and avoids work when guardrails fail.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AE29-FAD7-4EC8-875A-D75A26F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oundRect">
            <a:avLst>
              <a:gd name="adj" fmla="val 21795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0CAD-F9A5-4D1C-A91F-4CE5FA1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MOP</a:t>
            </a:r>
          </a:p>
        </p:txBody>
      </p:sp>
    </p:spTree>
    <p:extLst>
      <p:ext uri="{BB962C8B-B14F-4D97-AF65-F5344CB8AC3E}">
        <p14:creationId xmlns:p14="http://schemas.microsoft.com/office/powerpoint/2010/main" val="144041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2026-08-06T21:22:22.6970000Z</dcterms:created>
  <dcterms:modified xsi:type="dcterms:W3CDTF">2026-08-06T21:22:22.6970000Z</dcterms:modified>
</coreProperties>
</file>

<file path=[Content_Types].xml><?xml version="1.0" encoding="utf-8"?>
<Types xmlns="http://schemas.openxmlformats.org/package/2006/content-types">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 we are showing a smarter way to find and evaluate potential CVC clinic locations.</a:t>
            </a:r>
          </a:p>
          <a:p>
            <a:endParaRPr/>
          </a:p>
          <a:p>
            <a:r>
              <a:t>The idea begins with a broader question: how can Chewy better understand what is happening in a specific market, identify the areas with the strongest potential, and use those insights to make better local decisions?</a:t>
            </a:r>
          </a:p>
          <a:p>
            <a:endParaRPr/>
          </a:p>
          <a:p>
            <a:r>
              <a:t>We started with clinic locations, but what we learned has implications well beyond real estate.</a:t>
            </a:r>
          </a:p>
          <a:p>
            <a:endParaRPr/>
          </a:p>
          <a:p>
            <a:r>
              <a:t>[Sources]</a:t>
            </a:r>
          </a:p>
          <a:p>
            <a:r>
              <a:t>User-provided presentation script</a:t>
            </a:r>
          </a:p>
          <a:p>
            <a:r>
              <a:t>PROJECT_CONTEXT.md</a:t>
            </a:r>
          </a:p>
          <a:p>
            <a:r>
              <a:t>docs/product/mvp-scope.md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CVC already has strong mapping and analysis tools. The problem is that the full decision is still spread across maps, spreadsheets, property information, and conversations.</a:t>
            </a:r>
          </a:p>
          <a:p>
            <a:endParaRPr/>
          </a:p>
          <a:p>
            <a:r>
              <a:t>The hard part is connecting those pieces. Why did we focus on this part of the market? What makes it different from another area? Why did one opportunity move forward? What information is missing?</a:t>
            </a:r>
          </a:p>
          <a:p>
            <a:endParaRPr/>
          </a:p>
          <a:p>
            <a:r>
              <a:t>Our solution creates one guided path through those questions.</a:t>
            </a:r>
          </a:p>
          <a:p>
            <a:endParaRPr/>
          </a:p>
          <a:p>
            <a:r>
              <a:t>[Sources]</a:t>
            </a:r>
          </a:p>
          <a:p>
            <a:r>
              <a:t>User-provided presentation script</a:t>
            </a:r>
          </a:p>
          <a:p>
            <a:r>
              <a:t>PROJECT_CONTEXT.md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product is an AI-guided market and location discovery workflow.</a:t>
            </a:r>
          </a:p>
          <a:p>
            <a:endParaRPr/>
          </a:p>
          <a:p>
            <a:r>
              <a:t>It helps the team move from a large market to a smaller set of promising submarkets, and then to real candidate properties. At each step it gathers the available evidence, runs a consistent analysis, explains the tradeoffs, and prepares the next decision for review.</a:t>
            </a:r>
          </a:p>
          <a:p>
            <a:endParaRPr/>
          </a:p>
          <a:p>
            <a:r>
              <a:t>The result is not just a score. It is a clear story of where to look, why that area matters, and what the team should investigate next.</a:t>
            </a:r>
          </a:p>
          <a:p>
            <a:endParaRPr/>
          </a:p>
          <a:p>
            <a:r>
              <a:t>[Sources]</a:t>
            </a:r>
          </a:p>
          <a:p>
            <a:r>
              <a:t>User-provided presentation script</a:t>
            </a:r>
          </a:p>
          <a:p>
            <a:r>
              <a:t>docs/product/mvp-scope.md</a:t>
            </a:r>
          </a:p>
          <a:p>
            <a:r>
              <a:t>docs/technical/ai-boundaries.md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workflow narrows the search in four steps.</a:t>
            </a:r>
          </a:p>
          <a:p>
            <a:endParaRPr/>
          </a:p>
          <a:p>
            <a:r>
              <a:t>We start with markets, identify the strongest submarkets inside them, evaluate available properties, and create a review order.</a:t>
            </a:r>
          </a:p>
          <a:p>
            <a:endParaRPr/>
          </a:p>
          <a:p>
            <a:r>
              <a:t>The broad market view tells us where to begin. The AI-guided deep dive then turns a large geography into practical areas the team can investigate.</a:t>
            </a:r>
          </a:p>
          <a:p>
            <a:endParaRPr/>
          </a:p>
          <a:p>
            <a:r>
              <a:t>[Sources]</a:t>
            </a:r>
          </a:p>
          <a:p>
            <a:r>
              <a:t>User-provided presentation script</a:t>
            </a:r>
          </a:p>
          <a:p>
            <a:r>
              <a:t>docs/product/mvp-scope.md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 scale, the system could regularly review an approved list of markets and highlight the ones that appear most promising under the selected business criteria.</a:t>
            </a:r>
          </a:p>
          <a:p>
            <a:endParaRPr/>
          </a:p>
          <a:p>
            <a:r>
              <a:t>Instead of asking someone to manually study every city, we use the broad screen to decide where deeper work is worth the effort.</a:t>
            </a:r>
          </a:p>
          <a:p>
            <a:endParaRPr/>
          </a:p>
          <a:p>
            <a:r>
              <a:t>Once a market advances, the AI agent begins a focused regional investigation. That is where the system moves from a national view into local opportunity.</a:t>
            </a:r>
          </a:p>
          <a:p>
            <a:endParaRPr/>
          </a:p>
          <a:p>
            <a:r>
              <a:t>[Sources]</a:t>
            </a:r>
          </a:p>
          <a:p>
            <a:r>
              <a:t>User-provided presentation script</a:t>
            </a:r>
          </a:p>
          <a:p>
            <a:r>
              <a:t>docs/product/mvp-scope.md</a:t>
            </a:r>
          </a:p>
          <a:p>
            <a:r>
              <a:t>docs/product/open-questions.md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key part of the solution.</a:t>
            </a:r>
          </a:p>
          <a:p>
            <a:endParaRPr/>
          </a:p>
          <a:p>
            <a:r>
              <a:t>The AI agent gathers the approved market information and works through the market one step at a time. It proposes a set of practical submarkets, such as the urban core, nearby growth areas, suburban coverage areas, or other locally meaningful groups.</a:t>
            </a:r>
          </a:p>
          <a:p>
            <a:endParaRPr/>
          </a:p>
          <a:p>
            <a:r>
              <a:t>The analyst reviews that proposed breakdown before the analysis continues. Once it is confirmed, the system calculates the results for each submarket using the same rules. The agent then studies those results, looks for strengths, gaps, and tradeoffs, and groups the submarkets into clear categories: areas to investigate now, areas that look promising but need more evidence, and areas that are lower priority under the current scenario.</a:t>
            </a:r>
          </a:p>
          <a:p>
            <a:endParaRPr/>
          </a:p>
          <a:p>
            <a:r>
              <a:t>This turns a large market into a short, explainable list of places where deeper investigation should begin.</a:t>
            </a:r>
          </a:p>
          <a:p>
            <a:endParaRPr/>
          </a:p>
          <a:p>
            <a:r>
              <a:t>[Sources]</a:t>
            </a:r>
          </a:p>
          <a:p>
            <a:r>
              <a:t>User-provided presentation script</a:t>
            </a:r>
          </a:p>
          <a:p>
            <a:r>
              <a:t>docs/product/mvp-scope.md</a:t>
            </a:r>
          </a:p>
          <a:p>
            <a:r>
              <a:t>docs/technical/ai-boundaries.md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analyst sees the whole journey in one place.</a:t>
            </a:r>
          </a:p>
          <a:p>
            <a:endParaRPr/>
          </a:p>
          <a:p>
            <a:r>
              <a:t>They can start with the market, review the submarkets the agent created, see why each area received its category, and then move into actual properties.</a:t>
            </a:r>
          </a:p>
          <a:p>
            <a:endParaRPr/>
          </a:p>
          <a:p>
            <a:r>
              <a:t>For every submarket or property, the system shows the information used, what is missing, and what drove the result. The analyst can ask follow-up questions in plain language, compare areas, and understand what would need to change for a different result.</a:t>
            </a:r>
          </a:p>
          <a:p>
            <a:endParaRPr/>
          </a:p>
          <a:p>
            <a:r>
              <a:t>The goal is to make the analysis easier to use, not just faster to produce.</a:t>
            </a:r>
          </a:p>
          <a:p>
            <a:endParaRPr/>
          </a:p>
          <a:p>
            <a:r>
              <a:t>[Sources]</a:t>
            </a:r>
          </a:p>
          <a:p>
            <a:r>
              <a:t>User-provided presentation script</a:t>
            </a:r>
          </a:p>
          <a:p>
            <a:r>
              <a:t>docs/product/mvp-scope.md</a:t>
            </a:r>
          </a:p>
          <a:p>
            <a:r>
              <a:t>docs/technical/data-contracts.md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keep three questions separate: Is the area attractive? Is the property workable? And is it ready to pursue now?</a:t>
            </a:r>
          </a:p>
          <a:p>
            <a:endParaRPr/>
          </a:p>
          <a:p>
            <a:r>
              <a:t>Keeping those questions separate prevents a high score from hiding a serious property or timing issue.</a:t>
            </a:r>
          </a:p>
          <a:p>
            <a:endParaRPr/>
          </a:p>
          <a:p>
            <a:r>
              <a:t>[Sources]</a:t>
            </a:r>
          </a:p>
          <a:p>
            <a:r>
              <a:t>User-provided presentation script</a:t>
            </a:r>
          </a:p>
          <a:p>
            <a:r>
              <a:t>docs/product/mvp-scope.md</a:t>
            </a:r>
          </a:p>
          <a:p>
            <a:r>
              <a:t>docs/technical/ai-boundaries.md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prototype demonstrates this guided workflow with a Seattle example.</a:t>
            </a:r>
          </a:p>
          <a:p>
            <a:endParaRPr/>
          </a:p>
          <a:p>
            <a:r>
              <a:t>It can show market context, present proposed submarkets, pause for analyst approval, run a consistent comparison, and explain which areas rise under the demonstration criteria.</a:t>
            </a:r>
          </a:p>
          <a:p>
            <a:endParaRPr/>
          </a:p>
          <a:p>
            <a:r>
              <a:t>It is not yet a production national ranking or a real-estate recommendation. The current example is designed to prove the workflow before we connect approved business rules and full sensitive production data.</a:t>
            </a:r>
          </a:p>
          <a:p>
            <a:endParaRPr/>
          </a:p>
          <a:p>
            <a:r>
              <a:t>[Sources]</a:t>
            </a:r>
          </a:p>
          <a:p>
            <a:r>
              <a:t>User-provided presentation script</a:t>
            </a:r>
          </a:p>
          <a:p>
            <a:r>
              <a:t>docs/product/mvp-scope.md</a:t>
            </a:r>
          </a:p>
          <a:p>
            <a:r>
              <a:t>PROJECT_CONTEXT.md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real rankings are credible, the team still needs to approve the market model, submarket definition rules, property feasibility gate, and execution sequencing logic.</a:t>
            </a:r>
          </a:p>
          <a:p>
            <a:endParaRPr/>
          </a:p>
          <a:p>
            <a:r>
              <a:t>Those decisions establish what the system may calculate and how the team interprets the result. The prototype does not resolve them on its own.</a:t>
            </a:r>
          </a:p>
          <a:p>
            <a:endParaRPr/>
          </a:p>
          <a:p>
            <a:r>
              <a:t>[Sources]</a:t>
            </a:r>
          </a:p>
          <a:p>
            <a:r>
              <a:t>Source presentation</a:t>
            </a:r>
          </a:p>
          <a:p>
            <a:r>
              <a:t>docs/product/open-questions.md</a:t>
            </a:r>
          </a:p>
          <a:p>
            <a:r>
              <a:t>docs/technical/ai-boundaries.md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AI is what makes this feel like a guided investigation instead of a dashboard.</a:t>
            </a:r>
          </a:p>
          <a:p>
            <a:endParaRPr/>
          </a:p>
          <a:p>
            <a:r>
              <a:t>The agent decides which approved step to take next. It gathers the relevant information, proposes the submarket plan, runs the allowed analysis, compares the results, asks for human input when needed, and writes a clear summary.</a:t>
            </a:r>
          </a:p>
          <a:p>
            <a:endParaRPr/>
          </a:p>
          <a:p>
            <a:r>
              <a:t>The application still handles the math and map calculations. The analyst approves the proposed submarkets and makes the final decision. So AI drives the process forward without becoming a black box.</a:t>
            </a:r>
          </a:p>
          <a:p>
            <a:endParaRPr/>
          </a:p>
          <a:p>
            <a:r>
              <a:t>[Sources]</a:t>
            </a:r>
          </a:p>
          <a:p>
            <a:r>
              <a:t>User-provided presentation script</a:t>
            </a:r>
          </a:p>
          <a:p>
            <a:r>
              <a:t>docs/technical/ai-boundaries.md</a:t>
            </a:r>
          </a:p>
          <a:p>
            <a:r>
              <a:t>docs/product/mvp-scope.md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 market analysis, property research, and review can feel like separate handoffs.</a:t>
            </a:r>
          </a:p>
          <a:p>
            <a:endParaRPr/>
          </a:p>
          <a:p>
            <a:r>
              <a:t>With this workflow, they become one connected investigation. The team can see what the agent did, what evidence it used, why an area moved forward, and what still needs to be resolved.</a:t>
            </a:r>
          </a:p>
          <a:p>
            <a:endParaRPr/>
          </a:p>
          <a:p>
            <a:r>
              <a:t>More importantly, that regional understanding does not have to stop with clinic locations.</a:t>
            </a:r>
          </a:p>
          <a:p>
            <a:endParaRPr/>
          </a:p>
          <a:p>
            <a:r>
              <a:t>[Sources]</a:t>
            </a:r>
          </a:p>
          <a:p>
            <a:r>
              <a:t>User-provided presentation script</a:t>
            </a:r>
          </a:p>
          <a:p>
            <a:r>
              <a:t>PROJECT_CONTEXT.md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biggest lesson from this project is that markets are not interchangeable.</a:t>
            </a:r>
          </a:p>
          <a:p>
            <a:endParaRPr/>
          </a:p>
          <a:p>
            <a:r>
              <a:t>Customer needs, competition, local events, available services, business density, and growth patterns can look very different from one region to another. A national average can hide those differences.</a:t>
            </a:r>
          </a:p>
          <a:p>
            <a:endParaRPr/>
          </a:p>
          <a:p>
            <a:r>
              <a:t>If we can identify and explain meaningful regional signals, the same capability could support decisions across marketing, merchandising, services, partnerships, operations, and other parts of the business.</a:t>
            </a:r>
          </a:p>
          <a:p>
            <a:endParaRPr/>
          </a:p>
          <a:p>
            <a:r>
              <a:t>[Sources]</a:t>
            </a:r>
          </a:p>
          <a:p>
            <a:r>
              <a:t>User-provided presentation script</a:t>
            </a:r>
          </a:p>
          <a:p>
            <a:r>
              <a:t>docs/product/mvp-scope.md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 the market deep dive</a:t>
            </a:r>
          </a:p>
          <a:p>
            <a:r>
              <a:t>I will start with Seattle and launch the AI-guided market deep dive. The agent is not receiving an open-ended instruction to find anything it wants. It follows a defined process and uses the information available inside the application.</a:t>
            </a:r>
          </a:p>
          <a:p>
            <a:r>
              <a:t>Demo action: Open Seattle and start the Market Deep Dive.</a:t>
            </a:r>
          </a:p>
          <a:p>
            <a:endParaRPr/>
          </a:p>
          <a:p>
            <a:r>
              <a:t>Gather context and propose submarkets</a:t>
            </a:r>
          </a:p>
          <a:p>
            <a:r>
              <a:t>The agent first gathers the market context. It then creates a proposed way to break the market into smaller, practical areas for analysis.</a:t>
            </a:r>
          </a:p>
          <a:p>
            <a:r>
              <a:t>Demo action: Show the seven proposed Seattle submarkets and the map.</a:t>
            </a:r>
          </a:p>
          <a:p>
            <a:endParaRPr/>
          </a:p>
          <a:p>
            <a:r>
              <a:t>Ask for human confirmation</a:t>
            </a:r>
          </a:p>
          <a:p>
            <a:r>
              <a:t>Before scoring anything, the agent pauses. The analyst can confirm the proposed submarkets, reject them, or leave the question unresolved.</a:t>
            </a:r>
          </a:p>
          <a:p>
            <a:r>
              <a:t>Demo action: Confirm the proposed segmentation.</a:t>
            </a:r>
          </a:p>
          <a:p>
            <a:endParaRPr/>
          </a:p>
          <a:p>
            <a:r>
              <a:t>Run the analysis and create categories</a:t>
            </a:r>
          </a:p>
          <a:p>
            <a:r>
              <a:t>After confirmation, the application runs the same analysis across every submarket. The agent reviews the results and turns them into useful categories. It also explains what drove each result, so the analyst sees more than a ranking.</a:t>
            </a:r>
          </a:p>
          <a:p>
            <a:r>
              <a:t>Demo action: Run the comparison. Show the priority cards, table, contributions, and missing information.</a:t>
            </a:r>
          </a:p>
          <a:p>
            <a:endParaRPr/>
          </a:p>
          <a:p>
            <a:r>
              <a:t>Move from submarket to properties</a:t>
            </a:r>
          </a:p>
          <a:p>
            <a:r>
              <a:t>For the clinic use case, the strongest submarket categories become the starting point for property discovery.</a:t>
            </a:r>
          </a:p>
          <a:p>
            <a:r>
              <a:t>Demo action: Open a candidate brief or location comparison.</a:t>
            </a:r>
          </a:p>
          <a:p>
            <a:endParaRPr/>
          </a:p>
          <a:p>
            <a:r>
              <a:t>Ask AI and close the demo</a:t>
            </a:r>
          </a:p>
          <a:p>
            <a:r>
              <a:t>The analyst can ask AI to explain the result in plain language. The answer stays tied to the information shown here, including missing information and uncertainty.</a:t>
            </a:r>
          </a:p>
          <a:p>
            <a:r>
              <a:t>Demo action: Show one short AI explanation or generated review brief.</a:t>
            </a:r>
          </a:p>
          <a:p>
            <a:endParaRPr/>
          </a:p>
          <a:p>
            <a:r>
              <a:t>[Sources]</a:t>
            </a:r>
          </a:p>
          <a:p>
            <a:r>
              <a:t>User-provided presentation script</a:t>
            </a:r>
          </a:p>
          <a:p>
            <a:r>
              <a:t>docs/product/mvp-scope.md</a:t>
            </a:r>
          </a:p>
          <a:p>
            <a:r>
              <a:t>docs/technical/ai-boundaries.md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started by asking how to make clinic location decisions better. What we learned is bigger: every market has its own combination of customers, competition, needs, and local signals.</a:t>
            </a:r>
          </a:p>
          <a:p>
            <a:endParaRPr/>
          </a:p>
          <a:p>
            <a:r>
              <a:t>Our ask is to treat clinic location discovery as the first use case for a broader regional insights capability.</a:t>
            </a:r>
          </a:p>
          <a:p>
            <a:endParaRPr/>
          </a:p>
          <a:p>
            <a:r>
              <a:t>The next step is to choose a small number of business sectors and test how the same AI-guided workflow can identify local opportunities for each one. The regional evidence can be shared, while each team applies its own goals, rules, and measures of success.</a:t>
            </a:r>
          </a:p>
          <a:p>
            <a:endParaRPr/>
          </a:p>
          <a:p>
            <a:r>
              <a:t>The opportunity is not simply to find better clinic locations. It is to help more of Chewy understand what is changing locally, why it matters to their business, and where they should act next.</a:t>
            </a:r>
          </a:p>
          <a:p>
            <a:endParaRPr/>
          </a:p>
          <a:p>
            <a:r>
              <a:t>[Sources]</a:t>
            </a:r>
          </a:p>
          <a:p>
            <a:r>
              <a:t>User-provided presentation script</a:t>
            </a:r>
          </a:p>
          <a:p>
            <a:r>
              <a:t>PROJECT_CONTEXT.md</a:t>
            </a:r>
          </a:p>
          <a:p>
            <a:r>
              <a:t>docs/product/mvp-scope.md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733"/>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08DFE6D-620F-4692-95D8-0C4B37EB04D9}"/>
              </a:ext>
            </a:extLst>
          </p:cNvPr>
          <p:cNvSpPr>
            <a:spLocks noGrp="1"/>
          </p:cNvSpPr>
          <p:nvPr/>
        </p:nvSpPr>
        <p:spPr>
          <a:xfrm>
            <a:off x="609600" y="457200"/>
            <a:ext cx="3333750" cy="28575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DDE6FF"/>
                </a:solidFill>
                <a:latin typeface="Aptos"/>
                <a:ea typeface="Aptos"/>
                <a:cs typeface="Aptos"/>
              </a:defRPr>
            </a:pPr>
            <a:r>
              <a:rPr sz="1200" b="1">
                <a:solidFill>
                  <a:srgbClr val="DDE6FF"/>
                </a:solidFill>
                <a:latin typeface="Aptos"/>
                <a:ea typeface="Aptos"/>
                <a:cs typeface="Aptos"/>
              </a:rPr>
              <a:t>CHEWY VET CARE</a:t>
            </a:r>
          </a:p>
        </p:txBody>
      </p:sp>
      <p:sp>
        <p:nvSpPr>
          <p:cNvPr id="2" name="Rectangle 1">
            <a:extLst>
              <a:ext uri="{FF2B5EF4-FFF2-40B4-BE49-F238E27FC236}">
                <a16:creationId xmlns:a16="http://schemas.microsoft.com/office/drawing/2014/main" id="{95E6B219-F69C-439C-9BF4-C1C5D2777631}"/>
              </a:ext>
            </a:extLst>
          </p:cNvPr>
          <p:cNvSpPr>
            <a:spLocks noGrp="1"/>
          </p:cNvSpPr>
          <p:nvPr/>
        </p:nvSpPr>
        <p:spPr>
          <a:xfrm>
            <a:off x="609600" y="1428750"/>
            <a:ext cx="8572500" cy="1809750"/>
          </a:xfrm>
          <a:prstGeom prst="rect">
            <a:avLst/>
          </a:prstGeom>
          <a:noFill/>
          <a:ln w="0">
            <a:noFill/>
            <a:prstDash val="solid"/>
          </a:ln>
        </p:spPr>
        <p:txBody>
          <a:bodyPr wrap="square" lIns="0" tIns="0" rIns="0" bIns="0" anchor="ctr">
            <a:normAutofit/>
          </a:bodyPr>
          <a:lstStyle/>
          <a:p>
            <a:pPr algn="l">
              <a:lnSpc>
                <a:spcPct val="90000"/>
              </a:lnSpc>
              <a:buNone/>
              <a:defRPr sz="4500" b="1">
                <a:solidFill>
                  <a:srgbClr val="FFFFFF"/>
                </a:solidFill>
                <a:latin typeface="Aptos"/>
                <a:ea typeface="Aptos"/>
                <a:cs typeface="Aptos"/>
              </a:defRPr>
            </a:pPr>
            <a:r>
              <a:rPr sz="4500" b="1" dirty="0">
                <a:solidFill>
                  <a:srgbClr val="FFFFFF"/>
                </a:solidFill>
                <a:latin typeface="Aptos"/>
                <a:ea typeface="Aptos"/>
                <a:cs typeface="Aptos"/>
              </a:rPr>
              <a:t>CVC Clinic Market</a:t>
            </a:r>
          </a:p>
          <a:p>
            <a:pPr algn="l">
              <a:lnSpc>
                <a:spcPct val="90000"/>
              </a:lnSpc>
              <a:buNone/>
              <a:defRPr sz="4500" b="1">
                <a:solidFill>
                  <a:srgbClr val="FFFFFF"/>
                </a:solidFill>
                <a:latin typeface="Aptos"/>
                <a:ea typeface="Aptos"/>
                <a:cs typeface="Aptos"/>
              </a:defRPr>
            </a:pPr>
            <a:r>
              <a:rPr sz="4500" b="1" dirty="0">
                <a:solidFill>
                  <a:srgbClr val="FFFFFF"/>
                </a:solidFill>
                <a:latin typeface="Aptos"/>
                <a:ea typeface="Aptos"/>
                <a:cs typeface="Aptos"/>
              </a:rPr>
              <a:t>and Location Discovery</a:t>
            </a:r>
          </a:p>
        </p:txBody>
      </p:sp>
      <p:sp>
        <p:nvSpPr>
          <p:cNvPr id="3" name="Rectangle 2">
            <a:extLst>
              <a:ext uri="{FF2B5EF4-FFF2-40B4-BE49-F238E27FC236}">
                <a16:creationId xmlns:a16="http://schemas.microsoft.com/office/drawing/2014/main" id="{9F7AB941-9A84-416B-A04C-AC2676777DAD}"/>
              </a:ext>
            </a:extLst>
          </p:cNvPr>
          <p:cNvSpPr>
            <a:spLocks noGrp="1"/>
          </p:cNvSpPr>
          <p:nvPr/>
        </p:nvSpPr>
        <p:spPr>
          <a:xfrm>
            <a:off x="647700" y="3619500"/>
            <a:ext cx="7239000" cy="666750"/>
          </a:xfrm>
          <a:prstGeom prst="rect">
            <a:avLst/>
          </a:prstGeom>
          <a:noFill/>
          <a:ln w="0">
            <a:noFill/>
            <a:prstDash val="solid"/>
          </a:ln>
        </p:spPr>
        <p:txBody>
          <a:bodyPr wrap="square" lIns="0" tIns="0" rIns="0" bIns="0" anchor="ctr">
            <a:normAutofit/>
          </a:bodyPr>
          <a:lstStyle/>
          <a:p>
            <a:pPr algn="l">
              <a:lnSpc>
                <a:spcPct val="100000"/>
              </a:lnSpc>
              <a:buNone/>
              <a:defRPr sz="1950" b="0">
                <a:solidFill>
                  <a:srgbClr val="DDE6FF"/>
                </a:solidFill>
                <a:latin typeface="Aptos"/>
                <a:ea typeface="Aptos"/>
                <a:cs typeface="Aptos"/>
              </a:defRPr>
            </a:pPr>
            <a:r>
              <a:rPr sz="1950" b="0">
                <a:solidFill>
                  <a:srgbClr val="DDE6FF"/>
                </a:solidFill>
                <a:latin typeface="Aptos"/>
                <a:ea typeface="Aptos"/>
                <a:cs typeface="Aptos"/>
              </a:rPr>
              <a:t>A guided path from market signal to the next local decision</a:t>
            </a:r>
          </a:p>
        </p:txBody>
      </p:sp>
      <p:sp>
        <p:nvSpPr>
          <p:cNvPr id="4" name="Rectangle 3">
            <a:extLst>
              <a:ext uri="{FF2B5EF4-FFF2-40B4-BE49-F238E27FC236}">
                <a16:creationId xmlns:a16="http://schemas.microsoft.com/office/drawing/2014/main" id="{9F21ABA6-F7BC-4C3D-A666-2814363BD756}"/>
              </a:ext>
            </a:extLst>
          </p:cNvPr>
          <p:cNvSpPr>
            <a:spLocks noGrp="1"/>
          </p:cNvSpPr>
          <p:nvPr/>
        </p:nvSpPr>
        <p:spPr>
          <a:xfrm>
            <a:off x="647700" y="5829300"/>
            <a:ext cx="3048000" cy="285750"/>
          </a:xfrm>
          <a:prstGeom prst="rect">
            <a:avLst/>
          </a:prstGeom>
          <a:noFill/>
          <a:ln w="0">
            <a:noFill/>
            <a:prstDash val="solid"/>
          </a:ln>
        </p:spPr>
        <p:txBody>
          <a:bodyPr wrap="square" lIns="0" tIns="0" rIns="0" bIns="0" anchor="ctr">
            <a:normAutofit/>
          </a:bodyPr>
          <a:lstStyle/>
          <a:p>
            <a:pPr algn="l">
              <a:lnSpc>
                <a:spcPct val="100000"/>
              </a:lnSpc>
              <a:buNone/>
              <a:defRPr sz="1125" b="1">
                <a:solidFill>
                  <a:srgbClr val="BFE9D0"/>
                </a:solidFill>
                <a:latin typeface="Aptos"/>
                <a:ea typeface="Aptos"/>
                <a:cs typeface="Aptos"/>
              </a:defRPr>
            </a:pPr>
            <a:r>
              <a:rPr sz="1125" b="1">
                <a:solidFill>
                  <a:srgbClr val="BFE9D0"/>
                </a:solidFill>
                <a:latin typeface="Aptos"/>
                <a:ea typeface="Aptos"/>
                <a:cs typeface="Aptos"/>
              </a:rPr>
              <a:t>VISION + LIVE DEMO</a:t>
            </a:r>
          </a:p>
        </p:txBody>
      </p:sp>
      <p:sp>
        <p:nvSpPr>
          <p:cNvPr id="5" name="Rounded Rectangle 4">
            <a:extLst>
              <a:ext uri="{FF2B5EF4-FFF2-40B4-BE49-F238E27FC236}">
                <a16:creationId xmlns:a16="http://schemas.microsoft.com/office/drawing/2014/main" id="{D5E507C1-DAC9-4107-89C7-DF7C0A00B819}"/>
              </a:ext>
            </a:extLst>
          </p:cNvPr>
          <p:cNvSpPr>
            <a:spLocks noGrp="1"/>
          </p:cNvSpPr>
          <p:nvPr/>
        </p:nvSpPr>
        <p:spPr>
          <a:xfrm>
            <a:off x="9867900" y="0"/>
            <a:ext cx="2324100" cy="6858000"/>
          </a:xfrm>
          <a:prstGeom prst="roundRect">
            <a:avLst>
              <a:gd name="adj" fmla="val 0"/>
            </a:avLst>
          </a:prstGeom>
          <a:solidFill>
            <a:srgbClr val="2D5BFF"/>
          </a:solidFill>
          <a:ln w="0">
            <a:noFill/>
            <a:prstDash val="solid"/>
          </a:ln>
        </p:spPr>
        <p:txBody>
          <a:bodyPr lIns="0" tIns="0" rIns="0" bIns="0"/>
          <a:lstStyle/>
          <a:p>
            <a:pPr>
              <a:defRPr sz="100">
                <a:solidFill>
                  <a:srgbClr val="2D5BFF"/>
                </a:solidFill>
              </a:defRPr>
            </a:pPr>
            <a:r>
              <a:rPr sz="100">
                <a:solidFill>
                  <a:srgbClr val="2D5BFF"/>
                </a:solidFill>
              </a:rPr>
              <a:t>​</a:t>
            </a:r>
          </a:p>
        </p:txBody>
      </p:sp>
      <p:sp>
        <p:nvSpPr>
          <p:cNvPr id="6" name="Rectangle 5">
            <a:extLst>
              <a:ext uri="{FF2B5EF4-FFF2-40B4-BE49-F238E27FC236}">
                <a16:creationId xmlns:a16="http://schemas.microsoft.com/office/drawing/2014/main" id="{831B196F-D5A1-42E5-A274-4AE661DFCBD0}"/>
              </a:ext>
            </a:extLst>
          </p:cNvPr>
          <p:cNvSpPr>
            <a:spLocks noGrp="1"/>
          </p:cNvSpPr>
          <p:nvPr/>
        </p:nvSpPr>
        <p:spPr>
          <a:xfrm>
            <a:off x="9867900" y="2724150"/>
            <a:ext cx="2324100" cy="1143000"/>
          </a:xfrm>
          <a:prstGeom prst="rect">
            <a:avLst/>
          </a:prstGeom>
          <a:noFill/>
          <a:ln w="0">
            <a:noFill/>
            <a:prstDash val="solid"/>
          </a:ln>
        </p:spPr>
        <p:txBody>
          <a:bodyPr wrap="square" lIns="0" tIns="0" rIns="0" bIns="0" anchor="ctr">
            <a:normAutofit/>
          </a:bodyPr>
          <a:lstStyle/>
          <a:p>
            <a:pPr algn="ctr">
              <a:lnSpc>
                <a:spcPct val="100000"/>
              </a:lnSpc>
              <a:buNone/>
              <a:defRPr sz="3150" b="1">
                <a:solidFill>
                  <a:srgbClr val="FFFFFF"/>
                </a:solidFill>
                <a:latin typeface="Aptos"/>
                <a:ea typeface="Aptos"/>
                <a:cs typeface="Aptos"/>
              </a:defRPr>
            </a:pPr>
            <a:r>
              <a:rPr sz="3150" b="1">
                <a:solidFill>
                  <a:srgbClr val="FFFFFF"/>
                </a:solidFill>
                <a:latin typeface="Aptos"/>
                <a:ea typeface="Aptos"/>
                <a:cs typeface="Aptos"/>
              </a:rPr>
              <a:t>CVC</a:t>
            </a:r>
          </a:p>
        </p:txBody>
      </p:sp>
    </p:spTree>
    <p:extLst>
      <p:ext uri="{BB962C8B-B14F-4D97-AF65-F5344CB8AC3E}">
        <p14:creationId xmlns:p14="http://schemas.microsoft.com/office/powerpoint/2010/main" val="16852644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E2C7431-9AE7-4D75-A2AB-86C53EBEA0F3}"/>
              </a:ext>
            </a:extLst>
          </p:cNvPr>
          <p:cNvSpPr>
            <a:spLocks noGrp="1"/>
          </p:cNvSpPr>
          <p:nvPr/>
        </p:nvSpPr>
        <p:spPr>
          <a:xfrm>
            <a:off x="609600" y="323850"/>
            <a:ext cx="5334000" cy="247650"/>
          </a:xfrm>
          <a:prstGeom prst="rect">
            <a:avLst/>
          </a:prstGeom>
          <a:noFill/>
          <a:ln w="0">
            <a:noFill/>
            <a:prstDash val="solid"/>
          </a:ln>
        </p:spPr>
        <p:txBody>
          <a:bodyPr wrap="square" lIns="0" tIns="0" rIns="0" bIns="0" anchor="ctr">
            <a:normAutofit/>
          </a:bodyPr>
          <a:lstStyle/>
          <a:p>
            <a:pPr algn="l">
              <a:lnSpc>
                <a:spcPct val="100000"/>
              </a:lnSpc>
              <a:buNone/>
              <a:defRPr sz="1125" b="1">
                <a:solidFill>
                  <a:srgbClr val="2D5BFF"/>
                </a:solidFill>
                <a:latin typeface="Aptos"/>
                <a:ea typeface="Aptos"/>
                <a:cs typeface="Aptos"/>
              </a:defRPr>
            </a:pPr>
            <a:r>
              <a:rPr sz="1125" b="1">
                <a:solidFill>
                  <a:srgbClr val="2D5BFF"/>
                </a:solidFill>
                <a:latin typeface="Aptos"/>
                <a:ea typeface="Aptos"/>
                <a:cs typeface="Aptos"/>
              </a:rPr>
              <a:t>WHY THE VISION CHANGED</a:t>
            </a:r>
          </a:p>
        </p:txBody>
      </p:sp>
      <p:sp>
        <p:nvSpPr>
          <p:cNvPr id="2" name="Rectangle 1">
            <a:extLst>
              <a:ext uri="{FF2B5EF4-FFF2-40B4-BE49-F238E27FC236}">
                <a16:creationId xmlns:a16="http://schemas.microsoft.com/office/drawing/2014/main" id="{8EE88497-2EA0-4D4F-9828-68961409332A}"/>
              </a:ext>
            </a:extLst>
          </p:cNvPr>
          <p:cNvSpPr>
            <a:spLocks noGrp="1"/>
          </p:cNvSpPr>
          <p:nvPr/>
        </p:nvSpPr>
        <p:spPr>
          <a:xfrm>
            <a:off x="609600" y="723900"/>
            <a:ext cx="9429750" cy="704850"/>
          </a:xfrm>
          <a:prstGeom prst="rect">
            <a:avLst/>
          </a:prstGeom>
          <a:noFill/>
          <a:ln w="0">
            <a:noFill/>
            <a:prstDash val="solid"/>
          </a:ln>
        </p:spPr>
        <p:txBody>
          <a:bodyPr wrap="square" lIns="0" tIns="0" rIns="0" bIns="0" anchor="ctr">
            <a:normAutofit/>
          </a:bodyPr>
          <a:lstStyle/>
          <a:p>
            <a:pPr algn="l">
              <a:lnSpc>
                <a:spcPct val="100000"/>
              </a:lnSpc>
              <a:buNone/>
              <a:defRPr sz="3300" b="1">
                <a:solidFill>
                  <a:srgbClr val="13213A"/>
                </a:solidFill>
                <a:latin typeface="Aptos"/>
                <a:ea typeface="Aptos"/>
                <a:cs typeface="Aptos"/>
              </a:defRPr>
            </a:pPr>
            <a:r>
              <a:rPr sz="3300" b="1">
                <a:solidFill>
                  <a:srgbClr val="13213A"/>
                </a:solidFill>
                <a:latin typeface="Aptos"/>
                <a:ea typeface="Aptos"/>
                <a:cs typeface="Aptos"/>
              </a:rPr>
              <a:t>The gap is between the tools</a:t>
            </a:r>
          </a:p>
        </p:txBody>
      </p:sp>
      <p:sp>
        <p:nvSpPr>
          <p:cNvPr id="3" name="Rectangle 2">
            <a:extLst>
              <a:ext uri="{FF2B5EF4-FFF2-40B4-BE49-F238E27FC236}">
                <a16:creationId xmlns:a16="http://schemas.microsoft.com/office/drawing/2014/main" id="{DE35256D-9652-4060-87E3-A7E8BC2E4C85}"/>
              </a:ext>
            </a:extLst>
          </p:cNvPr>
          <p:cNvSpPr>
            <a:spLocks noGrp="1"/>
          </p:cNvSpPr>
          <p:nvPr/>
        </p:nvSpPr>
        <p:spPr>
          <a:xfrm>
            <a:off x="609600" y="6419850"/>
            <a:ext cx="10972800" cy="19050"/>
          </a:xfrm>
          <a:prstGeom prst="rect">
            <a:avLst/>
          </a:prstGeom>
          <a:solidFill>
            <a:srgbClr val="D6DCE7"/>
          </a:solidFill>
          <a:ln w="0">
            <a:noFill/>
            <a:prstDash val="solid"/>
          </a:ln>
        </p:spPr>
        <p:txBody>
          <a:bodyPr lIns="0" tIns="0" rIns="0" bIns="0"/>
          <a:lstStyle/>
          <a:p>
            <a:pPr>
              <a:defRPr sz="100">
                <a:solidFill>
                  <a:srgbClr val="D6DCE7"/>
                </a:solidFill>
              </a:defRPr>
            </a:pPr>
            <a:r>
              <a:rPr sz="100">
                <a:solidFill>
                  <a:srgbClr val="D6DCE7"/>
                </a:solidFill>
              </a:rPr>
              <a:t>​</a:t>
            </a:r>
          </a:p>
        </p:txBody>
      </p:sp>
      <p:sp>
        <p:nvSpPr>
          <p:cNvPr id="4" name="Rectangle 3">
            <a:extLst>
              <a:ext uri="{FF2B5EF4-FFF2-40B4-BE49-F238E27FC236}">
                <a16:creationId xmlns:a16="http://schemas.microsoft.com/office/drawing/2014/main" id="{50BAE681-CABB-46DA-BB82-49432F711D11}"/>
              </a:ext>
            </a:extLst>
          </p:cNvPr>
          <p:cNvSpPr>
            <a:spLocks noGrp="1"/>
          </p:cNvSpPr>
          <p:nvPr/>
        </p:nvSpPr>
        <p:spPr>
          <a:xfrm>
            <a:off x="609600" y="6515100"/>
            <a:ext cx="9334500" cy="171450"/>
          </a:xfrm>
          <a:prstGeom prst="rect">
            <a:avLst/>
          </a:prstGeom>
          <a:noFill/>
          <a:ln w="0">
            <a:noFill/>
            <a:prstDash val="solid"/>
          </a:ln>
        </p:spPr>
        <p:txBody>
          <a:bodyPr wrap="square" lIns="0" tIns="0" rIns="0" bIns="0" anchor="ctr">
            <a:normAutofit/>
          </a:bodyPr>
          <a:lstStyle/>
          <a:p>
            <a:pPr algn="l">
              <a:lnSpc>
                <a:spcPct val="100000"/>
              </a:lnSpc>
              <a:buNone/>
              <a:defRPr sz="900" b="0">
                <a:solidFill>
                  <a:srgbClr val="667085"/>
                </a:solidFill>
                <a:latin typeface="Aptos"/>
                <a:ea typeface="Aptos"/>
                <a:cs typeface="Aptos"/>
              </a:defRPr>
            </a:pPr>
            <a:r>
              <a:rPr sz="900" b="0">
                <a:solidFill>
                  <a:srgbClr val="667085"/>
                </a:solidFill>
                <a:latin typeface="Aptos"/>
                <a:ea typeface="Aptos"/>
                <a:cs typeface="Aptos"/>
              </a:rPr>
              <a:t>Maps + files + conversations need one decision trail</a:t>
            </a:r>
          </a:p>
        </p:txBody>
      </p:sp>
      <p:sp>
        <p:nvSpPr>
          <p:cNvPr id="5" name="Rectangle 4">
            <a:extLst>
              <a:ext uri="{FF2B5EF4-FFF2-40B4-BE49-F238E27FC236}">
                <a16:creationId xmlns:a16="http://schemas.microsoft.com/office/drawing/2014/main" id="{34F0A317-F7F8-41CC-8681-CB10C4C8C6D8}"/>
              </a:ext>
            </a:extLst>
          </p:cNvPr>
          <p:cNvSpPr>
            <a:spLocks noGrp="1"/>
          </p:cNvSpPr>
          <p:nvPr/>
        </p:nvSpPr>
        <p:spPr>
          <a:xfrm>
            <a:off x="10953750" y="6515100"/>
            <a:ext cx="628650" cy="171450"/>
          </a:xfrm>
          <a:prstGeom prst="rect">
            <a:avLst/>
          </a:prstGeom>
          <a:noFill/>
          <a:ln w="0">
            <a:noFill/>
            <a:prstDash val="solid"/>
          </a:ln>
        </p:spPr>
        <p:txBody>
          <a:bodyPr wrap="square" lIns="0" tIns="0" rIns="0" bIns="0" anchor="ctr">
            <a:normAutofit/>
          </a:bodyPr>
          <a:lstStyle/>
          <a:p>
            <a:pPr algn="r">
              <a:lnSpc>
                <a:spcPct val="100000"/>
              </a:lnSpc>
              <a:buNone/>
              <a:defRPr sz="900" b="1">
                <a:solidFill>
                  <a:srgbClr val="13213A"/>
                </a:solidFill>
                <a:latin typeface="Aptos"/>
                <a:ea typeface="Aptos"/>
                <a:cs typeface="Aptos"/>
              </a:defRPr>
            </a:pPr>
            <a:r>
              <a:rPr sz="900" b="1">
                <a:solidFill>
                  <a:srgbClr val="13213A"/>
                </a:solidFill>
                <a:latin typeface="Aptos"/>
                <a:ea typeface="Aptos"/>
                <a:cs typeface="Aptos"/>
              </a:rPr>
              <a:t>02</a:t>
            </a:r>
          </a:p>
        </p:txBody>
      </p:sp>
      <p:sp>
        <p:nvSpPr>
          <p:cNvPr id="6" name="Rounded Rectangle 5">
            <a:extLst>
              <a:ext uri="{FF2B5EF4-FFF2-40B4-BE49-F238E27FC236}">
                <a16:creationId xmlns:a16="http://schemas.microsoft.com/office/drawing/2014/main" id="{E225081B-98FC-4EB1-9527-C8B73DB2162F}"/>
              </a:ext>
            </a:extLst>
          </p:cNvPr>
          <p:cNvSpPr>
            <a:spLocks noGrp="1"/>
          </p:cNvSpPr>
          <p:nvPr/>
        </p:nvSpPr>
        <p:spPr>
          <a:xfrm>
            <a:off x="609600" y="2095500"/>
            <a:ext cx="2952750" cy="2667000"/>
          </a:xfrm>
          <a:prstGeom prst="roundRect">
            <a:avLst>
              <a:gd name="adj" fmla="val 9286"/>
            </a:avLst>
          </a:prstGeom>
          <a:solidFill>
            <a:srgbClr val="DDE6FF"/>
          </a:solidFill>
          <a:ln w="0">
            <a:noFill/>
            <a:prstDash val="solid"/>
          </a:ln>
        </p:spPr>
        <p:txBody>
          <a:bodyPr lIns="0" tIns="0" rIns="0" bIns="0"/>
          <a:lstStyle/>
          <a:p>
            <a:pPr>
              <a:defRPr sz="100">
                <a:solidFill>
                  <a:srgbClr val="DDE6FF"/>
                </a:solidFill>
              </a:defRPr>
            </a:pPr>
            <a:r>
              <a:rPr sz="100">
                <a:solidFill>
                  <a:srgbClr val="DDE6FF"/>
                </a:solidFill>
              </a:rPr>
              <a:t>​</a:t>
            </a:r>
          </a:p>
        </p:txBody>
      </p:sp>
      <p:sp>
        <p:nvSpPr>
          <p:cNvPr id="7" name="Rectangle 6">
            <a:extLst>
              <a:ext uri="{FF2B5EF4-FFF2-40B4-BE49-F238E27FC236}">
                <a16:creationId xmlns:a16="http://schemas.microsoft.com/office/drawing/2014/main" id="{7388BED9-52B8-42BC-9814-64A721D78F28}"/>
              </a:ext>
            </a:extLst>
          </p:cNvPr>
          <p:cNvSpPr>
            <a:spLocks noGrp="1"/>
          </p:cNvSpPr>
          <p:nvPr/>
        </p:nvSpPr>
        <p:spPr>
          <a:xfrm>
            <a:off x="876300" y="2343150"/>
            <a:ext cx="2381250" cy="285750"/>
          </a:xfrm>
          <a:prstGeom prst="rect">
            <a:avLst/>
          </a:prstGeom>
          <a:noFill/>
          <a:ln w="0">
            <a:noFill/>
            <a:prstDash val="solid"/>
          </a:ln>
        </p:spPr>
        <p:txBody>
          <a:bodyPr wrap="square" lIns="0" tIns="0" rIns="0" bIns="0" anchor="ctr">
            <a:normAutofit/>
          </a:bodyPr>
          <a:lstStyle/>
          <a:p>
            <a:pPr algn="l">
              <a:lnSpc>
                <a:spcPct val="100000"/>
              </a:lnSpc>
              <a:buNone/>
              <a:defRPr sz="1125" b="1">
                <a:solidFill>
                  <a:srgbClr val="2D5BFF"/>
                </a:solidFill>
                <a:latin typeface="Aptos"/>
                <a:ea typeface="Aptos"/>
                <a:cs typeface="Aptos"/>
              </a:defRPr>
            </a:pPr>
            <a:r>
              <a:rPr sz="1125" b="1">
                <a:solidFill>
                  <a:srgbClr val="2D5BFF"/>
                </a:solidFill>
                <a:latin typeface="Aptos"/>
                <a:ea typeface="Aptos"/>
                <a:cs typeface="Aptos"/>
              </a:rPr>
              <a:t>SEE</a:t>
            </a:r>
          </a:p>
        </p:txBody>
      </p:sp>
      <p:sp>
        <p:nvSpPr>
          <p:cNvPr id="8" name="Rectangle 7">
            <a:extLst>
              <a:ext uri="{FF2B5EF4-FFF2-40B4-BE49-F238E27FC236}">
                <a16:creationId xmlns:a16="http://schemas.microsoft.com/office/drawing/2014/main" id="{CA726E2F-6034-4134-B789-F41A40D091EF}"/>
              </a:ext>
            </a:extLst>
          </p:cNvPr>
          <p:cNvSpPr>
            <a:spLocks noGrp="1"/>
          </p:cNvSpPr>
          <p:nvPr/>
        </p:nvSpPr>
        <p:spPr>
          <a:xfrm>
            <a:off x="876300" y="2819400"/>
            <a:ext cx="2381250" cy="609600"/>
          </a:xfrm>
          <a:prstGeom prst="rect">
            <a:avLst/>
          </a:prstGeom>
          <a:noFill/>
          <a:ln w="0">
            <a:noFill/>
            <a:prstDash val="solid"/>
          </a:ln>
        </p:spPr>
        <p:txBody>
          <a:bodyPr wrap="square" lIns="0" tIns="0" rIns="0" bIns="0" anchor="ctr">
            <a:normAutofit/>
          </a:bodyPr>
          <a:lstStyle/>
          <a:p>
            <a:pPr algn="l">
              <a:lnSpc>
                <a:spcPct val="100000"/>
              </a:lnSpc>
              <a:buNone/>
              <a:defRPr sz="3300" b="1">
                <a:solidFill>
                  <a:srgbClr val="13213A"/>
                </a:solidFill>
                <a:latin typeface="Aptos"/>
                <a:ea typeface="Aptos"/>
                <a:cs typeface="Aptos"/>
              </a:defRPr>
            </a:pPr>
            <a:r>
              <a:rPr sz="3300" b="1">
                <a:solidFill>
                  <a:srgbClr val="13213A"/>
                </a:solidFill>
                <a:latin typeface="Aptos"/>
                <a:ea typeface="Aptos"/>
                <a:cs typeface="Aptos"/>
              </a:rPr>
              <a:t>Maps</a:t>
            </a:r>
          </a:p>
        </p:txBody>
      </p:sp>
      <p:sp>
        <p:nvSpPr>
          <p:cNvPr id="9" name="Rectangle 8">
            <a:extLst>
              <a:ext uri="{FF2B5EF4-FFF2-40B4-BE49-F238E27FC236}">
                <a16:creationId xmlns:a16="http://schemas.microsoft.com/office/drawing/2014/main" id="{2EEA48DF-F467-4638-9D70-27F4D2016B68}"/>
              </a:ext>
            </a:extLst>
          </p:cNvPr>
          <p:cNvSpPr>
            <a:spLocks noGrp="1"/>
          </p:cNvSpPr>
          <p:nvPr/>
        </p:nvSpPr>
        <p:spPr>
          <a:xfrm>
            <a:off x="876300" y="3695700"/>
            <a:ext cx="2381250" cy="419100"/>
          </a:xfrm>
          <a:prstGeom prst="rect">
            <a:avLst/>
          </a:prstGeom>
          <a:noFill/>
          <a:ln w="0">
            <a:noFill/>
            <a:prstDash val="solid"/>
          </a:ln>
        </p:spPr>
        <p:txBody>
          <a:bodyPr wrap="square" lIns="0" tIns="0" rIns="0" bIns="0" anchor="ctr">
            <a:normAutofit/>
          </a:bodyPr>
          <a:lstStyle/>
          <a:p>
            <a:pPr algn="l">
              <a:lnSpc>
                <a:spcPct val="100000"/>
              </a:lnSpc>
              <a:buNone/>
              <a:defRPr sz="1575" b="0">
                <a:solidFill>
                  <a:srgbClr val="667085"/>
                </a:solidFill>
                <a:latin typeface="Aptos"/>
                <a:ea typeface="Aptos"/>
                <a:cs typeface="Aptos"/>
              </a:defRPr>
            </a:pPr>
            <a:r>
              <a:rPr sz="1575" b="0">
                <a:solidFill>
                  <a:srgbClr val="667085"/>
                </a:solidFill>
                <a:latin typeface="Aptos"/>
                <a:ea typeface="Aptos"/>
                <a:cs typeface="Aptos"/>
              </a:rPr>
              <a:t>Market context</a:t>
            </a:r>
          </a:p>
        </p:txBody>
      </p:sp>
      <p:sp>
        <p:nvSpPr>
          <p:cNvPr id="10" name="Rounded Rectangle 9">
            <a:extLst>
              <a:ext uri="{FF2B5EF4-FFF2-40B4-BE49-F238E27FC236}">
                <a16:creationId xmlns:a16="http://schemas.microsoft.com/office/drawing/2014/main" id="{70DA8DC6-1404-43F1-BC68-0739C01277AE}"/>
              </a:ext>
            </a:extLst>
          </p:cNvPr>
          <p:cNvSpPr>
            <a:spLocks noGrp="1"/>
          </p:cNvSpPr>
          <p:nvPr/>
        </p:nvSpPr>
        <p:spPr>
          <a:xfrm>
            <a:off x="4019550" y="2095500"/>
            <a:ext cx="2952750" cy="2667000"/>
          </a:xfrm>
          <a:prstGeom prst="roundRect">
            <a:avLst>
              <a:gd name="adj" fmla="val 9286"/>
            </a:avLst>
          </a:prstGeom>
          <a:solidFill>
            <a:srgbClr val="F3C96B"/>
          </a:solidFill>
          <a:ln w="0">
            <a:noFill/>
            <a:prstDash val="solid"/>
          </a:ln>
        </p:spPr>
        <p:txBody>
          <a:bodyPr lIns="0" tIns="0" rIns="0" bIns="0"/>
          <a:lstStyle/>
          <a:p>
            <a:pPr>
              <a:defRPr sz="100">
                <a:solidFill>
                  <a:srgbClr val="F3C96B"/>
                </a:solidFill>
              </a:defRPr>
            </a:pPr>
            <a:r>
              <a:rPr sz="100">
                <a:solidFill>
                  <a:srgbClr val="F3C96B"/>
                </a:solidFill>
              </a:rPr>
              <a:t>​</a:t>
            </a:r>
          </a:p>
        </p:txBody>
      </p:sp>
      <p:sp>
        <p:nvSpPr>
          <p:cNvPr id="11" name="Rectangle 10">
            <a:extLst>
              <a:ext uri="{FF2B5EF4-FFF2-40B4-BE49-F238E27FC236}">
                <a16:creationId xmlns:a16="http://schemas.microsoft.com/office/drawing/2014/main" id="{8143D723-FE65-4C54-9C4C-2D6CBA2FE4EA}"/>
              </a:ext>
            </a:extLst>
          </p:cNvPr>
          <p:cNvSpPr>
            <a:spLocks noGrp="1"/>
          </p:cNvSpPr>
          <p:nvPr/>
        </p:nvSpPr>
        <p:spPr>
          <a:xfrm>
            <a:off x="4286250" y="2343150"/>
            <a:ext cx="2381250" cy="285750"/>
          </a:xfrm>
          <a:prstGeom prst="rect">
            <a:avLst/>
          </a:prstGeom>
          <a:noFill/>
          <a:ln w="0">
            <a:noFill/>
            <a:prstDash val="solid"/>
          </a:ln>
        </p:spPr>
        <p:txBody>
          <a:bodyPr wrap="square" lIns="0" tIns="0" rIns="0" bIns="0" anchor="ctr">
            <a:normAutofit/>
          </a:bodyPr>
          <a:lstStyle/>
          <a:p>
            <a:pPr algn="l">
              <a:lnSpc>
                <a:spcPct val="100000"/>
              </a:lnSpc>
              <a:buNone/>
              <a:defRPr sz="1125" b="1">
                <a:solidFill>
                  <a:srgbClr val="13213A"/>
                </a:solidFill>
                <a:latin typeface="Aptos"/>
                <a:ea typeface="Aptos"/>
                <a:cs typeface="Aptos"/>
              </a:defRPr>
            </a:pPr>
            <a:r>
              <a:rPr sz="1125" b="1">
                <a:solidFill>
                  <a:srgbClr val="13213A"/>
                </a:solidFill>
                <a:latin typeface="Aptos"/>
                <a:ea typeface="Aptos"/>
                <a:cs typeface="Aptos"/>
              </a:rPr>
              <a:t>CALCULATE</a:t>
            </a:r>
          </a:p>
        </p:txBody>
      </p:sp>
      <p:sp>
        <p:nvSpPr>
          <p:cNvPr id="12" name="Rectangle 11">
            <a:extLst>
              <a:ext uri="{FF2B5EF4-FFF2-40B4-BE49-F238E27FC236}">
                <a16:creationId xmlns:a16="http://schemas.microsoft.com/office/drawing/2014/main" id="{3545A279-B429-4964-8553-7F4CED6B523A}"/>
              </a:ext>
            </a:extLst>
          </p:cNvPr>
          <p:cNvSpPr>
            <a:spLocks noGrp="1"/>
          </p:cNvSpPr>
          <p:nvPr/>
        </p:nvSpPr>
        <p:spPr>
          <a:xfrm>
            <a:off x="4286250" y="2819400"/>
            <a:ext cx="2381250" cy="609600"/>
          </a:xfrm>
          <a:prstGeom prst="rect">
            <a:avLst/>
          </a:prstGeom>
          <a:noFill/>
          <a:ln w="0">
            <a:noFill/>
            <a:prstDash val="solid"/>
          </a:ln>
        </p:spPr>
        <p:txBody>
          <a:bodyPr wrap="square" lIns="0" tIns="0" rIns="0" bIns="0" anchor="ctr">
            <a:normAutofit/>
          </a:bodyPr>
          <a:lstStyle/>
          <a:p>
            <a:pPr algn="l">
              <a:lnSpc>
                <a:spcPct val="100000"/>
              </a:lnSpc>
              <a:buNone/>
              <a:defRPr sz="3300" b="1">
                <a:solidFill>
                  <a:srgbClr val="13213A"/>
                </a:solidFill>
                <a:latin typeface="Aptos"/>
                <a:ea typeface="Aptos"/>
                <a:cs typeface="Aptos"/>
              </a:defRPr>
            </a:pPr>
            <a:r>
              <a:rPr sz="3300" b="1">
                <a:solidFill>
                  <a:srgbClr val="13213A"/>
                </a:solidFill>
                <a:latin typeface="Aptos"/>
                <a:ea typeface="Aptos"/>
                <a:cs typeface="Aptos"/>
              </a:rPr>
              <a:t>Files</a:t>
            </a:r>
          </a:p>
        </p:txBody>
      </p:sp>
      <p:sp>
        <p:nvSpPr>
          <p:cNvPr id="13" name="Rectangle 12">
            <a:extLst>
              <a:ext uri="{FF2B5EF4-FFF2-40B4-BE49-F238E27FC236}">
                <a16:creationId xmlns:a16="http://schemas.microsoft.com/office/drawing/2014/main" id="{1220633C-70F2-4518-8B46-39F9C9D98803}"/>
              </a:ext>
            </a:extLst>
          </p:cNvPr>
          <p:cNvSpPr>
            <a:spLocks noGrp="1"/>
          </p:cNvSpPr>
          <p:nvPr/>
        </p:nvSpPr>
        <p:spPr>
          <a:xfrm>
            <a:off x="4286250" y="3695700"/>
            <a:ext cx="2381250" cy="419100"/>
          </a:xfrm>
          <a:prstGeom prst="rect">
            <a:avLst/>
          </a:prstGeom>
          <a:noFill/>
          <a:ln w="0">
            <a:noFill/>
            <a:prstDash val="solid"/>
          </a:ln>
        </p:spPr>
        <p:txBody>
          <a:bodyPr wrap="square" lIns="0" tIns="0" rIns="0" bIns="0" anchor="ctr">
            <a:normAutofit/>
          </a:bodyPr>
          <a:lstStyle/>
          <a:p>
            <a:pPr algn="l">
              <a:lnSpc>
                <a:spcPct val="100000"/>
              </a:lnSpc>
              <a:buNone/>
              <a:defRPr sz="1575" b="0">
                <a:solidFill>
                  <a:srgbClr val="13213A"/>
                </a:solidFill>
                <a:latin typeface="Aptos"/>
                <a:ea typeface="Aptos"/>
                <a:cs typeface="Aptos"/>
              </a:defRPr>
            </a:pPr>
            <a:r>
              <a:rPr sz="1575" b="0">
                <a:solidFill>
                  <a:srgbClr val="13213A"/>
                </a:solidFill>
                <a:latin typeface="Aptos"/>
                <a:ea typeface="Aptos"/>
                <a:cs typeface="Aptos"/>
              </a:rPr>
              <a:t>Scores + facts</a:t>
            </a:r>
          </a:p>
        </p:txBody>
      </p:sp>
      <p:sp>
        <p:nvSpPr>
          <p:cNvPr id="14" name="Rounded Rectangle 13">
            <a:extLst>
              <a:ext uri="{FF2B5EF4-FFF2-40B4-BE49-F238E27FC236}">
                <a16:creationId xmlns:a16="http://schemas.microsoft.com/office/drawing/2014/main" id="{38DC3DD6-1547-4A74-9E64-2A142B86EE9C}"/>
              </a:ext>
            </a:extLst>
          </p:cNvPr>
          <p:cNvSpPr>
            <a:spLocks noGrp="1"/>
          </p:cNvSpPr>
          <p:nvPr/>
        </p:nvSpPr>
        <p:spPr>
          <a:xfrm>
            <a:off x="7429500" y="1809750"/>
            <a:ext cx="4152900" cy="3238500"/>
          </a:xfrm>
          <a:prstGeom prst="roundRect">
            <a:avLst>
              <a:gd name="adj" fmla="val 7647"/>
            </a:avLst>
          </a:prstGeom>
          <a:solidFill>
            <a:srgbClr val="2D5BFF"/>
          </a:solidFill>
          <a:ln w="0">
            <a:noFill/>
            <a:prstDash val="solid"/>
          </a:ln>
        </p:spPr>
        <p:txBody>
          <a:bodyPr lIns="0" tIns="0" rIns="0" bIns="0"/>
          <a:lstStyle/>
          <a:p>
            <a:pPr>
              <a:defRPr sz="100">
                <a:solidFill>
                  <a:srgbClr val="2D5BFF"/>
                </a:solidFill>
              </a:defRPr>
            </a:pPr>
            <a:r>
              <a:rPr sz="100">
                <a:solidFill>
                  <a:srgbClr val="2D5BFF"/>
                </a:solidFill>
              </a:rPr>
              <a:t>​</a:t>
            </a:r>
          </a:p>
        </p:txBody>
      </p:sp>
      <p:sp>
        <p:nvSpPr>
          <p:cNvPr id="15" name="Rectangle 14">
            <a:extLst>
              <a:ext uri="{FF2B5EF4-FFF2-40B4-BE49-F238E27FC236}">
                <a16:creationId xmlns:a16="http://schemas.microsoft.com/office/drawing/2014/main" id="{7A0B7562-8D16-4A06-AE96-B6227B9DCA58}"/>
              </a:ext>
            </a:extLst>
          </p:cNvPr>
          <p:cNvSpPr>
            <a:spLocks noGrp="1"/>
          </p:cNvSpPr>
          <p:nvPr/>
        </p:nvSpPr>
        <p:spPr>
          <a:xfrm>
            <a:off x="7772400" y="2152650"/>
            <a:ext cx="3238500" cy="285750"/>
          </a:xfrm>
          <a:prstGeom prst="rect">
            <a:avLst/>
          </a:prstGeom>
          <a:noFill/>
          <a:ln w="0">
            <a:noFill/>
            <a:prstDash val="solid"/>
          </a:ln>
        </p:spPr>
        <p:txBody>
          <a:bodyPr wrap="square" lIns="0" tIns="0" rIns="0" bIns="0" anchor="ctr">
            <a:normAutofit/>
          </a:bodyPr>
          <a:lstStyle/>
          <a:p>
            <a:pPr algn="l">
              <a:lnSpc>
                <a:spcPct val="100000"/>
              </a:lnSpc>
              <a:buNone/>
              <a:defRPr sz="1125" b="1">
                <a:solidFill>
                  <a:srgbClr val="DDE6FF"/>
                </a:solidFill>
                <a:latin typeface="Aptos"/>
                <a:ea typeface="Aptos"/>
                <a:cs typeface="Aptos"/>
              </a:defRPr>
            </a:pPr>
            <a:r>
              <a:rPr sz="1125" b="1">
                <a:solidFill>
                  <a:srgbClr val="DDE6FF"/>
                </a:solidFill>
                <a:latin typeface="Aptos"/>
                <a:ea typeface="Aptos"/>
                <a:cs typeface="Aptos"/>
              </a:rPr>
              <a:t>DECIDE</a:t>
            </a:r>
          </a:p>
        </p:txBody>
      </p:sp>
      <p:sp>
        <p:nvSpPr>
          <p:cNvPr id="16" name="Rectangle 15">
            <a:extLst>
              <a:ext uri="{FF2B5EF4-FFF2-40B4-BE49-F238E27FC236}">
                <a16:creationId xmlns:a16="http://schemas.microsoft.com/office/drawing/2014/main" id="{60168C7E-B461-4896-B1A7-58817412C3D1}"/>
              </a:ext>
            </a:extLst>
          </p:cNvPr>
          <p:cNvSpPr>
            <a:spLocks noGrp="1"/>
          </p:cNvSpPr>
          <p:nvPr/>
        </p:nvSpPr>
        <p:spPr>
          <a:xfrm>
            <a:off x="7772400" y="2667000"/>
            <a:ext cx="3238500" cy="1047750"/>
          </a:xfrm>
          <a:prstGeom prst="rect">
            <a:avLst/>
          </a:prstGeom>
          <a:noFill/>
          <a:ln w="0">
            <a:noFill/>
            <a:prstDash val="solid"/>
          </a:ln>
        </p:spPr>
        <p:txBody>
          <a:bodyPr wrap="square" lIns="0" tIns="0" rIns="0" bIns="0" anchor="ctr">
            <a:normAutofit/>
          </a:bodyPr>
          <a:lstStyle/>
          <a:p>
            <a:pPr algn="l">
              <a:lnSpc>
                <a:spcPct val="90000"/>
              </a:lnSpc>
              <a:buNone/>
              <a:defRPr sz="3450" b="1">
                <a:solidFill>
                  <a:srgbClr val="FFFFFF"/>
                </a:solidFill>
                <a:latin typeface="Aptos"/>
                <a:ea typeface="Aptos"/>
                <a:cs typeface="Aptos"/>
              </a:defRPr>
            </a:pPr>
            <a:r>
              <a:rPr sz="3450" b="1">
                <a:solidFill>
                  <a:srgbClr val="FFFFFF"/>
                </a:solidFill>
                <a:latin typeface="Aptos"/>
                <a:ea typeface="Aptos"/>
                <a:cs typeface="Aptos"/>
              </a:rPr>
              <a:t>One guided</a:t>
            </a:r>
          </a:p>
          <a:p>
            <a:pPr algn="l">
              <a:lnSpc>
                <a:spcPct val="90000"/>
              </a:lnSpc>
              <a:buNone/>
              <a:defRPr sz="3450" b="1">
                <a:solidFill>
                  <a:srgbClr val="FFFFFF"/>
                </a:solidFill>
                <a:latin typeface="Aptos"/>
                <a:ea typeface="Aptos"/>
                <a:cs typeface="Aptos"/>
              </a:defRPr>
            </a:pPr>
            <a:r>
              <a:rPr sz="3450" b="1">
                <a:solidFill>
                  <a:srgbClr val="FFFFFF"/>
                </a:solidFill>
                <a:latin typeface="Aptos"/>
                <a:ea typeface="Aptos"/>
                <a:cs typeface="Aptos"/>
              </a:rPr>
              <a:t>path</a:t>
            </a:r>
          </a:p>
        </p:txBody>
      </p:sp>
      <p:sp>
        <p:nvSpPr>
          <p:cNvPr id="17" name="Rectangle 16">
            <a:extLst>
              <a:ext uri="{FF2B5EF4-FFF2-40B4-BE49-F238E27FC236}">
                <a16:creationId xmlns:a16="http://schemas.microsoft.com/office/drawing/2014/main" id="{E3DB3EEE-736A-4AD4-A77D-9C34AEA958B2}"/>
              </a:ext>
            </a:extLst>
          </p:cNvPr>
          <p:cNvSpPr>
            <a:spLocks noGrp="1"/>
          </p:cNvSpPr>
          <p:nvPr/>
        </p:nvSpPr>
        <p:spPr>
          <a:xfrm>
            <a:off x="7772400" y="4095750"/>
            <a:ext cx="3238500" cy="419100"/>
          </a:xfrm>
          <a:prstGeom prst="rect">
            <a:avLst/>
          </a:prstGeom>
          <a:noFill/>
          <a:ln w="0">
            <a:noFill/>
            <a:prstDash val="solid"/>
          </a:ln>
        </p:spPr>
        <p:txBody>
          <a:bodyPr wrap="square" lIns="0" tIns="0" rIns="0" bIns="0" anchor="ctr">
            <a:normAutofit/>
          </a:bodyPr>
          <a:lstStyle/>
          <a:p>
            <a:pPr algn="l">
              <a:lnSpc>
                <a:spcPct val="100000"/>
              </a:lnSpc>
              <a:buNone/>
              <a:defRPr sz="1500" b="0">
                <a:solidFill>
                  <a:srgbClr val="DDE6FF"/>
                </a:solidFill>
                <a:latin typeface="Aptos"/>
                <a:ea typeface="Aptos"/>
                <a:cs typeface="Aptos"/>
              </a:defRPr>
            </a:pPr>
            <a:r>
              <a:rPr sz="1500" b="0">
                <a:solidFill>
                  <a:srgbClr val="DDE6FF"/>
                </a:solidFill>
                <a:latin typeface="Aptos"/>
                <a:ea typeface="Aptos"/>
                <a:cs typeface="Aptos"/>
              </a:rPr>
              <a:t>Evidence → tradeoffs → next action</a:t>
            </a:r>
          </a:p>
        </p:txBody>
      </p:sp>
      <p:sp>
        <p:nvSpPr>
          <p:cNvPr id="18" name="Rectangle 17">
            <a:extLst>
              <a:ext uri="{FF2B5EF4-FFF2-40B4-BE49-F238E27FC236}">
                <a16:creationId xmlns:a16="http://schemas.microsoft.com/office/drawing/2014/main" id="{B892211A-2941-4F0C-95D3-45B88841352C}"/>
              </a:ext>
            </a:extLst>
          </p:cNvPr>
          <p:cNvSpPr>
            <a:spLocks noGrp="1"/>
          </p:cNvSpPr>
          <p:nvPr/>
        </p:nvSpPr>
        <p:spPr>
          <a:xfrm>
            <a:off x="609600" y="5391150"/>
            <a:ext cx="8858250" cy="457200"/>
          </a:xfrm>
          <a:prstGeom prst="rect">
            <a:avLst/>
          </a:prstGeom>
          <a:noFill/>
          <a:ln w="0">
            <a:noFill/>
            <a:prstDash val="solid"/>
          </a:ln>
        </p:spPr>
        <p:txBody>
          <a:bodyPr wrap="square" lIns="0" tIns="0" rIns="0" bIns="0" anchor="ctr">
            <a:normAutofit/>
          </a:bodyPr>
          <a:lstStyle/>
          <a:p>
            <a:pPr algn="l">
              <a:lnSpc>
                <a:spcPct val="100000"/>
              </a:lnSpc>
              <a:buNone/>
              <a:defRPr sz="2100" b="1">
                <a:solidFill>
                  <a:srgbClr val="2D5BFF"/>
                </a:solidFill>
                <a:latin typeface="Aptos"/>
                <a:ea typeface="Aptos"/>
                <a:cs typeface="Aptos"/>
              </a:defRPr>
            </a:pPr>
            <a:r>
              <a:rPr sz="2100" b="1">
                <a:solidFill>
                  <a:srgbClr val="2D5BFF"/>
                </a:solidFill>
                <a:latin typeface="Aptos"/>
                <a:ea typeface="Aptos"/>
                <a:cs typeface="Aptos"/>
              </a:rPr>
              <a:t>Connect the work. Preserve the why.</a:t>
            </a:r>
          </a:p>
        </p:txBody>
      </p:sp>
    </p:spTree>
    <p:extLst>
      <p:ext uri="{BB962C8B-B14F-4D97-AF65-F5344CB8AC3E}">
        <p14:creationId xmlns:p14="http://schemas.microsoft.com/office/powerpoint/2010/main" val="1510707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081473F-28FD-4EDF-BBB7-F4094496879C}"/>
              </a:ext>
            </a:extLst>
          </p:cNvPr>
          <p:cNvSpPr>
            <a:spLocks noGrp="1"/>
          </p:cNvSpPr>
          <p:nvPr/>
        </p:nvSpPr>
        <p:spPr>
          <a:xfrm>
            <a:off x="609600" y="323850"/>
            <a:ext cx="5334000" cy="247650"/>
          </a:xfrm>
          <a:prstGeom prst="rect">
            <a:avLst/>
          </a:prstGeom>
          <a:noFill/>
          <a:ln w="0">
            <a:noFill/>
            <a:prstDash val="solid"/>
          </a:ln>
        </p:spPr>
        <p:txBody>
          <a:bodyPr wrap="square" lIns="0" tIns="0" rIns="0" bIns="0" anchor="ctr">
            <a:normAutofit/>
          </a:bodyPr>
          <a:lstStyle/>
          <a:p>
            <a:pPr algn="l">
              <a:lnSpc>
                <a:spcPct val="100000"/>
              </a:lnSpc>
              <a:buNone/>
              <a:defRPr sz="1125" b="1">
                <a:solidFill>
                  <a:srgbClr val="2D5BFF"/>
                </a:solidFill>
                <a:latin typeface="Aptos"/>
                <a:ea typeface="Aptos"/>
                <a:cs typeface="Aptos"/>
              </a:defRPr>
            </a:pPr>
            <a:r>
              <a:rPr sz="1125" b="1">
                <a:solidFill>
                  <a:srgbClr val="2D5BFF"/>
                </a:solidFill>
                <a:latin typeface="Aptos"/>
                <a:ea typeface="Aptos"/>
                <a:cs typeface="Aptos"/>
              </a:rPr>
              <a:t>PRODUCT STATEMENT</a:t>
            </a:r>
          </a:p>
        </p:txBody>
      </p:sp>
      <p:sp>
        <p:nvSpPr>
          <p:cNvPr id="2" name="Rectangle 1">
            <a:extLst>
              <a:ext uri="{FF2B5EF4-FFF2-40B4-BE49-F238E27FC236}">
                <a16:creationId xmlns:a16="http://schemas.microsoft.com/office/drawing/2014/main" id="{04FBAC3C-B014-44EA-8759-1B53733E6D42}"/>
              </a:ext>
            </a:extLst>
          </p:cNvPr>
          <p:cNvSpPr>
            <a:spLocks noGrp="1"/>
          </p:cNvSpPr>
          <p:nvPr/>
        </p:nvSpPr>
        <p:spPr>
          <a:xfrm>
            <a:off x="609600" y="723900"/>
            <a:ext cx="10572750" cy="685800"/>
          </a:xfrm>
          <a:prstGeom prst="rect">
            <a:avLst/>
          </a:prstGeom>
          <a:noFill/>
          <a:ln w="0">
            <a:noFill/>
            <a:prstDash val="solid"/>
          </a:ln>
        </p:spPr>
        <p:txBody>
          <a:bodyPr wrap="square" lIns="0" tIns="0" rIns="0" bIns="0" anchor="ctr">
            <a:normAutofit/>
          </a:bodyPr>
          <a:lstStyle/>
          <a:p>
            <a:pPr algn="l">
              <a:lnSpc>
                <a:spcPct val="100000"/>
              </a:lnSpc>
              <a:buNone/>
              <a:defRPr sz="3300" b="1">
                <a:solidFill>
                  <a:srgbClr val="13213A"/>
                </a:solidFill>
                <a:latin typeface="Aptos"/>
                <a:ea typeface="Aptos"/>
                <a:cs typeface="Aptos"/>
              </a:defRPr>
            </a:pPr>
            <a:r>
              <a:rPr sz="3300" b="1">
                <a:solidFill>
                  <a:srgbClr val="13213A"/>
                </a:solidFill>
                <a:latin typeface="Aptos"/>
                <a:ea typeface="Aptos"/>
                <a:cs typeface="Aptos"/>
              </a:rPr>
              <a:t>A guided investigation, not another score</a:t>
            </a:r>
          </a:p>
        </p:txBody>
      </p:sp>
      <p:sp>
        <p:nvSpPr>
          <p:cNvPr id="3" name="Rectangle 2">
            <a:extLst>
              <a:ext uri="{FF2B5EF4-FFF2-40B4-BE49-F238E27FC236}">
                <a16:creationId xmlns:a16="http://schemas.microsoft.com/office/drawing/2014/main" id="{3772D625-0E87-42AD-A135-74F48924A46A}"/>
              </a:ext>
            </a:extLst>
          </p:cNvPr>
          <p:cNvSpPr>
            <a:spLocks noGrp="1"/>
          </p:cNvSpPr>
          <p:nvPr/>
        </p:nvSpPr>
        <p:spPr>
          <a:xfrm>
            <a:off x="609600" y="6419850"/>
            <a:ext cx="10972800" cy="19050"/>
          </a:xfrm>
          <a:prstGeom prst="rect">
            <a:avLst/>
          </a:prstGeom>
          <a:solidFill>
            <a:srgbClr val="D6DCE7"/>
          </a:solidFill>
          <a:ln w="0">
            <a:noFill/>
            <a:prstDash val="solid"/>
          </a:ln>
        </p:spPr>
        <p:txBody>
          <a:bodyPr lIns="0" tIns="0" rIns="0" bIns="0"/>
          <a:lstStyle/>
          <a:p>
            <a:pPr>
              <a:defRPr sz="100">
                <a:solidFill>
                  <a:srgbClr val="D6DCE7"/>
                </a:solidFill>
              </a:defRPr>
            </a:pPr>
            <a:r>
              <a:rPr sz="100">
                <a:solidFill>
                  <a:srgbClr val="D6DCE7"/>
                </a:solidFill>
              </a:rPr>
              <a:t>​</a:t>
            </a:r>
          </a:p>
        </p:txBody>
      </p:sp>
      <p:sp>
        <p:nvSpPr>
          <p:cNvPr id="4" name="Rectangle 3">
            <a:extLst>
              <a:ext uri="{FF2B5EF4-FFF2-40B4-BE49-F238E27FC236}">
                <a16:creationId xmlns:a16="http://schemas.microsoft.com/office/drawing/2014/main" id="{3C5EB327-9774-4920-85C3-DB49205E4B8F}"/>
              </a:ext>
            </a:extLst>
          </p:cNvPr>
          <p:cNvSpPr>
            <a:spLocks noGrp="1"/>
          </p:cNvSpPr>
          <p:nvPr/>
        </p:nvSpPr>
        <p:spPr>
          <a:xfrm>
            <a:off x="609600" y="6515100"/>
            <a:ext cx="9334500" cy="171450"/>
          </a:xfrm>
          <a:prstGeom prst="rect">
            <a:avLst/>
          </a:prstGeom>
          <a:noFill/>
          <a:ln w="0">
            <a:noFill/>
            <a:prstDash val="solid"/>
          </a:ln>
        </p:spPr>
        <p:txBody>
          <a:bodyPr wrap="square" lIns="0" tIns="0" rIns="0" bIns="0" anchor="ctr">
            <a:normAutofit/>
          </a:bodyPr>
          <a:lstStyle/>
          <a:p>
            <a:pPr algn="l">
              <a:lnSpc>
                <a:spcPct val="100000"/>
              </a:lnSpc>
              <a:buNone/>
              <a:defRPr sz="900" b="0">
                <a:solidFill>
                  <a:srgbClr val="667085"/>
                </a:solidFill>
                <a:latin typeface="Aptos"/>
                <a:ea typeface="Aptos"/>
                <a:cs typeface="Aptos"/>
              </a:defRPr>
            </a:pPr>
            <a:r>
              <a:rPr sz="900" b="0">
                <a:solidFill>
                  <a:srgbClr val="667085"/>
                </a:solidFill>
                <a:latin typeface="Aptos"/>
                <a:ea typeface="Aptos"/>
                <a:cs typeface="Aptos"/>
              </a:rPr>
              <a:t>Evidence-backed workflow | Human-reviewed decisions</a:t>
            </a:r>
          </a:p>
        </p:txBody>
      </p:sp>
      <p:sp>
        <p:nvSpPr>
          <p:cNvPr id="5" name="Rectangle 4">
            <a:extLst>
              <a:ext uri="{FF2B5EF4-FFF2-40B4-BE49-F238E27FC236}">
                <a16:creationId xmlns:a16="http://schemas.microsoft.com/office/drawing/2014/main" id="{8C024F67-35E1-41A1-82BF-27E15EF15331}"/>
              </a:ext>
            </a:extLst>
          </p:cNvPr>
          <p:cNvSpPr>
            <a:spLocks noGrp="1"/>
          </p:cNvSpPr>
          <p:nvPr/>
        </p:nvSpPr>
        <p:spPr>
          <a:xfrm>
            <a:off x="10953750" y="6515100"/>
            <a:ext cx="628650" cy="171450"/>
          </a:xfrm>
          <a:prstGeom prst="rect">
            <a:avLst/>
          </a:prstGeom>
          <a:noFill/>
          <a:ln w="0">
            <a:noFill/>
            <a:prstDash val="solid"/>
          </a:ln>
        </p:spPr>
        <p:txBody>
          <a:bodyPr wrap="square" lIns="0" tIns="0" rIns="0" bIns="0" anchor="ctr">
            <a:normAutofit/>
          </a:bodyPr>
          <a:lstStyle/>
          <a:p>
            <a:pPr algn="r">
              <a:lnSpc>
                <a:spcPct val="100000"/>
              </a:lnSpc>
              <a:buNone/>
              <a:defRPr sz="900" b="1">
                <a:solidFill>
                  <a:srgbClr val="13213A"/>
                </a:solidFill>
                <a:latin typeface="Aptos"/>
                <a:ea typeface="Aptos"/>
                <a:cs typeface="Aptos"/>
              </a:defRPr>
            </a:pPr>
            <a:r>
              <a:rPr sz="900" b="1">
                <a:solidFill>
                  <a:srgbClr val="13213A"/>
                </a:solidFill>
                <a:latin typeface="Aptos"/>
                <a:ea typeface="Aptos"/>
                <a:cs typeface="Aptos"/>
              </a:rPr>
              <a:t>03</a:t>
            </a:r>
          </a:p>
        </p:txBody>
      </p:sp>
      <p:sp>
        <p:nvSpPr>
          <p:cNvPr id="6" name="Rectangle 5">
            <a:extLst>
              <a:ext uri="{FF2B5EF4-FFF2-40B4-BE49-F238E27FC236}">
                <a16:creationId xmlns:a16="http://schemas.microsoft.com/office/drawing/2014/main" id="{4D765BED-EA33-40D9-9D46-7202819594B3}"/>
              </a:ext>
            </a:extLst>
          </p:cNvPr>
          <p:cNvSpPr>
            <a:spLocks noGrp="1"/>
          </p:cNvSpPr>
          <p:nvPr/>
        </p:nvSpPr>
        <p:spPr>
          <a:xfrm>
            <a:off x="685800" y="2095500"/>
            <a:ext cx="2857500" cy="476250"/>
          </a:xfrm>
          <a:prstGeom prst="rect">
            <a:avLst/>
          </a:prstGeom>
          <a:noFill/>
          <a:ln w="0">
            <a:noFill/>
            <a:prstDash val="solid"/>
          </a:ln>
        </p:spPr>
        <p:txBody>
          <a:bodyPr wrap="square" lIns="0" tIns="0" rIns="0" bIns="0" anchor="ctr">
            <a:normAutofit/>
          </a:bodyPr>
          <a:lstStyle/>
          <a:p>
            <a:pPr algn="l">
              <a:lnSpc>
                <a:spcPct val="100000"/>
              </a:lnSpc>
              <a:buNone/>
              <a:defRPr sz="1350" b="1">
                <a:solidFill>
                  <a:srgbClr val="2D5BFF"/>
                </a:solidFill>
                <a:latin typeface="Aptos"/>
                <a:ea typeface="Aptos"/>
                <a:cs typeface="Aptos"/>
              </a:defRPr>
            </a:pPr>
            <a:r>
              <a:rPr sz="1350" b="1">
                <a:solidFill>
                  <a:srgbClr val="2D5BFF"/>
                </a:solidFill>
                <a:latin typeface="Aptos"/>
                <a:ea typeface="Aptos"/>
                <a:cs typeface="Aptos"/>
              </a:rPr>
              <a:t>DISCOVER</a:t>
            </a:r>
          </a:p>
        </p:txBody>
      </p:sp>
      <p:sp>
        <p:nvSpPr>
          <p:cNvPr id="7" name="Rectangle 6">
            <a:extLst>
              <a:ext uri="{FF2B5EF4-FFF2-40B4-BE49-F238E27FC236}">
                <a16:creationId xmlns:a16="http://schemas.microsoft.com/office/drawing/2014/main" id="{04B121C2-CDD5-43F8-BB39-5ABF8A4AF73B}"/>
              </a:ext>
            </a:extLst>
          </p:cNvPr>
          <p:cNvSpPr>
            <a:spLocks noGrp="1"/>
          </p:cNvSpPr>
          <p:nvPr/>
        </p:nvSpPr>
        <p:spPr>
          <a:xfrm>
            <a:off x="685800" y="2628900"/>
            <a:ext cx="2857500" cy="666750"/>
          </a:xfrm>
          <a:prstGeom prst="rect">
            <a:avLst/>
          </a:prstGeom>
          <a:noFill/>
          <a:ln w="0">
            <a:noFill/>
            <a:prstDash val="solid"/>
          </a:ln>
        </p:spPr>
        <p:txBody>
          <a:bodyPr wrap="square" lIns="0" tIns="0" rIns="0" bIns="0" anchor="ctr">
            <a:normAutofit/>
          </a:bodyPr>
          <a:lstStyle/>
          <a:p>
            <a:pPr algn="l">
              <a:lnSpc>
                <a:spcPct val="100000"/>
              </a:lnSpc>
              <a:buNone/>
              <a:defRPr sz="2850" b="1">
                <a:solidFill>
                  <a:srgbClr val="13213A"/>
                </a:solidFill>
                <a:latin typeface="Aptos"/>
                <a:ea typeface="Aptos"/>
                <a:cs typeface="Aptos"/>
              </a:defRPr>
            </a:pPr>
            <a:r>
              <a:rPr sz="2850" b="1">
                <a:solidFill>
                  <a:srgbClr val="13213A"/>
                </a:solidFill>
                <a:latin typeface="Aptos"/>
                <a:ea typeface="Aptos"/>
                <a:cs typeface="Aptos"/>
              </a:rPr>
              <a:t>Where to look</a:t>
            </a:r>
          </a:p>
        </p:txBody>
      </p:sp>
      <p:sp>
        <p:nvSpPr>
          <p:cNvPr id="8" name="Rounded Rectangle 7">
            <a:extLst>
              <a:ext uri="{FF2B5EF4-FFF2-40B4-BE49-F238E27FC236}">
                <a16:creationId xmlns:a16="http://schemas.microsoft.com/office/drawing/2014/main" id="{40D8D9B3-EF0F-4589-96D8-69E3DC45D750}"/>
              </a:ext>
            </a:extLst>
          </p:cNvPr>
          <p:cNvSpPr>
            <a:spLocks noGrp="1"/>
          </p:cNvSpPr>
          <p:nvPr/>
        </p:nvSpPr>
        <p:spPr>
          <a:xfrm>
            <a:off x="3790950" y="1857375"/>
            <a:ext cx="76200" cy="2000250"/>
          </a:xfrm>
          <a:prstGeom prst="roundRect">
            <a:avLst>
              <a:gd name="adj" fmla="val 0"/>
            </a:avLst>
          </a:prstGeom>
          <a:solidFill>
            <a:srgbClr val="E8EDF5"/>
          </a:solidFill>
          <a:ln w="0">
            <a:noFill/>
            <a:prstDash val="solid"/>
          </a:ln>
        </p:spPr>
        <p:txBody>
          <a:bodyPr lIns="0" tIns="0" rIns="0" bIns="0"/>
          <a:lstStyle/>
          <a:p>
            <a:pPr>
              <a:defRPr sz="100">
                <a:solidFill>
                  <a:srgbClr val="E8EDF5"/>
                </a:solidFill>
              </a:defRPr>
            </a:pPr>
            <a:r>
              <a:rPr sz="100">
                <a:solidFill>
                  <a:srgbClr val="E8EDF5"/>
                </a:solidFill>
              </a:rPr>
              <a:t>​</a:t>
            </a:r>
          </a:p>
        </p:txBody>
      </p:sp>
      <p:sp>
        <p:nvSpPr>
          <p:cNvPr id="9" name="Rectangle 8">
            <a:extLst>
              <a:ext uri="{FF2B5EF4-FFF2-40B4-BE49-F238E27FC236}">
                <a16:creationId xmlns:a16="http://schemas.microsoft.com/office/drawing/2014/main" id="{6A3F6C76-4B60-487D-8267-C227015B3D7D}"/>
              </a:ext>
            </a:extLst>
          </p:cNvPr>
          <p:cNvSpPr>
            <a:spLocks noGrp="1"/>
          </p:cNvSpPr>
          <p:nvPr/>
        </p:nvSpPr>
        <p:spPr>
          <a:xfrm>
            <a:off x="4324350" y="2095500"/>
            <a:ext cx="2857500" cy="476250"/>
          </a:xfrm>
          <a:prstGeom prst="rect">
            <a:avLst/>
          </a:prstGeom>
          <a:noFill/>
          <a:ln w="0">
            <a:noFill/>
            <a:prstDash val="solid"/>
          </a:ln>
        </p:spPr>
        <p:txBody>
          <a:bodyPr wrap="square" lIns="0" tIns="0" rIns="0" bIns="0" anchor="ctr">
            <a:normAutofit/>
          </a:bodyPr>
          <a:lstStyle/>
          <a:p>
            <a:pPr algn="l">
              <a:lnSpc>
                <a:spcPct val="100000"/>
              </a:lnSpc>
              <a:buNone/>
              <a:defRPr sz="1350" b="1">
                <a:solidFill>
                  <a:srgbClr val="176A45"/>
                </a:solidFill>
                <a:latin typeface="Aptos"/>
                <a:ea typeface="Aptos"/>
                <a:cs typeface="Aptos"/>
              </a:defRPr>
            </a:pPr>
            <a:r>
              <a:rPr sz="1350" b="1">
                <a:solidFill>
                  <a:srgbClr val="176A45"/>
                </a:solidFill>
                <a:latin typeface="Aptos"/>
                <a:ea typeface="Aptos"/>
                <a:cs typeface="Aptos"/>
              </a:rPr>
              <a:t>COMPARE</a:t>
            </a:r>
          </a:p>
        </p:txBody>
      </p:sp>
      <p:sp>
        <p:nvSpPr>
          <p:cNvPr id="10" name="Rounded Rectangle 9">
            <a:extLst>
              <a:ext uri="{FF2B5EF4-FFF2-40B4-BE49-F238E27FC236}">
                <a16:creationId xmlns:a16="http://schemas.microsoft.com/office/drawing/2014/main" id="{DEA7C227-C048-46B2-9812-C2110E18EE45}"/>
              </a:ext>
            </a:extLst>
          </p:cNvPr>
          <p:cNvSpPr>
            <a:spLocks noGrp="1"/>
          </p:cNvSpPr>
          <p:nvPr/>
        </p:nvSpPr>
        <p:spPr>
          <a:xfrm>
            <a:off x="4324350" y="2628900"/>
            <a:ext cx="3048000" cy="666750"/>
          </a:xfrm>
          <a:prstGeom prst="roundRect">
            <a:avLst>
              <a:gd name="adj" fmla="val 50000"/>
            </a:avLst>
          </a:prstGeom>
          <a:noFill/>
          <a:ln w="0">
            <a:noFill/>
            <a:prstDash val="solid"/>
          </a:ln>
        </p:spPr>
        <p:txBody>
          <a:bodyPr wrap="square" lIns="0" tIns="0" rIns="0" bIns="0" anchor="ctr">
            <a:normAutofit/>
          </a:bodyPr>
          <a:lstStyle/>
          <a:p>
            <a:pPr algn="l">
              <a:lnSpc>
                <a:spcPct val="100000"/>
              </a:lnSpc>
              <a:buNone/>
              <a:defRPr sz="2850" b="1">
                <a:solidFill>
                  <a:srgbClr val="13213A"/>
                </a:solidFill>
              </a:defRPr>
            </a:pPr>
            <a:r>
              <a:rPr sz="2850" b="1">
                <a:solidFill>
                  <a:srgbClr val="13213A"/>
                </a:solidFill>
              </a:rPr>
              <a:t>Why it matters</a:t>
            </a:r>
          </a:p>
        </p:txBody>
      </p:sp>
      <p:sp>
        <p:nvSpPr>
          <p:cNvPr id="11" name="Rectangle 10">
            <a:extLst>
              <a:ext uri="{FF2B5EF4-FFF2-40B4-BE49-F238E27FC236}">
                <a16:creationId xmlns:a16="http://schemas.microsoft.com/office/drawing/2014/main" id="{D33B3DD8-1CBC-4169-981E-EB90C3F8B90E}"/>
              </a:ext>
            </a:extLst>
          </p:cNvPr>
          <p:cNvSpPr>
            <a:spLocks noGrp="1"/>
          </p:cNvSpPr>
          <p:nvPr/>
        </p:nvSpPr>
        <p:spPr>
          <a:xfrm>
            <a:off x="7677150" y="1857375"/>
            <a:ext cx="76200" cy="2000250"/>
          </a:xfrm>
          <a:prstGeom prst="rect">
            <a:avLst/>
          </a:prstGeom>
          <a:solidFill>
            <a:srgbClr val="E8EDF5"/>
          </a:solidFill>
          <a:ln w="0">
            <a:noFill/>
            <a:prstDash val="solid"/>
          </a:ln>
        </p:spPr>
        <p:txBody>
          <a:bodyPr lIns="0" tIns="0" rIns="0" bIns="0" anchor="t">
            <a:normAutofit/>
          </a:bodyPr>
          <a:lstStyle/>
          <a:p>
            <a:pPr algn="l">
              <a:buNone/>
              <a:defRPr sz="100" b="0">
                <a:solidFill>
                  <a:srgbClr val="E8EDF5"/>
                </a:solidFill>
                <a:latin typeface="Aptos"/>
                <a:ea typeface="Aptos"/>
                <a:cs typeface="Aptos"/>
              </a:defRPr>
            </a:pPr>
            <a:r>
              <a:rPr sz="100" b="0">
                <a:solidFill>
                  <a:srgbClr val="E8EDF5"/>
                </a:solidFill>
                <a:latin typeface="Aptos"/>
                <a:ea typeface="Aptos"/>
                <a:cs typeface="Aptos"/>
              </a:rPr>
              <a:t>​</a:t>
            </a:r>
          </a:p>
        </p:txBody>
      </p:sp>
      <p:sp>
        <p:nvSpPr>
          <p:cNvPr id="12" name="Rounded Rectangle 11">
            <a:extLst>
              <a:ext uri="{FF2B5EF4-FFF2-40B4-BE49-F238E27FC236}">
                <a16:creationId xmlns:a16="http://schemas.microsoft.com/office/drawing/2014/main" id="{96209D78-743C-4E37-8853-C16CA74439CC}"/>
              </a:ext>
            </a:extLst>
          </p:cNvPr>
          <p:cNvSpPr>
            <a:spLocks noGrp="1"/>
          </p:cNvSpPr>
          <p:nvPr/>
        </p:nvSpPr>
        <p:spPr>
          <a:xfrm>
            <a:off x="8191500" y="2095500"/>
            <a:ext cx="2857500" cy="476250"/>
          </a:xfrm>
          <a:prstGeom prst="roundRect">
            <a:avLst>
              <a:gd name="adj" fmla="val 50000"/>
            </a:avLst>
          </a:prstGeom>
          <a:noFill/>
          <a:ln w="0">
            <a:noFill/>
            <a:prstDash val="solid"/>
          </a:ln>
        </p:spPr>
        <p:txBody>
          <a:bodyPr wrap="square" lIns="0" tIns="0" rIns="0" bIns="0" anchor="ctr">
            <a:normAutofit/>
          </a:bodyPr>
          <a:lstStyle/>
          <a:p>
            <a:pPr algn="l">
              <a:lnSpc>
                <a:spcPct val="100000"/>
              </a:lnSpc>
              <a:buNone/>
              <a:defRPr sz="1350" b="1">
                <a:solidFill>
                  <a:srgbClr val="FF8A73"/>
                </a:solidFill>
              </a:defRPr>
            </a:pPr>
            <a:r>
              <a:rPr sz="1350" b="1">
                <a:solidFill>
                  <a:srgbClr val="FF8A73"/>
                </a:solidFill>
              </a:rPr>
              <a:t>REVIEW</a:t>
            </a:r>
          </a:p>
        </p:txBody>
      </p:sp>
      <p:sp>
        <p:nvSpPr>
          <p:cNvPr id="13" name="Rectangle 12">
            <a:extLst>
              <a:ext uri="{FF2B5EF4-FFF2-40B4-BE49-F238E27FC236}">
                <a16:creationId xmlns:a16="http://schemas.microsoft.com/office/drawing/2014/main" id="{3F7D13E9-7C8D-4D01-BFC0-8A1CA210F644}"/>
              </a:ext>
            </a:extLst>
          </p:cNvPr>
          <p:cNvSpPr>
            <a:spLocks noGrp="1"/>
          </p:cNvSpPr>
          <p:nvPr/>
        </p:nvSpPr>
        <p:spPr>
          <a:xfrm>
            <a:off x="8191500" y="2628900"/>
            <a:ext cx="3143250" cy="952500"/>
          </a:xfrm>
          <a:prstGeom prst="rect">
            <a:avLst/>
          </a:prstGeom>
          <a:noFill/>
          <a:ln w="0">
            <a:noFill/>
            <a:prstDash val="solid"/>
          </a:ln>
        </p:spPr>
        <p:txBody>
          <a:bodyPr wrap="square" lIns="0" tIns="0" rIns="0" bIns="0" anchor="ctr">
            <a:normAutofit/>
          </a:bodyPr>
          <a:lstStyle/>
          <a:p>
            <a:pPr algn="l">
              <a:lnSpc>
                <a:spcPct val="100000"/>
              </a:lnSpc>
              <a:buNone/>
              <a:defRPr sz="2850" b="1">
                <a:solidFill>
                  <a:srgbClr val="13213A"/>
                </a:solidFill>
                <a:latin typeface="Aptos"/>
                <a:ea typeface="Aptos"/>
                <a:cs typeface="Aptos"/>
              </a:defRPr>
            </a:pPr>
            <a:r>
              <a:rPr sz="2850" b="1">
                <a:solidFill>
                  <a:srgbClr val="13213A"/>
                </a:solidFill>
                <a:latin typeface="Aptos"/>
                <a:ea typeface="Aptos"/>
                <a:cs typeface="Aptos"/>
              </a:rPr>
              <a:t>What happens next</a:t>
            </a:r>
          </a:p>
        </p:txBody>
      </p:sp>
      <p:sp>
        <p:nvSpPr>
          <p:cNvPr id="14" name="Rounded Rectangle 13">
            <a:extLst>
              <a:ext uri="{FF2B5EF4-FFF2-40B4-BE49-F238E27FC236}">
                <a16:creationId xmlns:a16="http://schemas.microsoft.com/office/drawing/2014/main" id="{CF093611-712A-41FF-B14C-3DBA470AE16C}"/>
              </a:ext>
            </a:extLst>
          </p:cNvPr>
          <p:cNvSpPr>
            <a:spLocks noGrp="1"/>
          </p:cNvSpPr>
          <p:nvPr/>
        </p:nvSpPr>
        <p:spPr>
          <a:xfrm>
            <a:off x="609600" y="4591050"/>
            <a:ext cx="10972800" cy="914400"/>
          </a:xfrm>
          <a:prstGeom prst="roundRect">
            <a:avLst>
              <a:gd name="adj" fmla="val 20833"/>
            </a:avLst>
          </a:prstGeom>
          <a:solidFill>
            <a:srgbClr val="0B1733"/>
          </a:solidFill>
          <a:ln w="0">
            <a:noFill/>
            <a:prstDash val="solid"/>
          </a:ln>
        </p:spPr>
        <p:txBody>
          <a:bodyPr lIns="0" tIns="0" rIns="0" bIns="0"/>
          <a:lstStyle/>
          <a:p>
            <a:pPr>
              <a:defRPr sz="100">
                <a:solidFill>
                  <a:srgbClr val="0B1733"/>
                </a:solidFill>
              </a:defRPr>
            </a:pPr>
            <a:r>
              <a:rPr sz="100">
                <a:solidFill>
                  <a:srgbClr val="0B1733"/>
                </a:solidFill>
              </a:rPr>
              <a:t>​</a:t>
            </a:r>
          </a:p>
        </p:txBody>
      </p:sp>
      <p:sp>
        <p:nvSpPr>
          <p:cNvPr id="15" name="Rectangle 14">
            <a:extLst>
              <a:ext uri="{FF2B5EF4-FFF2-40B4-BE49-F238E27FC236}">
                <a16:creationId xmlns:a16="http://schemas.microsoft.com/office/drawing/2014/main" id="{7FC7D60D-6D45-4DD8-861A-DC097354E1B3}"/>
              </a:ext>
            </a:extLst>
          </p:cNvPr>
          <p:cNvSpPr>
            <a:spLocks noGrp="1"/>
          </p:cNvSpPr>
          <p:nvPr/>
        </p:nvSpPr>
        <p:spPr>
          <a:xfrm>
            <a:off x="895350" y="4591050"/>
            <a:ext cx="10401300" cy="914400"/>
          </a:xfrm>
          <a:prstGeom prst="rect">
            <a:avLst/>
          </a:prstGeom>
          <a:noFill/>
          <a:ln w="0">
            <a:noFill/>
            <a:prstDash val="solid"/>
          </a:ln>
        </p:spPr>
        <p:txBody>
          <a:bodyPr wrap="square" lIns="0" tIns="0" rIns="0" bIns="0" anchor="ctr">
            <a:normAutofit/>
          </a:bodyPr>
          <a:lstStyle/>
          <a:p>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The output is a clear story of evidence, tradeoffs, and next steps.</a:t>
            </a:r>
          </a:p>
        </p:txBody>
      </p:sp>
      <p:sp>
        <p:nvSpPr>
          <p:cNvPr id="16" name="Rounded Rectangle 15">
            <a:extLst>
              <a:ext uri="{FF2B5EF4-FFF2-40B4-BE49-F238E27FC236}">
                <a16:creationId xmlns:a16="http://schemas.microsoft.com/office/drawing/2014/main" id="{2BB00392-71BC-4E82-9786-A32B1D7F1E3A}"/>
              </a:ext>
            </a:extLst>
          </p:cNvPr>
          <p:cNvSpPr>
            <a:spLocks noGrp="1"/>
          </p:cNvSpPr>
          <p:nvPr/>
        </p:nvSpPr>
        <p:spPr>
          <a:xfrm>
            <a:off x="38100" y="38100"/>
            <a:ext cx="9525" cy="9525"/>
          </a:xfrm>
          <a:prstGeom prst="roundRect">
            <a:avLst>
              <a:gd name="adj" fmla="val 50000"/>
            </a:avLst>
          </a:prstGeom>
          <a:noFill/>
          <a:ln w="0">
            <a:noFill/>
            <a:prstDash val="solid"/>
          </a:ln>
        </p:spPr>
        <p:txBody>
          <a:bodyPr/>
          <a:lstStyle/>
          <a:p>
            <a:endParaRPr/>
          </a:p>
        </p:txBody>
      </p:sp>
      <p:sp>
        <p:nvSpPr>
          <p:cNvPr id="17" name="Rectangle 16">
            <a:extLst>
              <a:ext uri="{FF2B5EF4-FFF2-40B4-BE49-F238E27FC236}">
                <a16:creationId xmlns:a16="http://schemas.microsoft.com/office/drawing/2014/main" id="{A25AE1BD-110A-4A6D-B6F6-D88B8EFE81AF}"/>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l">
              <a:buNone/>
              <a:defRPr sz="1800" b="0">
                <a:solidFill>
                  <a:srgbClr val="39455A"/>
                </a:solidFill>
                <a:latin typeface="Aptos"/>
                <a:ea typeface="Aptos"/>
                <a:cs typeface="Aptos"/>
              </a:defRPr>
            </a:pPr>
            <a:endParaRPr/>
          </a:p>
        </p:txBody>
      </p:sp>
      <p:sp>
        <p:nvSpPr>
          <p:cNvPr id="18" name="Rectangle 17">
            <a:extLst>
              <a:ext uri="{FF2B5EF4-FFF2-40B4-BE49-F238E27FC236}">
                <a16:creationId xmlns:a16="http://schemas.microsoft.com/office/drawing/2014/main" id="{69474008-DCBA-4868-9698-CF917834D14F}"/>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l">
              <a:buNone/>
              <a:defRPr sz="2025" b="1">
                <a:solidFill>
                  <a:srgbClr val="347A4A"/>
                </a:solidFill>
                <a:latin typeface="Aptos"/>
                <a:ea typeface="Aptos"/>
                <a:cs typeface="Aptos"/>
              </a:defRPr>
            </a:pPr>
            <a:endParaRPr/>
          </a:p>
        </p:txBody>
      </p:sp>
    </p:spTree>
    <p:extLst>
      <p:ext uri="{BB962C8B-B14F-4D97-AF65-F5344CB8AC3E}">
        <p14:creationId xmlns:p14="http://schemas.microsoft.com/office/powerpoint/2010/main" val="263023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F6BDA6EF-7C78-4062-8B50-8CAEC27BEBA0}"/>
              </a:ext>
            </a:extLst>
          </p:cNvPr>
          <p:cNvSpPr>
            <a:spLocks noGrp="1"/>
          </p:cNvSpPr>
          <p:nvPr/>
        </p:nvSpPr>
        <p:spPr>
          <a:xfrm>
            <a:off x="609600" y="323850"/>
            <a:ext cx="5334000" cy="247650"/>
          </a:xfrm>
          <a:prstGeom prst="rect">
            <a:avLst/>
          </a:prstGeom>
          <a:noFill/>
          <a:ln w="0">
            <a:noFill/>
            <a:prstDash val="solid"/>
          </a:ln>
        </p:spPr>
        <p:txBody>
          <a:bodyPr wrap="square" lIns="0" tIns="0" rIns="0" bIns="0" anchor="ctr">
            <a:normAutofit/>
          </a:bodyPr>
          <a:lstStyle/>
          <a:p>
            <a:pPr algn="l">
              <a:lnSpc>
                <a:spcPct val="100000"/>
              </a:lnSpc>
              <a:buNone/>
              <a:defRPr sz="1125" b="1">
                <a:solidFill>
                  <a:srgbClr val="2D5BFF"/>
                </a:solidFill>
                <a:latin typeface="Aptos"/>
                <a:ea typeface="Aptos"/>
                <a:cs typeface="Aptos"/>
              </a:defRPr>
            </a:pPr>
            <a:r>
              <a:rPr sz="1125" b="1">
                <a:solidFill>
                  <a:srgbClr val="2D5BFF"/>
                </a:solidFill>
                <a:latin typeface="Aptos"/>
                <a:ea typeface="Aptos"/>
                <a:cs typeface="Aptos"/>
              </a:rPr>
              <a:t>THE SCALABLE FUNNEL</a:t>
            </a:r>
          </a:p>
        </p:txBody>
      </p:sp>
      <p:sp>
        <p:nvSpPr>
          <p:cNvPr id="2" name="Rectangle 1">
            <a:extLst>
              <a:ext uri="{FF2B5EF4-FFF2-40B4-BE49-F238E27FC236}">
                <a16:creationId xmlns:a16="http://schemas.microsoft.com/office/drawing/2014/main" id="{FE158C76-52EC-42F0-B662-83D181328F1E}"/>
              </a:ext>
            </a:extLst>
          </p:cNvPr>
          <p:cNvSpPr>
            <a:spLocks noGrp="1"/>
          </p:cNvSpPr>
          <p:nvPr/>
        </p:nvSpPr>
        <p:spPr>
          <a:xfrm>
            <a:off x="609600" y="723900"/>
            <a:ext cx="9525000" cy="666750"/>
          </a:xfrm>
          <a:prstGeom prst="rect">
            <a:avLst/>
          </a:prstGeom>
          <a:noFill/>
          <a:ln w="0">
            <a:noFill/>
            <a:prstDash val="solid"/>
          </a:ln>
        </p:spPr>
        <p:txBody>
          <a:bodyPr wrap="square" lIns="0" tIns="0" rIns="0" bIns="0" anchor="ctr">
            <a:normAutofit/>
          </a:bodyPr>
          <a:lstStyle/>
          <a:p>
            <a:pPr algn="l">
              <a:lnSpc>
                <a:spcPct val="100000"/>
              </a:lnSpc>
              <a:buNone/>
              <a:defRPr sz="3300" b="1">
                <a:solidFill>
                  <a:srgbClr val="13213A"/>
                </a:solidFill>
                <a:latin typeface="Aptos"/>
                <a:ea typeface="Aptos"/>
                <a:cs typeface="Aptos"/>
              </a:defRPr>
            </a:pPr>
            <a:r>
              <a:rPr sz="3300" b="1">
                <a:solidFill>
                  <a:srgbClr val="13213A"/>
                </a:solidFill>
                <a:latin typeface="Aptos"/>
                <a:ea typeface="Aptos"/>
                <a:cs typeface="Aptos"/>
              </a:rPr>
              <a:t>Narrow the question at every step</a:t>
            </a:r>
          </a:p>
        </p:txBody>
      </p:sp>
      <p:sp>
        <p:nvSpPr>
          <p:cNvPr id="3" name="Rectangle 2">
            <a:extLst>
              <a:ext uri="{FF2B5EF4-FFF2-40B4-BE49-F238E27FC236}">
                <a16:creationId xmlns:a16="http://schemas.microsoft.com/office/drawing/2014/main" id="{22E681D0-5E6E-43B5-B2E0-E7B32636206E}"/>
              </a:ext>
            </a:extLst>
          </p:cNvPr>
          <p:cNvSpPr>
            <a:spLocks noGrp="1"/>
          </p:cNvSpPr>
          <p:nvPr/>
        </p:nvSpPr>
        <p:spPr>
          <a:xfrm>
            <a:off x="609600" y="6419850"/>
            <a:ext cx="10972800" cy="19050"/>
          </a:xfrm>
          <a:prstGeom prst="rect">
            <a:avLst/>
          </a:prstGeom>
          <a:solidFill>
            <a:srgbClr val="D6DCE7"/>
          </a:solidFill>
          <a:ln w="0">
            <a:noFill/>
            <a:prstDash val="solid"/>
          </a:ln>
        </p:spPr>
        <p:txBody>
          <a:bodyPr lIns="0" tIns="0" rIns="0" bIns="0"/>
          <a:lstStyle/>
          <a:p>
            <a:pPr>
              <a:defRPr sz="100">
                <a:solidFill>
                  <a:srgbClr val="D6DCE7"/>
                </a:solidFill>
              </a:defRPr>
            </a:pPr>
            <a:r>
              <a:rPr sz="100">
                <a:solidFill>
                  <a:srgbClr val="D6DCE7"/>
                </a:solidFill>
              </a:rPr>
              <a:t>​</a:t>
            </a:r>
          </a:p>
        </p:txBody>
      </p:sp>
      <p:sp>
        <p:nvSpPr>
          <p:cNvPr id="4" name="Rectangle 3">
            <a:extLst>
              <a:ext uri="{FF2B5EF4-FFF2-40B4-BE49-F238E27FC236}">
                <a16:creationId xmlns:a16="http://schemas.microsoft.com/office/drawing/2014/main" id="{DFE5B145-D984-4BE5-A7E4-878875BFD0A0}"/>
              </a:ext>
            </a:extLst>
          </p:cNvPr>
          <p:cNvSpPr>
            <a:spLocks noGrp="1"/>
          </p:cNvSpPr>
          <p:nvPr/>
        </p:nvSpPr>
        <p:spPr>
          <a:xfrm>
            <a:off x="609600" y="6515100"/>
            <a:ext cx="9334500" cy="171450"/>
          </a:xfrm>
          <a:prstGeom prst="rect">
            <a:avLst/>
          </a:prstGeom>
          <a:noFill/>
          <a:ln w="0">
            <a:noFill/>
            <a:prstDash val="solid"/>
          </a:ln>
        </p:spPr>
        <p:txBody>
          <a:bodyPr wrap="square" lIns="0" tIns="0" rIns="0" bIns="0" anchor="ctr">
            <a:normAutofit/>
          </a:bodyPr>
          <a:lstStyle/>
          <a:p>
            <a:pPr algn="l">
              <a:lnSpc>
                <a:spcPct val="100000"/>
              </a:lnSpc>
              <a:buNone/>
              <a:defRPr sz="900" b="0">
                <a:solidFill>
                  <a:srgbClr val="667085"/>
                </a:solidFill>
                <a:latin typeface="Aptos"/>
                <a:ea typeface="Aptos"/>
                <a:cs typeface="Aptos"/>
              </a:defRPr>
            </a:pPr>
            <a:r>
              <a:rPr sz="900" b="0">
                <a:solidFill>
                  <a:srgbClr val="667085"/>
                </a:solidFill>
                <a:latin typeface="Aptos"/>
                <a:ea typeface="Aptos"/>
                <a:cs typeface="Aptos"/>
              </a:rPr>
              <a:t>Each level answers a different decision question</a:t>
            </a:r>
          </a:p>
        </p:txBody>
      </p:sp>
      <p:sp>
        <p:nvSpPr>
          <p:cNvPr id="5" name="Rectangle 4">
            <a:extLst>
              <a:ext uri="{FF2B5EF4-FFF2-40B4-BE49-F238E27FC236}">
                <a16:creationId xmlns:a16="http://schemas.microsoft.com/office/drawing/2014/main" id="{442A5705-58A4-4E93-BC9C-902C6540CFDF}"/>
              </a:ext>
            </a:extLst>
          </p:cNvPr>
          <p:cNvSpPr>
            <a:spLocks noGrp="1"/>
          </p:cNvSpPr>
          <p:nvPr/>
        </p:nvSpPr>
        <p:spPr>
          <a:xfrm>
            <a:off x="10953750" y="6515100"/>
            <a:ext cx="628650" cy="171450"/>
          </a:xfrm>
          <a:prstGeom prst="rect">
            <a:avLst/>
          </a:prstGeom>
          <a:noFill/>
          <a:ln w="0">
            <a:noFill/>
            <a:prstDash val="solid"/>
          </a:ln>
        </p:spPr>
        <p:txBody>
          <a:bodyPr wrap="square" lIns="0" tIns="0" rIns="0" bIns="0" anchor="ctr">
            <a:normAutofit/>
          </a:bodyPr>
          <a:lstStyle/>
          <a:p>
            <a:pPr algn="r">
              <a:lnSpc>
                <a:spcPct val="100000"/>
              </a:lnSpc>
              <a:buNone/>
              <a:defRPr sz="900" b="1">
                <a:solidFill>
                  <a:srgbClr val="13213A"/>
                </a:solidFill>
                <a:latin typeface="Aptos"/>
                <a:ea typeface="Aptos"/>
                <a:cs typeface="Aptos"/>
              </a:defRPr>
            </a:pPr>
            <a:r>
              <a:rPr sz="900" b="1">
                <a:solidFill>
                  <a:srgbClr val="13213A"/>
                </a:solidFill>
                <a:latin typeface="Aptos"/>
                <a:ea typeface="Aptos"/>
                <a:cs typeface="Aptos"/>
              </a:rPr>
              <a:t>04</a:t>
            </a:r>
          </a:p>
        </p:txBody>
      </p:sp>
      <p:sp>
        <p:nvSpPr>
          <p:cNvPr id="6" name="Rounded Rectangle 5">
            <a:extLst>
              <a:ext uri="{FF2B5EF4-FFF2-40B4-BE49-F238E27FC236}">
                <a16:creationId xmlns:a16="http://schemas.microsoft.com/office/drawing/2014/main" id="{928633C5-4708-4B28-A4A8-9C37C7C309A6}"/>
              </a:ext>
            </a:extLst>
          </p:cNvPr>
          <p:cNvSpPr>
            <a:spLocks noGrp="1"/>
          </p:cNvSpPr>
          <p:nvPr/>
        </p:nvSpPr>
        <p:spPr>
          <a:xfrm>
            <a:off x="857250" y="1809750"/>
            <a:ext cx="10477500" cy="723900"/>
          </a:xfrm>
          <a:prstGeom prst="roundRect">
            <a:avLst>
              <a:gd name="adj" fmla="val 23684"/>
            </a:avLst>
          </a:prstGeom>
          <a:solidFill>
            <a:srgbClr val="DDE6FF"/>
          </a:solidFill>
          <a:ln w="0">
            <a:noFill/>
            <a:prstDash val="solid"/>
          </a:ln>
        </p:spPr>
        <p:txBody>
          <a:bodyPr lIns="0" tIns="0" rIns="0" bIns="0"/>
          <a:lstStyle/>
          <a:p>
            <a:pPr>
              <a:defRPr sz="100">
                <a:solidFill>
                  <a:srgbClr val="DDE6FF"/>
                </a:solidFill>
              </a:defRPr>
            </a:pPr>
            <a:r>
              <a:rPr sz="100">
                <a:solidFill>
                  <a:srgbClr val="DDE6FF"/>
                </a:solidFill>
              </a:rPr>
              <a:t>​</a:t>
            </a:r>
          </a:p>
        </p:txBody>
      </p:sp>
      <p:sp>
        <p:nvSpPr>
          <p:cNvPr id="7" name="Rectangle 6">
            <a:extLst>
              <a:ext uri="{FF2B5EF4-FFF2-40B4-BE49-F238E27FC236}">
                <a16:creationId xmlns:a16="http://schemas.microsoft.com/office/drawing/2014/main" id="{F7E01C4C-8163-4642-9E79-0CF305684765}"/>
              </a:ext>
            </a:extLst>
          </p:cNvPr>
          <p:cNvSpPr>
            <a:spLocks noGrp="1"/>
          </p:cNvSpPr>
          <p:nvPr/>
        </p:nvSpPr>
        <p:spPr>
          <a:xfrm>
            <a:off x="1066800" y="1809750"/>
            <a:ext cx="514350" cy="7239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13213A"/>
                </a:solidFill>
                <a:latin typeface="Aptos"/>
                <a:ea typeface="Aptos"/>
                <a:cs typeface="Aptos"/>
              </a:defRPr>
            </a:pPr>
            <a:r>
              <a:rPr sz="1200" b="1">
                <a:solidFill>
                  <a:srgbClr val="13213A"/>
                </a:solidFill>
                <a:latin typeface="Aptos"/>
                <a:ea typeface="Aptos"/>
                <a:cs typeface="Aptos"/>
              </a:rPr>
              <a:t>01</a:t>
            </a:r>
          </a:p>
        </p:txBody>
      </p:sp>
      <p:sp>
        <p:nvSpPr>
          <p:cNvPr id="8" name="Rectangle 7">
            <a:extLst>
              <a:ext uri="{FF2B5EF4-FFF2-40B4-BE49-F238E27FC236}">
                <a16:creationId xmlns:a16="http://schemas.microsoft.com/office/drawing/2014/main" id="{53FD5CEE-7D1C-488E-90CF-DBAF807A43A8}"/>
              </a:ext>
            </a:extLst>
          </p:cNvPr>
          <p:cNvSpPr>
            <a:spLocks noGrp="1"/>
          </p:cNvSpPr>
          <p:nvPr/>
        </p:nvSpPr>
        <p:spPr>
          <a:xfrm>
            <a:off x="1638300" y="1809750"/>
            <a:ext cx="2286000" cy="723900"/>
          </a:xfrm>
          <a:prstGeom prst="rect">
            <a:avLst/>
          </a:prstGeom>
          <a:noFill/>
          <a:ln w="0">
            <a:noFill/>
            <a:prstDash val="solid"/>
          </a:ln>
        </p:spPr>
        <p:txBody>
          <a:bodyPr wrap="square" lIns="0" tIns="0" rIns="0" bIns="0" anchor="ctr">
            <a:normAutofit/>
          </a:bodyPr>
          <a:lstStyle/>
          <a:p>
            <a:pPr algn="l">
              <a:lnSpc>
                <a:spcPct val="100000"/>
              </a:lnSpc>
              <a:buNone/>
              <a:defRPr sz="1725" b="1">
                <a:solidFill>
                  <a:srgbClr val="13213A"/>
                </a:solidFill>
                <a:latin typeface="Aptos"/>
                <a:ea typeface="Aptos"/>
                <a:cs typeface="Aptos"/>
              </a:defRPr>
            </a:pPr>
            <a:r>
              <a:rPr sz="1725" b="1">
                <a:solidFill>
                  <a:srgbClr val="13213A"/>
                </a:solidFill>
                <a:latin typeface="Aptos"/>
                <a:ea typeface="Aptos"/>
                <a:cs typeface="Aptos"/>
              </a:rPr>
              <a:t>MARKET</a:t>
            </a:r>
          </a:p>
        </p:txBody>
      </p:sp>
      <p:sp>
        <p:nvSpPr>
          <p:cNvPr id="9" name="Rectangle 8">
            <a:extLst>
              <a:ext uri="{FF2B5EF4-FFF2-40B4-BE49-F238E27FC236}">
                <a16:creationId xmlns:a16="http://schemas.microsoft.com/office/drawing/2014/main" id="{03741E1E-7531-4E80-8536-8A64D157D044}"/>
              </a:ext>
            </a:extLst>
          </p:cNvPr>
          <p:cNvSpPr>
            <a:spLocks noGrp="1"/>
          </p:cNvSpPr>
          <p:nvPr/>
        </p:nvSpPr>
        <p:spPr>
          <a:xfrm>
            <a:off x="7905750" y="1809750"/>
            <a:ext cx="3143250" cy="723900"/>
          </a:xfrm>
          <a:prstGeom prst="rect">
            <a:avLst/>
          </a:prstGeom>
          <a:noFill/>
          <a:ln w="0">
            <a:noFill/>
            <a:prstDash val="solid"/>
          </a:ln>
        </p:spPr>
        <p:txBody>
          <a:bodyPr wrap="square" lIns="0" tIns="0" rIns="0" bIns="0" anchor="ctr">
            <a:normAutofit/>
          </a:bodyPr>
          <a:lstStyle/>
          <a:p>
            <a:pPr algn="r">
              <a:lnSpc>
                <a:spcPct val="100000"/>
              </a:lnSpc>
              <a:buNone/>
              <a:defRPr sz="1350" b="0">
                <a:solidFill>
                  <a:srgbClr val="13213A"/>
                </a:solidFill>
                <a:latin typeface="Aptos"/>
                <a:ea typeface="Aptos"/>
                <a:cs typeface="Aptos"/>
              </a:defRPr>
            </a:pPr>
            <a:r>
              <a:rPr sz="1350" b="0">
                <a:solidFill>
                  <a:srgbClr val="13213A"/>
                </a:solidFill>
                <a:latin typeface="Aptos"/>
                <a:ea typeface="Aptos"/>
                <a:cs typeface="Aptos"/>
              </a:rPr>
              <a:t>Where should we begin?</a:t>
            </a:r>
          </a:p>
        </p:txBody>
      </p:sp>
      <p:sp>
        <p:nvSpPr>
          <p:cNvPr id="10" name="Rounded Rectangle 9">
            <a:extLst>
              <a:ext uri="{FF2B5EF4-FFF2-40B4-BE49-F238E27FC236}">
                <a16:creationId xmlns:a16="http://schemas.microsoft.com/office/drawing/2014/main" id="{9EC65A94-9245-4C1B-A179-921F54577920}"/>
              </a:ext>
            </a:extLst>
          </p:cNvPr>
          <p:cNvSpPr>
            <a:spLocks noGrp="1"/>
          </p:cNvSpPr>
          <p:nvPr/>
        </p:nvSpPr>
        <p:spPr>
          <a:xfrm>
            <a:off x="1714500" y="2743200"/>
            <a:ext cx="8763000" cy="723900"/>
          </a:xfrm>
          <a:prstGeom prst="roundRect">
            <a:avLst>
              <a:gd name="adj" fmla="val 23684"/>
            </a:avLst>
          </a:prstGeom>
          <a:solidFill>
            <a:srgbClr val="BFE9D0"/>
          </a:solidFill>
          <a:ln w="0">
            <a:noFill/>
            <a:prstDash val="solid"/>
          </a:ln>
        </p:spPr>
        <p:txBody>
          <a:bodyPr lIns="0" tIns="0" rIns="0" bIns="0"/>
          <a:lstStyle/>
          <a:p>
            <a:pPr>
              <a:defRPr sz="100">
                <a:solidFill>
                  <a:srgbClr val="BFE9D0"/>
                </a:solidFill>
              </a:defRPr>
            </a:pPr>
            <a:r>
              <a:rPr sz="100">
                <a:solidFill>
                  <a:srgbClr val="BFE9D0"/>
                </a:solidFill>
              </a:rPr>
              <a:t>​</a:t>
            </a:r>
          </a:p>
        </p:txBody>
      </p:sp>
      <p:sp>
        <p:nvSpPr>
          <p:cNvPr id="11" name="Rectangle 10">
            <a:extLst>
              <a:ext uri="{FF2B5EF4-FFF2-40B4-BE49-F238E27FC236}">
                <a16:creationId xmlns:a16="http://schemas.microsoft.com/office/drawing/2014/main" id="{D2784922-C9AD-4FAA-A815-1590FFC1C687}"/>
              </a:ext>
            </a:extLst>
          </p:cNvPr>
          <p:cNvSpPr>
            <a:spLocks noGrp="1"/>
          </p:cNvSpPr>
          <p:nvPr/>
        </p:nvSpPr>
        <p:spPr>
          <a:xfrm>
            <a:off x="1924050" y="2743200"/>
            <a:ext cx="514350" cy="7239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13213A"/>
                </a:solidFill>
                <a:latin typeface="Aptos"/>
                <a:ea typeface="Aptos"/>
                <a:cs typeface="Aptos"/>
              </a:defRPr>
            </a:pPr>
            <a:r>
              <a:rPr sz="1200" b="1">
                <a:solidFill>
                  <a:srgbClr val="13213A"/>
                </a:solidFill>
                <a:latin typeface="Aptos"/>
                <a:ea typeface="Aptos"/>
                <a:cs typeface="Aptos"/>
              </a:rPr>
              <a:t>02</a:t>
            </a:r>
          </a:p>
        </p:txBody>
      </p:sp>
      <p:sp>
        <p:nvSpPr>
          <p:cNvPr id="12" name="Rectangle 11">
            <a:extLst>
              <a:ext uri="{FF2B5EF4-FFF2-40B4-BE49-F238E27FC236}">
                <a16:creationId xmlns:a16="http://schemas.microsoft.com/office/drawing/2014/main" id="{FA32448B-FAD2-46F8-8DEB-E1511038198A}"/>
              </a:ext>
            </a:extLst>
          </p:cNvPr>
          <p:cNvSpPr>
            <a:spLocks noGrp="1"/>
          </p:cNvSpPr>
          <p:nvPr/>
        </p:nvSpPr>
        <p:spPr>
          <a:xfrm>
            <a:off x="2495550" y="2743200"/>
            <a:ext cx="2286000" cy="723900"/>
          </a:xfrm>
          <a:prstGeom prst="rect">
            <a:avLst/>
          </a:prstGeom>
          <a:noFill/>
          <a:ln w="0">
            <a:noFill/>
            <a:prstDash val="solid"/>
          </a:ln>
        </p:spPr>
        <p:txBody>
          <a:bodyPr wrap="square" lIns="0" tIns="0" rIns="0" bIns="0" anchor="ctr">
            <a:normAutofit/>
          </a:bodyPr>
          <a:lstStyle/>
          <a:p>
            <a:pPr algn="l">
              <a:lnSpc>
                <a:spcPct val="100000"/>
              </a:lnSpc>
              <a:buNone/>
              <a:defRPr sz="1725" b="1">
                <a:solidFill>
                  <a:srgbClr val="13213A"/>
                </a:solidFill>
                <a:latin typeface="Aptos"/>
                <a:ea typeface="Aptos"/>
                <a:cs typeface="Aptos"/>
              </a:defRPr>
            </a:pPr>
            <a:r>
              <a:rPr sz="1725" b="1">
                <a:solidFill>
                  <a:srgbClr val="13213A"/>
                </a:solidFill>
                <a:latin typeface="Aptos"/>
                <a:ea typeface="Aptos"/>
                <a:cs typeface="Aptos"/>
              </a:rPr>
              <a:t>SUBMARKET</a:t>
            </a:r>
          </a:p>
        </p:txBody>
      </p:sp>
      <p:sp>
        <p:nvSpPr>
          <p:cNvPr id="13" name="Rectangle 12">
            <a:extLst>
              <a:ext uri="{FF2B5EF4-FFF2-40B4-BE49-F238E27FC236}">
                <a16:creationId xmlns:a16="http://schemas.microsoft.com/office/drawing/2014/main" id="{3C6C5224-D7D2-48C7-A85B-2C816BF3736D}"/>
              </a:ext>
            </a:extLst>
          </p:cNvPr>
          <p:cNvSpPr>
            <a:spLocks noGrp="1"/>
          </p:cNvSpPr>
          <p:nvPr/>
        </p:nvSpPr>
        <p:spPr>
          <a:xfrm>
            <a:off x="7048500" y="2743200"/>
            <a:ext cx="3143250" cy="723900"/>
          </a:xfrm>
          <a:prstGeom prst="rect">
            <a:avLst/>
          </a:prstGeom>
          <a:noFill/>
          <a:ln w="0">
            <a:noFill/>
            <a:prstDash val="solid"/>
          </a:ln>
        </p:spPr>
        <p:txBody>
          <a:bodyPr wrap="square" lIns="0" tIns="0" rIns="0" bIns="0" anchor="ctr">
            <a:normAutofit/>
          </a:bodyPr>
          <a:lstStyle/>
          <a:p>
            <a:pPr algn="r">
              <a:lnSpc>
                <a:spcPct val="100000"/>
              </a:lnSpc>
              <a:buNone/>
              <a:defRPr sz="1350" b="0">
                <a:solidFill>
                  <a:srgbClr val="13213A"/>
                </a:solidFill>
                <a:latin typeface="Aptos"/>
                <a:ea typeface="Aptos"/>
                <a:cs typeface="Aptos"/>
              </a:defRPr>
            </a:pPr>
            <a:r>
              <a:rPr sz="1350" b="0">
                <a:solidFill>
                  <a:srgbClr val="13213A"/>
                </a:solidFill>
                <a:latin typeface="Aptos"/>
                <a:ea typeface="Aptos"/>
                <a:cs typeface="Aptos"/>
              </a:rPr>
              <a:t>Where is potential concentrated?</a:t>
            </a:r>
          </a:p>
        </p:txBody>
      </p:sp>
      <p:sp>
        <p:nvSpPr>
          <p:cNvPr id="14" name="Rounded Rectangle 13">
            <a:extLst>
              <a:ext uri="{FF2B5EF4-FFF2-40B4-BE49-F238E27FC236}">
                <a16:creationId xmlns:a16="http://schemas.microsoft.com/office/drawing/2014/main" id="{017CF458-7B56-45AF-975D-9E7C55834755}"/>
              </a:ext>
            </a:extLst>
          </p:cNvPr>
          <p:cNvSpPr>
            <a:spLocks noGrp="1"/>
          </p:cNvSpPr>
          <p:nvPr/>
        </p:nvSpPr>
        <p:spPr>
          <a:xfrm>
            <a:off x="2571750" y="3676650"/>
            <a:ext cx="7048500" cy="723900"/>
          </a:xfrm>
          <a:prstGeom prst="roundRect">
            <a:avLst>
              <a:gd name="adj" fmla="val 23684"/>
            </a:avLst>
          </a:prstGeom>
          <a:solidFill>
            <a:srgbClr val="F3C96B"/>
          </a:solidFill>
          <a:ln w="0">
            <a:noFill/>
            <a:prstDash val="solid"/>
          </a:ln>
        </p:spPr>
        <p:txBody>
          <a:bodyPr lIns="0" tIns="0" rIns="0" bIns="0"/>
          <a:lstStyle/>
          <a:p>
            <a:pPr>
              <a:defRPr sz="100">
                <a:solidFill>
                  <a:srgbClr val="F3C96B"/>
                </a:solidFill>
              </a:defRPr>
            </a:pPr>
            <a:r>
              <a:rPr sz="100">
                <a:solidFill>
                  <a:srgbClr val="F3C96B"/>
                </a:solidFill>
              </a:rPr>
              <a:t>​</a:t>
            </a:r>
          </a:p>
        </p:txBody>
      </p:sp>
      <p:sp>
        <p:nvSpPr>
          <p:cNvPr id="15" name="Rectangle 14">
            <a:extLst>
              <a:ext uri="{FF2B5EF4-FFF2-40B4-BE49-F238E27FC236}">
                <a16:creationId xmlns:a16="http://schemas.microsoft.com/office/drawing/2014/main" id="{35C99FE9-D4B2-489C-B683-8E0B0E0F2EEB}"/>
              </a:ext>
            </a:extLst>
          </p:cNvPr>
          <p:cNvSpPr>
            <a:spLocks noGrp="1"/>
          </p:cNvSpPr>
          <p:nvPr/>
        </p:nvSpPr>
        <p:spPr>
          <a:xfrm>
            <a:off x="2781300" y="3676650"/>
            <a:ext cx="514350" cy="7239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13213A"/>
                </a:solidFill>
                <a:latin typeface="Aptos"/>
                <a:ea typeface="Aptos"/>
                <a:cs typeface="Aptos"/>
              </a:defRPr>
            </a:pPr>
            <a:r>
              <a:rPr sz="1200" b="1">
                <a:solidFill>
                  <a:srgbClr val="13213A"/>
                </a:solidFill>
                <a:latin typeface="Aptos"/>
                <a:ea typeface="Aptos"/>
                <a:cs typeface="Aptos"/>
              </a:rPr>
              <a:t>03</a:t>
            </a:r>
          </a:p>
        </p:txBody>
      </p:sp>
      <p:sp>
        <p:nvSpPr>
          <p:cNvPr id="16" name="Rectangle 15">
            <a:extLst>
              <a:ext uri="{FF2B5EF4-FFF2-40B4-BE49-F238E27FC236}">
                <a16:creationId xmlns:a16="http://schemas.microsoft.com/office/drawing/2014/main" id="{4380A42B-00DD-44D4-B6CE-BDF29406968F}"/>
              </a:ext>
            </a:extLst>
          </p:cNvPr>
          <p:cNvSpPr>
            <a:spLocks noGrp="1"/>
          </p:cNvSpPr>
          <p:nvPr/>
        </p:nvSpPr>
        <p:spPr>
          <a:xfrm>
            <a:off x="3352800" y="3676650"/>
            <a:ext cx="2286000" cy="723900"/>
          </a:xfrm>
          <a:prstGeom prst="rect">
            <a:avLst/>
          </a:prstGeom>
          <a:noFill/>
          <a:ln w="0">
            <a:noFill/>
            <a:prstDash val="solid"/>
          </a:ln>
        </p:spPr>
        <p:txBody>
          <a:bodyPr wrap="square" lIns="0" tIns="0" rIns="0" bIns="0" anchor="ctr">
            <a:normAutofit/>
          </a:bodyPr>
          <a:lstStyle/>
          <a:p>
            <a:pPr algn="l">
              <a:lnSpc>
                <a:spcPct val="100000"/>
              </a:lnSpc>
              <a:buNone/>
              <a:defRPr sz="1725" b="1">
                <a:solidFill>
                  <a:srgbClr val="13213A"/>
                </a:solidFill>
                <a:latin typeface="Aptos"/>
                <a:ea typeface="Aptos"/>
                <a:cs typeface="Aptos"/>
              </a:defRPr>
            </a:pPr>
            <a:r>
              <a:rPr sz="1725" b="1">
                <a:solidFill>
                  <a:srgbClr val="13213A"/>
                </a:solidFill>
                <a:latin typeface="Aptos"/>
                <a:ea typeface="Aptos"/>
                <a:cs typeface="Aptos"/>
              </a:rPr>
              <a:t>PROPERTY</a:t>
            </a:r>
          </a:p>
        </p:txBody>
      </p:sp>
      <p:sp>
        <p:nvSpPr>
          <p:cNvPr id="17" name="Rectangle 16">
            <a:extLst>
              <a:ext uri="{FF2B5EF4-FFF2-40B4-BE49-F238E27FC236}">
                <a16:creationId xmlns:a16="http://schemas.microsoft.com/office/drawing/2014/main" id="{713035BE-4012-4B10-98C9-D89DC0D6BB7D}"/>
              </a:ext>
            </a:extLst>
          </p:cNvPr>
          <p:cNvSpPr>
            <a:spLocks noGrp="1"/>
          </p:cNvSpPr>
          <p:nvPr/>
        </p:nvSpPr>
        <p:spPr>
          <a:xfrm>
            <a:off x="6191250" y="3676650"/>
            <a:ext cx="3143250" cy="723900"/>
          </a:xfrm>
          <a:prstGeom prst="rect">
            <a:avLst/>
          </a:prstGeom>
          <a:noFill/>
          <a:ln w="0">
            <a:noFill/>
            <a:prstDash val="solid"/>
          </a:ln>
        </p:spPr>
        <p:txBody>
          <a:bodyPr wrap="square" lIns="0" tIns="0" rIns="0" bIns="0" anchor="ctr">
            <a:normAutofit/>
          </a:bodyPr>
          <a:lstStyle/>
          <a:p>
            <a:pPr algn="r">
              <a:lnSpc>
                <a:spcPct val="100000"/>
              </a:lnSpc>
              <a:buNone/>
              <a:defRPr sz="1350" b="0">
                <a:solidFill>
                  <a:srgbClr val="13213A"/>
                </a:solidFill>
                <a:latin typeface="Aptos"/>
                <a:ea typeface="Aptos"/>
                <a:cs typeface="Aptos"/>
              </a:defRPr>
            </a:pPr>
            <a:r>
              <a:rPr sz="1350" b="0">
                <a:solidFill>
                  <a:srgbClr val="13213A"/>
                </a:solidFill>
                <a:latin typeface="Aptos"/>
                <a:ea typeface="Aptos"/>
                <a:cs typeface="Aptos"/>
              </a:rPr>
              <a:t>Is the site workable?</a:t>
            </a:r>
          </a:p>
        </p:txBody>
      </p:sp>
      <p:sp>
        <p:nvSpPr>
          <p:cNvPr id="18" name="Rounded Rectangle 17">
            <a:extLst>
              <a:ext uri="{FF2B5EF4-FFF2-40B4-BE49-F238E27FC236}">
                <a16:creationId xmlns:a16="http://schemas.microsoft.com/office/drawing/2014/main" id="{D68DA382-7DF0-4B45-94A2-B179AEB4CC01}"/>
              </a:ext>
            </a:extLst>
          </p:cNvPr>
          <p:cNvSpPr>
            <a:spLocks noGrp="1"/>
          </p:cNvSpPr>
          <p:nvPr/>
        </p:nvSpPr>
        <p:spPr>
          <a:xfrm>
            <a:off x="3429000" y="4610100"/>
            <a:ext cx="5334000" cy="723900"/>
          </a:xfrm>
          <a:prstGeom prst="roundRect">
            <a:avLst>
              <a:gd name="adj" fmla="val 23684"/>
            </a:avLst>
          </a:prstGeom>
          <a:solidFill>
            <a:srgbClr val="FF8A73"/>
          </a:solidFill>
          <a:ln w="0">
            <a:noFill/>
            <a:prstDash val="solid"/>
          </a:ln>
        </p:spPr>
        <p:txBody>
          <a:bodyPr lIns="0" tIns="0" rIns="0" bIns="0"/>
          <a:lstStyle/>
          <a:p>
            <a:pPr>
              <a:defRPr sz="100">
                <a:solidFill>
                  <a:srgbClr val="FF8A73"/>
                </a:solidFill>
              </a:defRPr>
            </a:pPr>
            <a:r>
              <a:rPr sz="100">
                <a:solidFill>
                  <a:srgbClr val="FF8A73"/>
                </a:solidFill>
              </a:rPr>
              <a:t>​</a:t>
            </a:r>
          </a:p>
        </p:txBody>
      </p:sp>
      <p:sp>
        <p:nvSpPr>
          <p:cNvPr id="19" name="Rectangle 18">
            <a:extLst>
              <a:ext uri="{FF2B5EF4-FFF2-40B4-BE49-F238E27FC236}">
                <a16:creationId xmlns:a16="http://schemas.microsoft.com/office/drawing/2014/main" id="{B90F6561-9C17-4DD9-B000-DFFC056555C2}"/>
              </a:ext>
            </a:extLst>
          </p:cNvPr>
          <p:cNvSpPr>
            <a:spLocks noGrp="1"/>
          </p:cNvSpPr>
          <p:nvPr/>
        </p:nvSpPr>
        <p:spPr>
          <a:xfrm>
            <a:off x="3638550" y="4610100"/>
            <a:ext cx="514350" cy="7239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13213A"/>
                </a:solidFill>
                <a:latin typeface="Aptos"/>
                <a:ea typeface="Aptos"/>
                <a:cs typeface="Aptos"/>
              </a:defRPr>
            </a:pPr>
            <a:r>
              <a:rPr sz="1200" b="1">
                <a:solidFill>
                  <a:srgbClr val="13213A"/>
                </a:solidFill>
                <a:latin typeface="Aptos"/>
                <a:ea typeface="Aptos"/>
                <a:cs typeface="Aptos"/>
              </a:rPr>
              <a:t>04</a:t>
            </a:r>
          </a:p>
        </p:txBody>
      </p:sp>
      <p:sp>
        <p:nvSpPr>
          <p:cNvPr id="20" name="Rectangle 19">
            <a:extLst>
              <a:ext uri="{FF2B5EF4-FFF2-40B4-BE49-F238E27FC236}">
                <a16:creationId xmlns:a16="http://schemas.microsoft.com/office/drawing/2014/main" id="{E2A5AF32-3FFB-47E6-8425-FABBED6CF501}"/>
              </a:ext>
            </a:extLst>
          </p:cNvPr>
          <p:cNvSpPr>
            <a:spLocks noGrp="1"/>
          </p:cNvSpPr>
          <p:nvPr/>
        </p:nvSpPr>
        <p:spPr>
          <a:xfrm>
            <a:off x="4210050" y="4610100"/>
            <a:ext cx="2286000" cy="723900"/>
          </a:xfrm>
          <a:prstGeom prst="rect">
            <a:avLst/>
          </a:prstGeom>
          <a:noFill/>
          <a:ln w="0">
            <a:noFill/>
            <a:prstDash val="solid"/>
          </a:ln>
        </p:spPr>
        <p:txBody>
          <a:bodyPr wrap="square" lIns="0" tIns="0" rIns="0" bIns="0" anchor="ctr">
            <a:normAutofit/>
          </a:bodyPr>
          <a:lstStyle/>
          <a:p>
            <a:pPr algn="l">
              <a:lnSpc>
                <a:spcPct val="100000"/>
              </a:lnSpc>
              <a:buNone/>
              <a:defRPr sz="1725" b="1">
                <a:solidFill>
                  <a:srgbClr val="13213A"/>
                </a:solidFill>
                <a:latin typeface="Aptos"/>
                <a:ea typeface="Aptos"/>
                <a:cs typeface="Aptos"/>
              </a:defRPr>
            </a:pPr>
            <a:r>
              <a:rPr sz="1725" b="1">
                <a:solidFill>
                  <a:srgbClr val="13213A"/>
                </a:solidFill>
                <a:latin typeface="Aptos"/>
                <a:ea typeface="Aptos"/>
                <a:cs typeface="Aptos"/>
              </a:rPr>
              <a:t>REVIEW ORDER</a:t>
            </a:r>
          </a:p>
        </p:txBody>
      </p:sp>
      <p:sp>
        <p:nvSpPr>
          <p:cNvPr id="21" name="Rectangle 20">
            <a:extLst>
              <a:ext uri="{FF2B5EF4-FFF2-40B4-BE49-F238E27FC236}">
                <a16:creationId xmlns:a16="http://schemas.microsoft.com/office/drawing/2014/main" id="{FE1BE5E3-F862-41C7-BCA0-E7A41DFFD172}"/>
              </a:ext>
            </a:extLst>
          </p:cNvPr>
          <p:cNvSpPr>
            <a:spLocks noGrp="1"/>
          </p:cNvSpPr>
          <p:nvPr/>
        </p:nvSpPr>
        <p:spPr>
          <a:xfrm>
            <a:off x="5334000" y="4610100"/>
            <a:ext cx="3143250" cy="723900"/>
          </a:xfrm>
          <a:prstGeom prst="rect">
            <a:avLst/>
          </a:prstGeom>
          <a:noFill/>
          <a:ln w="0">
            <a:noFill/>
            <a:prstDash val="solid"/>
          </a:ln>
        </p:spPr>
        <p:txBody>
          <a:bodyPr wrap="square" lIns="0" tIns="0" rIns="0" bIns="0" anchor="ctr">
            <a:normAutofit/>
          </a:bodyPr>
          <a:lstStyle/>
          <a:p>
            <a:pPr algn="r">
              <a:lnSpc>
                <a:spcPct val="100000"/>
              </a:lnSpc>
              <a:buNone/>
              <a:defRPr sz="1350" b="0">
                <a:solidFill>
                  <a:srgbClr val="13213A"/>
                </a:solidFill>
                <a:latin typeface="Aptos"/>
                <a:ea typeface="Aptos"/>
                <a:cs typeface="Aptos"/>
              </a:defRPr>
            </a:pPr>
            <a:r>
              <a:rPr sz="1350" b="0">
                <a:solidFill>
                  <a:srgbClr val="13213A"/>
                </a:solidFill>
                <a:latin typeface="Aptos"/>
                <a:ea typeface="Aptos"/>
                <a:cs typeface="Aptos"/>
              </a:rPr>
              <a:t>What should move first?</a:t>
            </a:r>
          </a:p>
        </p:txBody>
      </p:sp>
      <p:sp>
        <p:nvSpPr>
          <p:cNvPr id="22" name="Rectangle 21">
            <a:extLst>
              <a:ext uri="{FF2B5EF4-FFF2-40B4-BE49-F238E27FC236}">
                <a16:creationId xmlns:a16="http://schemas.microsoft.com/office/drawing/2014/main" id="{0814DDA9-E6DF-44ED-AE3A-F4EBB182E7BD}"/>
              </a:ext>
            </a:extLst>
          </p:cNvPr>
          <p:cNvSpPr>
            <a:spLocks noGrp="1"/>
          </p:cNvSpPr>
          <p:nvPr/>
        </p:nvSpPr>
        <p:spPr>
          <a:xfrm>
            <a:off x="38100" y="38100"/>
            <a:ext cx="9525" cy="9525"/>
          </a:xfrm>
          <a:prstGeom prst="rect">
            <a:avLst/>
          </a:prstGeom>
          <a:noFill/>
          <a:ln w="0">
            <a:noFill/>
            <a:prstDash val="solid"/>
          </a:ln>
        </p:spPr>
        <p:txBody>
          <a:bodyPr/>
          <a:lstStyle/>
          <a:p>
            <a:endParaRPr/>
          </a:p>
        </p:txBody>
      </p:sp>
      <p:sp>
        <p:nvSpPr>
          <p:cNvPr id="23" name="Rectangle 22">
            <a:extLst>
              <a:ext uri="{FF2B5EF4-FFF2-40B4-BE49-F238E27FC236}">
                <a16:creationId xmlns:a16="http://schemas.microsoft.com/office/drawing/2014/main" id="{C75400DD-5371-443E-B728-7769B714BB28}"/>
              </a:ext>
            </a:extLst>
          </p:cNvPr>
          <p:cNvSpPr>
            <a:spLocks noGrp="1"/>
          </p:cNvSpPr>
          <p:nvPr/>
        </p:nvSpPr>
        <p:spPr>
          <a:xfrm>
            <a:off x="38100" y="38100"/>
            <a:ext cx="9525" cy="9525"/>
          </a:xfrm>
          <a:prstGeom prst="rect">
            <a:avLst/>
          </a:prstGeom>
          <a:noFill/>
          <a:ln w="0">
            <a:noFill/>
            <a:prstDash val="solid"/>
          </a:ln>
        </p:spPr>
        <p:txBody>
          <a:bodyPr/>
          <a:lstStyle/>
          <a:p>
            <a:endParaRPr/>
          </a:p>
        </p:txBody>
      </p:sp>
      <p:sp>
        <p:nvSpPr>
          <p:cNvPr id="24" name="Rectangle 23">
            <a:extLst>
              <a:ext uri="{FF2B5EF4-FFF2-40B4-BE49-F238E27FC236}">
                <a16:creationId xmlns:a16="http://schemas.microsoft.com/office/drawing/2014/main" id="{0AF4445C-A64D-4882-8DDF-F053870AD260}"/>
              </a:ext>
            </a:extLst>
          </p:cNvPr>
          <p:cNvSpPr>
            <a:spLocks noGrp="1"/>
          </p:cNvSpPr>
          <p:nvPr/>
        </p:nvSpPr>
        <p:spPr>
          <a:xfrm>
            <a:off x="38100" y="38100"/>
            <a:ext cx="9525" cy="9525"/>
          </a:xfrm>
          <a:prstGeom prst="rect">
            <a:avLst/>
          </a:prstGeom>
          <a:noFill/>
          <a:ln w="0">
            <a:noFill/>
            <a:prstDash val="solid"/>
          </a:ln>
        </p:spPr>
        <p:txBody>
          <a:bodyPr/>
          <a:lstStyle/>
          <a:p>
            <a:endParaRPr/>
          </a:p>
        </p:txBody>
      </p:sp>
      <p:sp>
        <p:nvSpPr>
          <p:cNvPr id="25" name="Rectangle 24">
            <a:extLst>
              <a:ext uri="{FF2B5EF4-FFF2-40B4-BE49-F238E27FC236}">
                <a16:creationId xmlns:a16="http://schemas.microsoft.com/office/drawing/2014/main" id="{D805317A-88A1-43E9-92BD-EDE7FCE54BD6}"/>
              </a:ext>
            </a:extLst>
          </p:cNvPr>
          <p:cNvSpPr>
            <a:spLocks noGrp="1"/>
          </p:cNvSpPr>
          <p:nvPr/>
        </p:nvSpPr>
        <p:spPr>
          <a:xfrm>
            <a:off x="38100" y="38100"/>
            <a:ext cx="9525" cy="9525"/>
          </a:xfrm>
          <a:prstGeom prst="rect">
            <a:avLst/>
          </a:prstGeom>
          <a:noFill/>
          <a:ln w="0">
            <a:noFill/>
            <a:prstDash val="solid"/>
          </a:ln>
        </p:spPr>
        <p:txBody>
          <a:bodyPr/>
          <a:lstStyle/>
          <a:p>
            <a:endParaRPr/>
          </a:p>
        </p:txBody>
      </p:sp>
      <p:sp>
        <p:nvSpPr>
          <p:cNvPr id="26" name="Rectangle 25">
            <a:extLst>
              <a:ext uri="{FF2B5EF4-FFF2-40B4-BE49-F238E27FC236}">
                <a16:creationId xmlns:a16="http://schemas.microsoft.com/office/drawing/2014/main" id="{06246114-8DE9-47C8-9804-CA0F20EC945B}"/>
              </a:ext>
            </a:extLst>
          </p:cNvPr>
          <p:cNvSpPr>
            <a:spLocks noGrp="1"/>
          </p:cNvSpPr>
          <p:nvPr/>
        </p:nvSpPr>
        <p:spPr>
          <a:xfrm>
            <a:off x="38100" y="38100"/>
            <a:ext cx="9525" cy="9525"/>
          </a:xfrm>
          <a:prstGeom prst="rect">
            <a:avLst/>
          </a:prstGeom>
          <a:noFill/>
          <a:ln w="0">
            <a:noFill/>
            <a:prstDash val="solid"/>
          </a:ln>
        </p:spPr>
        <p:txBody>
          <a:bodyPr/>
          <a:lstStyle/>
          <a:p>
            <a:endParaRPr/>
          </a:p>
        </p:txBody>
      </p:sp>
      <p:sp>
        <p:nvSpPr>
          <p:cNvPr id="27" name="Rectangle 26">
            <a:extLst>
              <a:ext uri="{FF2B5EF4-FFF2-40B4-BE49-F238E27FC236}">
                <a16:creationId xmlns:a16="http://schemas.microsoft.com/office/drawing/2014/main" id="{CEA74166-780E-4886-AE68-010B1A87D08E}"/>
              </a:ext>
            </a:extLst>
          </p:cNvPr>
          <p:cNvSpPr>
            <a:spLocks noGrp="1"/>
          </p:cNvSpPr>
          <p:nvPr/>
        </p:nvSpPr>
        <p:spPr>
          <a:xfrm>
            <a:off x="38100" y="38100"/>
            <a:ext cx="9525" cy="9525"/>
          </a:xfrm>
          <a:prstGeom prst="rect">
            <a:avLst/>
          </a:prstGeom>
          <a:noFill/>
          <a:ln w="0">
            <a:noFill/>
            <a:prstDash val="solid"/>
          </a:ln>
        </p:spPr>
        <p:txBody>
          <a:bodyPr/>
          <a:lstStyle/>
          <a:p>
            <a:endParaRPr/>
          </a:p>
        </p:txBody>
      </p:sp>
      <p:sp>
        <p:nvSpPr>
          <p:cNvPr id="28" name="Rectangle 27">
            <a:extLst>
              <a:ext uri="{FF2B5EF4-FFF2-40B4-BE49-F238E27FC236}">
                <a16:creationId xmlns:a16="http://schemas.microsoft.com/office/drawing/2014/main" id="{9D170B89-F1DE-4060-97B4-C45B4BC9D5C4}"/>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ctr">
              <a:buNone/>
              <a:defRPr sz="2175" b="1">
                <a:solidFill>
                  <a:srgbClr val="1E43C8"/>
                </a:solidFill>
                <a:latin typeface="Aptos"/>
                <a:ea typeface="Aptos"/>
                <a:cs typeface="Aptos"/>
              </a:defRPr>
            </a:pPr>
            <a:endParaRPr/>
          </a:p>
        </p:txBody>
      </p:sp>
    </p:spTree>
    <p:extLst>
      <p:ext uri="{BB962C8B-B14F-4D97-AF65-F5344CB8AC3E}">
        <p14:creationId xmlns:p14="http://schemas.microsoft.com/office/powerpoint/2010/main" val="230766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4CDB08C1-9EFB-4D76-A463-3D9336B935DB}"/>
              </a:ext>
            </a:extLst>
          </p:cNvPr>
          <p:cNvSpPr>
            <a:spLocks noGrp="1"/>
          </p:cNvSpPr>
          <p:nvPr/>
        </p:nvSpPr>
        <p:spPr>
          <a:xfrm>
            <a:off x="609600" y="323850"/>
            <a:ext cx="5334000" cy="247650"/>
          </a:xfrm>
          <a:prstGeom prst="rect">
            <a:avLst/>
          </a:prstGeom>
          <a:noFill/>
          <a:ln w="0">
            <a:noFill/>
            <a:prstDash val="solid"/>
          </a:ln>
        </p:spPr>
        <p:txBody>
          <a:bodyPr wrap="square" lIns="0" tIns="0" rIns="0" bIns="0" anchor="ctr">
            <a:normAutofit/>
          </a:bodyPr>
          <a:lstStyle/>
          <a:p>
            <a:pPr algn="l">
              <a:lnSpc>
                <a:spcPct val="100000"/>
              </a:lnSpc>
              <a:buNone/>
              <a:defRPr sz="1125" b="1">
                <a:solidFill>
                  <a:srgbClr val="2D5BFF"/>
                </a:solidFill>
                <a:latin typeface="Aptos"/>
                <a:ea typeface="Aptos"/>
                <a:cs typeface="Aptos"/>
              </a:defRPr>
            </a:pPr>
            <a:r>
              <a:rPr sz="1125" b="1">
                <a:solidFill>
                  <a:srgbClr val="2D5BFF"/>
                </a:solidFill>
                <a:latin typeface="Aptos"/>
                <a:ea typeface="Aptos"/>
                <a:cs typeface="Aptos"/>
              </a:rPr>
              <a:t>HOW IT WORKS AT SCALE</a:t>
            </a:r>
          </a:p>
        </p:txBody>
      </p:sp>
      <p:sp>
        <p:nvSpPr>
          <p:cNvPr id="2" name="Rectangle 1">
            <a:extLst>
              <a:ext uri="{FF2B5EF4-FFF2-40B4-BE49-F238E27FC236}">
                <a16:creationId xmlns:a16="http://schemas.microsoft.com/office/drawing/2014/main" id="{67A1947D-2816-4D7B-994F-965D92843603}"/>
              </a:ext>
            </a:extLst>
          </p:cNvPr>
          <p:cNvSpPr>
            <a:spLocks noGrp="1"/>
          </p:cNvSpPr>
          <p:nvPr/>
        </p:nvSpPr>
        <p:spPr>
          <a:xfrm>
            <a:off x="609600" y="723900"/>
            <a:ext cx="10287000" cy="685800"/>
          </a:xfrm>
          <a:prstGeom prst="rect">
            <a:avLst/>
          </a:prstGeom>
          <a:noFill/>
          <a:ln w="0">
            <a:noFill/>
            <a:prstDash val="solid"/>
          </a:ln>
        </p:spPr>
        <p:txBody>
          <a:bodyPr wrap="square" lIns="0" tIns="0" rIns="0" bIns="0" anchor="ctr">
            <a:normAutofit/>
          </a:bodyPr>
          <a:lstStyle/>
          <a:p>
            <a:pPr algn="l">
              <a:lnSpc>
                <a:spcPct val="100000"/>
              </a:lnSpc>
              <a:buNone/>
              <a:defRPr sz="3300" b="1">
                <a:solidFill>
                  <a:srgbClr val="13213A"/>
                </a:solidFill>
                <a:latin typeface="Aptos"/>
                <a:ea typeface="Aptos"/>
                <a:cs typeface="Aptos"/>
              </a:defRPr>
            </a:pPr>
            <a:r>
              <a:rPr sz="3300" b="1">
                <a:solidFill>
                  <a:srgbClr val="13213A"/>
                </a:solidFill>
                <a:latin typeface="Aptos"/>
                <a:ea typeface="Aptos"/>
                <a:cs typeface="Aptos"/>
              </a:rPr>
              <a:t>Screen broadly. Investigate locally.</a:t>
            </a:r>
          </a:p>
        </p:txBody>
      </p:sp>
      <p:sp>
        <p:nvSpPr>
          <p:cNvPr id="3" name="Rectangle 2">
            <a:extLst>
              <a:ext uri="{FF2B5EF4-FFF2-40B4-BE49-F238E27FC236}">
                <a16:creationId xmlns:a16="http://schemas.microsoft.com/office/drawing/2014/main" id="{D0AEB474-BD0C-4E86-9E89-ACC4CB06C2EA}"/>
              </a:ext>
            </a:extLst>
          </p:cNvPr>
          <p:cNvSpPr>
            <a:spLocks noGrp="1"/>
          </p:cNvSpPr>
          <p:nvPr/>
        </p:nvSpPr>
        <p:spPr>
          <a:xfrm>
            <a:off x="609600" y="6419850"/>
            <a:ext cx="10972800" cy="19050"/>
          </a:xfrm>
          <a:prstGeom prst="rect">
            <a:avLst/>
          </a:prstGeom>
          <a:solidFill>
            <a:srgbClr val="D6DCE7"/>
          </a:solidFill>
          <a:ln w="0">
            <a:noFill/>
            <a:prstDash val="solid"/>
          </a:ln>
        </p:spPr>
        <p:txBody>
          <a:bodyPr lIns="0" tIns="0" rIns="0" bIns="0"/>
          <a:lstStyle/>
          <a:p>
            <a:pPr>
              <a:defRPr sz="100">
                <a:solidFill>
                  <a:srgbClr val="D6DCE7"/>
                </a:solidFill>
              </a:defRPr>
            </a:pPr>
            <a:r>
              <a:rPr sz="100">
                <a:solidFill>
                  <a:srgbClr val="D6DCE7"/>
                </a:solidFill>
              </a:rPr>
              <a:t>​</a:t>
            </a:r>
          </a:p>
        </p:txBody>
      </p:sp>
      <p:sp>
        <p:nvSpPr>
          <p:cNvPr id="4" name="Rectangle 3">
            <a:extLst>
              <a:ext uri="{FF2B5EF4-FFF2-40B4-BE49-F238E27FC236}">
                <a16:creationId xmlns:a16="http://schemas.microsoft.com/office/drawing/2014/main" id="{208E33C0-E90D-46A1-AFD5-4069BCE07049}"/>
              </a:ext>
            </a:extLst>
          </p:cNvPr>
          <p:cNvSpPr>
            <a:spLocks noGrp="1"/>
          </p:cNvSpPr>
          <p:nvPr/>
        </p:nvSpPr>
        <p:spPr>
          <a:xfrm>
            <a:off x="609600" y="6515100"/>
            <a:ext cx="9334500" cy="171450"/>
          </a:xfrm>
          <a:prstGeom prst="rect">
            <a:avLst/>
          </a:prstGeom>
          <a:noFill/>
          <a:ln w="0">
            <a:noFill/>
            <a:prstDash val="solid"/>
          </a:ln>
        </p:spPr>
        <p:txBody>
          <a:bodyPr wrap="square" lIns="0" tIns="0" rIns="0" bIns="0" anchor="ctr">
            <a:normAutofit/>
          </a:bodyPr>
          <a:lstStyle/>
          <a:p>
            <a:pPr algn="l">
              <a:lnSpc>
                <a:spcPct val="100000"/>
              </a:lnSpc>
              <a:buNone/>
              <a:defRPr sz="900" b="0">
                <a:solidFill>
                  <a:srgbClr val="667085"/>
                </a:solidFill>
                <a:latin typeface="Aptos"/>
                <a:ea typeface="Aptos"/>
                <a:cs typeface="Aptos"/>
              </a:defRPr>
            </a:pPr>
            <a:r>
              <a:rPr sz="900" b="0">
                <a:solidFill>
                  <a:srgbClr val="667085"/>
                </a:solidFill>
                <a:latin typeface="Aptos"/>
                <a:ea typeface="Aptos"/>
                <a:cs typeface="Aptos"/>
              </a:rPr>
              <a:t>Approved market universe → focused regional investigation</a:t>
            </a:r>
          </a:p>
        </p:txBody>
      </p:sp>
      <p:sp>
        <p:nvSpPr>
          <p:cNvPr id="5" name="Rectangle 4">
            <a:extLst>
              <a:ext uri="{FF2B5EF4-FFF2-40B4-BE49-F238E27FC236}">
                <a16:creationId xmlns:a16="http://schemas.microsoft.com/office/drawing/2014/main" id="{F2D06FB1-AE1D-4FFD-8A7D-C7EED75FF21C}"/>
              </a:ext>
            </a:extLst>
          </p:cNvPr>
          <p:cNvSpPr>
            <a:spLocks noGrp="1"/>
          </p:cNvSpPr>
          <p:nvPr/>
        </p:nvSpPr>
        <p:spPr>
          <a:xfrm>
            <a:off x="10953750" y="6515100"/>
            <a:ext cx="628650" cy="171450"/>
          </a:xfrm>
          <a:prstGeom prst="rect">
            <a:avLst/>
          </a:prstGeom>
          <a:noFill/>
          <a:ln w="0">
            <a:noFill/>
            <a:prstDash val="solid"/>
          </a:ln>
        </p:spPr>
        <p:txBody>
          <a:bodyPr wrap="square" lIns="0" tIns="0" rIns="0" bIns="0" anchor="ctr">
            <a:normAutofit/>
          </a:bodyPr>
          <a:lstStyle/>
          <a:p>
            <a:pPr algn="r">
              <a:lnSpc>
                <a:spcPct val="100000"/>
              </a:lnSpc>
              <a:buNone/>
              <a:defRPr sz="900" b="1">
                <a:solidFill>
                  <a:srgbClr val="13213A"/>
                </a:solidFill>
                <a:latin typeface="Aptos"/>
                <a:ea typeface="Aptos"/>
                <a:cs typeface="Aptos"/>
              </a:defRPr>
            </a:pPr>
            <a:r>
              <a:rPr sz="900" b="1">
                <a:solidFill>
                  <a:srgbClr val="13213A"/>
                </a:solidFill>
                <a:latin typeface="Aptos"/>
                <a:ea typeface="Aptos"/>
                <a:cs typeface="Aptos"/>
              </a:rPr>
              <a:t>05</a:t>
            </a:r>
          </a:p>
        </p:txBody>
      </p:sp>
      <p:sp>
        <p:nvSpPr>
          <p:cNvPr id="6" name="Rounded Rectangle 5">
            <a:extLst>
              <a:ext uri="{FF2B5EF4-FFF2-40B4-BE49-F238E27FC236}">
                <a16:creationId xmlns:a16="http://schemas.microsoft.com/office/drawing/2014/main" id="{F1091663-7631-437C-82F3-E0A25DD12E95}"/>
              </a:ext>
            </a:extLst>
          </p:cNvPr>
          <p:cNvSpPr>
            <a:spLocks noGrp="1"/>
          </p:cNvSpPr>
          <p:nvPr/>
        </p:nvSpPr>
        <p:spPr>
          <a:xfrm>
            <a:off x="685800" y="1809750"/>
            <a:ext cx="3238500" cy="285750"/>
          </a:xfrm>
          <a:prstGeom prst="roundRect">
            <a:avLst>
              <a:gd name="adj" fmla="val 5670"/>
            </a:avLst>
          </a:prstGeom>
          <a:noFill/>
          <a:ln w="0">
            <a:noFill/>
            <a:prstDash val="solid"/>
          </a:ln>
        </p:spPr>
        <p:txBody>
          <a:bodyPr wrap="square" lIns="0" tIns="0" rIns="0" bIns="0" anchor="ctr">
            <a:normAutofit/>
          </a:bodyPr>
          <a:lstStyle/>
          <a:p>
            <a:pPr algn="l">
              <a:lnSpc>
                <a:spcPct val="100000"/>
              </a:lnSpc>
              <a:buNone/>
              <a:defRPr sz="1200" b="1">
                <a:solidFill>
                  <a:srgbClr val="2D5BFF"/>
                </a:solidFill>
              </a:defRPr>
            </a:pPr>
            <a:r>
              <a:rPr sz="1200" b="1">
                <a:solidFill>
                  <a:srgbClr val="2D5BFF"/>
                </a:solidFill>
              </a:rPr>
              <a:t>BROAD SCREEN</a:t>
            </a:r>
          </a:p>
        </p:txBody>
      </p:sp>
      <p:sp>
        <p:nvSpPr>
          <p:cNvPr id="7" name="Rounded Rectangle 6">
            <a:extLst>
              <a:ext uri="{FF2B5EF4-FFF2-40B4-BE49-F238E27FC236}">
                <a16:creationId xmlns:a16="http://schemas.microsoft.com/office/drawing/2014/main" id="{B9D4095D-3A50-44AB-8397-45B5014A0C6C}"/>
              </a:ext>
            </a:extLst>
          </p:cNvPr>
          <p:cNvSpPr>
            <a:spLocks noGrp="1"/>
          </p:cNvSpPr>
          <p:nvPr/>
        </p:nvSpPr>
        <p:spPr>
          <a:xfrm>
            <a:off x="723900" y="3752850"/>
            <a:ext cx="228600" cy="628650"/>
          </a:xfrm>
          <a:prstGeom prst="roundRect">
            <a:avLst>
              <a:gd name="adj" fmla="val 33333"/>
            </a:avLst>
          </a:prstGeom>
          <a:solidFill>
            <a:srgbClr val="DDE6FF"/>
          </a:solidFill>
          <a:ln w="0">
            <a:noFill/>
            <a:prstDash val="solid"/>
          </a:ln>
        </p:spPr>
        <p:txBody>
          <a:bodyPr lIns="0" tIns="0" rIns="0" bIns="0" anchor="t">
            <a:normAutofit/>
          </a:bodyPr>
          <a:lstStyle/>
          <a:p>
            <a:pPr algn="l">
              <a:buNone/>
              <a:defRPr sz="100" b="1">
                <a:solidFill>
                  <a:srgbClr val="DDE6FF"/>
                </a:solidFill>
                <a:latin typeface="Aptos"/>
                <a:ea typeface="Aptos"/>
                <a:cs typeface="Aptos"/>
              </a:defRPr>
            </a:pPr>
            <a:r>
              <a:rPr sz="100" b="1">
                <a:solidFill>
                  <a:srgbClr val="DDE6FF"/>
                </a:solidFill>
                <a:latin typeface="Aptos"/>
                <a:ea typeface="Aptos"/>
                <a:cs typeface="Aptos"/>
              </a:rPr>
              <a:t>​</a:t>
            </a:r>
          </a:p>
        </p:txBody>
      </p:sp>
      <p:sp>
        <p:nvSpPr>
          <p:cNvPr id="8" name="Rounded Rectangle 7">
            <a:extLst>
              <a:ext uri="{FF2B5EF4-FFF2-40B4-BE49-F238E27FC236}">
                <a16:creationId xmlns:a16="http://schemas.microsoft.com/office/drawing/2014/main" id="{229CC309-1830-40A0-83B5-0E7A96520242}"/>
              </a:ext>
            </a:extLst>
          </p:cNvPr>
          <p:cNvSpPr>
            <a:spLocks noGrp="1"/>
          </p:cNvSpPr>
          <p:nvPr/>
        </p:nvSpPr>
        <p:spPr>
          <a:xfrm>
            <a:off x="1171575" y="3257550"/>
            <a:ext cx="228600" cy="1123950"/>
          </a:xfrm>
          <a:prstGeom prst="roundRect">
            <a:avLst>
              <a:gd name="adj" fmla="val 33333"/>
            </a:avLst>
          </a:prstGeom>
          <a:solidFill>
            <a:srgbClr val="DDE6FF"/>
          </a:solidFill>
          <a:ln w="0">
            <a:noFill/>
            <a:prstDash val="solid"/>
          </a:ln>
        </p:spPr>
        <p:txBody>
          <a:bodyPr lIns="0" tIns="0" rIns="0" bIns="0"/>
          <a:lstStyle/>
          <a:p>
            <a:pPr>
              <a:defRPr sz="100">
                <a:solidFill>
                  <a:srgbClr val="DDE6FF"/>
                </a:solidFill>
              </a:defRPr>
            </a:pPr>
            <a:r>
              <a:rPr sz="100">
                <a:solidFill>
                  <a:srgbClr val="DDE6FF"/>
                </a:solidFill>
              </a:rPr>
              <a:t>​</a:t>
            </a:r>
          </a:p>
        </p:txBody>
      </p:sp>
      <p:sp>
        <p:nvSpPr>
          <p:cNvPr id="9" name="Rounded Rectangle 8">
            <a:extLst>
              <a:ext uri="{FF2B5EF4-FFF2-40B4-BE49-F238E27FC236}">
                <a16:creationId xmlns:a16="http://schemas.microsoft.com/office/drawing/2014/main" id="{5AFE9B29-92DC-49FE-8E27-1892CBCACE36}"/>
              </a:ext>
            </a:extLst>
          </p:cNvPr>
          <p:cNvSpPr>
            <a:spLocks noGrp="1"/>
          </p:cNvSpPr>
          <p:nvPr/>
        </p:nvSpPr>
        <p:spPr>
          <a:xfrm>
            <a:off x="1619250" y="3581400"/>
            <a:ext cx="228600" cy="800100"/>
          </a:xfrm>
          <a:prstGeom prst="roundRect">
            <a:avLst>
              <a:gd name="adj" fmla="val 33333"/>
            </a:avLst>
          </a:prstGeom>
          <a:solidFill>
            <a:srgbClr val="DDE6FF"/>
          </a:solidFill>
          <a:ln w="0">
            <a:noFill/>
            <a:prstDash val="solid"/>
          </a:ln>
        </p:spPr>
        <p:txBody>
          <a:bodyPr lIns="0" tIns="0" rIns="0" bIns="0"/>
          <a:lstStyle/>
          <a:p>
            <a:pPr>
              <a:defRPr sz="100">
                <a:solidFill>
                  <a:srgbClr val="DDE6FF"/>
                </a:solidFill>
              </a:defRPr>
            </a:pPr>
            <a:r>
              <a:rPr sz="100">
                <a:solidFill>
                  <a:srgbClr val="DDE6FF"/>
                </a:solidFill>
              </a:rPr>
              <a:t>​</a:t>
            </a:r>
          </a:p>
        </p:txBody>
      </p:sp>
      <p:sp>
        <p:nvSpPr>
          <p:cNvPr id="10" name="Rounded Rectangle 9">
            <a:extLst>
              <a:ext uri="{FF2B5EF4-FFF2-40B4-BE49-F238E27FC236}">
                <a16:creationId xmlns:a16="http://schemas.microsoft.com/office/drawing/2014/main" id="{FAF4B75B-F844-4FE4-B692-B326696B248A}"/>
              </a:ext>
            </a:extLst>
          </p:cNvPr>
          <p:cNvSpPr>
            <a:spLocks noGrp="1"/>
          </p:cNvSpPr>
          <p:nvPr/>
        </p:nvSpPr>
        <p:spPr>
          <a:xfrm>
            <a:off x="2066925" y="2952750"/>
            <a:ext cx="228600" cy="1428750"/>
          </a:xfrm>
          <a:prstGeom prst="roundRect">
            <a:avLst>
              <a:gd name="adj" fmla="val 33333"/>
            </a:avLst>
          </a:prstGeom>
          <a:solidFill>
            <a:srgbClr val="DDE6FF"/>
          </a:solidFill>
          <a:ln w="0">
            <a:noFill/>
            <a:prstDash val="solid"/>
          </a:ln>
        </p:spPr>
        <p:txBody>
          <a:bodyPr lIns="0" tIns="0" rIns="0" bIns="0"/>
          <a:lstStyle/>
          <a:p>
            <a:pPr>
              <a:defRPr sz="100">
                <a:solidFill>
                  <a:srgbClr val="DDE6FF"/>
                </a:solidFill>
              </a:defRPr>
            </a:pPr>
            <a:r>
              <a:rPr sz="100">
                <a:solidFill>
                  <a:srgbClr val="DDE6FF"/>
                </a:solidFill>
              </a:rPr>
              <a:t>​</a:t>
            </a:r>
          </a:p>
        </p:txBody>
      </p:sp>
      <p:sp>
        <p:nvSpPr>
          <p:cNvPr id="11" name="Rounded Rectangle 10">
            <a:extLst>
              <a:ext uri="{FF2B5EF4-FFF2-40B4-BE49-F238E27FC236}">
                <a16:creationId xmlns:a16="http://schemas.microsoft.com/office/drawing/2014/main" id="{D37C8CB5-F64F-4388-9AEA-9B52392B3925}"/>
              </a:ext>
            </a:extLst>
          </p:cNvPr>
          <p:cNvSpPr>
            <a:spLocks noGrp="1"/>
          </p:cNvSpPr>
          <p:nvPr/>
        </p:nvSpPr>
        <p:spPr>
          <a:xfrm>
            <a:off x="2514600" y="3467100"/>
            <a:ext cx="228600" cy="914400"/>
          </a:xfrm>
          <a:prstGeom prst="roundRect">
            <a:avLst>
              <a:gd name="adj" fmla="val 33333"/>
            </a:avLst>
          </a:prstGeom>
          <a:solidFill>
            <a:srgbClr val="DDE6FF"/>
          </a:solidFill>
          <a:ln w="0">
            <a:noFill/>
            <a:prstDash val="solid"/>
          </a:ln>
        </p:spPr>
        <p:txBody>
          <a:bodyPr lIns="0" tIns="0" rIns="0" bIns="0"/>
          <a:lstStyle/>
          <a:p>
            <a:pPr>
              <a:defRPr sz="100">
                <a:solidFill>
                  <a:srgbClr val="DDE6FF"/>
                </a:solidFill>
              </a:defRPr>
            </a:pPr>
            <a:r>
              <a:rPr sz="100">
                <a:solidFill>
                  <a:srgbClr val="DDE6FF"/>
                </a:solidFill>
              </a:rPr>
              <a:t>​</a:t>
            </a:r>
          </a:p>
        </p:txBody>
      </p:sp>
      <p:sp>
        <p:nvSpPr>
          <p:cNvPr id="12" name="Rounded Rectangle 11">
            <a:extLst>
              <a:ext uri="{FF2B5EF4-FFF2-40B4-BE49-F238E27FC236}">
                <a16:creationId xmlns:a16="http://schemas.microsoft.com/office/drawing/2014/main" id="{123FCC9E-2017-4BC3-8517-CCA505119AE9}"/>
              </a:ext>
            </a:extLst>
          </p:cNvPr>
          <p:cNvSpPr>
            <a:spLocks noGrp="1"/>
          </p:cNvSpPr>
          <p:nvPr/>
        </p:nvSpPr>
        <p:spPr>
          <a:xfrm>
            <a:off x="2962275" y="3124200"/>
            <a:ext cx="228600" cy="1257300"/>
          </a:xfrm>
          <a:prstGeom prst="roundRect">
            <a:avLst>
              <a:gd name="adj" fmla="val 33333"/>
            </a:avLst>
          </a:prstGeom>
          <a:solidFill>
            <a:srgbClr val="DDE6FF"/>
          </a:solidFill>
          <a:ln w="0">
            <a:noFill/>
            <a:prstDash val="solid"/>
          </a:ln>
        </p:spPr>
        <p:txBody>
          <a:bodyPr lIns="0" tIns="0" rIns="0" bIns="0"/>
          <a:lstStyle/>
          <a:p>
            <a:pPr>
              <a:defRPr sz="100">
                <a:solidFill>
                  <a:srgbClr val="DDE6FF"/>
                </a:solidFill>
              </a:defRPr>
            </a:pPr>
            <a:r>
              <a:rPr sz="100">
                <a:solidFill>
                  <a:srgbClr val="DDE6FF"/>
                </a:solidFill>
              </a:rPr>
              <a:t>​</a:t>
            </a:r>
          </a:p>
        </p:txBody>
      </p:sp>
      <p:sp>
        <p:nvSpPr>
          <p:cNvPr id="13" name="Rounded Rectangle 12">
            <a:extLst>
              <a:ext uri="{FF2B5EF4-FFF2-40B4-BE49-F238E27FC236}">
                <a16:creationId xmlns:a16="http://schemas.microsoft.com/office/drawing/2014/main" id="{190B2BAB-9190-441B-9FAA-5190BC2C5768}"/>
              </a:ext>
            </a:extLst>
          </p:cNvPr>
          <p:cNvSpPr>
            <a:spLocks noGrp="1"/>
          </p:cNvSpPr>
          <p:nvPr/>
        </p:nvSpPr>
        <p:spPr>
          <a:xfrm>
            <a:off x="3409950" y="3695700"/>
            <a:ext cx="228600" cy="685800"/>
          </a:xfrm>
          <a:prstGeom prst="roundRect">
            <a:avLst>
              <a:gd name="adj" fmla="val 33333"/>
            </a:avLst>
          </a:prstGeom>
          <a:solidFill>
            <a:srgbClr val="DDE6FF"/>
          </a:solidFill>
          <a:ln w="0">
            <a:noFill/>
            <a:prstDash val="solid"/>
          </a:ln>
        </p:spPr>
        <p:txBody>
          <a:bodyPr lIns="0" tIns="0" rIns="0" bIns="0"/>
          <a:lstStyle/>
          <a:p>
            <a:pPr>
              <a:defRPr sz="100">
                <a:solidFill>
                  <a:srgbClr val="DDE6FF"/>
                </a:solidFill>
              </a:defRPr>
            </a:pPr>
            <a:r>
              <a:rPr sz="100">
                <a:solidFill>
                  <a:srgbClr val="DDE6FF"/>
                </a:solidFill>
              </a:rPr>
              <a:t>​</a:t>
            </a:r>
          </a:p>
        </p:txBody>
      </p:sp>
      <p:sp>
        <p:nvSpPr>
          <p:cNvPr id="14" name="Rounded Rectangle 13">
            <a:extLst>
              <a:ext uri="{FF2B5EF4-FFF2-40B4-BE49-F238E27FC236}">
                <a16:creationId xmlns:a16="http://schemas.microsoft.com/office/drawing/2014/main" id="{8FB65521-1330-4DB5-A1D5-15ED03CE6528}"/>
              </a:ext>
            </a:extLst>
          </p:cNvPr>
          <p:cNvSpPr>
            <a:spLocks noGrp="1"/>
          </p:cNvSpPr>
          <p:nvPr/>
        </p:nvSpPr>
        <p:spPr>
          <a:xfrm>
            <a:off x="3857625" y="3352800"/>
            <a:ext cx="228600" cy="1028700"/>
          </a:xfrm>
          <a:prstGeom prst="roundRect">
            <a:avLst>
              <a:gd name="adj" fmla="val 33333"/>
            </a:avLst>
          </a:prstGeom>
          <a:solidFill>
            <a:srgbClr val="DDE6FF"/>
          </a:solidFill>
          <a:ln w="0">
            <a:noFill/>
            <a:prstDash val="solid"/>
          </a:ln>
        </p:spPr>
        <p:txBody>
          <a:bodyPr lIns="0" tIns="0" rIns="0" bIns="0"/>
          <a:lstStyle/>
          <a:p>
            <a:pPr>
              <a:defRPr sz="100">
                <a:solidFill>
                  <a:srgbClr val="DDE6FF"/>
                </a:solidFill>
              </a:defRPr>
            </a:pPr>
            <a:r>
              <a:rPr sz="100">
                <a:solidFill>
                  <a:srgbClr val="DDE6FF"/>
                </a:solidFill>
              </a:rPr>
              <a:t>​</a:t>
            </a:r>
          </a:p>
        </p:txBody>
      </p:sp>
      <p:sp>
        <p:nvSpPr>
          <p:cNvPr id="15" name="Rounded Rectangle 14">
            <a:extLst>
              <a:ext uri="{FF2B5EF4-FFF2-40B4-BE49-F238E27FC236}">
                <a16:creationId xmlns:a16="http://schemas.microsoft.com/office/drawing/2014/main" id="{A897D0E6-9CFC-4755-8BCA-9CEE4C818358}"/>
              </a:ext>
            </a:extLst>
          </p:cNvPr>
          <p:cNvSpPr>
            <a:spLocks noGrp="1"/>
          </p:cNvSpPr>
          <p:nvPr/>
        </p:nvSpPr>
        <p:spPr>
          <a:xfrm>
            <a:off x="4305300" y="3009900"/>
            <a:ext cx="228600" cy="1371600"/>
          </a:xfrm>
          <a:prstGeom prst="roundRect">
            <a:avLst>
              <a:gd name="adj" fmla="val 33333"/>
            </a:avLst>
          </a:prstGeom>
          <a:solidFill>
            <a:srgbClr val="2D5BFF"/>
          </a:solidFill>
          <a:ln w="0">
            <a:noFill/>
            <a:prstDash val="solid"/>
          </a:ln>
        </p:spPr>
        <p:txBody>
          <a:bodyPr lIns="0" tIns="0" rIns="0" bIns="0"/>
          <a:lstStyle/>
          <a:p>
            <a:pPr>
              <a:defRPr sz="100">
                <a:solidFill>
                  <a:srgbClr val="2D5BFF"/>
                </a:solidFill>
              </a:defRPr>
            </a:pPr>
            <a:r>
              <a:rPr sz="100">
                <a:solidFill>
                  <a:srgbClr val="2D5BFF"/>
                </a:solidFill>
              </a:rPr>
              <a:t>​</a:t>
            </a:r>
          </a:p>
        </p:txBody>
      </p:sp>
      <p:sp>
        <p:nvSpPr>
          <p:cNvPr id="16" name="Rounded Rectangle 15">
            <a:extLst>
              <a:ext uri="{FF2B5EF4-FFF2-40B4-BE49-F238E27FC236}">
                <a16:creationId xmlns:a16="http://schemas.microsoft.com/office/drawing/2014/main" id="{E2543ABC-0E02-4932-8BA8-ED06622DA361}"/>
              </a:ext>
            </a:extLst>
          </p:cNvPr>
          <p:cNvSpPr>
            <a:spLocks noGrp="1"/>
          </p:cNvSpPr>
          <p:nvPr/>
        </p:nvSpPr>
        <p:spPr>
          <a:xfrm>
            <a:off x="4752975" y="3524250"/>
            <a:ext cx="228600" cy="857250"/>
          </a:xfrm>
          <a:prstGeom prst="roundRect">
            <a:avLst>
              <a:gd name="adj" fmla="val 33333"/>
            </a:avLst>
          </a:prstGeom>
          <a:solidFill>
            <a:srgbClr val="DDE6FF"/>
          </a:solidFill>
          <a:ln w="0">
            <a:noFill/>
            <a:prstDash val="solid"/>
          </a:ln>
        </p:spPr>
        <p:txBody>
          <a:bodyPr lIns="0" tIns="0" rIns="0" bIns="0"/>
          <a:lstStyle/>
          <a:p>
            <a:pPr>
              <a:defRPr sz="100">
                <a:solidFill>
                  <a:srgbClr val="DDE6FF"/>
                </a:solidFill>
              </a:defRPr>
            </a:pPr>
            <a:r>
              <a:rPr sz="100">
                <a:solidFill>
                  <a:srgbClr val="DDE6FF"/>
                </a:solidFill>
              </a:rPr>
              <a:t>​</a:t>
            </a:r>
          </a:p>
        </p:txBody>
      </p:sp>
      <p:sp>
        <p:nvSpPr>
          <p:cNvPr id="17" name="Rounded Rectangle 16">
            <a:extLst>
              <a:ext uri="{FF2B5EF4-FFF2-40B4-BE49-F238E27FC236}">
                <a16:creationId xmlns:a16="http://schemas.microsoft.com/office/drawing/2014/main" id="{1E38A0FB-62C0-4E69-B8D9-8702DA8EA5A1}"/>
              </a:ext>
            </a:extLst>
          </p:cNvPr>
          <p:cNvSpPr>
            <a:spLocks noGrp="1"/>
          </p:cNvSpPr>
          <p:nvPr/>
        </p:nvSpPr>
        <p:spPr>
          <a:xfrm>
            <a:off x="685800" y="4762500"/>
            <a:ext cx="4762500" cy="552450"/>
          </a:xfrm>
          <a:prstGeom prst="roundRect">
            <a:avLst>
              <a:gd name="adj" fmla="val 26667"/>
            </a:avLst>
          </a:prstGeom>
          <a:noFill/>
          <a:ln w="0">
            <a:noFill/>
            <a:prstDash val="solid"/>
          </a:ln>
        </p:spPr>
        <p:txBody>
          <a:bodyPr wrap="square" lIns="0" tIns="0" rIns="0" bIns="0" anchor="ctr">
            <a:normAutofit/>
          </a:bodyPr>
          <a:lstStyle/>
          <a:p>
            <a:pPr algn="l">
              <a:lnSpc>
                <a:spcPct val="100000"/>
              </a:lnSpc>
              <a:buNone/>
              <a:defRPr sz="1650" b="1">
                <a:solidFill>
                  <a:srgbClr val="13213A"/>
                </a:solidFill>
              </a:defRPr>
            </a:pPr>
            <a:r>
              <a:rPr sz="1650" b="1">
                <a:solidFill>
                  <a:srgbClr val="13213A"/>
                </a:solidFill>
              </a:rPr>
              <a:t>Review the approved market list consistently</a:t>
            </a:r>
          </a:p>
        </p:txBody>
      </p:sp>
      <p:sp>
        <p:nvSpPr>
          <p:cNvPr id="18" name="Rounded Rectangle 17">
            <a:extLst>
              <a:ext uri="{FF2B5EF4-FFF2-40B4-BE49-F238E27FC236}">
                <a16:creationId xmlns:a16="http://schemas.microsoft.com/office/drawing/2014/main" id="{FBE02472-ECAA-4DC0-BB2C-3365B4D22811}"/>
              </a:ext>
            </a:extLst>
          </p:cNvPr>
          <p:cNvSpPr>
            <a:spLocks noGrp="1"/>
          </p:cNvSpPr>
          <p:nvPr/>
        </p:nvSpPr>
        <p:spPr>
          <a:xfrm>
            <a:off x="6115050" y="1695450"/>
            <a:ext cx="5467350" cy="3771900"/>
          </a:xfrm>
          <a:prstGeom prst="roundRect">
            <a:avLst>
              <a:gd name="adj" fmla="val 7071"/>
            </a:avLst>
          </a:prstGeom>
          <a:solidFill>
            <a:srgbClr val="0B1733"/>
          </a:solidFill>
          <a:ln w="0">
            <a:noFill/>
            <a:prstDash val="solid"/>
          </a:ln>
        </p:spPr>
        <p:txBody>
          <a:bodyPr lIns="0" tIns="0" rIns="0" bIns="0" anchor="t">
            <a:normAutofit/>
          </a:bodyPr>
          <a:lstStyle/>
          <a:p>
            <a:pPr algn="l">
              <a:buNone/>
              <a:defRPr sz="100" b="1">
                <a:solidFill>
                  <a:srgbClr val="0B1733"/>
                </a:solidFill>
                <a:latin typeface="Aptos"/>
                <a:ea typeface="Aptos"/>
                <a:cs typeface="Aptos"/>
              </a:defRPr>
            </a:pPr>
            <a:r>
              <a:rPr sz="100" b="1">
                <a:solidFill>
                  <a:srgbClr val="0B1733"/>
                </a:solidFill>
                <a:latin typeface="Aptos"/>
                <a:ea typeface="Aptos"/>
                <a:cs typeface="Aptos"/>
              </a:rPr>
              <a:t>​</a:t>
            </a:r>
          </a:p>
        </p:txBody>
      </p:sp>
      <p:sp>
        <p:nvSpPr>
          <p:cNvPr id="19" name="Rectangle 18">
            <a:extLst>
              <a:ext uri="{FF2B5EF4-FFF2-40B4-BE49-F238E27FC236}">
                <a16:creationId xmlns:a16="http://schemas.microsoft.com/office/drawing/2014/main" id="{27F0FB45-8DAB-4AC0-8AE5-C666D1CD7FC9}"/>
              </a:ext>
            </a:extLst>
          </p:cNvPr>
          <p:cNvSpPr>
            <a:spLocks noGrp="1"/>
          </p:cNvSpPr>
          <p:nvPr/>
        </p:nvSpPr>
        <p:spPr>
          <a:xfrm>
            <a:off x="6534150" y="2057400"/>
            <a:ext cx="4095750" cy="28575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BFE9D0"/>
                </a:solidFill>
                <a:latin typeface="Aptos"/>
                <a:ea typeface="Aptos"/>
                <a:cs typeface="Aptos"/>
              </a:defRPr>
            </a:pPr>
            <a:r>
              <a:rPr sz="1200" b="1">
                <a:solidFill>
                  <a:srgbClr val="BFE9D0"/>
                </a:solidFill>
                <a:latin typeface="Aptos"/>
                <a:ea typeface="Aptos"/>
                <a:cs typeface="Aptos"/>
              </a:rPr>
              <a:t>DEEP DIVE</a:t>
            </a:r>
          </a:p>
        </p:txBody>
      </p:sp>
      <p:sp>
        <p:nvSpPr>
          <p:cNvPr id="20" name="Rounded Rectangle 19">
            <a:extLst>
              <a:ext uri="{FF2B5EF4-FFF2-40B4-BE49-F238E27FC236}">
                <a16:creationId xmlns:a16="http://schemas.microsoft.com/office/drawing/2014/main" id="{C2DA5523-7D61-4C43-850C-C3B570E153B9}"/>
              </a:ext>
            </a:extLst>
          </p:cNvPr>
          <p:cNvSpPr>
            <a:spLocks noGrp="1"/>
          </p:cNvSpPr>
          <p:nvPr/>
        </p:nvSpPr>
        <p:spPr>
          <a:xfrm>
            <a:off x="6534150" y="2590800"/>
            <a:ext cx="4191000" cy="1066800"/>
          </a:xfrm>
          <a:prstGeom prst="roundRect">
            <a:avLst>
              <a:gd name="adj" fmla="val 50000"/>
            </a:avLst>
          </a:prstGeom>
          <a:noFill/>
          <a:ln w="0">
            <a:noFill/>
            <a:prstDash val="solid"/>
          </a:ln>
        </p:spPr>
        <p:txBody>
          <a:bodyPr wrap="square" lIns="0" tIns="0" rIns="0" bIns="0" anchor="ctr">
            <a:normAutofit fontScale="83329"/>
          </a:bodyPr>
          <a:lstStyle/>
          <a:p>
            <a:pPr algn="l">
              <a:lnSpc>
                <a:spcPct val="90000"/>
              </a:lnSpc>
              <a:buNone/>
              <a:defRPr sz="3300" b="1">
                <a:solidFill>
                  <a:srgbClr val="FFFFFF"/>
                </a:solidFill>
              </a:defRPr>
            </a:pPr>
            <a:r>
              <a:rPr sz="3300" b="1">
                <a:solidFill>
                  <a:srgbClr val="FFFFFF"/>
                </a:solidFill>
              </a:rPr>
              <a:t>Earn the right</a:t>
            </a:r>
          </a:p>
          <a:p>
            <a:pPr algn="l">
              <a:lnSpc>
                <a:spcPct val="90000"/>
              </a:lnSpc>
              <a:buNone/>
              <a:defRPr sz="3300" b="1">
                <a:solidFill>
                  <a:srgbClr val="FFFFFF"/>
                </a:solidFill>
              </a:defRPr>
            </a:pPr>
            <a:r>
              <a:rPr sz="3300" b="1">
                <a:solidFill>
                  <a:srgbClr val="FFFFFF"/>
                </a:solidFill>
              </a:rPr>
              <a:t>to go deeper</a:t>
            </a:r>
          </a:p>
        </p:txBody>
      </p:sp>
      <p:sp>
        <p:nvSpPr>
          <p:cNvPr id="21" name="Rectangle 20">
            <a:extLst>
              <a:ext uri="{FF2B5EF4-FFF2-40B4-BE49-F238E27FC236}">
                <a16:creationId xmlns:a16="http://schemas.microsoft.com/office/drawing/2014/main" id="{782B9132-BD4E-4574-9567-DFEE2E688142}"/>
              </a:ext>
            </a:extLst>
          </p:cNvPr>
          <p:cNvSpPr>
            <a:spLocks noGrp="1"/>
          </p:cNvSpPr>
          <p:nvPr/>
        </p:nvSpPr>
        <p:spPr>
          <a:xfrm>
            <a:off x="6534150" y="4095750"/>
            <a:ext cx="285750" cy="323850"/>
          </a:xfrm>
          <a:prstGeom prst="rect">
            <a:avLst/>
          </a:prstGeom>
          <a:noFill/>
          <a:ln w="0">
            <a:noFill/>
            <a:prstDash val="solid"/>
          </a:ln>
        </p:spPr>
        <p:txBody>
          <a:bodyPr wrap="square" lIns="0" tIns="0" rIns="0" bIns="0" anchor="ctr">
            <a:normAutofit/>
          </a:bodyPr>
          <a:lstStyle/>
          <a:p>
            <a:pPr algn="l">
              <a:lnSpc>
                <a:spcPct val="100000"/>
              </a:lnSpc>
              <a:buNone/>
              <a:defRPr sz="1275" b="1">
                <a:solidFill>
                  <a:srgbClr val="BFE9D0"/>
                </a:solidFill>
                <a:latin typeface="Aptos"/>
                <a:ea typeface="Aptos"/>
                <a:cs typeface="Aptos"/>
              </a:defRPr>
            </a:pPr>
            <a:r>
              <a:rPr sz="1275" b="1">
                <a:solidFill>
                  <a:srgbClr val="BFE9D0"/>
                </a:solidFill>
                <a:latin typeface="Aptos"/>
                <a:ea typeface="Aptos"/>
                <a:cs typeface="Aptos"/>
              </a:rPr>
              <a:t>1</a:t>
            </a:r>
          </a:p>
        </p:txBody>
      </p:sp>
      <p:sp>
        <p:nvSpPr>
          <p:cNvPr id="22" name="Rounded Rectangle 21">
            <a:extLst>
              <a:ext uri="{FF2B5EF4-FFF2-40B4-BE49-F238E27FC236}">
                <a16:creationId xmlns:a16="http://schemas.microsoft.com/office/drawing/2014/main" id="{15E3CAD0-9F91-4BE9-80E5-DEBAAC3B6FD2}"/>
              </a:ext>
            </a:extLst>
          </p:cNvPr>
          <p:cNvSpPr>
            <a:spLocks noGrp="1"/>
          </p:cNvSpPr>
          <p:nvPr/>
        </p:nvSpPr>
        <p:spPr>
          <a:xfrm>
            <a:off x="6953250" y="4095750"/>
            <a:ext cx="3333750" cy="323850"/>
          </a:xfrm>
          <a:prstGeom prst="roundRect">
            <a:avLst>
              <a:gd name="adj" fmla="val 50000"/>
            </a:avLst>
          </a:prstGeom>
          <a:noFill/>
          <a:ln w="0">
            <a:noFill/>
            <a:prstDash val="solid"/>
          </a:ln>
        </p:spPr>
        <p:txBody>
          <a:bodyPr wrap="square" lIns="0" tIns="0" rIns="0" bIns="0" anchor="ctr">
            <a:normAutofit/>
          </a:bodyPr>
          <a:lstStyle/>
          <a:p>
            <a:pPr algn="l">
              <a:lnSpc>
                <a:spcPct val="100000"/>
              </a:lnSpc>
              <a:buNone/>
              <a:defRPr sz="1425" b="0">
                <a:solidFill>
                  <a:srgbClr val="FFFFFF"/>
                </a:solidFill>
              </a:defRPr>
            </a:pPr>
            <a:r>
              <a:rPr sz="1425" b="0">
                <a:solidFill>
                  <a:srgbClr val="FFFFFF"/>
                </a:solidFill>
              </a:rPr>
              <a:t>Apply hard rules</a:t>
            </a:r>
          </a:p>
        </p:txBody>
      </p:sp>
      <p:sp>
        <p:nvSpPr>
          <p:cNvPr id="23" name="Rectangle 22">
            <a:extLst>
              <a:ext uri="{FF2B5EF4-FFF2-40B4-BE49-F238E27FC236}">
                <a16:creationId xmlns:a16="http://schemas.microsoft.com/office/drawing/2014/main" id="{DE541FED-F8DD-4390-BD7E-FB0BC199BB50}"/>
              </a:ext>
            </a:extLst>
          </p:cNvPr>
          <p:cNvSpPr>
            <a:spLocks noGrp="1"/>
          </p:cNvSpPr>
          <p:nvPr/>
        </p:nvSpPr>
        <p:spPr>
          <a:xfrm>
            <a:off x="6534150" y="4514850"/>
            <a:ext cx="285750" cy="323850"/>
          </a:xfrm>
          <a:prstGeom prst="rect">
            <a:avLst/>
          </a:prstGeom>
          <a:noFill/>
          <a:ln w="0">
            <a:noFill/>
            <a:prstDash val="solid"/>
          </a:ln>
        </p:spPr>
        <p:txBody>
          <a:bodyPr wrap="square" lIns="0" tIns="0" rIns="0" bIns="0" anchor="ctr">
            <a:normAutofit/>
          </a:bodyPr>
          <a:lstStyle/>
          <a:p>
            <a:pPr algn="l">
              <a:lnSpc>
                <a:spcPct val="100000"/>
              </a:lnSpc>
              <a:buNone/>
              <a:defRPr sz="1275" b="1">
                <a:solidFill>
                  <a:srgbClr val="BFE9D0"/>
                </a:solidFill>
                <a:latin typeface="Aptos"/>
                <a:ea typeface="Aptos"/>
                <a:cs typeface="Aptos"/>
              </a:defRPr>
            </a:pPr>
            <a:r>
              <a:rPr sz="1275" b="1">
                <a:solidFill>
                  <a:srgbClr val="BFE9D0"/>
                </a:solidFill>
                <a:latin typeface="Aptos"/>
                <a:ea typeface="Aptos"/>
                <a:cs typeface="Aptos"/>
              </a:rPr>
              <a:t>2</a:t>
            </a:r>
          </a:p>
        </p:txBody>
      </p:sp>
      <p:sp>
        <p:nvSpPr>
          <p:cNvPr id="24" name="Rounded Rectangle 23">
            <a:extLst>
              <a:ext uri="{FF2B5EF4-FFF2-40B4-BE49-F238E27FC236}">
                <a16:creationId xmlns:a16="http://schemas.microsoft.com/office/drawing/2014/main" id="{6A88C5EF-2555-4ECF-95CD-1D01B30F6DBF}"/>
              </a:ext>
            </a:extLst>
          </p:cNvPr>
          <p:cNvSpPr>
            <a:spLocks noGrp="1"/>
          </p:cNvSpPr>
          <p:nvPr/>
        </p:nvSpPr>
        <p:spPr>
          <a:xfrm>
            <a:off x="6953250" y="4514850"/>
            <a:ext cx="3333750" cy="323850"/>
          </a:xfrm>
          <a:prstGeom prst="roundRect">
            <a:avLst>
              <a:gd name="adj" fmla="val 50000"/>
            </a:avLst>
          </a:prstGeom>
          <a:noFill/>
          <a:ln w="0">
            <a:noFill/>
            <a:prstDash val="solid"/>
          </a:ln>
        </p:spPr>
        <p:txBody>
          <a:bodyPr wrap="square" lIns="0" tIns="0" rIns="0" bIns="0" anchor="ctr">
            <a:normAutofit/>
          </a:bodyPr>
          <a:lstStyle/>
          <a:p>
            <a:pPr algn="l">
              <a:lnSpc>
                <a:spcPct val="100000"/>
              </a:lnSpc>
              <a:buNone/>
              <a:defRPr sz="1425" b="0">
                <a:solidFill>
                  <a:srgbClr val="FFFFFF"/>
                </a:solidFill>
              </a:defRPr>
            </a:pPr>
            <a:r>
              <a:rPr sz="1425" b="0">
                <a:solidFill>
                  <a:srgbClr val="FFFFFF"/>
                </a:solidFill>
              </a:rPr>
              <a:t>Compare approved criteria</a:t>
            </a:r>
          </a:p>
        </p:txBody>
      </p:sp>
      <p:sp>
        <p:nvSpPr>
          <p:cNvPr id="25" name="Rectangle 24">
            <a:extLst>
              <a:ext uri="{FF2B5EF4-FFF2-40B4-BE49-F238E27FC236}">
                <a16:creationId xmlns:a16="http://schemas.microsoft.com/office/drawing/2014/main" id="{2A252F52-C1AB-43BD-9371-8C5FD55E36D4}"/>
              </a:ext>
            </a:extLst>
          </p:cNvPr>
          <p:cNvSpPr>
            <a:spLocks noGrp="1"/>
          </p:cNvSpPr>
          <p:nvPr/>
        </p:nvSpPr>
        <p:spPr>
          <a:xfrm>
            <a:off x="6534150" y="4933950"/>
            <a:ext cx="285750" cy="323850"/>
          </a:xfrm>
          <a:prstGeom prst="rect">
            <a:avLst/>
          </a:prstGeom>
          <a:noFill/>
          <a:ln w="0">
            <a:noFill/>
            <a:prstDash val="solid"/>
          </a:ln>
        </p:spPr>
        <p:txBody>
          <a:bodyPr wrap="square" lIns="0" tIns="0" rIns="0" bIns="0" anchor="ctr">
            <a:normAutofit/>
          </a:bodyPr>
          <a:lstStyle/>
          <a:p>
            <a:pPr algn="l">
              <a:lnSpc>
                <a:spcPct val="100000"/>
              </a:lnSpc>
              <a:buNone/>
              <a:defRPr sz="1275" b="1">
                <a:solidFill>
                  <a:srgbClr val="BFE9D0"/>
                </a:solidFill>
                <a:latin typeface="Aptos"/>
                <a:ea typeface="Aptos"/>
                <a:cs typeface="Aptos"/>
              </a:defRPr>
            </a:pPr>
            <a:r>
              <a:rPr sz="1275" b="1">
                <a:solidFill>
                  <a:srgbClr val="BFE9D0"/>
                </a:solidFill>
                <a:latin typeface="Aptos"/>
                <a:ea typeface="Aptos"/>
                <a:cs typeface="Aptos"/>
              </a:rPr>
              <a:t>3</a:t>
            </a:r>
          </a:p>
        </p:txBody>
      </p:sp>
      <p:sp>
        <p:nvSpPr>
          <p:cNvPr id="26" name="Rounded Rectangle 25">
            <a:extLst>
              <a:ext uri="{FF2B5EF4-FFF2-40B4-BE49-F238E27FC236}">
                <a16:creationId xmlns:a16="http://schemas.microsoft.com/office/drawing/2014/main" id="{176E551D-C316-4443-A083-3B8CC8AA1442}"/>
              </a:ext>
            </a:extLst>
          </p:cNvPr>
          <p:cNvSpPr>
            <a:spLocks noGrp="1"/>
          </p:cNvSpPr>
          <p:nvPr/>
        </p:nvSpPr>
        <p:spPr>
          <a:xfrm>
            <a:off x="6953250" y="4933950"/>
            <a:ext cx="3333750" cy="323850"/>
          </a:xfrm>
          <a:prstGeom prst="roundRect">
            <a:avLst>
              <a:gd name="adj" fmla="val 50000"/>
            </a:avLst>
          </a:prstGeom>
          <a:noFill/>
          <a:ln w="0">
            <a:noFill/>
            <a:prstDash val="solid"/>
          </a:ln>
        </p:spPr>
        <p:txBody>
          <a:bodyPr wrap="square" lIns="0" tIns="0" rIns="0" bIns="0" anchor="ctr">
            <a:normAutofit/>
          </a:bodyPr>
          <a:lstStyle/>
          <a:p>
            <a:pPr algn="l">
              <a:lnSpc>
                <a:spcPct val="100000"/>
              </a:lnSpc>
              <a:buNone/>
              <a:defRPr sz="1425" b="0">
                <a:solidFill>
                  <a:srgbClr val="FFFFFF"/>
                </a:solidFill>
              </a:defRPr>
            </a:pPr>
            <a:r>
              <a:rPr sz="1425" b="0">
                <a:solidFill>
                  <a:srgbClr val="FFFFFF"/>
                </a:solidFill>
              </a:rPr>
              <a:t>Investigate the region</a:t>
            </a:r>
          </a:p>
        </p:txBody>
      </p:sp>
      <p:sp>
        <p:nvSpPr>
          <p:cNvPr id="27" name="Rectangle 26">
            <a:extLst>
              <a:ext uri="{FF2B5EF4-FFF2-40B4-BE49-F238E27FC236}">
                <a16:creationId xmlns:a16="http://schemas.microsoft.com/office/drawing/2014/main" id="{624064DC-E632-4C08-88DB-C2AC5945B7BF}"/>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l">
              <a:buNone/>
              <a:defRPr sz="1650" b="0">
                <a:solidFill>
                  <a:srgbClr val="39455A"/>
                </a:solidFill>
                <a:latin typeface="Aptos"/>
                <a:ea typeface="Aptos"/>
                <a:cs typeface="Aptos"/>
              </a:defRPr>
            </a:pPr>
            <a:endParaRPr/>
          </a:p>
        </p:txBody>
      </p:sp>
    </p:spTree>
    <p:extLst>
      <p:ext uri="{BB962C8B-B14F-4D97-AF65-F5344CB8AC3E}">
        <p14:creationId xmlns:p14="http://schemas.microsoft.com/office/powerpoint/2010/main" val="549851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1E6FCDAF-377F-42CA-B09E-841EC4236985}"/>
              </a:ext>
            </a:extLst>
          </p:cNvPr>
          <p:cNvSpPr>
            <a:spLocks noGrp="1"/>
          </p:cNvSpPr>
          <p:nvPr/>
        </p:nvSpPr>
        <p:spPr>
          <a:xfrm>
            <a:off x="609600" y="323850"/>
            <a:ext cx="5334000" cy="247650"/>
          </a:xfrm>
          <a:prstGeom prst="rect">
            <a:avLst/>
          </a:prstGeom>
          <a:noFill/>
          <a:ln w="0">
            <a:noFill/>
            <a:prstDash val="solid"/>
          </a:ln>
        </p:spPr>
        <p:txBody>
          <a:bodyPr wrap="square" lIns="0" tIns="0" rIns="0" bIns="0" anchor="ctr">
            <a:normAutofit/>
          </a:bodyPr>
          <a:lstStyle/>
          <a:p>
            <a:pPr algn="l">
              <a:lnSpc>
                <a:spcPct val="100000"/>
              </a:lnSpc>
              <a:buNone/>
              <a:defRPr sz="1125" b="1">
                <a:solidFill>
                  <a:srgbClr val="2D5BFF"/>
                </a:solidFill>
                <a:latin typeface="Aptos"/>
                <a:ea typeface="Aptos"/>
                <a:cs typeface="Aptos"/>
              </a:defRPr>
            </a:pPr>
            <a:r>
              <a:rPr sz="1125" b="1">
                <a:solidFill>
                  <a:srgbClr val="2D5BFF"/>
                </a:solidFill>
                <a:latin typeface="Aptos"/>
                <a:ea typeface="Aptos"/>
                <a:cs typeface="Aptos"/>
              </a:rPr>
              <a:t>AI-GUIDED SUBMARKET ANALYSIS</a:t>
            </a:r>
          </a:p>
        </p:txBody>
      </p:sp>
      <p:sp>
        <p:nvSpPr>
          <p:cNvPr id="2" name="Rectangle 1">
            <a:extLst>
              <a:ext uri="{FF2B5EF4-FFF2-40B4-BE49-F238E27FC236}">
                <a16:creationId xmlns:a16="http://schemas.microsoft.com/office/drawing/2014/main" id="{AFC68CFC-C54E-4CA7-9E9E-42EA6F9B7846}"/>
              </a:ext>
            </a:extLst>
          </p:cNvPr>
          <p:cNvSpPr>
            <a:spLocks noGrp="1"/>
          </p:cNvSpPr>
          <p:nvPr/>
        </p:nvSpPr>
        <p:spPr>
          <a:xfrm>
            <a:off x="609600" y="723900"/>
            <a:ext cx="10668000" cy="685800"/>
          </a:xfrm>
          <a:prstGeom prst="rect">
            <a:avLst/>
          </a:prstGeom>
          <a:noFill/>
          <a:ln w="0">
            <a:noFill/>
            <a:prstDash val="solid"/>
          </a:ln>
        </p:spPr>
        <p:txBody>
          <a:bodyPr wrap="square" lIns="0" tIns="0" rIns="0" bIns="0" anchor="ctr">
            <a:normAutofit/>
          </a:bodyPr>
          <a:lstStyle/>
          <a:p>
            <a:pPr algn="l">
              <a:lnSpc>
                <a:spcPct val="100000"/>
              </a:lnSpc>
              <a:buNone/>
              <a:defRPr sz="3150" b="1">
                <a:solidFill>
                  <a:srgbClr val="13213A"/>
                </a:solidFill>
                <a:latin typeface="Aptos"/>
                <a:ea typeface="Aptos"/>
                <a:cs typeface="Aptos"/>
              </a:defRPr>
            </a:pPr>
            <a:r>
              <a:rPr sz="3150" b="1">
                <a:solidFill>
                  <a:srgbClr val="13213A"/>
                </a:solidFill>
                <a:latin typeface="Aptos"/>
                <a:ea typeface="Aptos"/>
                <a:cs typeface="Aptos"/>
              </a:rPr>
              <a:t>The analyst sets the geography before scoring</a:t>
            </a:r>
          </a:p>
        </p:txBody>
      </p:sp>
      <p:sp>
        <p:nvSpPr>
          <p:cNvPr id="3" name="Rectangle 2">
            <a:extLst>
              <a:ext uri="{FF2B5EF4-FFF2-40B4-BE49-F238E27FC236}">
                <a16:creationId xmlns:a16="http://schemas.microsoft.com/office/drawing/2014/main" id="{D6D04595-10F2-4A51-BC2A-22A6A4477307}"/>
              </a:ext>
            </a:extLst>
          </p:cNvPr>
          <p:cNvSpPr>
            <a:spLocks noGrp="1"/>
          </p:cNvSpPr>
          <p:nvPr/>
        </p:nvSpPr>
        <p:spPr>
          <a:xfrm>
            <a:off x="609600" y="6419850"/>
            <a:ext cx="10972800" cy="19050"/>
          </a:xfrm>
          <a:prstGeom prst="rect">
            <a:avLst/>
          </a:prstGeom>
          <a:solidFill>
            <a:srgbClr val="D6DCE7"/>
          </a:solidFill>
          <a:ln w="0">
            <a:noFill/>
            <a:prstDash val="solid"/>
          </a:ln>
        </p:spPr>
        <p:txBody>
          <a:bodyPr lIns="0" tIns="0" rIns="0" bIns="0"/>
          <a:lstStyle/>
          <a:p>
            <a:pPr>
              <a:defRPr sz="100">
                <a:solidFill>
                  <a:srgbClr val="D6DCE7"/>
                </a:solidFill>
              </a:defRPr>
            </a:pPr>
            <a:r>
              <a:rPr sz="100">
                <a:solidFill>
                  <a:srgbClr val="D6DCE7"/>
                </a:solidFill>
              </a:rPr>
              <a:t>​</a:t>
            </a:r>
          </a:p>
        </p:txBody>
      </p:sp>
      <p:sp>
        <p:nvSpPr>
          <p:cNvPr id="4" name="Rectangle 3">
            <a:extLst>
              <a:ext uri="{FF2B5EF4-FFF2-40B4-BE49-F238E27FC236}">
                <a16:creationId xmlns:a16="http://schemas.microsoft.com/office/drawing/2014/main" id="{AA0E76AE-9AA7-442F-8E4B-B4DC4D9D763B}"/>
              </a:ext>
            </a:extLst>
          </p:cNvPr>
          <p:cNvSpPr>
            <a:spLocks noGrp="1"/>
          </p:cNvSpPr>
          <p:nvPr/>
        </p:nvSpPr>
        <p:spPr>
          <a:xfrm>
            <a:off x="609600" y="6515100"/>
            <a:ext cx="9334500" cy="171450"/>
          </a:xfrm>
          <a:prstGeom prst="rect">
            <a:avLst/>
          </a:prstGeom>
          <a:noFill/>
          <a:ln w="0">
            <a:noFill/>
            <a:prstDash val="solid"/>
          </a:ln>
        </p:spPr>
        <p:txBody>
          <a:bodyPr wrap="square" lIns="0" tIns="0" rIns="0" bIns="0" anchor="ctr">
            <a:normAutofit/>
          </a:bodyPr>
          <a:lstStyle/>
          <a:p>
            <a:pPr algn="l">
              <a:lnSpc>
                <a:spcPct val="100000"/>
              </a:lnSpc>
              <a:buNone/>
              <a:defRPr sz="900" b="0">
                <a:solidFill>
                  <a:srgbClr val="667085"/>
                </a:solidFill>
                <a:latin typeface="Aptos"/>
                <a:ea typeface="Aptos"/>
                <a:cs typeface="Aptos"/>
              </a:defRPr>
            </a:pPr>
            <a:r>
              <a:rPr sz="900" b="0">
                <a:solidFill>
                  <a:srgbClr val="667085"/>
                </a:solidFill>
                <a:latin typeface="Aptos"/>
                <a:ea typeface="Aptos"/>
                <a:cs typeface="Aptos"/>
              </a:rPr>
              <a:t>Proposal → human confirmation → deterministic comparison → explanation</a:t>
            </a:r>
          </a:p>
        </p:txBody>
      </p:sp>
      <p:sp>
        <p:nvSpPr>
          <p:cNvPr id="5" name="Rectangle 4">
            <a:extLst>
              <a:ext uri="{FF2B5EF4-FFF2-40B4-BE49-F238E27FC236}">
                <a16:creationId xmlns:a16="http://schemas.microsoft.com/office/drawing/2014/main" id="{31891780-F9A1-4FFB-B663-6D0B90E39C1F}"/>
              </a:ext>
            </a:extLst>
          </p:cNvPr>
          <p:cNvSpPr>
            <a:spLocks noGrp="1"/>
          </p:cNvSpPr>
          <p:nvPr/>
        </p:nvSpPr>
        <p:spPr>
          <a:xfrm>
            <a:off x="10953750" y="6515100"/>
            <a:ext cx="628650" cy="171450"/>
          </a:xfrm>
          <a:prstGeom prst="rect">
            <a:avLst/>
          </a:prstGeom>
          <a:noFill/>
          <a:ln w="0">
            <a:noFill/>
            <a:prstDash val="solid"/>
          </a:ln>
        </p:spPr>
        <p:txBody>
          <a:bodyPr wrap="square" lIns="0" tIns="0" rIns="0" bIns="0" anchor="ctr">
            <a:normAutofit/>
          </a:bodyPr>
          <a:lstStyle/>
          <a:p>
            <a:pPr algn="r">
              <a:lnSpc>
                <a:spcPct val="100000"/>
              </a:lnSpc>
              <a:buNone/>
              <a:defRPr sz="900" b="1">
                <a:solidFill>
                  <a:srgbClr val="13213A"/>
                </a:solidFill>
                <a:latin typeface="Aptos"/>
                <a:ea typeface="Aptos"/>
                <a:cs typeface="Aptos"/>
              </a:defRPr>
            </a:pPr>
            <a:r>
              <a:rPr sz="900" b="1">
                <a:solidFill>
                  <a:srgbClr val="13213A"/>
                </a:solidFill>
                <a:latin typeface="Aptos"/>
                <a:ea typeface="Aptos"/>
                <a:cs typeface="Aptos"/>
              </a:rPr>
              <a:t>06</a:t>
            </a:r>
          </a:p>
        </p:txBody>
      </p:sp>
      <p:sp>
        <p:nvSpPr>
          <p:cNvPr id="6" name="Rounded Rectangle 5">
            <a:extLst>
              <a:ext uri="{FF2B5EF4-FFF2-40B4-BE49-F238E27FC236}">
                <a16:creationId xmlns:a16="http://schemas.microsoft.com/office/drawing/2014/main" id="{DE12DA04-103F-4985-A5FC-AAFE4FC65976}"/>
              </a:ext>
            </a:extLst>
          </p:cNvPr>
          <p:cNvSpPr>
            <a:spLocks noGrp="1"/>
          </p:cNvSpPr>
          <p:nvPr/>
        </p:nvSpPr>
        <p:spPr>
          <a:xfrm>
            <a:off x="609600" y="2000250"/>
            <a:ext cx="2381250" cy="3143250"/>
          </a:xfrm>
          <a:prstGeom prst="roundRect">
            <a:avLst>
              <a:gd name="adj" fmla="val 9600"/>
            </a:avLst>
          </a:prstGeom>
          <a:solidFill>
            <a:srgbClr val="DDE6FF"/>
          </a:solidFill>
          <a:ln w="0">
            <a:noFill/>
            <a:prstDash val="solid"/>
          </a:ln>
        </p:spPr>
        <p:txBody>
          <a:bodyPr lIns="0" tIns="0" rIns="0" bIns="0"/>
          <a:lstStyle/>
          <a:p>
            <a:pPr>
              <a:defRPr sz="100">
                <a:solidFill>
                  <a:srgbClr val="DDE6FF"/>
                </a:solidFill>
              </a:defRPr>
            </a:pPr>
            <a:r>
              <a:rPr sz="100">
                <a:solidFill>
                  <a:srgbClr val="DDE6FF"/>
                </a:solidFill>
              </a:rPr>
              <a:t>​</a:t>
            </a:r>
          </a:p>
        </p:txBody>
      </p:sp>
      <p:sp>
        <p:nvSpPr>
          <p:cNvPr id="7" name="Rectangle 6">
            <a:extLst>
              <a:ext uri="{FF2B5EF4-FFF2-40B4-BE49-F238E27FC236}">
                <a16:creationId xmlns:a16="http://schemas.microsoft.com/office/drawing/2014/main" id="{D1569777-F9A6-4FE4-800D-B431E0DA5A12}"/>
              </a:ext>
            </a:extLst>
          </p:cNvPr>
          <p:cNvSpPr>
            <a:spLocks noGrp="1"/>
          </p:cNvSpPr>
          <p:nvPr/>
        </p:nvSpPr>
        <p:spPr>
          <a:xfrm>
            <a:off x="838200" y="2228850"/>
            <a:ext cx="571500" cy="2667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13213A"/>
                </a:solidFill>
                <a:latin typeface="Aptos"/>
                <a:ea typeface="Aptos"/>
                <a:cs typeface="Aptos"/>
              </a:defRPr>
            </a:pPr>
            <a:r>
              <a:rPr sz="1200" b="1">
                <a:solidFill>
                  <a:srgbClr val="13213A"/>
                </a:solidFill>
                <a:latin typeface="Aptos"/>
                <a:ea typeface="Aptos"/>
                <a:cs typeface="Aptos"/>
              </a:rPr>
              <a:t>01</a:t>
            </a:r>
          </a:p>
        </p:txBody>
      </p:sp>
      <p:sp>
        <p:nvSpPr>
          <p:cNvPr id="8" name="Rectangle 7">
            <a:extLst>
              <a:ext uri="{FF2B5EF4-FFF2-40B4-BE49-F238E27FC236}">
                <a16:creationId xmlns:a16="http://schemas.microsoft.com/office/drawing/2014/main" id="{6F6BFDFB-2AC6-4663-B06F-60A5C84DC354}"/>
              </a:ext>
            </a:extLst>
          </p:cNvPr>
          <p:cNvSpPr>
            <a:spLocks noGrp="1"/>
          </p:cNvSpPr>
          <p:nvPr/>
        </p:nvSpPr>
        <p:spPr>
          <a:xfrm>
            <a:off x="838200" y="2857500"/>
            <a:ext cx="1924050" cy="419100"/>
          </a:xfrm>
          <a:prstGeom prst="rect">
            <a:avLst/>
          </a:prstGeom>
          <a:noFill/>
          <a:ln w="0">
            <a:noFill/>
            <a:prstDash val="solid"/>
          </a:ln>
        </p:spPr>
        <p:txBody>
          <a:bodyPr wrap="square" lIns="0" tIns="0" rIns="0" bIns="0" anchor="ctr">
            <a:normAutofit/>
          </a:bodyPr>
          <a:lstStyle/>
          <a:p>
            <a:pPr algn="l">
              <a:lnSpc>
                <a:spcPct val="100000"/>
              </a:lnSpc>
              <a:buNone/>
              <a:defRPr sz="1800" b="1">
                <a:solidFill>
                  <a:srgbClr val="13213A"/>
                </a:solidFill>
                <a:latin typeface="Aptos"/>
                <a:ea typeface="Aptos"/>
                <a:cs typeface="Aptos"/>
              </a:defRPr>
            </a:pPr>
            <a:r>
              <a:rPr sz="1800" b="1">
                <a:solidFill>
                  <a:srgbClr val="13213A"/>
                </a:solidFill>
                <a:latin typeface="Aptos"/>
                <a:ea typeface="Aptos"/>
                <a:cs typeface="Aptos"/>
              </a:rPr>
              <a:t>PROPOSE</a:t>
            </a:r>
          </a:p>
        </p:txBody>
      </p:sp>
      <p:sp>
        <p:nvSpPr>
          <p:cNvPr id="9" name="Rectangle 8">
            <a:extLst>
              <a:ext uri="{FF2B5EF4-FFF2-40B4-BE49-F238E27FC236}">
                <a16:creationId xmlns:a16="http://schemas.microsoft.com/office/drawing/2014/main" id="{4DD6114A-D5DC-4077-86E8-32F7EA58F0C7}"/>
              </a:ext>
            </a:extLst>
          </p:cNvPr>
          <p:cNvSpPr>
            <a:spLocks noGrp="1"/>
          </p:cNvSpPr>
          <p:nvPr/>
        </p:nvSpPr>
        <p:spPr>
          <a:xfrm>
            <a:off x="838200" y="3600450"/>
            <a:ext cx="1924050" cy="762000"/>
          </a:xfrm>
          <a:prstGeom prst="rect">
            <a:avLst/>
          </a:prstGeom>
          <a:noFill/>
          <a:ln w="0">
            <a:noFill/>
            <a:prstDash val="solid"/>
          </a:ln>
        </p:spPr>
        <p:txBody>
          <a:bodyPr wrap="square" lIns="0" tIns="0" rIns="0" bIns="0" anchor="ctr">
            <a:normAutofit/>
          </a:bodyPr>
          <a:lstStyle/>
          <a:p>
            <a:pPr algn="l">
              <a:lnSpc>
                <a:spcPct val="100000"/>
              </a:lnSpc>
              <a:buNone/>
              <a:defRPr sz="1425" b="0">
                <a:solidFill>
                  <a:srgbClr val="13213A"/>
                </a:solidFill>
                <a:latin typeface="Aptos"/>
                <a:ea typeface="Aptos"/>
                <a:cs typeface="Aptos"/>
              </a:defRPr>
            </a:pPr>
            <a:r>
              <a:rPr sz="1425" b="0">
                <a:solidFill>
                  <a:srgbClr val="13213A"/>
                </a:solidFill>
                <a:latin typeface="Aptos"/>
                <a:ea typeface="Aptos"/>
                <a:cs typeface="Aptos"/>
              </a:rPr>
              <a:t>Practical local areas</a:t>
            </a:r>
          </a:p>
        </p:txBody>
      </p:sp>
      <p:sp>
        <p:nvSpPr>
          <p:cNvPr id="10" name="Rounded Rectangle 9">
            <a:extLst>
              <a:ext uri="{FF2B5EF4-FFF2-40B4-BE49-F238E27FC236}">
                <a16:creationId xmlns:a16="http://schemas.microsoft.com/office/drawing/2014/main" id="{CBF603BA-7A30-4197-9F82-DF0550A07FA9}"/>
              </a:ext>
            </a:extLst>
          </p:cNvPr>
          <p:cNvSpPr>
            <a:spLocks noGrp="1"/>
          </p:cNvSpPr>
          <p:nvPr/>
        </p:nvSpPr>
        <p:spPr>
          <a:xfrm>
            <a:off x="3371850" y="2000250"/>
            <a:ext cx="2381250" cy="3143250"/>
          </a:xfrm>
          <a:prstGeom prst="roundRect">
            <a:avLst>
              <a:gd name="adj" fmla="val 9600"/>
            </a:avLst>
          </a:prstGeom>
          <a:solidFill>
            <a:srgbClr val="BFE9D0"/>
          </a:solidFill>
          <a:ln w="0">
            <a:noFill/>
            <a:prstDash val="solid"/>
          </a:ln>
        </p:spPr>
        <p:txBody>
          <a:bodyPr lIns="0" tIns="0" rIns="0" bIns="0" anchor="t">
            <a:normAutofit/>
          </a:bodyPr>
          <a:lstStyle/>
          <a:p>
            <a:pPr algn="r">
              <a:buNone/>
              <a:defRPr sz="100" b="1">
                <a:solidFill>
                  <a:srgbClr val="BFE9D0"/>
                </a:solidFill>
                <a:latin typeface="Aptos"/>
                <a:ea typeface="Aptos"/>
                <a:cs typeface="Aptos"/>
              </a:defRPr>
            </a:pPr>
            <a:r>
              <a:rPr sz="100" b="1">
                <a:solidFill>
                  <a:srgbClr val="BFE9D0"/>
                </a:solidFill>
                <a:latin typeface="Aptos"/>
                <a:ea typeface="Aptos"/>
                <a:cs typeface="Aptos"/>
              </a:rPr>
              <a:t>​</a:t>
            </a:r>
          </a:p>
        </p:txBody>
      </p:sp>
      <p:sp>
        <p:nvSpPr>
          <p:cNvPr id="11" name="Rounded Rectangle 10">
            <a:extLst>
              <a:ext uri="{FF2B5EF4-FFF2-40B4-BE49-F238E27FC236}">
                <a16:creationId xmlns:a16="http://schemas.microsoft.com/office/drawing/2014/main" id="{615760A3-2D25-42DE-9B1F-C523F79A3998}"/>
              </a:ext>
            </a:extLst>
          </p:cNvPr>
          <p:cNvSpPr>
            <a:spLocks noGrp="1"/>
          </p:cNvSpPr>
          <p:nvPr/>
        </p:nvSpPr>
        <p:spPr>
          <a:xfrm>
            <a:off x="3600450" y="2228850"/>
            <a:ext cx="571500" cy="266700"/>
          </a:xfrm>
          <a:prstGeom prst="roundRect">
            <a:avLst>
              <a:gd name="adj" fmla="val 15254"/>
            </a:avLst>
          </a:prstGeom>
          <a:noFill/>
          <a:ln w="0">
            <a:noFill/>
            <a:prstDash val="solid"/>
          </a:ln>
        </p:spPr>
        <p:txBody>
          <a:bodyPr wrap="square" lIns="0" tIns="0" rIns="0" bIns="0" anchor="ctr">
            <a:normAutofit/>
          </a:bodyPr>
          <a:lstStyle/>
          <a:p>
            <a:pPr algn="l">
              <a:lnSpc>
                <a:spcPct val="100000"/>
              </a:lnSpc>
              <a:buNone/>
              <a:defRPr sz="1200" b="1">
                <a:solidFill>
                  <a:srgbClr val="13213A"/>
                </a:solidFill>
              </a:defRPr>
            </a:pPr>
            <a:r>
              <a:rPr sz="1200" b="1">
                <a:solidFill>
                  <a:srgbClr val="13213A"/>
                </a:solidFill>
              </a:rPr>
              <a:t>02</a:t>
            </a:r>
          </a:p>
        </p:txBody>
      </p:sp>
      <p:sp>
        <p:nvSpPr>
          <p:cNvPr id="12" name="Rectangle 11">
            <a:extLst>
              <a:ext uri="{FF2B5EF4-FFF2-40B4-BE49-F238E27FC236}">
                <a16:creationId xmlns:a16="http://schemas.microsoft.com/office/drawing/2014/main" id="{7A9BA09D-5459-43B7-88C7-83F039DA8DD2}"/>
              </a:ext>
            </a:extLst>
          </p:cNvPr>
          <p:cNvSpPr>
            <a:spLocks noGrp="1"/>
          </p:cNvSpPr>
          <p:nvPr/>
        </p:nvSpPr>
        <p:spPr>
          <a:xfrm>
            <a:off x="3600450" y="2857500"/>
            <a:ext cx="1924050" cy="419100"/>
          </a:xfrm>
          <a:prstGeom prst="rect">
            <a:avLst/>
          </a:prstGeom>
          <a:noFill/>
          <a:ln w="0">
            <a:noFill/>
            <a:prstDash val="solid"/>
          </a:ln>
        </p:spPr>
        <p:txBody>
          <a:bodyPr wrap="square" lIns="0" tIns="0" rIns="0" bIns="0" anchor="ctr">
            <a:normAutofit/>
          </a:bodyPr>
          <a:lstStyle/>
          <a:p>
            <a:pPr algn="l">
              <a:lnSpc>
                <a:spcPct val="100000"/>
              </a:lnSpc>
              <a:buNone/>
              <a:defRPr sz="1800" b="1">
                <a:solidFill>
                  <a:srgbClr val="13213A"/>
                </a:solidFill>
                <a:latin typeface="Aptos"/>
                <a:ea typeface="Aptos"/>
                <a:cs typeface="Aptos"/>
              </a:defRPr>
            </a:pPr>
            <a:r>
              <a:rPr sz="1800" b="1">
                <a:solidFill>
                  <a:srgbClr val="13213A"/>
                </a:solidFill>
                <a:latin typeface="Aptos"/>
                <a:ea typeface="Aptos"/>
                <a:cs typeface="Aptos"/>
              </a:rPr>
              <a:t>CONFIRM</a:t>
            </a:r>
          </a:p>
        </p:txBody>
      </p:sp>
      <p:sp>
        <p:nvSpPr>
          <p:cNvPr id="13" name="Rectangle 12">
            <a:extLst>
              <a:ext uri="{FF2B5EF4-FFF2-40B4-BE49-F238E27FC236}">
                <a16:creationId xmlns:a16="http://schemas.microsoft.com/office/drawing/2014/main" id="{9D98E6FC-8DBD-4AC6-B2A8-1EDEBD7EDEB7}"/>
              </a:ext>
            </a:extLst>
          </p:cNvPr>
          <p:cNvSpPr>
            <a:spLocks noGrp="1"/>
          </p:cNvSpPr>
          <p:nvPr/>
        </p:nvSpPr>
        <p:spPr>
          <a:xfrm>
            <a:off x="3600450" y="3600450"/>
            <a:ext cx="1924050" cy="762000"/>
          </a:xfrm>
          <a:prstGeom prst="rect">
            <a:avLst/>
          </a:prstGeom>
          <a:noFill/>
          <a:ln w="0">
            <a:noFill/>
            <a:prstDash val="solid"/>
          </a:ln>
        </p:spPr>
        <p:txBody>
          <a:bodyPr wrap="square" lIns="0" tIns="0" rIns="0" bIns="0" anchor="ctr">
            <a:normAutofit/>
          </a:bodyPr>
          <a:lstStyle/>
          <a:p>
            <a:pPr algn="l">
              <a:lnSpc>
                <a:spcPct val="100000"/>
              </a:lnSpc>
              <a:buNone/>
              <a:defRPr sz="1425" b="0">
                <a:solidFill>
                  <a:srgbClr val="13213A"/>
                </a:solidFill>
                <a:latin typeface="Aptos"/>
                <a:ea typeface="Aptos"/>
                <a:cs typeface="Aptos"/>
              </a:defRPr>
            </a:pPr>
            <a:r>
              <a:rPr sz="1425" b="0">
                <a:solidFill>
                  <a:srgbClr val="13213A"/>
                </a:solidFill>
                <a:latin typeface="Aptos"/>
                <a:ea typeface="Aptos"/>
                <a:cs typeface="Aptos"/>
              </a:rPr>
              <a:t>Human geography gate</a:t>
            </a:r>
          </a:p>
        </p:txBody>
      </p:sp>
      <p:sp>
        <p:nvSpPr>
          <p:cNvPr id="14" name="Rounded Rectangle 13">
            <a:extLst>
              <a:ext uri="{FF2B5EF4-FFF2-40B4-BE49-F238E27FC236}">
                <a16:creationId xmlns:a16="http://schemas.microsoft.com/office/drawing/2014/main" id="{065AABCF-7D1F-4009-AB32-11EFD12C5A71}"/>
              </a:ext>
            </a:extLst>
          </p:cNvPr>
          <p:cNvSpPr>
            <a:spLocks noGrp="1"/>
          </p:cNvSpPr>
          <p:nvPr/>
        </p:nvSpPr>
        <p:spPr>
          <a:xfrm>
            <a:off x="6134100" y="2000250"/>
            <a:ext cx="2381250" cy="3143250"/>
          </a:xfrm>
          <a:prstGeom prst="roundRect">
            <a:avLst>
              <a:gd name="adj" fmla="val 9600"/>
            </a:avLst>
          </a:prstGeom>
          <a:solidFill>
            <a:srgbClr val="F3C96B"/>
          </a:solidFill>
          <a:ln w="0">
            <a:noFill/>
            <a:prstDash val="solid"/>
          </a:ln>
        </p:spPr>
        <p:txBody>
          <a:bodyPr lIns="0" tIns="0" rIns="0" bIns="0"/>
          <a:lstStyle/>
          <a:p>
            <a:pPr>
              <a:defRPr sz="100">
                <a:solidFill>
                  <a:srgbClr val="F3C96B"/>
                </a:solidFill>
              </a:defRPr>
            </a:pPr>
            <a:r>
              <a:rPr sz="100">
                <a:solidFill>
                  <a:srgbClr val="F3C96B"/>
                </a:solidFill>
              </a:rPr>
              <a:t>​</a:t>
            </a:r>
          </a:p>
        </p:txBody>
      </p:sp>
      <p:sp>
        <p:nvSpPr>
          <p:cNvPr id="15" name="Rectangle 14">
            <a:extLst>
              <a:ext uri="{FF2B5EF4-FFF2-40B4-BE49-F238E27FC236}">
                <a16:creationId xmlns:a16="http://schemas.microsoft.com/office/drawing/2014/main" id="{5A2F2ABA-0B84-463B-8F39-4562ECCAD915}"/>
              </a:ext>
            </a:extLst>
          </p:cNvPr>
          <p:cNvSpPr>
            <a:spLocks noGrp="1"/>
          </p:cNvSpPr>
          <p:nvPr/>
        </p:nvSpPr>
        <p:spPr>
          <a:xfrm>
            <a:off x="6362700" y="2228850"/>
            <a:ext cx="571500" cy="2667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13213A"/>
                </a:solidFill>
                <a:latin typeface="Aptos"/>
                <a:ea typeface="Aptos"/>
                <a:cs typeface="Aptos"/>
              </a:defRPr>
            </a:pPr>
            <a:r>
              <a:rPr sz="1200" b="1">
                <a:solidFill>
                  <a:srgbClr val="13213A"/>
                </a:solidFill>
                <a:latin typeface="Aptos"/>
                <a:ea typeface="Aptos"/>
                <a:cs typeface="Aptos"/>
              </a:rPr>
              <a:t>03</a:t>
            </a:r>
          </a:p>
        </p:txBody>
      </p:sp>
      <p:sp>
        <p:nvSpPr>
          <p:cNvPr id="16" name="Rectangle 15">
            <a:extLst>
              <a:ext uri="{FF2B5EF4-FFF2-40B4-BE49-F238E27FC236}">
                <a16:creationId xmlns:a16="http://schemas.microsoft.com/office/drawing/2014/main" id="{E4C40C49-1618-464E-B442-C6969DDEFA2B}"/>
              </a:ext>
            </a:extLst>
          </p:cNvPr>
          <p:cNvSpPr>
            <a:spLocks noGrp="1"/>
          </p:cNvSpPr>
          <p:nvPr/>
        </p:nvSpPr>
        <p:spPr>
          <a:xfrm>
            <a:off x="6362700" y="2857500"/>
            <a:ext cx="1924050" cy="419100"/>
          </a:xfrm>
          <a:prstGeom prst="rect">
            <a:avLst/>
          </a:prstGeom>
          <a:noFill/>
          <a:ln w="0">
            <a:noFill/>
            <a:prstDash val="solid"/>
          </a:ln>
        </p:spPr>
        <p:txBody>
          <a:bodyPr wrap="square" lIns="0" tIns="0" rIns="0" bIns="0" anchor="ctr">
            <a:normAutofit/>
          </a:bodyPr>
          <a:lstStyle/>
          <a:p>
            <a:pPr algn="l">
              <a:lnSpc>
                <a:spcPct val="100000"/>
              </a:lnSpc>
              <a:buNone/>
              <a:defRPr sz="1800" b="1">
                <a:solidFill>
                  <a:srgbClr val="13213A"/>
                </a:solidFill>
                <a:latin typeface="Aptos"/>
                <a:ea typeface="Aptos"/>
                <a:cs typeface="Aptos"/>
              </a:defRPr>
            </a:pPr>
            <a:r>
              <a:rPr sz="1800" b="1">
                <a:solidFill>
                  <a:srgbClr val="13213A"/>
                </a:solidFill>
                <a:latin typeface="Aptos"/>
                <a:ea typeface="Aptos"/>
                <a:cs typeface="Aptos"/>
              </a:rPr>
              <a:t>COMPARE</a:t>
            </a:r>
          </a:p>
        </p:txBody>
      </p:sp>
      <p:sp>
        <p:nvSpPr>
          <p:cNvPr id="17" name="Rounded Rectangle 16">
            <a:extLst>
              <a:ext uri="{FF2B5EF4-FFF2-40B4-BE49-F238E27FC236}">
                <a16:creationId xmlns:a16="http://schemas.microsoft.com/office/drawing/2014/main" id="{1287D8FE-B772-43F4-A143-DE8913916895}"/>
              </a:ext>
            </a:extLst>
          </p:cNvPr>
          <p:cNvSpPr>
            <a:spLocks noGrp="1"/>
          </p:cNvSpPr>
          <p:nvPr/>
        </p:nvSpPr>
        <p:spPr>
          <a:xfrm>
            <a:off x="6362700" y="3600450"/>
            <a:ext cx="1924050" cy="762000"/>
          </a:xfrm>
          <a:prstGeom prst="roundRect">
            <a:avLst>
              <a:gd name="adj" fmla="val 15254"/>
            </a:avLst>
          </a:prstGeom>
          <a:noFill/>
          <a:ln w="0">
            <a:noFill/>
            <a:prstDash val="solid"/>
          </a:ln>
        </p:spPr>
        <p:txBody>
          <a:bodyPr wrap="square" lIns="0" tIns="0" rIns="0" bIns="0" anchor="ctr">
            <a:normAutofit/>
          </a:bodyPr>
          <a:lstStyle/>
          <a:p>
            <a:pPr algn="l">
              <a:lnSpc>
                <a:spcPct val="100000"/>
              </a:lnSpc>
              <a:buNone/>
              <a:defRPr sz="1425" b="0">
                <a:solidFill>
                  <a:srgbClr val="13213A"/>
                </a:solidFill>
              </a:defRPr>
            </a:pPr>
            <a:r>
              <a:rPr sz="1425" b="0">
                <a:solidFill>
                  <a:srgbClr val="13213A"/>
                </a:solidFill>
              </a:rPr>
              <a:t>Same rules for every area</a:t>
            </a:r>
          </a:p>
        </p:txBody>
      </p:sp>
      <p:sp>
        <p:nvSpPr>
          <p:cNvPr id="18" name="Rounded Rectangle 17">
            <a:extLst>
              <a:ext uri="{FF2B5EF4-FFF2-40B4-BE49-F238E27FC236}">
                <a16:creationId xmlns:a16="http://schemas.microsoft.com/office/drawing/2014/main" id="{417A19EF-0290-463B-B7B4-F39725AF6107}"/>
              </a:ext>
            </a:extLst>
          </p:cNvPr>
          <p:cNvSpPr>
            <a:spLocks noGrp="1"/>
          </p:cNvSpPr>
          <p:nvPr/>
        </p:nvSpPr>
        <p:spPr>
          <a:xfrm>
            <a:off x="8896350" y="2000250"/>
            <a:ext cx="2381250" cy="3143250"/>
          </a:xfrm>
          <a:prstGeom prst="roundRect">
            <a:avLst>
              <a:gd name="adj" fmla="val 9600"/>
            </a:avLst>
          </a:prstGeom>
          <a:solidFill>
            <a:srgbClr val="FF8A73"/>
          </a:solidFill>
          <a:ln w="0">
            <a:noFill/>
            <a:prstDash val="solid"/>
          </a:ln>
        </p:spPr>
        <p:txBody>
          <a:bodyPr lIns="0" tIns="0" rIns="0" bIns="0" anchor="t">
            <a:normAutofit/>
          </a:bodyPr>
          <a:lstStyle/>
          <a:p>
            <a:pPr algn="l">
              <a:buNone/>
              <a:defRPr sz="100" b="1">
                <a:solidFill>
                  <a:srgbClr val="FF8A73"/>
                </a:solidFill>
                <a:latin typeface="Aptos"/>
                <a:ea typeface="Aptos"/>
                <a:cs typeface="Aptos"/>
              </a:defRPr>
            </a:pPr>
            <a:r>
              <a:rPr sz="100" b="1">
                <a:solidFill>
                  <a:srgbClr val="FF8A73"/>
                </a:solidFill>
                <a:latin typeface="Aptos"/>
                <a:ea typeface="Aptos"/>
                <a:cs typeface="Aptos"/>
              </a:rPr>
              <a:t>​</a:t>
            </a:r>
          </a:p>
        </p:txBody>
      </p:sp>
      <p:sp>
        <p:nvSpPr>
          <p:cNvPr id="19" name="Rectangle 18">
            <a:extLst>
              <a:ext uri="{FF2B5EF4-FFF2-40B4-BE49-F238E27FC236}">
                <a16:creationId xmlns:a16="http://schemas.microsoft.com/office/drawing/2014/main" id="{4985F1AB-3FAF-47B6-8F4C-D034AA300571}"/>
              </a:ext>
            </a:extLst>
          </p:cNvPr>
          <p:cNvSpPr>
            <a:spLocks noGrp="1"/>
          </p:cNvSpPr>
          <p:nvPr/>
        </p:nvSpPr>
        <p:spPr>
          <a:xfrm>
            <a:off x="9124950" y="2228850"/>
            <a:ext cx="571500" cy="2667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13213A"/>
                </a:solidFill>
                <a:latin typeface="Aptos"/>
                <a:ea typeface="Aptos"/>
                <a:cs typeface="Aptos"/>
              </a:defRPr>
            </a:pPr>
            <a:r>
              <a:rPr sz="1200" b="1">
                <a:solidFill>
                  <a:srgbClr val="13213A"/>
                </a:solidFill>
                <a:latin typeface="Aptos"/>
                <a:ea typeface="Aptos"/>
                <a:cs typeface="Aptos"/>
              </a:rPr>
              <a:t>04</a:t>
            </a:r>
          </a:p>
        </p:txBody>
      </p:sp>
      <p:sp>
        <p:nvSpPr>
          <p:cNvPr id="20" name="Rounded Rectangle 19">
            <a:extLst>
              <a:ext uri="{FF2B5EF4-FFF2-40B4-BE49-F238E27FC236}">
                <a16:creationId xmlns:a16="http://schemas.microsoft.com/office/drawing/2014/main" id="{5F739610-1BB9-4524-AD73-7D2E7D88216F}"/>
              </a:ext>
            </a:extLst>
          </p:cNvPr>
          <p:cNvSpPr>
            <a:spLocks noGrp="1"/>
          </p:cNvSpPr>
          <p:nvPr/>
        </p:nvSpPr>
        <p:spPr>
          <a:xfrm>
            <a:off x="9124950" y="2857500"/>
            <a:ext cx="1924050" cy="419100"/>
          </a:xfrm>
          <a:prstGeom prst="roundRect">
            <a:avLst>
              <a:gd name="adj" fmla="val 15254"/>
            </a:avLst>
          </a:prstGeom>
          <a:noFill/>
          <a:ln w="0">
            <a:noFill/>
            <a:prstDash val="solid"/>
          </a:ln>
        </p:spPr>
        <p:txBody>
          <a:bodyPr wrap="square" lIns="0" tIns="0" rIns="0" bIns="0" anchor="ctr">
            <a:normAutofit/>
          </a:bodyPr>
          <a:lstStyle/>
          <a:p>
            <a:pPr algn="l">
              <a:lnSpc>
                <a:spcPct val="100000"/>
              </a:lnSpc>
              <a:buNone/>
              <a:defRPr sz="1800" b="1">
                <a:solidFill>
                  <a:srgbClr val="13213A"/>
                </a:solidFill>
              </a:defRPr>
            </a:pPr>
            <a:r>
              <a:rPr sz="1800" b="1">
                <a:solidFill>
                  <a:srgbClr val="13213A"/>
                </a:solidFill>
              </a:rPr>
              <a:t>EXPLAIN</a:t>
            </a:r>
          </a:p>
        </p:txBody>
      </p:sp>
      <p:sp>
        <p:nvSpPr>
          <p:cNvPr id="21" name="Rectangle 20">
            <a:extLst>
              <a:ext uri="{FF2B5EF4-FFF2-40B4-BE49-F238E27FC236}">
                <a16:creationId xmlns:a16="http://schemas.microsoft.com/office/drawing/2014/main" id="{AC6A128A-CCD8-4C25-BA97-97B3FA0D1AA2}"/>
              </a:ext>
            </a:extLst>
          </p:cNvPr>
          <p:cNvSpPr>
            <a:spLocks noGrp="1"/>
          </p:cNvSpPr>
          <p:nvPr/>
        </p:nvSpPr>
        <p:spPr>
          <a:xfrm>
            <a:off x="9124950" y="3600450"/>
            <a:ext cx="1924050" cy="762000"/>
          </a:xfrm>
          <a:prstGeom prst="rect">
            <a:avLst/>
          </a:prstGeom>
          <a:noFill/>
          <a:ln w="0">
            <a:noFill/>
            <a:prstDash val="solid"/>
          </a:ln>
        </p:spPr>
        <p:txBody>
          <a:bodyPr wrap="square" lIns="0" tIns="0" rIns="0" bIns="0" anchor="ctr">
            <a:normAutofit/>
          </a:bodyPr>
          <a:lstStyle/>
          <a:p>
            <a:pPr algn="l">
              <a:lnSpc>
                <a:spcPct val="100000"/>
              </a:lnSpc>
              <a:buNone/>
              <a:defRPr sz="1425" b="0">
                <a:solidFill>
                  <a:srgbClr val="13213A"/>
                </a:solidFill>
                <a:latin typeface="Aptos"/>
                <a:ea typeface="Aptos"/>
                <a:cs typeface="Aptos"/>
              </a:defRPr>
            </a:pPr>
            <a:r>
              <a:rPr sz="1425" b="0">
                <a:solidFill>
                  <a:srgbClr val="13213A"/>
                </a:solidFill>
                <a:latin typeface="Aptos"/>
                <a:ea typeface="Aptos"/>
                <a:cs typeface="Aptos"/>
              </a:rPr>
              <a:t>Strengths, gaps, tradeoffs</a:t>
            </a:r>
          </a:p>
        </p:txBody>
      </p:sp>
      <p:sp>
        <p:nvSpPr>
          <p:cNvPr id="22" name="Rectangle 21">
            <a:extLst>
              <a:ext uri="{FF2B5EF4-FFF2-40B4-BE49-F238E27FC236}">
                <a16:creationId xmlns:a16="http://schemas.microsoft.com/office/drawing/2014/main" id="{37D9D443-7DED-48C9-89F4-4E1E9E788DFD}"/>
              </a:ext>
            </a:extLst>
          </p:cNvPr>
          <p:cNvSpPr>
            <a:spLocks noGrp="1"/>
          </p:cNvSpPr>
          <p:nvPr/>
        </p:nvSpPr>
        <p:spPr>
          <a:xfrm>
            <a:off x="3143250" y="1733550"/>
            <a:ext cx="2838450" cy="57150"/>
          </a:xfrm>
          <a:prstGeom prst="rect">
            <a:avLst/>
          </a:prstGeom>
          <a:solidFill>
            <a:srgbClr val="2D5BFF"/>
          </a:solidFill>
          <a:ln w="0">
            <a:noFill/>
            <a:prstDash val="solid"/>
          </a:ln>
        </p:spPr>
        <p:txBody>
          <a:bodyPr lIns="0" tIns="0" rIns="0" bIns="0" anchor="t">
            <a:normAutofit/>
          </a:bodyPr>
          <a:lstStyle/>
          <a:p>
            <a:pPr algn="l">
              <a:buNone/>
              <a:defRPr sz="100" b="0">
                <a:solidFill>
                  <a:srgbClr val="2D5BFF"/>
                </a:solidFill>
                <a:latin typeface="Aptos"/>
                <a:ea typeface="Aptos"/>
                <a:cs typeface="Aptos"/>
              </a:defRPr>
            </a:pPr>
            <a:r>
              <a:rPr sz="100" b="0">
                <a:solidFill>
                  <a:srgbClr val="2D5BFF"/>
                </a:solidFill>
                <a:latin typeface="Aptos"/>
                <a:ea typeface="Aptos"/>
                <a:cs typeface="Aptos"/>
              </a:rPr>
              <a:t>​</a:t>
            </a:r>
          </a:p>
        </p:txBody>
      </p:sp>
      <p:sp>
        <p:nvSpPr>
          <p:cNvPr id="23" name="Rounded Rectangle 22">
            <a:extLst>
              <a:ext uri="{FF2B5EF4-FFF2-40B4-BE49-F238E27FC236}">
                <a16:creationId xmlns:a16="http://schemas.microsoft.com/office/drawing/2014/main" id="{4CE77BDE-4A89-41F4-BCB2-434E5BDE78F8}"/>
              </a:ext>
            </a:extLst>
          </p:cNvPr>
          <p:cNvSpPr>
            <a:spLocks noGrp="1"/>
          </p:cNvSpPr>
          <p:nvPr/>
        </p:nvSpPr>
        <p:spPr>
          <a:xfrm>
            <a:off x="3143250" y="1428750"/>
            <a:ext cx="2838450" cy="266700"/>
          </a:xfrm>
          <a:prstGeom prst="roundRect">
            <a:avLst>
              <a:gd name="adj" fmla="val 15254"/>
            </a:avLst>
          </a:prstGeom>
          <a:noFill/>
          <a:ln w="0">
            <a:noFill/>
            <a:prstDash val="solid"/>
          </a:ln>
        </p:spPr>
        <p:txBody>
          <a:bodyPr wrap="square" lIns="0" tIns="0" rIns="0" bIns="0" anchor="ctr">
            <a:normAutofit/>
          </a:bodyPr>
          <a:lstStyle/>
          <a:p>
            <a:pPr algn="ctr">
              <a:lnSpc>
                <a:spcPct val="100000"/>
              </a:lnSpc>
              <a:buNone/>
              <a:defRPr sz="1125" b="1">
                <a:solidFill>
                  <a:srgbClr val="2D5BFF"/>
                </a:solidFill>
              </a:defRPr>
            </a:pPr>
            <a:r>
              <a:rPr sz="1125" b="1">
                <a:solidFill>
                  <a:srgbClr val="2D5BFF"/>
                </a:solidFill>
              </a:rPr>
              <a:t>ANALYST CHECKPOINT</a:t>
            </a:r>
          </a:p>
        </p:txBody>
      </p:sp>
      <p:sp>
        <p:nvSpPr>
          <p:cNvPr id="24" name="Rectangle 23">
            <a:extLst>
              <a:ext uri="{FF2B5EF4-FFF2-40B4-BE49-F238E27FC236}">
                <a16:creationId xmlns:a16="http://schemas.microsoft.com/office/drawing/2014/main" id="{0DE711EE-9429-4C2A-B489-38311138D608}"/>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l">
              <a:buNone/>
              <a:defRPr sz="1725" b="1">
                <a:solidFill>
                  <a:srgbClr val="13213A"/>
                </a:solidFill>
                <a:latin typeface="Aptos"/>
                <a:ea typeface="Aptos"/>
                <a:cs typeface="Aptos"/>
              </a:defRPr>
            </a:pPr>
            <a:endParaRPr/>
          </a:p>
        </p:txBody>
      </p:sp>
      <p:sp>
        <p:nvSpPr>
          <p:cNvPr id="25" name="Rectangle 24">
            <a:extLst>
              <a:ext uri="{FF2B5EF4-FFF2-40B4-BE49-F238E27FC236}">
                <a16:creationId xmlns:a16="http://schemas.microsoft.com/office/drawing/2014/main" id="{7577CA3A-0F4E-47CE-8DEB-40A9403C29DA}"/>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l">
              <a:buNone/>
              <a:defRPr sz="1275" b="0">
                <a:solidFill>
                  <a:srgbClr val="39455A"/>
                </a:solidFill>
                <a:latin typeface="Aptos"/>
                <a:ea typeface="Aptos"/>
                <a:cs typeface="Aptos"/>
              </a:defRPr>
            </a:pPr>
            <a:endParaRPr/>
          </a:p>
        </p:txBody>
      </p:sp>
      <p:sp>
        <p:nvSpPr>
          <p:cNvPr id="26" name="Rounded Rectangle 25">
            <a:extLst>
              <a:ext uri="{FF2B5EF4-FFF2-40B4-BE49-F238E27FC236}">
                <a16:creationId xmlns:a16="http://schemas.microsoft.com/office/drawing/2014/main" id="{2AE12088-D006-49DC-BAC4-321FB0799009}"/>
              </a:ext>
            </a:extLst>
          </p:cNvPr>
          <p:cNvSpPr>
            <a:spLocks noGrp="1"/>
          </p:cNvSpPr>
          <p:nvPr/>
        </p:nvSpPr>
        <p:spPr>
          <a:xfrm>
            <a:off x="38100" y="38100"/>
            <a:ext cx="9525" cy="9525"/>
          </a:xfrm>
          <a:prstGeom prst="roundRect">
            <a:avLst>
              <a:gd name="adj" fmla="val 15254"/>
            </a:avLst>
          </a:prstGeom>
          <a:noFill/>
          <a:ln w="0">
            <a:noFill/>
            <a:prstDash val="solid"/>
          </a:ln>
        </p:spPr>
        <p:txBody>
          <a:bodyPr/>
          <a:lstStyle/>
          <a:p>
            <a:endParaRPr/>
          </a:p>
        </p:txBody>
      </p:sp>
      <p:sp>
        <p:nvSpPr>
          <p:cNvPr id="27" name="Rectangle 26">
            <a:extLst>
              <a:ext uri="{FF2B5EF4-FFF2-40B4-BE49-F238E27FC236}">
                <a16:creationId xmlns:a16="http://schemas.microsoft.com/office/drawing/2014/main" id="{2DB82333-CA85-4E20-867D-1A3B69ADB622}"/>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l">
              <a:buNone/>
              <a:defRPr sz="1725" b="1">
                <a:solidFill>
                  <a:srgbClr val="13213A"/>
                </a:solidFill>
                <a:latin typeface="Aptos"/>
                <a:ea typeface="Aptos"/>
                <a:cs typeface="Aptos"/>
              </a:defRPr>
            </a:pPr>
            <a:endParaRPr/>
          </a:p>
        </p:txBody>
      </p:sp>
      <p:sp>
        <p:nvSpPr>
          <p:cNvPr id="28" name="Rectangle 27">
            <a:extLst>
              <a:ext uri="{FF2B5EF4-FFF2-40B4-BE49-F238E27FC236}">
                <a16:creationId xmlns:a16="http://schemas.microsoft.com/office/drawing/2014/main" id="{F0BEDC39-4185-40B2-B3A5-0282CDE005F2}"/>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l">
              <a:buNone/>
              <a:defRPr sz="1275" b="0">
                <a:solidFill>
                  <a:srgbClr val="39455A"/>
                </a:solidFill>
                <a:latin typeface="Aptos"/>
                <a:ea typeface="Aptos"/>
                <a:cs typeface="Aptos"/>
              </a:defRPr>
            </a:pPr>
            <a:endParaRPr/>
          </a:p>
        </p:txBody>
      </p:sp>
    </p:spTree>
    <p:extLst>
      <p:ext uri="{BB962C8B-B14F-4D97-AF65-F5344CB8AC3E}">
        <p14:creationId xmlns:p14="http://schemas.microsoft.com/office/powerpoint/2010/main" val="1033227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F148B7D8-9D71-4D68-B62C-D81430B0EDF3}"/>
              </a:ext>
            </a:extLst>
          </p:cNvPr>
          <p:cNvSpPr>
            <a:spLocks noGrp="1"/>
          </p:cNvSpPr>
          <p:nvPr/>
        </p:nvSpPr>
        <p:spPr>
          <a:xfrm>
            <a:off x="609600" y="323850"/>
            <a:ext cx="5334000" cy="247650"/>
          </a:xfrm>
          <a:prstGeom prst="rect">
            <a:avLst/>
          </a:prstGeom>
          <a:noFill/>
          <a:ln w="0">
            <a:noFill/>
            <a:prstDash val="solid"/>
          </a:ln>
        </p:spPr>
        <p:txBody>
          <a:bodyPr wrap="square" lIns="0" tIns="0" rIns="0" bIns="0" anchor="ctr">
            <a:normAutofit/>
          </a:bodyPr>
          <a:lstStyle/>
          <a:p>
            <a:pPr algn="l">
              <a:lnSpc>
                <a:spcPct val="100000"/>
              </a:lnSpc>
              <a:buNone/>
              <a:defRPr sz="1125" b="1">
                <a:solidFill>
                  <a:srgbClr val="2D5BFF"/>
                </a:solidFill>
                <a:latin typeface="Aptos"/>
                <a:ea typeface="Aptos"/>
                <a:cs typeface="Aptos"/>
              </a:defRPr>
            </a:pPr>
            <a:r>
              <a:rPr sz="1125" b="1">
                <a:solidFill>
                  <a:srgbClr val="2D5BFF"/>
                </a:solidFill>
                <a:latin typeface="Aptos"/>
                <a:ea typeface="Aptos"/>
                <a:cs typeface="Aptos"/>
              </a:rPr>
              <a:t>WHAT ANALYSTS SEE</a:t>
            </a:r>
          </a:p>
        </p:txBody>
      </p:sp>
      <p:sp>
        <p:nvSpPr>
          <p:cNvPr id="2" name="Rectangle 1">
            <a:extLst>
              <a:ext uri="{FF2B5EF4-FFF2-40B4-BE49-F238E27FC236}">
                <a16:creationId xmlns:a16="http://schemas.microsoft.com/office/drawing/2014/main" id="{2572F072-9D04-4807-80EA-59944F19B343}"/>
              </a:ext>
            </a:extLst>
          </p:cNvPr>
          <p:cNvSpPr>
            <a:spLocks noGrp="1"/>
          </p:cNvSpPr>
          <p:nvPr/>
        </p:nvSpPr>
        <p:spPr>
          <a:xfrm>
            <a:off x="609600" y="723900"/>
            <a:ext cx="9334500" cy="685800"/>
          </a:xfrm>
          <a:prstGeom prst="rect">
            <a:avLst/>
          </a:prstGeom>
          <a:noFill/>
          <a:ln w="0">
            <a:noFill/>
            <a:prstDash val="solid"/>
          </a:ln>
        </p:spPr>
        <p:txBody>
          <a:bodyPr wrap="square" lIns="0" tIns="0" rIns="0" bIns="0" anchor="ctr">
            <a:normAutofit/>
          </a:bodyPr>
          <a:lstStyle/>
          <a:p>
            <a:pPr algn="l">
              <a:lnSpc>
                <a:spcPct val="100000"/>
              </a:lnSpc>
              <a:buNone/>
              <a:defRPr sz="3300" b="1">
                <a:solidFill>
                  <a:srgbClr val="13213A"/>
                </a:solidFill>
                <a:latin typeface="Aptos"/>
                <a:ea typeface="Aptos"/>
                <a:cs typeface="Aptos"/>
              </a:defRPr>
            </a:pPr>
            <a:r>
              <a:rPr sz="3300" b="1">
                <a:solidFill>
                  <a:srgbClr val="13213A"/>
                </a:solidFill>
                <a:latin typeface="Aptos"/>
                <a:ea typeface="Aptos"/>
                <a:cs typeface="Aptos"/>
              </a:rPr>
              <a:t>One workspace. One evidence trail.</a:t>
            </a:r>
          </a:p>
        </p:txBody>
      </p:sp>
      <p:sp>
        <p:nvSpPr>
          <p:cNvPr id="3" name="Rectangle 2">
            <a:extLst>
              <a:ext uri="{FF2B5EF4-FFF2-40B4-BE49-F238E27FC236}">
                <a16:creationId xmlns:a16="http://schemas.microsoft.com/office/drawing/2014/main" id="{770C3B4D-0C99-4328-93C7-3EA15304A876}"/>
              </a:ext>
            </a:extLst>
          </p:cNvPr>
          <p:cNvSpPr>
            <a:spLocks noGrp="1"/>
          </p:cNvSpPr>
          <p:nvPr/>
        </p:nvSpPr>
        <p:spPr>
          <a:xfrm>
            <a:off x="609600" y="6419850"/>
            <a:ext cx="10972800" cy="19050"/>
          </a:xfrm>
          <a:prstGeom prst="rect">
            <a:avLst/>
          </a:prstGeom>
          <a:solidFill>
            <a:srgbClr val="D6DCE7"/>
          </a:solidFill>
          <a:ln w="0">
            <a:noFill/>
            <a:prstDash val="solid"/>
          </a:ln>
        </p:spPr>
        <p:txBody>
          <a:bodyPr lIns="0" tIns="0" rIns="0" bIns="0"/>
          <a:lstStyle/>
          <a:p>
            <a:pPr>
              <a:defRPr sz="100">
                <a:solidFill>
                  <a:srgbClr val="D6DCE7"/>
                </a:solidFill>
              </a:defRPr>
            </a:pPr>
            <a:r>
              <a:rPr sz="100">
                <a:solidFill>
                  <a:srgbClr val="D6DCE7"/>
                </a:solidFill>
              </a:rPr>
              <a:t>​</a:t>
            </a:r>
          </a:p>
        </p:txBody>
      </p:sp>
      <p:sp>
        <p:nvSpPr>
          <p:cNvPr id="4" name="Rectangle 3">
            <a:extLst>
              <a:ext uri="{FF2B5EF4-FFF2-40B4-BE49-F238E27FC236}">
                <a16:creationId xmlns:a16="http://schemas.microsoft.com/office/drawing/2014/main" id="{694679D4-273B-4B79-BDD3-230DE5F75228}"/>
              </a:ext>
            </a:extLst>
          </p:cNvPr>
          <p:cNvSpPr>
            <a:spLocks noGrp="1"/>
          </p:cNvSpPr>
          <p:nvPr/>
        </p:nvSpPr>
        <p:spPr>
          <a:xfrm>
            <a:off x="609600" y="6515100"/>
            <a:ext cx="9334500" cy="171450"/>
          </a:xfrm>
          <a:prstGeom prst="rect">
            <a:avLst/>
          </a:prstGeom>
          <a:noFill/>
          <a:ln w="0">
            <a:noFill/>
            <a:prstDash val="solid"/>
          </a:ln>
        </p:spPr>
        <p:txBody>
          <a:bodyPr wrap="square" lIns="0" tIns="0" rIns="0" bIns="0" anchor="ctr">
            <a:normAutofit/>
          </a:bodyPr>
          <a:lstStyle/>
          <a:p>
            <a:pPr algn="l">
              <a:lnSpc>
                <a:spcPct val="100000"/>
              </a:lnSpc>
              <a:buNone/>
              <a:defRPr sz="900" b="0">
                <a:solidFill>
                  <a:srgbClr val="667085"/>
                </a:solidFill>
                <a:latin typeface="Aptos"/>
                <a:ea typeface="Aptos"/>
                <a:cs typeface="Aptos"/>
              </a:defRPr>
            </a:pPr>
            <a:r>
              <a:rPr sz="900" b="0">
                <a:solidFill>
                  <a:srgbClr val="667085"/>
                </a:solidFill>
                <a:latin typeface="Aptos"/>
                <a:ea typeface="Aptos"/>
                <a:cs typeface="Aptos"/>
              </a:rPr>
              <a:t>Every result shows inputs, missing evidence, and drivers</a:t>
            </a:r>
          </a:p>
        </p:txBody>
      </p:sp>
      <p:sp>
        <p:nvSpPr>
          <p:cNvPr id="5" name="Rectangle 4">
            <a:extLst>
              <a:ext uri="{FF2B5EF4-FFF2-40B4-BE49-F238E27FC236}">
                <a16:creationId xmlns:a16="http://schemas.microsoft.com/office/drawing/2014/main" id="{5EC29A20-2570-4056-9377-1FFE3D819CE9}"/>
              </a:ext>
            </a:extLst>
          </p:cNvPr>
          <p:cNvSpPr>
            <a:spLocks noGrp="1"/>
          </p:cNvSpPr>
          <p:nvPr/>
        </p:nvSpPr>
        <p:spPr>
          <a:xfrm>
            <a:off x="10953750" y="6515100"/>
            <a:ext cx="628650" cy="171450"/>
          </a:xfrm>
          <a:prstGeom prst="rect">
            <a:avLst/>
          </a:prstGeom>
          <a:noFill/>
          <a:ln w="0">
            <a:noFill/>
            <a:prstDash val="solid"/>
          </a:ln>
        </p:spPr>
        <p:txBody>
          <a:bodyPr wrap="square" lIns="0" tIns="0" rIns="0" bIns="0" anchor="ctr">
            <a:normAutofit/>
          </a:bodyPr>
          <a:lstStyle/>
          <a:p>
            <a:pPr algn="r">
              <a:lnSpc>
                <a:spcPct val="100000"/>
              </a:lnSpc>
              <a:buNone/>
              <a:defRPr sz="900" b="1">
                <a:solidFill>
                  <a:srgbClr val="13213A"/>
                </a:solidFill>
                <a:latin typeface="Aptos"/>
                <a:ea typeface="Aptos"/>
                <a:cs typeface="Aptos"/>
              </a:defRPr>
            </a:pPr>
            <a:r>
              <a:rPr sz="900" b="1">
                <a:solidFill>
                  <a:srgbClr val="13213A"/>
                </a:solidFill>
                <a:latin typeface="Aptos"/>
                <a:ea typeface="Aptos"/>
                <a:cs typeface="Aptos"/>
              </a:rPr>
              <a:t>07</a:t>
            </a:r>
          </a:p>
        </p:txBody>
      </p:sp>
      <p:sp>
        <p:nvSpPr>
          <p:cNvPr id="6" name="Rounded Rectangle 5">
            <a:extLst>
              <a:ext uri="{FF2B5EF4-FFF2-40B4-BE49-F238E27FC236}">
                <a16:creationId xmlns:a16="http://schemas.microsoft.com/office/drawing/2014/main" id="{5D52E412-712D-46F5-80E9-ED2564FCD3EC}"/>
              </a:ext>
            </a:extLst>
          </p:cNvPr>
          <p:cNvSpPr>
            <a:spLocks noGrp="1"/>
          </p:cNvSpPr>
          <p:nvPr/>
        </p:nvSpPr>
        <p:spPr>
          <a:xfrm>
            <a:off x="647700" y="1981200"/>
            <a:ext cx="10668000" cy="76200"/>
          </a:xfrm>
          <a:prstGeom prst="roundRect">
            <a:avLst>
              <a:gd name="adj" fmla="val 0"/>
            </a:avLst>
          </a:prstGeom>
          <a:solidFill>
            <a:srgbClr val="E8EDF5"/>
          </a:solidFill>
          <a:ln w="0">
            <a:noFill/>
            <a:prstDash val="solid"/>
          </a:ln>
        </p:spPr>
        <p:txBody>
          <a:bodyPr lIns="0" tIns="0" rIns="0" bIns="0"/>
          <a:lstStyle/>
          <a:p>
            <a:pPr>
              <a:defRPr sz="100">
                <a:solidFill>
                  <a:srgbClr val="E8EDF5"/>
                </a:solidFill>
              </a:defRPr>
            </a:pPr>
            <a:r>
              <a:rPr sz="100">
                <a:solidFill>
                  <a:srgbClr val="E8EDF5"/>
                </a:solidFill>
              </a:rPr>
              <a:t>​</a:t>
            </a:r>
          </a:p>
        </p:txBody>
      </p:sp>
      <p:sp>
        <p:nvSpPr>
          <p:cNvPr id="7" name="Rounded Rectangle 6">
            <a:extLst>
              <a:ext uri="{FF2B5EF4-FFF2-40B4-BE49-F238E27FC236}">
                <a16:creationId xmlns:a16="http://schemas.microsoft.com/office/drawing/2014/main" id="{BAA1FDC0-BAE6-49D0-84C4-46BBB8DAABC3}"/>
              </a:ext>
            </a:extLst>
          </p:cNvPr>
          <p:cNvSpPr>
            <a:spLocks noGrp="1"/>
          </p:cNvSpPr>
          <p:nvPr/>
        </p:nvSpPr>
        <p:spPr>
          <a:xfrm>
            <a:off x="647700" y="1762125"/>
            <a:ext cx="247650" cy="514350"/>
          </a:xfrm>
          <a:prstGeom prst="roundRect">
            <a:avLst>
              <a:gd name="adj" fmla="val 50000"/>
            </a:avLst>
          </a:prstGeom>
          <a:solidFill>
            <a:srgbClr val="2D5BFF"/>
          </a:solidFill>
          <a:ln w="0">
            <a:noFill/>
            <a:prstDash val="solid"/>
          </a:ln>
        </p:spPr>
        <p:txBody>
          <a:bodyPr lIns="0" tIns="0" rIns="0" bIns="0" anchor="t">
            <a:normAutofit/>
          </a:bodyPr>
          <a:lstStyle/>
          <a:p>
            <a:pPr algn="l">
              <a:buNone/>
              <a:defRPr sz="100" b="1">
                <a:solidFill>
                  <a:srgbClr val="2D5BFF"/>
                </a:solidFill>
                <a:latin typeface="Aptos"/>
                <a:ea typeface="Aptos"/>
                <a:cs typeface="Aptos"/>
              </a:defRPr>
            </a:pPr>
            <a:r>
              <a:rPr sz="100" b="1">
                <a:solidFill>
                  <a:srgbClr val="2D5BFF"/>
                </a:solidFill>
                <a:latin typeface="Aptos"/>
                <a:ea typeface="Aptos"/>
                <a:cs typeface="Aptos"/>
              </a:rPr>
              <a:t>​</a:t>
            </a:r>
          </a:p>
        </p:txBody>
      </p:sp>
      <p:sp>
        <p:nvSpPr>
          <p:cNvPr id="8" name="Rectangle 7">
            <a:extLst>
              <a:ext uri="{FF2B5EF4-FFF2-40B4-BE49-F238E27FC236}">
                <a16:creationId xmlns:a16="http://schemas.microsoft.com/office/drawing/2014/main" id="{426D6A39-7132-44B2-955A-FB2696AFFAC3}"/>
              </a:ext>
            </a:extLst>
          </p:cNvPr>
          <p:cNvSpPr>
            <a:spLocks noGrp="1"/>
          </p:cNvSpPr>
          <p:nvPr/>
        </p:nvSpPr>
        <p:spPr>
          <a:xfrm>
            <a:off x="647700" y="2571750"/>
            <a:ext cx="2857500" cy="419100"/>
          </a:xfrm>
          <a:prstGeom prst="rect">
            <a:avLst/>
          </a:prstGeom>
          <a:noFill/>
          <a:ln w="0">
            <a:noFill/>
            <a:prstDash val="solid"/>
          </a:ln>
        </p:spPr>
        <p:txBody>
          <a:bodyPr wrap="square" lIns="0" tIns="0" rIns="0" bIns="0" anchor="ctr">
            <a:normAutofit/>
          </a:bodyPr>
          <a:lstStyle/>
          <a:p>
            <a:pPr algn="l">
              <a:lnSpc>
                <a:spcPct val="100000"/>
              </a:lnSpc>
              <a:buNone/>
              <a:defRPr sz="2100" b="1">
                <a:solidFill>
                  <a:srgbClr val="2D5BFF"/>
                </a:solidFill>
                <a:latin typeface="Aptos"/>
                <a:ea typeface="Aptos"/>
                <a:cs typeface="Aptos"/>
              </a:defRPr>
            </a:pPr>
            <a:r>
              <a:rPr sz="2100" b="1">
                <a:solidFill>
                  <a:srgbClr val="2D5BFF"/>
                </a:solidFill>
                <a:latin typeface="Aptos"/>
                <a:ea typeface="Aptos"/>
                <a:cs typeface="Aptos"/>
              </a:rPr>
              <a:t>MARKET</a:t>
            </a:r>
          </a:p>
        </p:txBody>
      </p:sp>
      <p:sp>
        <p:nvSpPr>
          <p:cNvPr id="9" name="Rectangle 8">
            <a:extLst>
              <a:ext uri="{FF2B5EF4-FFF2-40B4-BE49-F238E27FC236}">
                <a16:creationId xmlns:a16="http://schemas.microsoft.com/office/drawing/2014/main" id="{855B34BD-3F0A-4B3D-AEB0-D6D39497737C}"/>
              </a:ext>
            </a:extLst>
          </p:cNvPr>
          <p:cNvSpPr>
            <a:spLocks noGrp="1"/>
          </p:cNvSpPr>
          <p:nvPr/>
        </p:nvSpPr>
        <p:spPr>
          <a:xfrm>
            <a:off x="647700" y="3048000"/>
            <a:ext cx="2857500" cy="361950"/>
          </a:xfrm>
          <a:prstGeom prst="rect">
            <a:avLst/>
          </a:prstGeom>
          <a:noFill/>
          <a:ln w="0">
            <a:noFill/>
            <a:prstDash val="solid"/>
          </a:ln>
        </p:spPr>
        <p:txBody>
          <a:bodyPr wrap="square" lIns="0" tIns="0" rIns="0" bIns="0" anchor="ctr">
            <a:normAutofit/>
          </a:bodyPr>
          <a:lstStyle/>
          <a:p>
            <a:pPr algn="l">
              <a:lnSpc>
                <a:spcPct val="100000"/>
              </a:lnSpc>
              <a:buNone/>
              <a:defRPr sz="1500" b="0">
                <a:solidFill>
                  <a:srgbClr val="667085"/>
                </a:solidFill>
                <a:latin typeface="Aptos"/>
                <a:ea typeface="Aptos"/>
                <a:cs typeface="Aptos"/>
              </a:defRPr>
            </a:pPr>
            <a:r>
              <a:rPr sz="1500" b="0">
                <a:solidFill>
                  <a:srgbClr val="667085"/>
                </a:solidFill>
                <a:latin typeface="Aptos"/>
                <a:ea typeface="Aptos"/>
                <a:cs typeface="Aptos"/>
              </a:rPr>
              <a:t>Context</a:t>
            </a:r>
          </a:p>
        </p:txBody>
      </p:sp>
      <p:sp>
        <p:nvSpPr>
          <p:cNvPr id="10" name="Rounded Rectangle 9">
            <a:extLst>
              <a:ext uri="{FF2B5EF4-FFF2-40B4-BE49-F238E27FC236}">
                <a16:creationId xmlns:a16="http://schemas.microsoft.com/office/drawing/2014/main" id="{FDB5B04C-8982-4DBA-97C7-D38A93673228}"/>
              </a:ext>
            </a:extLst>
          </p:cNvPr>
          <p:cNvSpPr>
            <a:spLocks noGrp="1"/>
          </p:cNvSpPr>
          <p:nvPr/>
        </p:nvSpPr>
        <p:spPr>
          <a:xfrm>
            <a:off x="4191000" y="1762125"/>
            <a:ext cx="247650" cy="514350"/>
          </a:xfrm>
          <a:prstGeom prst="roundRect">
            <a:avLst>
              <a:gd name="adj" fmla="val 50000"/>
            </a:avLst>
          </a:prstGeom>
          <a:solidFill>
            <a:srgbClr val="176A45"/>
          </a:solidFill>
          <a:ln w="0">
            <a:noFill/>
            <a:prstDash val="solid"/>
          </a:ln>
        </p:spPr>
        <p:txBody>
          <a:bodyPr lIns="0" tIns="0" rIns="0" bIns="0"/>
          <a:lstStyle/>
          <a:p>
            <a:pPr>
              <a:defRPr sz="100">
                <a:solidFill>
                  <a:srgbClr val="176A45"/>
                </a:solidFill>
              </a:defRPr>
            </a:pPr>
            <a:r>
              <a:rPr sz="100">
                <a:solidFill>
                  <a:srgbClr val="176A45"/>
                </a:solidFill>
              </a:rPr>
              <a:t>​</a:t>
            </a:r>
          </a:p>
        </p:txBody>
      </p:sp>
      <p:sp>
        <p:nvSpPr>
          <p:cNvPr id="11" name="Rectangle 10">
            <a:extLst>
              <a:ext uri="{FF2B5EF4-FFF2-40B4-BE49-F238E27FC236}">
                <a16:creationId xmlns:a16="http://schemas.microsoft.com/office/drawing/2014/main" id="{76942048-2CD8-43E0-B4BF-E6C11270DBA8}"/>
              </a:ext>
            </a:extLst>
          </p:cNvPr>
          <p:cNvSpPr>
            <a:spLocks noGrp="1"/>
          </p:cNvSpPr>
          <p:nvPr/>
        </p:nvSpPr>
        <p:spPr>
          <a:xfrm>
            <a:off x="4191000" y="2571750"/>
            <a:ext cx="2857500" cy="419100"/>
          </a:xfrm>
          <a:prstGeom prst="rect">
            <a:avLst/>
          </a:prstGeom>
          <a:noFill/>
          <a:ln w="0">
            <a:noFill/>
            <a:prstDash val="solid"/>
          </a:ln>
        </p:spPr>
        <p:txBody>
          <a:bodyPr wrap="square" lIns="0" tIns="0" rIns="0" bIns="0" anchor="ctr">
            <a:normAutofit/>
          </a:bodyPr>
          <a:lstStyle/>
          <a:p>
            <a:pPr algn="l">
              <a:lnSpc>
                <a:spcPct val="100000"/>
              </a:lnSpc>
              <a:buNone/>
              <a:defRPr sz="2100" b="1">
                <a:solidFill>
                  <a:srgbClr val="176A45"/>
                </a:solidFill>
                <a:latin typeface="Aptos"/>
                <a:ea typeface="Aptos"/>
                <a:cs typeface="Aptos"/>
              </a:defRPr>
            </a:pPr>
            <a:r>
              <a:rPr sz="2100" b="1">
                <a:solidFill>
                  <a:srgbClr val="176A45"/>
                </a:solidFill>
                <a:latin typeface="Aptos"/>
                <a:ea typeface="Aptos"/>
                <a:cs typeface="Aptos"/>
              </a:rPr>
              <a:t>SUBMARKET</a:t>
            </a:r>
          </a:p>
        </p:txBody>
      </p:sp>
      <p:sp>
        <p:nvSpPr>
          <p:cNvPr id="12" name="Rectangle 11">
            <a:extLst>
              <a:ext uri="{FF2B5EF4-FFF2-40B4-BE49-F238E27FC236}">
                <a16:creationId xmlns:a16="http://schemas.microsoft.com/office/drawing/2014/main" id="{68366EF5-CDED-4032-B327-DD1441F474A4}"/>
              </a:ext>
            </a:extLst>
          </p:cNvPr>
          <p:cNvSpPr>
            <a:spLocks noGrp="1"/>
          </p:cNvSpPr>
          <p:nvPr/>
        </p:nvSpPr>
        <p:spPr>
          <a:xfrm>
            <a:off x="4191000" y="3048000"/>
            <a:ext cx="2857500" cy="361950"/>
          </a:xfrm>
          <a:prstGeom prst="rect">
            <a:avLst/>
          </a:prstGeom>
          <a:noFill/>
          <a:ln w="0">
            <a:noFill/>
            <a:prstDash val="solid"/>
          </a:ln>
        </p:spPr>
        <p:txBody>
          <a:bodyPr wrap="square" lIns="0" tIns="0" rIns="0" bIns="0" anchor="ctr">
            <a:normAutofit/>
          </a:bodyPr>
          <a:lstStyle/>
          <a:p>
            <a:pPr algn="l">
              <a:lnSpc>
                <a:spcPct val="100000"/>
              </a:lnSpc>
              <a:buNone/>
              <a:defRPr sz="1500" b="0">
                <a:solidFill>
                  <a:srgbClr val="667085"/>
                </a:solidFill>
                <a:latin typeface="Aptos"/>
                <a:ea typeface="Aptos"/>
                <a:cs typeface="Aptos"/>
              </a:defRPr>
            </a:pPr>
            <a:r>
              <a:rPr sz="1500" b="0">
                <a:solidFill>
                  <a:srgbClr val="667085"/>
                </a:solidFill>
                <a:latin typeface="Aptos"/>
                <a:ea typeface="Aptos"/>
                <a:cs typeface="Aptos"/>
              </a:rPr>
              <a:t>Why here</a:t>
            </a:r>
          </a:p>
        </p:txBody>
      </p:sp>
      <p:sp>
        <p:nvSpPr>
          <p:cNvPr id="13" name="Rounded Rectangle 12">
            <a:extLst>
              <a:ext uri="{FF2B5EF4-FFF2-40B4-BE49-F238E27FC236}">
                <a16:creationId xmlns:a16="http://schemas.microsoft.com/office/drawing/2014/main" id="{F405E729-5721-46AA-ABA3-A985169FD187}"/>
              </a:ext>
            </a:extLst>
          </p:cNvPr>
          <p:cNvSpPr>
            <a:spLocks noGrp="1"/>
          </p:cNvSpPr>
          <p:nvPr/>
        </p:nvSpPr>
        <p:spPr>
          <a:xfrm>
            <a:off x="7734300" y="1762125"/>
            <a:ext cx="247650" cy="514350"/>
          </a:xfrm>
          <a:prstGeom prst="roundRect">
            <a:avLst>
              <a:gd name="adj" fmla="val 50000"/>
            </a:avLst>
          </a:prstGeom>
          <a:solidFill>
            <a:srgbClr val="FF8A73"/>
          </a:solidFill>
          <a:ln w="0">
            <a:noFill/>
            <a:prstDash val="solid"/>
          </a:ln>
        </p:spPr>
        <p:txBody>
          <a:bodyPr lIns="0" tIns="0" rIns="0" bIns="0" anchor="t">
            <a:normAutofit/>
          </a:bodyPr>
          <a:lstStyle/>
          <a:p>
            <a:pPr algn="l">
              <a:buNone/>
              <a:defRPr sz="100" b="0">
                <a:solidFill>
                  <a:srgbClr val="FF8A73"/>
                </a:solidFill>
                <a:latin typeface="Aptos"/>
                <a:ea typeface="Aptos"/>
                <a:cs typeface="Aptos"/>
              </a:defRPr>
            </a:pPr>
            <a:r>
              <a:rPr sz="100" b="0">
                <a:solidFill>
                  <a:srgbClr val="FF8A73"/>
                </a:solidFill>
                <a:latin typeface="Aptos"/>
                <a:ea typeface="Aptos"/>
                <a:cs typeface="Aptos"/>
              </a:rPr>
              <a:t>​</a:t>
            </a:r>
          </a:p>
        </p:txBody>
      </p:sp>
      <p:sp>
        <p:nvSpPr>
          <p:cNvPr id="14" name="Rounded Rectangle 13">
            <a:extLst>
              <a:ext uri="{FF2B5EF4-FFF2-40B4-BE49-F238E27FC236}">
                <a16:creationId xmlns:a16="http://schemas.microsoft.com/office/drawing/2014/main" id="{120D9ECD-5DFA-44D2-8332-E36233DCEE3F}"/>
              </a:ext>
            </a:extLst>
          </p:cNvPr>
          <p:cNvSpPr>
            <a:spLocks noGrp="1"/>
          </p:cNvSpPr>
          <p:nvPr/>
        </p:nvSpPr>
        <p:spPr>
          <a:xfrm>
            <a:off x="7734300" y="2571750"/>
            <a:ext cx="2857500" cy="419100"/>
          </a:xfrm>
          <a:prstGeom prst="roundRect">
            <a:avLst>
              <a:gd name="adj" fmla="val 15385"/>
            </a:avLst>
          </a:prstGeom>
          <a:noFill/>
          <a:ln w="0">
            <a:noFill/>
            <a:prstDash val="solid"/>
          </a:ln>
        </p:spPr>
        <p:txBody>
          <a:bodyPr wrap="square" lIns="0" tIns="0" rIns="0" bIns="0" anchor="ctr">
            <a:normAutofit/>
          </a:bodyPr>
          <a:lstStyle/>
          <a:p>
            <a:pPr algn="l">
              <a:lnSpc>
                <a:spcPct val="100000"/>
              </a:lnSpc>
              <a:buNone/>
              <a:defRPr sz="2100" b="1">
                <a:solidFill>
                  <a:srgbClr val="FF8A73"/>
                </a:solidFill>
              </a:defRPr>
            </a:pPr>
            <a:r>
              <a:rPr sz="2100" b="1">
                <a:solidFill>
                  <a:srgbClr val="FF8A73"/>
                </a:solidFill>
              </a:rPr>
              <a:t>PROPERTY</a:t>
            </a:r>
          </a:p>
        </p:txBody>
      </p:sp>
      <p:sp>
        <p:nvSpPr>
          <p:cNvPr id="15" name="Rectangle 14">
            <a:extLst>
              <a:ext uri="{FF2B5EF4-FFF2-40B4-BE49-F238E27FC236}">
                <a16:creationId xmlns:a16="http://schemas.microsoft.com/office/drawing/2014/main" id="{4F0A5EDA-7423-4990-9D68-01DA7CCFF97D}"/>
              </a:ext>
            </a:extLst>
          </p:cNvPr>
          <p:cNvSpPr>
            <a:spLocks noGrp="1"/>
          </p:cNvSpPr>
          <p:nvPr/>
        </p:nvSpPr>
        <p:spPr>
          <a:xfrm>
            <a:off x="7734300" y="3048000"/>
            <a:ext cx="2857500" cy="361950"/>
          </a:xfrm>
          <a:prstGeom prst="rect">
            <a:avLst/>
          </a:prstGeom>
          <a:noFill/>
          <a:ln w="0">
            <a:noFill/>
            <a:prstDash val="solid"/>
          </a:ln>
        </p:spPr>
        <p:txBody>
          <a:bodyPr wrap="square" lIns="0" tIns="0" rIns="0" bIns="0" anchor="ctr">
            <a:normAutofit/>
          </a:bodyPr>
          <a:lstStyle/>
          <a:p>
            <a:pPr algn="l">
              <a:lnSpc>
                <a:spcPct val="100000"/>
              </a:lnSpc>
              <a:buNone/>
              <a:defRPr sz="1500" b="0">
                <a:solidFill>
                  <a:srgbClr val="667085"/>
                </a:solidFill>
                <a:latin typeface="Aptos"/>
                <a:ea typeface="Aptos"/>
                <a:cs typeface="Aptos"/>
              </a:defRPr>
            </a:pPr>
            <a:r>
              <a:rPr sz="1500" b="0">
                <a:solidFill>
                  <a:srgbClr val="667085"/>
                </a:solidFill>
                <a:latin typeface="Aptos"/>
                <a:ea typeface="Aptos"/>
                <a:cs typeface="Aptos"/>
              </a:rPr>
              <a:t>What is workable</a:t>
            </a:r>
          </a:p>
        </p:txBody>
      </p:sp>
      <p:sp>
        <p:nvSpPr>
          <p:cNvPr id="16" name="Rounded Rectangle 15">
            <a:extLst>
              <a:ext uri="{FF2B5EF4-FFF2-40B4-BE49-F238E27FC236}">
                <a16:creationId xmlns:a16="http://schemas.microsoft.com/office/drawing/2014/main" id="{96D5DB44-03AA-453B-A082-A230AEBBDBBF}"/>
              </a:ext>
            </a:extLst>
          </p:cNvPr>
          <p:cNvSpPr>
            <a:spLocks noGrp="1"/>
          </p:cNvSpPr>
          <p:nvPr/>
        </p:nvSpPr>
        <p:spPr>
          <a:xfrm>
            <a:off x="647700" y="4000500"/>
            <a:ext cx="3238500" cy="1257300"/>
          </a:xfrm>
          <a:prstGeom prst="roundRect">
            <a:avLst>
              <a:gd name="adj" fmla="val 16667"/>
            </a:avLst>
          </a:prstGeom>
          <a:solidFill>
            <a:srgbClr val="0B1733"/>
          </a:solidFill>
          <a:ln w="0">
            <a:noFill/>
            <a:prstDash val="solid"/>
          </a:ln>
        </p:spPr>
        <p:txBody>
          <a:bodyPr lIns="0" tIns="0" rIns="0" bIns="0" anchor="t">
            <a:normAutofit/>
          </a:bodyPr>
          <a:lstStyle/>
          <a:p>
            <a:pPr algn="l">
              <a:buNone/>
              <a:defRPr sz="100" b="1">
                <a:solidFill>
                  <a:srgbClr val="0B1733"/>
                </a:solidFill>
                <a:latin typeface="Aptos"/>
                <a:ea typeface="Aptos"/>
                <a:cs typeface="Aptos"/>
              </a:defRPr>
            </a:pPr>
            <a:r>
              <a:rPr sz="100" b="1">
                <a:solidFill>
                  <a:srgbClr val="0B1733"/>
                </a:solidFill>
                <a:latin typeface="Aptos"/>
                <a:ea typeface="Aptos"/>
                <a:cs typeface="Aptos"/>
              </a:rPr>
              <a:t>​</a:t>
            </a:r>
          </a:p>
        </p:txBody>
      </p:sp>
      <p:sp>
        <p:nvSpPr>
          <p:cNvPr id="17" name="Rectangle 16">
            <a:extLst>
              <a:ext uri="{FF2B5EF4-FFF2-40B4-BE49-F238E27FC236}">
                <a16:creationId xmlns:a16="http://schemas.microsoft.com/office/drawing/2014/main" id="{E72A6971-AA83-4389-B224-C40DF91A55E6}"/>
              </a:ext>
            </a:extLst>
          </p:cNvPr>
          <p:cNvSpPr>
            <a:spLocks noGrp="1"/>
          </p:cNvSpPr>
          <p:nvPr/>
        </p:nvSpPr>
        <p:spPr>
          <a:xfrm>
            <a:off x="914400" y="4171950"/>
            <a:ext cx="2667000" cy="3429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DDE6FF"/>
                </a:solidFill>
                <a:latin typeface="Aptos"/>
                <a:ea typeface="Aptos"/>
                <a:cs typeface="Aptos"/>
              </a:defRPr>
            </a:pPr>
            <a:r>
              <a:rPr sz="1200" b="1">
                <a:solidFill>
                  <a:srgbClr val="DDE6FF"/>
                </a:solidFill>
                <a:latin typeface="Aptos"/>
                <a:ea typeface="Aptos"/>
                <a:cs typeface="Aptos"/>
              </a:rPr>
              <a:t>ASK</a:t>
            </a:r>
          </a:p>
        </p:txBody>
      </p:sp>
      <p:sp>
        <p:nvSpPr>
          <p:cNvPr id="18" name="Rounded Rectangle 17">
            <a:extLst>
              <a:ext uri="{FF2B5EF4-FFF2-40B4-BE49-F238E27FC236}">
                <a16:creationId xmlns:a16="http://schemas.microsoft.com/office/drawing/2014/main" id="{A0B4D277-50CF-4F67-A613-A34602F4EFC1}"/>
              </a:ext>
            </a:extLst>
          </p:cNvPr>
          <p:cNvSpPr>
            <a:spLocks noGrp="1"/>
          </p:cNvSpPr>
          <p:nvPr/>
        </p:nvSpPr>
        <p:spPr>
          <a:xfrm>
            <a:off x="914400" y="4629150"/>
            <a:ext cx="2667000" cy="419100"/>
          </a:xfrm>
          <a:prstGeom prst="roundRect">
            <a:avLst>
              <a:gd name="adj" fmla="val 15385"/>
            </a:avLst>
          </a:prstGeom>
          <a:noFill/>
          <a:ln w="0">
            <a:noFill/>
            <a:prstDash val="solid"/>
          </a:ln>
        </p:spPr>
        <p:txBody>
          <a:bodyPr wrap="square" lIns="0" tIns="0" rIns="0" bIns="0" anchor="ctr">
            <a:normAutofit/>
          </a:bodyPr>
          <a:lstStyle/>
          <a:p>
            <a:pPr algn="l">
              <a:lnSpc>
                <a:spcPct val="100000"/>
              </a:lnSpc>
              <a:buNone/>
              <a:defRPr sz="1875" b="1">
                <a:solidFill>
                  <a:srgbClr val="FFFFFF"/>
                </a:solidFill>
              </a:defRPr>
            </a:pPr>
            <a:r>
              <a:rPr sz="1875" b="1">
                <a:solidFill>
                  <a:srgbClr val="FFFFFF"/>
                </a:solidFill>
              </a:rPr>
              <a:t>Plain language</a:t>
            </a:r>
          </a:p>
        </p:txBody>
      </p:sp>
      <p:sp>
        <p:nvSpPr>
          <p:cNvPr id="19" name="Rounded Rectangle 18">
            <a:extLst>
              <a:ext uri="{FF2B5EF4-FFF2-40B4-BE49-F238E27FC236}">
                <a16:creationId xmlns:a16="http://schemas.microsoft.com/office/drawing/2014/main" id="{BAD7B69C-00D1-4230-A9A6-B186B671B8CA}"/>
              </a:ext>
            </a:extLst>
          </p:cNvPr>
          <p:cNvSpPr>
            <a:spLocks noGrp="1"/>
          </p:cNvSpPr>
          <p:nvPr/>
        </p:nvSpPr>
        <p:spPr>
          <a:xfrm>
            <a:off x="4324350" y="4000500"/>
            <a:ext cx="3238500" cy="1257300"/>
          </a:xfrm>
          <a:prstGeom prst="roundRect">
            <a:avLst>
              <a:gd name="adj" fmla="val 16667"/>
            </a:avLst>
          </a:prstGeom>
          <a:solidFill>
            <a:srgbClr val="2D5BFF"/>
          </a:solidFill>
          <a:ln w="0">
            <a:noFill/>
            <a:prstDash val="solid"/>
          </a:ln>
        </p:spPr>
        <p:txBody>
          <a:bodyPr lIns="0" tIns="0" rIns="0" bIns="0" anchor="t">
            <a:normAutofit/>
          </a:bodyPr>
          <a:lstStyle/>
          <a:p>
            <a:pPr algn="l">
              <a:buNone/>
              <a:defRPr sz="100" b="1">
                <a:solidFill>
                  <a:srgbClr val="2D5BFF"/>
                </a:solidFill>
                <a:latin typeface="Aptos"/>
                <a:ea typeface="Aptos"/>
                <a:cs typeface="Aptos"/>
              </a:defRPr>
            </a:pPr>
            <a:r>
              <a:rPr sz="100" b="1">
                <a:solidFill>
                  <a:srgbClr val="2D5BFF"/>
                </a:solidFill>
                <a:latin typeface="Aptos"/>
                <a:ea typeface="Aptos"/>
                <a:cs typeface="Aptos"/>
              </a:rPr>
              <a:t>​</a:t>
            </a:r>
          </a:p>
        </p:txBody>
      </p:sp>
      <p:sp>
        <p:nvSpPr>
          <p:cNvPr id="20" name="Rectangle 19">
            <a:extLst>
              <a:ext uri="{FF2B5EF4-FFF2-40B4-BE49-F238E27FC236}">
                <a16:creationId xmlns:a16="http://schemas.microsoft.com/office/drawing/2014/main" id="{ABB36090-A106-43C7-B3CA-C9F8F49CAE82}"/>
              </a:ext>
            </a:extLst>
          </p:cNvPr>
          <p:cNvSpPr>
            <a:spLocks noGrp="1"/>
          </p:cNvSpPr>
          <p:nvPr/>
        </p:nvSpPr>
        <p:spPr>
          <a:xfrm>
            <a:off x="4591050" y="4171950"/>
            <a:ext cx="2667000" cy="3429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DDE6FF"/>
                </a:solidFill>
                <a:latin typeface="Aptos"/>
                <a:ea typeface="Aptos"/>
                <a:cs typeface="Aptos"/>
              </a:defRPr>
            </a:pPr>
            <a:r>
              <a:rPr sz="1200" b="1">
                <a:solidFill>
                  <a:srgbClr val="DDE6FF"/>
                </a:solidFill>
                <a:latin typeface="Aptos"/>
                <a:ea typeface="Aptos"/>
                <a:cs typeface="Aptos"/>
              </a:rPr>
              <a:t>COMPARE</a:t>
            </a:r>
          </a:p>
        </p:txBody>
      </p:sp>
      <p:sp>
        <p:nvSpPr>
          <p:cNvPr id="21" name="Rectangle 20">
            <a:extLst>
              <a:ext uri="{FF2B5EF4-FFF2-40B4-BE49-F238E27FC236}">
                <a16:creationId xmlns:a16="http://schemas.microsoft.com/office/drawing/2014/main" id="{2EBFE91B-2B9F-46A1-96AF-4742FD79BF93}"/>
              </a:ext>
            </a:extLst>
          </p:cNvPr>
          <p:cNvSpPr>
            <a:spLocks noGrp="1"/>
          </p:cNvSpPr>
          <p:nvPr/>
        </p:nvSpPr>
        <p:spPr>
          <a:xfrm>
            <a:off x="4591050" y="4629150"/>
            <a:ext cx="2667000" cy="419100"/>
          </a:xfrm>
          <a:prstGeom prst="rect">
            <a:avLst/>
          </a:prstGeom>
          <a:noFill/>
          <a:ln w="0">
            <a:noFill/>
            <a:prstDash val="solid"/>
          </a:ln>
        </p:spPr>
        <p:txBody>
          <a:bodyPr wrap="square" lIns="0" tIns="0" rIns="0" bIns="0" anchor="ctr">
            <a:normAutofit/>
          </a:bodyPr>
          <a:lstStyle/>
          <a:p>
            <a:pPr algn="l">
              <a:lnSpc>
                <a:spcPct val="100000"/>
              </a:lnSpc>
              <a:buNone/>
              <a:defRPr sz="1875" b="1">
                <a:solidFill>
                  <a:srgbClr val="FFFFFF"/>
                </a:solidFill>
                <a:latin typeface="Aptos"/>
                <a:ea typeface="Aptos"/>
                <a:cs typeface="Aptos"/>
              </a:defRPr>
            </a:pPr>
            <a:r>
              <a:rPr sz="1875" b="1">
                <a:solidFill>
                  <a:srgbClr val="FFFFFF"/>
                </a:solidFill>
                <a:latin typeface="Aptos"/>
                <a:ea typeface="Aptos"/>
                <a:cs typeface="Aptos"/>
              </a:rPr>
              <a:t>Tradeoffs</a:t>
            </a:r>
          </a:p>
        </p:txBody>
      </p:sp>
      <p:sp>
        <p:nvSpPr>
          <p:cNvPr id="22" name="Rounded Rectangle 21">
            <a:extLst>
              <a:ext uri="{FF2B5EF4-FFF2-40B4-BE49-F238E27FC236}">
                <a16:creationId xmlns:a16="http://schemas.microsoft.com/office/drawing/2014/main" id="{CBC7C0BD-E07E-418B-9B18-0E5CF3DF892A}"/>
              </a:ext>
            </a:extLst>
          </p:cNvPr>
          <p:cNvSpPr>
            <a:spLocks noGrp="1"/>
          </p:cNvSpPr>
          <p:nvPr/>
        </p:nvSpPr>
        <p:spPr>
          <a:xfrm>
            <a:off x="8001000" y="4000500"/>
            <a:ext cx="3314700" cy="1257300"/>
          </a:xfrm>
          <a:prstGeom prst="roundRect">
            <a:avLst>
              <a:gd name="adj" fmla="val 16667"/>
            </a:avLst>
          </a:prstGeom>
          <a:solidFill>
            <a:srgbClr val="BFE9D0"/>
          </a:solidFill>
          <a:ln w="0">
            <a:noFill/>
            <a:prstDash val="solid"/>
          </a:ln>
        </p:spPr>
        <p:txBody>
          <a:bodyPr lIns="0" tIns="0" rIns="0" bIns="0"/>
          <a:lstStyle/>
          <a:p>
            <a:pPr>
              <a:defRPr sz="100">
                <a:solidFill>
                  <a:srgbClr val="BFE9D0"/>
                </a:solidFill>
              </a:defRPr>
            </a:pPr>
            <a:r>
              <a:rPr sz="100">
                <a:solidFill>
                  <a:srgbClr val="BFE9D0"/>
                </a:solidFill>
              </a:rPr>
              <a:t>​</a:t>
            </a:r>
          </a:p>
        </p:txBody>
      </p:sp>
      <p:sp>
        <p:nvSpPr>
          <p:cNvPr id="23" name="Rectangle 22">
            <a:extLst>
              <a:ext uri="{FF2B5EF4-FFF2-40B4-BE49-F238E27FC236}">
                <a16:creationId xmlns:a16="http://schemas.microsoft.com/office/drawing/2014/main" id="{FF4B21E4-C305-459C-BC2C-B44C15CAA34E}"/>
              </a:ext>
            </a:extLst>
          </p:cNvPr>
          <p:cNvSpPr>
            <a:spLocks noGrp="1"/>
          </p:cNvSpPr>
          <p:nvPr/>
        </p:nvSpPr>
        <p:spPr>
          <a:xfrm>
            <a:off x="8267700" y="4171950"/>
            <a:ext cx="2781300" cy="3429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176A45"/>
                </a:solidFill>
                <a:latin typeface="Aptos"/>
                <a:ea typeface="Aptos"/>
                <a:cs typeface="Aptos"/>
              </a:defRPr>
            </a:pPr>
            <a:r>
              <a:rPr sz="1200" b="1">
                <a:solidFill>
                  <a:srgbClr val="176A45"/>
                </a:solidFill>
                <a:latin typeface="Aptos"/>
                <a:ea typeface="Aptos"/>
                <a:cs typeface="Aptos"/>
              </a:rPr>
              <a:t>TRACE</a:t>
            </a:r>
          </a:p>
        </p:txBody>
      </p:sp>
      <p:sp>
        <p:nvSpPr>
          <p:cNvPr id="24" name="Rectangle 23">
            <a:extLst>
              <a:ext uri="{FF2B5EF4-FFF2-40B4-BE49-F238E27FC236}">
                <a16:creationId xmlns:a16="http://schemas.microsoft.com/office/drawing/2014/main" id="{5742A08C-92F3-4DF0-86E1-40DFC850D589}"/>
              </a:ext>
            </a:extLst>
          </p:cNvPr>
          <p:cNvSpPr>
            <a:spLocks noGrp="1"/>
          </p:cNvSpPr>
          <p:nvPr/>
        </p:nvSpPr>
        <p:spPr>
          <a:xfrm>
            <a:off x="8267700" y="4629150"/>
            <a:ext cx="2781300" cy="419100"/>
          </a:xfrm>
          <a:prstGeom prst="rect">
            <a:avLst/>
          </a:prstGeom>
          <a:noFill/>
          <a:ln w="0">
            <a:noFill/>
            <a:prstDash val="solid"/>
          </a:ln>
        </p:spPr>
        <p:txBody>
          <a:bodyPr wrap="square" lIns="0" tIns="0" rIns="0" bIns="0" anchor="ctr">
            <a:normAutofit/>
          </a:bodyPr>
          <a:lstStyle/>
          <a:p>
            <a:pPr algn="l">
              <a:lnSpc>
                <a:spcPct val="100000"/>
              </a:lnSpc>
              <a:buNone/>
              <a:defRPr sz="1875" b="1">
                <a:solidFill>
                  <a:srgbClr val="13213A"/>
                </a:solidFill>
                <a:latin typeface="Aptos"/>
                <a:ea typeface="Aptos"/>
                <a:cs typeface="Aptos"/>
              </a:defRPr>
            </a:pPr>
            <a:r>
              <a:rPr sz="1875" b="1">
                <a:solidFill>
                  <a:srgbClr val="13213A"/>
                </a:solidFill>
                <a:latin typeface="Aptos"/>
                <a:ea typeface="Aptos"/>
                <a:cs typeface="Aptos"/>
              </a:rPr>
              <a:t>Evidence + gaps</a:t>
            </a:r>
          </a:p>
        </p:txBody>
      </p:sp>
      <p:sp>
        <p:nvSpPr>
          <p:cNvPr id="25" name="Rectangle 24">
            <a:extLst>
              <a:ext uri="{FF2B5EF4-FFF2-40B4-BE49-F238E27FC236}">
                <a16:creationId xmlns:a16="http://schemas.microsoft.com/office/drawing/2014/main" id="{408CDEBA-F24C-459E-B352-673F7ED73437}"/>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l">
              <a:buNone/>
              <a:defRPr sz="1350" b="0">
                <a:solidFill>
                  <a:srgbClr val="39455A"/>
                </a:solidFill>
                <a:latin typeface="Aptos"/>
                <a:ea typeface="Aptos"/>
                <a:cs typeface="Aptos"/>
              </a:defRPr>
            </a:pPr>
            <a:endParaRPr/>
          </a:p>
        </p:txBody>
      </p:sp>
    </p:spTree>
    <p:extLst>
      <p:ext uri="{BB962C8B-B14F-4D97-AF65-F5344CB8AC3E}">
        <p14:creationId xmlns:p14="http://schemas.microsoft.com/office/powerpoint/2010/main" val="2063193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733"/>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B7672B6-F32D-4A8C-9D1D-D2A54DF8CC5F}"/>
              </a:ext>
            </a:extLst>
          </p:cNvPr>
          <p:cNvSpPr>
            <a:spLocks noGrp="1"/>
          </p:cNvSpPr>
          <p:nvPr/>
        </p:nvSpPr>
        <p:spPr>
          <a:xfrm>
            <a:off x="609600" y="323850"/>
            <a:ext cx="5334000" cy="247650"/>
          </a:xfrm>
          <a:prstGeom prst="rect">
            <a:avLst/>
          </a:prstGeom>
          <a:noFill/>
          <a:ln w="0">
            <a:noFill/>
            <a:prstDash val="solid"/>
          </a:ln>
        </p:spPr>
        <p:txBody>
          <a:bodyPr wrap="square" lIns="0" tIns="0" rIns="0" bIns="0" anchor="ctr">
            <a:normAutofit/>
          </a:bodyPr>
          <a:lstStyle/>
          <a:p>
            <a:pPr algn="l">
              <a:lnSpc>
                <a:spcPct val="100000"/>
              </a:lnSpc>
              <a:buNone/>
              <a:defRPr sz="1125" b="1">
                <a:solidFill>
                  <a:srgbClr val="DDE6FF"/>
                </a:solidFill>
                <a:latin typeface="Aptos"/>
                <a:ea typeface="Aptos"/>
                <a:cs typeface="Aptos"/>
              </a:defRPr>
            </a:pPr>
            <a:r>
              <a:rPr sz="1125" b="1">
                <a:solidFill>
                  <a:srgbClr val="DDE6FF"/>
                </a:solidFill>
                <a:latin typeface="Aptos"/>
                <a:ea typeface="Aptos"/>
                <a:cs typeface="Aptos"/>
              </a:rPr>
              <a:t>THREE OUTPUTS STAY SEPARATE</a:t>
            </a:r>
          </a:p>
        </p:txBody>
      </p:sp>
      <p:sp>
        <p:nvSpPr>
          <p:cNvPr id="2" name="Rectangle 1">
            <a:extLst>
              <a:ext uri="{FF2B5EF4-FFF2-40B4-BE49-F238E27FC236}">
                <a16:creationId xmlns:a16="http://schemas.microsoft.com/office/drawing/2014/main" id="{6BDD2111-6573-43D8-877F-48241BEEDE54}"/>
              </a:ext>
            </a:extLst>
          </p:cNvPr>
          <p:cNvSpPr>
            <a:spLocks noGrp="1"/>
          </p:cNvSpPr>
          <p:nvPr/>
        </p:nvSpPr>
        <p:spPr>
          <a:xfrm>
            <a:off x="609600" y="723900"/>
            <a:ext cx="10668000" cy="685800"/>
          </a:xfrm>
          <a:prstGeom prst="rect">
            <a:avLst/>
          </a:prstGeom>
          <a:noFill/>
          <a:ln w="0">
            <a:noFill/>
            <a:prstDash val="solid"/>
          </a:ln>
        </p:spPr>
        <p:txBody>
          <a:bodyPr wrap="square" lIns="0" tIns="0" rIns="0" bIns="0" anchor="ctr">
            <a:normAutofit/>
          </a:bodyPr>
          <a:lstStyle/>
          <a:p>
            <a:pPr algn="l">
              <a:lnSpc>
                <a:spcPct val="100000"/>
              </a:lnSpc>
              <a:buNone/>
              <a:defRPr sz="3225" b="1">
                <a:solidFill>
                  <a:srgbClr val="FFFFFF"/>
                </a:solidFill>
                <a:latin typeface="Aptos"/>
                <a:ea typeface="Aptos"/>
                <a:cs typeface="Aptos"/>
              </a:defRPr>
            </a:pPr>
            <a:r>
              <a:rPr sz="3225" b="1">
                <a:solidFill>
                  <a:srgbClr val="FFFFFF"/>
                </a:solidFill>
                <a:latin typeface="Aptos"/>
                <a:ea typeface="Aptos"/>
                <a:cs typeface="Aptos"/>
              </a:rPr>
              <a:t>Three questions. Three different decisions.</a:t>
            </a:r>
          </a:p>
        </p:txBody>
      </p:sp>
      <p:sp>
        <p:nvSpPr>
          <p:cNvPr id="3" name="Rectangle 2">
            <a:extLst>
              <a:ext uri="{FF2B5EF4-FFF2-40B4-BE49-F238E27FC236}">
                <a16:creationId xmlns:a16="http://schemas.microsoft.com/office/drawing/2014/main" id="{9041FF62-1481-473C-804F-535A1C05D3DB}"/>
              </a:ext>
            </a:extLst>
          </p:cNvPr>
          <p:cNvSpPr>
            <a:spLocks noGrp="1"/>
          </p:cNvSpPr>
          <p:nvPr/>
        </p:nvSpPr>
        <p:spPr>
          <a:xfrm>
            <a:off x="609600" y="6419850"/>
            <a:ext cx="10972800" cy="19050"/>
          </a:xfrm>
          <a:prstGeom prst="rect">
            <a:avLst/>
          </a:prstGeom>
          <a:solidFill>
            <a:srgbClr val="33415F"/>
          </a:solidFill>
          <a:ln w="0">
            <a:noFill/>
            <a:prstDash val="solid"/>
          </a:ln>
        </p:spPr>
        <p:txBody>
          <a:bodyPr lIns="0" tIns="0" rIns="0" bIns="0"/>
          <a:lstStyle/>
          <a:p>
            <a:pPr>
              <a:defRPr sz="100">
                <a:solidFill>
                  <a:srgbClr val="33415F"/>
                </a:solidFill>
              </a:defRPr>
            </a:pPr>
            <a:r>
              <a:rPr sz="100">
                <a:solidFill>
                  <a:srgbClr val="33415F"/>
                </a:solidFill>
              </a:rPr>
              <a:t>​</a:t>
            </a:r>
          </a:p>
        </p:txBody>
      </p:sp>
      <p:sp>
        <p:nvSpPr>
          <p:cNvPr id="4" name="Rectangle 3">
            <a:extLst>
              <a:ext uri="{FF2B5EF4-FFF2-40B4-BE49-F238E27FC236}">
                <a16:creationId xmlns:a16="http://schemas.microsoft.com/office/drawing/2014/main" id="{6F706176-D641-414F-ADCF-DE15899D3C2B}"/>
              </a:ext>
            </a:extLst>
          </p:cNvPr>
          <p:cNvSpPr>
            <a:spLocks noGrp="1"/>
          </p:cNvSpPr>
          <p:nvPr/>
        </p:nvSpPr>
        <p:spPr>
          <a:xfrm>
            <a:off x="609600" y="6515100"/>
            <a:ext cx="9334500" cy="171450"/>
          </a:xfrm>
          <a:prstGeom prst="rect">
            <a:avLst/>
          </a:prstGeom>
          <a:noFill/>
          <a:ln w="0">
            <a:noFill/>
            <a:prstDash val="solid"/>
          </a:ln>
        </p:spPr>
        <p:txBody>
          <a:bodyPr wrap="square" lIns="0" tIns="0" rIns="0" bIns="0" anchor="ctr">
            <a:normAutofit/>
          </a:bodyPr>
          <a:lstStyle/>
          <a:p>
            <a:pPr algn="l">
              <a:lnSpc>
                <a:spcPct val="100000"/>
              </a:lnSpc>
              <a:buNone/>
              <a:defRPr sz="900" b="0">
                <a:solidFill>
                  <a:srgbClr val="A9B5CC"/>
                </a:solidFill>
                <a:latin typeface="Aptos"/>
                <a:ea typeface="Aptos"/>
                <a:cs typeface="Aptos"/>
              </a:defRPr>
            </a:pPr>
            <a:r>
              <a:rPr sz="900" b="0">
                <a:solidFill>
                  <a:srgbClr val="A9B5CC"/>
                </a:solidFill>
                <a:latin typeface="Aptos"/>
                <a:ea typeface="Aptos"/>
                <a:cs typeface="Aptos"/>
              </a:rPr>
              <a:t>A strong signal cannot hide a hard constraint</a:t>
            </a:r>
          </a:p>
        </p:txBody>
      </p:sp>
      <p:sp>
        <p:nvSpPr>
          <p:cNvPr id="5" name="Rectangle 4">
            <a:extLst>
              <a:ext uri="{FF2B5EF4-FFF2-40B4-BE49-F238E27FC236}">
                <a16:creationId xmlns:a16="http://schemas.microsoft.com/office/drawing/2014/main" id="{8B6AB315-2EE1-4FB0-9A42-3F88C5338606}"/>
              </a:ext>
            </a:extLst>
          </p:cNvPr>
          <p:cNvSpPr>
            <a:spLocks noGrp="1"/>
          </p:cNvSpPr>
          <p:nvPr/>
        </p:nvSpPr>
        <p:spPr>
          <a:xfrm>
            <a:off x="10953750" y="6515100"/>
            <a:ext cx="628650" cy="171450"/>
          </a:xfrm>
          <a:prstGeom prst="rect">
            <a:avLst/>
          </a:prstGeom>
          <a:noFill/>
          <a:ln w="0">
            <a:noFill/>
            <a:prstDash val="solid"/>
          </a:ln>
        </p:spPr>
        <p:txBody>
          <a:bodyPr wrap="square" lIns="0" tIns="0" rIns="0" bIns="0" anchor="ctr">
            <a:normAutofit/>
          </a:bodyPr>
          <a:lstStyle/>
          <a:p>
            <a:pPr algn="r">
              <a:lnSpc>
                <a:spcPct val="100000"/>
              </a:lnSpc>
              <a:buNone/>
              <a:defRPr sz="900" b="1">
                <a:solidFill>
                  <a:srgbClr val="FFFFFF"/>
                </a:solidFill>
                <a:latin typeface="Aptos"/>
                <a:ea typeface="Aptos"/>
                <a:cs typeface="Aptos"/>
              </a:defRPr>
            </a:pPr>
            <a:r>
              <a:rPr sz="900" b="1">
                <a:solidFill>
                  <a:srgbClr val="FFFFFF"/>
                </a:solidFill>
                <a:latin typeface="Aptos"/>
                <a:ea typeface="Aptos"/>
                <a:cs typeface="Aptos"/>
              </a:rPr>
              <a:t>08</a:t>
            </a:r>
          </a:p>
        </p:txBody>
      </p:sp>
      <p:sp>
        <p:nvSpPr>
          <p:cNvPr id="6" name="Rounded Rectangle 5">
            <a:extLst>
              <a:ext uri="{FF2B5EF4-FFF2-40B4-BE49-F238E27FC236}">
                <a16:creationId xmlns:a16="http://schemas.microsoft.com/office/drawing/2014/main" id="{62A8619D-5DC1-409F-B08E-1E0F4BFCF6B8}"/>
              </a:ext>
            </a:extLst>
          </p:cNvPr>
          <p:cNvSpPr>
            <a:spLocks noGrp="1"/>
          </p:cNvSpPr>
          <p:nvPr/>
        </p:nvSpPr>
        <p:spPr>
          <a:xfrm>
            <a:off x="609600" y="2095500"/>
            <a:ext cx="762000" cy="342900"/>
          </a:xfrm>
          <a:prstGeom prst="roundRect">
            <a:avLst>
              <a:gd name="adj" fmla="val 4932"/>
            </a:avLst>
          </a:prstGeom>
          <a:noFill/>
          <a:ln w="0">
            <a:noFill/>
            <a:prstDash val="solid"/>
          </a:ln>
        </p:spPr>
        <p:txBody>
          <a:bodyPr wrap="square" lIns="0" tIns="0" rIns="0" bIns="0" anchor="ctr">
            <a:normAutofit/>
          </a:bodyPr>
          <a:lstStyle/>
          <a:p>
            <a:pPr algn="l">
              <a:lnSpc>
                <a:spcPct val="100000"/>
              </a:lnSpc>
              <a:buNone/>
              <a:defRPr sz="1275" b="1">
                <a:solidFill>
                  <a:srgbClr val="6F8CFF"/>
                </a:solidFill>
              </a:defRPr>
            </a:pPr>
            <a:r>
              <a:rPr sz="1275" b="1">
                <a:solidFill>
                  <a:srgbClr val="6F8CFF"/>
                </a:solidFill>
              </a:rPr>
              <a:t>01</a:t>
            </a:r>
          </a:p>
        </p:txBody>
      </p:sp>
      <p:sp>
        <p:nvSpPr>
          <p:cNvPr id="7" name="Rectangle 6">
            <a:extLst>
              <a:ext uri="{FF2B5EF4-FFF2-40B4-BE49-F238E27FC236}">
                <a16:creationId xmlns:a16="http://schemas.microsoft.com/office/drawing/2014/main" id="{3B11367E-5DE5-4C1D-8520-A86C6BB4C898}"/>
              </a:ext>
            </a:extLst>
          </p:cNvPr>
          <p:cNvSpPr>
            <a:spLocks noGrp="1"/>
          </p:cNvSpPr>
          <p:nvPr/>
        </p:nvSpPr>
        <p:spPr>
          <a:xfrm>
            <a:off x="609600" y="2609850"/>
            <a:ext cx="3086100" cy="95250"/>
          </a:xfrm>
          <a:prstGeom prst="rect">
            <a:avLst/>
          </a:prstGeom>
          <a:solidFill>
            <a:srgbClr val="6F8CFF"/>
          </a:solidFill>
          <a:ln w="0">
            <a:noFill/>
            <a:prstDash val="solid"/>
          </a:ln>
        </p:spPr>
        <p:txBody>
          <a:bodyPr lIns="0" tIns="0" rIns="0" bIns="0" anchor="t">
            <a:normAutofit/>
          </a:bodyPr>
          <a:lstStyle/>
          <a:p>
            <a:pPr algn="l">
              <a:buNone/>
              <a:defRPr sz="100" b="1">
                <a:solidFill>
                  <a:srgbClr val="6F8CFF"/>
                </a:solidFill>
                <a:latin typeface="Aptos"/>
                <a:ea typeface="Aptos"/>
                <a:cs typeface="Aptos"/>
              </a:defRPr>
            </a:pPr>
            <a:r>
              <a:rPr sz="100" b="1">
                <a:solidFill>
                  <a:srgbClr val="6F8CFF"/>
                </a:solidFill>
                <a:latin typeface="Aptos"/>
                <a:ea typeface="Aptos"/>
                <a:cs typeface="Aptos"/>
              </a:rPr>
              <a:t>​</a:t>
            </a:r>
          </a:p>
        </p:txBody>
      </p:sp>
      <p:sp>
        <p:nvSpPr>
          <p:cNvPr id="8" name="Rectangle 7">
            <a:extLst>
              <a:ext uri="{FF2B5EF4-FFF2-40B4-BE49-F238E27FC236}">
                <a16:creationId xmlns:a16="http://schemas.microsoft.com/office/drawing/2014/main" id="{578A8500-C3CE-4E41-BD12-F00D5DC1A077}"/>
              </a:ext>
            </a:extLst>
          </p:cNvPr>
          <p:cNvSpPr>
            <a:spLocks noGrp="1"/>
          </p:cNvSpPr>
          <p:nvPr/>
        </p:nvSpPr>
        <p:spPr>
          <a:xfrm>
            <a:off x="609600" y="3028950"/>
            <a:ext cx="3086100" cy="647700"/>
          </a:xfrm>
          <a:prstGeom prst="rect">
            <a:avLst/>
          </a:prstGeom>
          <a:noFill/>
          <a:ln w="0">
            <a:noFill/>
            <a:prstDash val="solid"/>
          </a:ln>
        </p:spPr>
        <p:txBody>
          <a:bodyPr wrap="square" lIns="0" tIns="0" rIns="0" bIns="0" anchor="ctr">
            <a:normAutofit/>
          </a:bodyPr>
          <a:lstStyle/>
          <a:p>
            <a:pPr algn="l">
              <a:lnSpc>
                <a:spcPct val="100000"/>
              </a:lnSpc>
              <a:buNone/>
              <a:defRPr sz="2400" b="1">
                <a:solidFill>
                  <a:srgbClr val="FFFFFF"/>
                </a:solidFill>
                <a:latin typeface="Aptos"/>
                <a:ea typeface="Aptos"/>
                <a:cs typeface="Aptos"/>
              </a:defRPr>
            </a:pPr>
            <a:r>
              <a:rPr sz="2400" b="1">
                <a:solidFill>
                  <a:srgbClr val="FFFFFF"/>
                </a:solidFill>
                <a:latin typeface="Aptos"/>
                <a:ea typeface="Aptos"/>
                <a:cs typeface="Aptos"/>
              </a:rPr>
              <a:t>ATTRACTIVE?</a:t>
            </a:r>
          </a:p>
        </p:txBody>
      </p:sp>
      <p:sp>
        <p:nvSpPr>
          <p:cNvPr id="9" name="Rectangle 8">
            <a:extLst>
              <a:ext uri="{FF2B5EF4-FFF2-40B4-BE49-F238E27FC236}">
                <a16:creationId xmlns:a16="http://schemas.microsoft.com/office/drawing/2014/main" id="{5C031DD4-E75C-473A-B6A1-9B402DF0C63E}"/>
              </a:ext>
            </a:extLst>
          </p:cNvPr>
          <p:cNvSpPr>
            <a:spLocks noGrp="1"/>
          </p:cNvSpPr>
          <p:nvPr/>
        </p:nvSpPr>
        <p:spPr>
          <a:xfrm>
            <a:off x="609600" y="3943350"/>
            <a:ext cx="2857500" cy="533400"/>
          </a:xfrm>
          <a:prstGeom prst="rect">
            <a:avLst/>
          </a:prstGeom>
          <a:noFill/>
          <a:ln w="0">
            <a:noFill/>
            <a:prstDash val="solid"/>
          </a:ln>
        </p:spPr>
        <p:txBody>
          <a:bodyPr wrap="square" lIns="0" tIns="0" rIns="0" bIns="0" anchor="ctr">
            <a:normAutofit/>
          </a:bodyPr>
          <a:lstStyle/>
          <a:p>
            <a:pPr algn="l">
              <a:lnSpc>
                <a:spcPct val="100000"/>
              </a:lnSpc>
              <a:buNone/>
              <a:defRPr sz="1500" b="0">
                <a:solidFill>
                  <a:srgbClr val="DDE6FF"/>
                </a:solidFill>
                <a:latin typeface="Aptos"/>
                <a:ea typeface="Aptos"/>
                <a:cs typeface="Aptos"/>
              </a:defRPr>
            </a:pPr>
            <a:r>
              <a:rPr sz="1500" b="0">
                <a:solidFill>
                  <a:srgbClr val="DDE6FF"/>
                </a:solidFill>
                <a:latin typeface="Aptos"/>
                <a:ea typeface="Aptos"/>
                <a:cs typeface="Aptos"/>
              </a:rPr>
              <a:t>Is the area promising?</a:t>
            </a:r>
          </a:p>
        </p:txBody>
      </p:sp>
      <p:sp>
        <p:nvSpPr>
          <p:cNvPr id="10" name="Rounded Rectangle 9">
            <a:extLst>
              <a:ext uri="{FF2B5EF4-FFF2-40B4-BE49-F238E27FC236}">
                <a16:creationId xmlns:a16="http://schemas.microsoft.com/office/drawing/2014/main" id="{F2AC62A9-BAD9-4750-A571-0EF35DBA5A88}"/>
              </a:ext>
            </a:extLst>
          </p:cNvPr>
          <p:cNvSpPr>
            <a:spLocks noGrp="1"/>
          </p:cNvSpPr>
          <p:nvPr/>
        </p:nvSpPr>
        <p:spPr>
          <a:xfrm>
            <a:off x="4305300" y="2095500"/>
            <a:ext cx="762000" cy="342900"/>
          </a:xfrm>
          <a:prstGeom prst="roundRect">
            <a:avLst>
              <a:gd name="adj" fmla="val 4932"/>
            </a:avLst>
          </a:prstGeom>
          <a:noFill/>
          <a:ln w="0">
            <a:noFill/>
            <a:prstDash val="solid"/>
          </a:ln>
        </p:spPr>
        <p:txBody>
          <a:bodyPr wrap="square" lIns="0" tIns="0" rIns="0" bIns="0" anchor="ctr">
            <a:normAutofit/>
          </a:bodyPr>
          <a:lstStyle/>
          <a:p>
            <a:pPr algn="l">
              <a:lnSpc>
                <a:spcPct val="100000"/>
              </a:lnSpc>
              <a:buNone/>
              <a:defRPr sz="1275" b="1">
                <a:solidFill>
                  <a:srgbClr val="F3C96B"/>
                </a:solidFill>
              </a:defRPr>
            </a:pPr>
            <a:r>
              <a:rPr sz="1275" b="1">
                <a:solidFill>
                  <a:srgbClr val="F3C96B"/>
                </a:solidFill>
              </a:rPr>
              <a:t>02</a:t>
            </a:r>
          </a:p>
        </p:txBody>
      </p:sp>
      <p:sp>
        <p:nvSpPr>
          <p:cNvPr id="11" name="Rectangle 10">
            <a:extLst>
              <a:ext uri="{FF2B5EF4-FFF2-40B4-BE49-F238E27FC236}">
                <a16:creationId xmlns:a16="http://schemas.microsoft.com/office/drawing/2014/main" id="{0850ABA5-C068-4D2A-BC04-928A6CCBA1E1}"/>
              </a:ext>
            </a:extLst>
          </p:cNvPr>
          <p:cNvSpPr>
            <a:spLocks noGrp="1"/>
          </p:cNvSpPr>
          <p:nvPr/>
        </p:nvSpPr>
        <p:spPr>
          <a:xfrm>
            <a:off x="4305300" y="2609850"/>
            <a:ext cx="3086100" cy="95250"/>
          </a:xfrm>
          <a:prstGeom prst="rect">
            <a:avLst/>
          </a:prstGeom>
          <a:solidFill>
            <a:srgbClr val="F3C96B"/>
          </a:solidFill>
          <a:ln w="0">
            <a:noFill/>
            <a:prstDash val="solid"/>
          </a:ln>
        </p:spPr>
        <p:txBody>
          <a:bodyPr lIns="0" tIns="0" rIns="0" bIns="0" anchor="t">
            <a:normAutofit/>
          </a:bodyPr>
          <a:lstStyle/>
          <a:p>
            <a:pPr algn="l">
              <a:buNone/>
              <a:defRPr sz="100" b="1">
                <a:solidFill>
                  <a:srgbClr val="F3C96B"/>
                </a:solidFill>
                <a:latin typeface="Aptos"/>
                <a:ea typeface="Aptos"/>
                <a:cs typeface="Aptos"/>
              </a:defRPr>
            </a:pPr>
            <a:r>
              <a:rPr sz="100" b="1">
                <a:solidFill>
                  <a:srgbClr val="F3C96B"/>
                </a:solidFill>
                <a:latin typeface="Aptos"/>
                <a:ea typeface="Aptos"/>
                <a:cs typeface="Aptos"/>
              </a:rPr>
              <a:t>​</a:t>
            </a:r>
          </a:p>
        </p:txBody>
      </p:sp>
      <p:sp>
        <p:nvSpPr>
          <p:cNvPr id="12" name="Rectangle 11">
            <a:extLst>
              <a:ext uri="{FF2B5EF4-FFF2-40B4-BE49-F238E27FC236}">
                <a16:creationId xmlns:a16="http://schemas.microsoft.com/office/drawing/2014/main" id="{9688F99F-DAA4-4530-AF27-7DEC89BA78CD}"/>
              </a:ext>
            </a:extLst>
          </p:cNvPr>
          <p:cNvSpPr>
            <a:spLocks noGrp="1"/>
          </p:cNvSpPr>
          <p:nvPr/>
        </p:nvSpPr>
        <p:spPr>
          <a:xfrm>
            <a:off x="4305300" y="3028950"/>
            <a:ext cx="3086100" cy="647700"/>
          </a:xfrm>
          <a:prstGeom prst="rect">
            <a:avLst/>
          </a:prstGeom>
          <a:noFill/>
          <a:ln w="0">
            <a:noFill/>
            <a:prstDash val="solid"/>
          </a:ln>
        </p:spPr>
        <p:txBody>
          <a:bodyPr wrap="square" lIns="0" tIns="0" rIns="0" bIns="0" anchor="ctr">
            <a:normAutofit/>
          </a:bodyPr>
          <a:lstStyle/>
          <a:p>
            <a:pPr algn="l">
              <a:lnSpc>
                <a:spcPct val="100000"/>
              </a:lnSpc>
              <a:buNone/>
              <a:defRPr sz="2400" b="1">
                <a:solidFill>
                  <a:srgbClr val="FFFFFF"/>
                </a:solidFill>
                <a:latin typeface="Aptos"/>
                <a:ea typeface="Aptos"/>
                <a:cs typeface="Aptos"/>
              </a:defRPr>
            </a:pPr>
            <a:r>
              <a:rPr sz="2400" b="1">
                <a:solidFill>
                  <a:srgbClr val="FFFFFF"/>
                </a:solidFill>
                <a:latin typeface="Aptos"/>
                <a:ea typeface="Aptos"/>
                <a:cs typeface="Aptos"/>
              </a:rPr>
              <a:t>WORKABLE?</a:t>
            </a:r>
          </a:p>
        </p:txBody>
      </p:sp>
      <p:sp>
        <p:nvSpPr>
          <p:cNvPr id="13" name="Rectangle 12">
            <a:extLst>
              <a:ext uri="{FF2B5EF4-FFF2-40B4-BE49-F238E27FC236}">
                <a16:creationId xmlns:a16="http://schemas.microsoft.com/office/drawing/2014/main" id="{8A23B56E-4076-4882-8DBF-CD2F90E858C2}"/>
              </a:ext>
            </a:extLst>
          </p:cNvPr>
          <p:cNvSpPr>
            <a:spLocks noGrp="1"/>
          </p:cNvSpPr>
          <p:nvPr/>
        </p:nvSpPr>
        <p:spPr>
          <a:xfrm>
            <a:off x="4305300" y="3943350"/>
            <a:ext cx="2857500" cy="533400"/>
          </a:xfrm>
          <a:prstGeom prst="rect">
            <a:avLst/>
          </a:prstGeom>
          <a:noFill/>
          <a:ln w="0">
            <a:noFill/>
            <a:prstDash val="solid"/>
          </a:ln>
        </p:spPr>
        <p:txBody>
          <a:bodyPr wrap="square" lIns="0" tIns="0" rIns="0" bIns="0" anchor="ctr">
            <a:normAutofit/>
          </a:bodyPr>
          <a:lstStyle/>
          <a:p>
            <a:pPr algn="l">
              <a:lnSpc>
                <a:spcPct val="100000"/>
              </a:lnSpc>
              <a:buNone/>
              <a:defRPr sz="1500" b="0">
                <a:solidFill>
                  <a:srgbClr val="DDE6FF"/>
                </a:solidFill>
                <a:latin typeface="Aptos"/>
                <a:ea typeface="Aptos"/>
                <a:cs typeface="Aptos"/>
              </a:defRPr>
            </a:pPr>
            <a:r>
              <a:rPr sz="1500" b="0">
                <a:solidFill>
                  <a:srgbClr val="DDE6FF"/>
                </a:solidFill>
                <a:latin typeface="Aptos"/>
                <a:ea typeface="Aptos"/>
                <a:cs typeface="Aptos"/>
              </a:rPr>
              <a:t>Can the property operate?</a:t>
            </a:r>
          </a:p>
        </p:txBody>
      </p:sp>
      <p:sp>
        <p:nvSpPr>
          <p:cNvPr id="14" name="Rounded Rectangle 13">
            <a:extLst>
              <a:ext uri="{FF2B5EF4-FFF2-40B4-BE49-F238E27FC236}">
                <a16:creationId xmlns:a16="http://schemas.microsoft.com/office/drawing/2014/main" id="{8A54B65E-EFE3-4A4D-8EA4-653A8437C81C}"/>
              </a:ext>
            </a:extLst>
          </p:cNvPr>
          <p:cNvSpPr>
            <a:spLocks noGrp="1"/>
          </p:cNvSpPr>
          <p:nvPr/>
        </p:nvSpPr>
        <p:spPr>
          <a:xfrm>
            <a:off x="8001000" y="2095500"/>
            <a:ext cx="762000" cy="342900"/>
          </a:xfrm>
          <a:prstGeom prst="roundRect">
            <a:avLst>
              <a:gd name="adj" fmla="val 4945"/>
            </a:avLst>
          </a:prstGeom>
          <a:noFill/>
          <a:ln w="0">
            <a:noFill/>
            <a:prstDash val="solid"/>
          </a:ln>
        </p:spPr>
        <p:txBody>
          <a:bodyPr wrap="square" lIns="0" tIns="0" rIns="0" bIns="0" anchor="ctr">
            <a:normAutofit/>
          </a:bodyPr>
          <a:lstStyle/>
          <a:p>
            <a:pPr algn="l">
              <a:lnSpc>
                <a:spcPct val="100000"/>
              </a:lnSpc>
              <a:buNone/>
              <a:defRPr sz="1275" b="1">
                <a:solidFill>
                  <a:srgbClr val="BFE9D0"/>
                </a:solidFill>
              </a:defRPr>
            </a:pPr>
            <a:r>
              <a:rPr sz="1275" b="1">
                <a:solidFill>
                  <a:srgbClr val="BFE9D0"/>
                </a:solidFill>
              </a:rPr>
              <a:t>03</a:t>
            </a:r>
          </a:p>
        </p:txBody>
      </p:sp>
      <p:sp>
        <p:nvSpPr>
          <p:cNvPr id="15" name="Rectangle 14">
            <a:extLst>
              <a:ext uri="{FF2B5EF4-FFF2-40B4-BE49-F238E27FC236}">
                <a16:creationId xmlns:a16="http://schemas.microsoft.com/office/drawing/2014/main" id="{342124D9-97A8-4400-9DB5-0CCB8CED83AE}"/>
              </a:ext>
            </a:extLst>
          </p:cNvPr>
          <p:cNvSpPr>
            <a:spLocks noGrp="1"/>
          </p:cNvSpPr>
          <p:nvPr/>
        </p:nvSpPr>
        <p:spPr>
          <a:xfrm>
            <a:off x="8001000" y="2609850"/>
            <a:ext cx="3086100" cy="95250"/>
          </a:xfrm>
          <a:prstGeom prst="rect">
            <a:avLst/>
          </a:prstGeom>
          <a:solidFill>
            <a:srgbClr val="BFE9D0"/>
          </a:solidFill>
          <a:ln w="0">
            <a:noFill/>
            <a:prstDash val="solid"/>
          </a:ln>
        </p:spPr>
        <p:txBody>
          <a:bodyPr lIns="0" tIns="0" rIns="0" bIns="0" anchor="t">
            <a:normAutofit/>
          </a:bodyPr>
          <a:lstStyle/>
          <a:p>
            <a:pPr algn="l">
              <a:buNone/>
              <a:defRPr sz="100" b="1">
                <a:solidFill>
                  <a:srgbClr val="BFE9D0"/>
                </a:solidFill>
                <a:latin typeface="Aptos"/>
                <a:ea typeface="Aptos"/>
                <a:cs typeface="Aptos"/>
              </a:defRPr>
            </a:pPr>
            <a:r>
              <a:rPr sz="100" b="1">
                <a:solidFill>
                  <a:srgbClr val="BFE9D0"/>
                </a:solidFill>
                <a:latin typeface="Aptos"/>
                <a:ea typeface="Aptos"/>
                <a:cs typeface="Aptos"/>
              </a:rPr>
              <a:t>​</a:t>
            </a:r>
          </a:p>
        </p:txBody>
      </p:sp>
      <p:sp>
        <p:nvSpPr>
          <p:cNvPr id="16" name="Rectangle 15">
            <a:extLst>
              <a:ext uri="{FF2B5EF4-FFF2-40B4-BE49-F238E27FC236}">
                <a16:creationId xmlns:a16="http://schemas.microsoft.com/office/drawing/2014/main" id="{805EE36A-F9E7-4EA9-BCB6-10610A1C036B}"/>
              </a:ext>
            </a:extLst>
          </p:cNvPr>
          <p:cNvSpPr>
            <a:spLocks noGrp="1"/>
          </p:cNvSpPr>
          <p:nvPr/>
        </p:nvSpPr>
        <p:spPr>
          <a:xfrm>
            <a:off x="8001000" y="3028950"/>
            <a:ext cx="3086100" cy="647700"/>
          </a:xfrm>
          <a:prstGeom prst="rect">
            <a:avLst/>
          </a:prstGeom>
          <a:noFill/>
          <a:ln w="0">
            <a:noFill/>
            <a:prstDash val="solid"/>
          </a:ln>
        </p:spPr>
        <p:txBody>
          <a:bodyPr wrap="square" lIns="0" tIns="0" rIns="0" bIns="0" anchor="ctr">
            <a:normAutofit/>
          </a:bodyPr>
          <a:lstStyle/>
          <a:p>
            <a:pPr algn="l">
              <a:lnSpc>
                <a:spcPct val="100000"/>
              </a:lnSpc>
              <a:buNone/>
              <a:defRPr sz="2400" b="1">
                <a:solidFill>
                  <a:srgbClr val="FFFFFF"/>
                </a:solidFill>
                <a:latin typeface="Aptos"/>
                <a:ea typeface="Aptos"/>
                <a:cs typeface="Aptos"/>
              </a:defRPr>
            </a:pPr>
            <a:r>
              <a:rPr sz="2400" b="1">
                <a:solidFill>
                  <a:srgbClr val="FFFFFF"/>
                </a:solidFill>
                <a:latin typeface="Aptos"/>
                <a:ea typeface="Aptos"/>
                <a:cs typeface="Aptos"/>
              </a:rPr>
              <a:t>READY?</a:t>
            </a:r>
          </a:p>
        </p:txBody>
      </p:sp>
      <p:sp>
        <p:nvSpPr>
          <p:cNvPr id="17" name="Rectangle 16">
            <a:extLst>
              <a:ext uri="{FF2B5EF4-FFF2-40B4-BE49-F238E27FC236}">
                <a16:creationId xmlns:a16="http://schemas.microsoft.com/office/drawing/2014/main" id="{4470D03A-E4FE-4039-A0CE-AD6D6E395342}"/>
              </a:ext>
            </a:extLst>
          </p:cNvPr>
          <p:cNvSpPr>
            <a:spLocks noGrp="1"/>
          </p:cNvSpPr>
          <p:nvPr/>
        </p:nvSpPr>
        <p:spPr>
          <a:xfrm>
            <a:off x="8001000" y="3943350"/>
            <a:ext cx="2857500" cy="533400"/>
          </a:xfrm>
          <a:prstGeom prst="rect">
            <a:avLst/>
          </a:prstGeom>
          <a:noFill/>
          <a:ln w="0">
            <a:noFill/>
            <a:prstDash val="solid"/>
          </a:ln>
        </p:spPr>
        <p:txBody>
          <a:bodyPr wrap="square" lIns="0" tIns="0" rIns="0" bIns="0" anchor="ctr">
            <a:normAutofit/>
          </a:bodyPr>
          <a:lstStyle/>
          <a:p>
            <a:pPr algn="l">
              <a:lnSpc>
                <a:spcPct val="100000"/>
              </a:lnSpc>
              <a:buNone/>
              <a:defRPr sz="1500" b="0">
                <a:solidFill>
                  <a:srgbClr val="DDE6FF"/>
                </a:solidFill>
                <a:latin typeface="Aptos"/>
                <a:ea typeface="Aptos"/>
                <a:cs typeface="Aptos"/>
              </a:defRPr>
            </a:pPr>
            <a:r>
              <a:rPr sz="1500" b="0">
                <a:solidFill>
                  <a:srgbClr val="DDE6FF"/>
                </a:solidFill>
                <a:latin typeface="Aptos"/>
                <a:ea typeface="Aptos"/>
                <a:cs typeface="Aptos"/>
              </a:rPr>
              <a:t>Should it move now?</a:t>
            </a:r>
          </a:p>
        </p:txBody>
      </p:sp>
    </p:spTree>
    <p:extLst>
      <p:ext uri="{BB962C8B-B14F-4D97-AF65-F5344CB8AC3E}">
        <p14:creationId xmlns:p14="http://schemas.microsoft.com/office/powerpoint/2010/main" val="1838043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D5B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FFA66B7B-BFE2-4F60-9BD8-B0BD38CE31BE}"/>
              </a:ext>
            </a:extLst>
          </p:cNvPr>
          <p:cNvSpPr>
            <a:spLocks noGrp="1"/>
          </p:cNvSpPr>
          <p:nvPr/>
        </p:nvSpPr>
        <p:spPr>
          <a:xfrm>
            <a:off x="609600" y="323850"/>
            <a:ext cx="5334000" cy="247650"/>
          </a:xfrm>
          <a:prstGeom prst="rect">
            <a:avLst/>
          </a:prstGeom>
          <a:noFill/>
          <a:ln w="0">
            <a:noFill/>
            <a:prstDash val="solid"/>
          </a:ln>
        </p:spPr>
        <p:txBody>
          <a:bodyPr wrap="square" lIns="0" tIns="0" rIns="0" bIns="0" anchor="ctr">
            <a:normAutofit/>
          </a:bodyPr>
          <a:lstStyle/>
          <a:p>
            <a:pPr algn="l">
              <a:lnSpc>
                <a:spcPct val="100000"/>
              </a:lnSpc>
              <a:buNone/>
              <a:defRPr sz="1125" b="1">
                <a:solidFill>
                  <a:srgbClr val="DDE6FF"/>
                </a:solidFill>
                <a:latin typeface="Aptos"/>
                <a:ea typeface="Aptos"/>
                <a:cs typeface="Aptos"/>
              </a:defRPr>
            </a:pPr>
            <a:r>
              <a:rPr sz="1125" b="1">
                <a:solidFill>
                  <a:srgbClr val="DDE6FF"/>
                </a:solidFill>
                <a:latin typeface="Aptos"/>
                <a:ea typeface="Aptos"/>
                <a:cs typeface="Aptos"/>
              </a:rPr>
              <a:t>WHERE THE PROTOTYPE STANDS</a:t>
            </a:r>
          </a:p>
        </p:txBody>
      </p:sp>
      <p:sp>
        <p:nvSpPr>
          <p:cNvPr id="2" name="Rectangle 1">
            <a:extLst>
              <a:ext uri="{FF2B5EF4-FFF2-40B4-BE49-F238E27FC236}">
                <a16:creationId xmlns:a16="http://schemas.microsoft.com/office/drawing/2014/main" id="{7864C70A-2B3B-4CBB-BC3A-A8E53346131B}"/>
              </a:ext>
            </a:extLst>
          </p:cNvPr>
          <p:cNvSpPr>
            <a:spLocks noGrp="1"/>
          </p:cNvSpPr>
          <p:nvPr/>
        </p:nvSpPr>
        <p:spPr>
          <a:xfrm>
            <a:off x="609600" y="800100"/>
            <a:ext cx="9906000" cy="1295400"/>
          </a:xfrm>
          <a:prstGeom prst="rect">
            <a:avLst/>
          </a:prstGeom>
          <a:noFill/>
          <a:ln w="0">
            <a:noFill/>
            <a:prstDash val="solid"/>
          </a:ln>
        </p:spPr>
        <p:txBody>
          <a:bodyPr wrap="square" lIns="0" tIns="0" rIns="0" bIns="0" anchor="ctr">
            <a:normAutofit/>
          </a:bodyPr>
          <a:lstStyle/>
          <a:p>
            <a:pPr algn="l">
              <a:lnSpc>
                <a:spcPct val="90000"/>
              </a:lnSpc>
              <a:buNone/>
              <a:defRPr sz="3750" b="1">
                <a:solidFill>
                  <a:srgbClr val="FFFFFF"/>
                </a:solidFill>
                <a:latin typeface="Aptos"/>
                <a:ea typeface="Aptos"/>
                <a:cs typeface="Aptos"/>
              </a:defRPr>
            </a:pPr>
            <a:r>
              <a:rPr sz="3750" b="1">
                <a:solidFill>
                  <a:srgbClr val="FFFFFF"/>
                </a:solidFill>
                <a:latin typeface="Aptos"/>
                <a:ea typeface="Aptos"/>
                <a:cs typeface="Aptos"/>
              </a:rPr>
              <a:t>It proves the workflow,</a:t>
            </a:r>
          </a:p>
          <a:p>
            <a:pPr algn="l">
              <a:lnSpc>
                <a:spcPct val="90000"/>
              </a:lnSpc>
              <a:buNone/>
              <a:defRPr sz="3750" b="1">
                <a:solidFill>
                  <a:srgbClr val="FFFFFF"/>
                </a:solidFill>
                <a:latin typeface="Aptos"/>
                <a:ea typeface="Aptos"/>
                <a:cs typeface="Aptos"/>
              </a:defRPr>
            </a:pPr>
            <a:r>
              <a:rPr sz="3750" b="1">
                <a:solidFill>
                  <a:srgbClr val="FFFFFF"/>
                </a:solidFill>
                <a:latin typeface="Aptos"/>
                <a:ea typeface="Aptos"/>
                <a:cs typeface="Aptos"/>
              </a:rPr>
              <a:t>not the recommendation.</a:t>
            </a:r>
          </a:p>
        </p:txBody>
      </p:sp>
      <p:sp>
        <p:nvSpPr>
          <p:cNvPr id="3" name="Rectangle 2">
            <a:extLst>
              <a:ext uri="{FF2B5EF4-FFF2-40B4-BE49-F238E27FC236}">
                <a16:creationId xmlns:a16="http://schemas.microsoft.com/office/drawing/2014/main" id="{372DCE9B-D701-4901-9B20-B751518B733F}"/>
              </a:ext>
            </a:extLst>
          </p:cNvPr>
          <p:cNvSpPr>
            <a:spLocks noGrp="1"/>
          </p:cNvSpPr>
          <p:nvPr/>
        </p:nvSpPr>
        <p:spPr>
          <a:xfrm>
            <a:off x="609600" y="6419850"/>
            <a:ext cx="10972800" cy="19050"/>
          </a:xfrm>
          <a:prstGeom prst="rect">
            <a:avLst/>
          </a:prstGeom>
          <a:solidFill>
            <a:srgbClr val="33415F"/>
          </a:solidFill>
          <a:ln w="0">
            <a:noFill/>
            <a:prstDash val="solid"/>
          </a:ln>
        </p:spPr>
        <p:txBody>
          <a:bodyPr lIns="0" tIns="0" rIns="0" bIns="0"/>
          <a:lstStyle/>
          <a:p>
            <a:pPr>
              <a:defRPr sz="100">
                <a:solidFill>
                  <a:srgbClr val="33415F"/>
                </a:solidFill>
              </a:defRPr>
            </a:pPr>
            <a:r>
              <a:rPr sz="100">
                <a:solidFill>
                  <a:srgbClr val="33415F"/>
                </a:solidFill>
              </a:rPr>
              <a:t>​</a:t>
            </a:r>
          </a:p>
        </p:txBody>
      </p:sp>
      <p:sp>
        <p:nvSpPr>
          <p:cNvPr id="4" name="Rectangle 3">
            <a:extLst>
              <a:ext uri="{FF2B5EF4-FFF2-40B4-BE49-F238E27FC236}">
                <a16:creationId xmlns:a16="http://schemas.microsoft.com/office/drawing/2014/main" id="{D3EAE360-68D8-454E-A4A3-82697D75BB31}"/>
              </a:ext>
            </a:extLst>
          </p:cNvPr>
          <p:cNvSpPr>
            <a:spLocks noGrp="1"/>
          </p:cNvSpPr>
          <p:nvPr/>
        </p:nvSpPr>
        <p:spPr>
          <a:xfrm>
            <a:off x="609600" y="6515100"/>
            <a:ext cx="9334500" cy="171450"/>
          </a:xfrm>
          <a:prstGeom prst="rect">
            <a:avLst/>
          </a:prstGeom>
          <a:noFill/>
          <a:ln w="0">
            <a:noFill/>
            <a:prstDash val="solid"/>
          </a:ln>
        </p:spPr>
        <p:txBody>
          <a:bodyPr wrap="square" lIns="0" tIns="0" rIns="0" bIns="0" anchor="ctr">
            <a:normAutofit/>
          </a:bodyPr>
          <a:lstStyle/>
          <a:p>
            <a:pPr algn="l">
              <a:lnSpc>
                <a:spcPct val="100000"/>
              </a:lnSpc>
              <a:buNone/>
              <a:defRPr sz="900" b="0">
                <a:solidFill>
                  <a:srgbClr val="A9B5CC"/>
                </a:solidFill>
                <a:latin typeface="Aptos"/>
                <a:ea typeface="Aptos"/>
                <a:cs typeface="Aptos"/>
              </a:defRPr>
            </a:pPr>
            <a:r>
              <a:rPr sz="900" b="0">
                <a:solidFill>
                  <a:srgbClr val="A9B5CC"/>
                </a:solidFill>
                <a:latin typeface="Aptos"/>
                <a:ea typeface="Aptos"/>
                <a:cs typeface="Aptos"/>
              </a:rPr>
              <a:t>Seattle synthetic demonstration | Human review required</a:t>
            </a:r>
          </a:p>
        </p:txBody>
      </p:sp>
      <p:sp>
        <p:nvSpPr>
          <p:cNvPr id="5" name="Rectangle 4">
            <a:extLst>
              <a:ext uri="{FF2B5EF4-FFF2-40B4-BE49-F238E27FC236}">
                <a16:creationId xmlns:a16="http://schemas.microsoft.com/office/drawing/2014/main" id="{FC184A43-440C-43AB-8BA2-4403B3CD84B6}"/>
              </a:ext>
            </a:extLst>
          </p:cNvPr>
          <p:cNvSpPr>
            <a:spLocks noGrp="1"/>
          </p:cNvSpPr>
          <p:nvPr/>
        </p:nvSpPr>
        <p:spPr>
          <a:xfrm>
            <a:off x="10953750" y="6515100"/>
            <a:ext cx="628650" cy="171450"/>
          </a:xfrm>
          <a:prstGeom prst="rect">
            <a:avLst/>
          </a:prstGeom>
          <a:noFill/>
          <a:ln w="0">
            <a:noFill/>
            <a:prstDash val="solid"/>
          </a:ln>
        </p:spPr>
        <p:txBody>
          <a:bodyPr wrap="square" lIns="0" tIns="0" rIns="0" bIns="0" anchor="ctr">
            <a:normAutofit/>
          </a:bodyPr>
          <a:lstStyle/>
          <a:p>
            <a:pPr algn="r">
              <a:lnSpc>
                <a:spcPct val="100000"/>
              </a:lnSpc>
              <a:buNone/>
              <a:defRPr sz="900" b="1">
                <a:solidFill>
                  <a:srgbClr val="FFFFFF"/>
                </a:solidFill>
                <a:latin typeface="Aptos"/>
                <a:ea typeface="Aptos"/>
                <a:cs typeface="Aptos"/>
              </a:defRPr>
            </a:pPr>
            <a:r>
              <a:rPr sz="900" b="1">
                <a:solidFill>
                  <a:srgbClr val="FFFFFF"/>
                </a:solidFill>
                <a:latin typeface="Aptos"/>
                <a:ea typeface="Aptos"/>
                <a:cs typeface="Aptos"/>
              </a:rPr>
              <a:t>10</a:t>
            </a:r>
          </a:p>
        </p:txBody>
      </p:sp>
      <p:sp>
        <p:nvSpPr>
          <p:cNvPr id="6" name="Rounded Rectangle 5">
            <a:extLst>
              <a:ext uri="{FF2B5EF4-FFF2-40B4-BE49-F238E27FC236}">
                <a16:creationId xmlns:a16="http://schemas.microsoft.com/office/drawing/2014/main" id="{12EAC6BE-B217-4FEC-84C9-5D4AE65B733D}"/>
              </a:ext>
            </a:extLst>
          </p:cNvPr>
          <p:cNvSpPr>
            <a:spLocks noGrp="1"/>
          </p:cNvSpPr>
          <p:nvPr/>
        </p:nvSpPr>
        <p:spPr>
          <a:xfrm>
            <a:off x="609600" y="2667000"/>
            <a:ext cx="5029200" cy="2857500"/>
          </a:xfrm>
          <a:prstGeom prst="roundRect">
            <a:avLst>
              <a:gd name="adj" fmla="val 8667"/>
            </a:avLst>
          </a:prstGeom>
          <a:solidFill>
            <a:srgbClr val="FFFFFF"/>
          </a:solidFill>
          <a:ln w="0">
            <a:noFill/>
            <a:prstDash val="solid"/>
          </a:ln>
        </p:spPr>
        <p:txBody>
          <a:bodyPr lIns="0" tIns="0" rIns="0" bIns="0"/>
          <a:lstStyle/>
          <a:p>
            <a:pPr>
              <a:defRPr sz="100">
                <a:solidFill>
                  <a:srgbClr val="FFFFFF"/>
                </a:solidFill>
              </a:defRPr>
            </a:pPr>
            <a:r>
              <a:rPr sz="100">
                <a:solidFill>
                  <a:srgbClr val="FFFFFF"/>
                </a:solidFill>
              </a:rPr>
              <a:t>​</a:t>
            </a:r>
          </a:p>
        </p:txBody>
      </p:sp>
      <p:sp>
        <p:nvSpPr>
          <p:cNvPr id="7" name="Rectangle 6">
            <a:extLst>
              <a:ext uri="{FF2B5EF4-FFF2-40B4-BE49-F238E27FC236}">
                <a16:creationId xmlns:a16="http://schemas.microsoft.com/office/drawing/2014/main" id="{757B3E6B-68FF-45B5-A0C0-4FA2742EA7D6}"/>
              </a:ext>
            </a:extLst>
          </p:cNvPr>
          <p:cNvSpPr>
            <a:spLocks noGrp="1"/>
          </p:cNvSpPr>
          <p:nvPr/>
        </p:nvSpPr>
        <p:spPr>
          <a:xfrm>
            <a:off x="933450" y="2971800"/>
            <a:ext cx="4286250" cy="28575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2D5BFF"/>
                </a:solidFill>
                <a:latin typeface="Aptos"/>
                <a:ea typeface="Aptos"/>
                <a:cs typeface="Aptos"/>
              </a:defRPr>
            </a:pPr>
            <a:r>
              <a:rPr sz="1200" b="1">
                <a:solidFill>
                  <a:srgbClr val="2D5BFF"/>
                </a:solidFill>
                <a:latin typeface="Aptos"/>
                <a:ea typeface="Aptos"/>
                <a:cs typeface="Aptos"/>
              </a:rPr>
              <a:t>DEMONSTRATES</a:t>
            </a:r>
          </a:p>
        </p:txBody>
      </p:sp>
      <p:sp>
        <p:nvSpPr>
          <p:cNvPr id="8" name="Rectangle 7">
            <a:extLst>
              <a:ext uri="{FF2B5EF4-FFF2-40B4-BE49-F238E27FC236}">
                <a16:creationId xmlns:a16="http://schemas.microsoft.com/office/drawing/2014/main" id="{62802C3C-1C33-4121-A6BC-6C3BE7364E7E}"/>
              </a:ext>
            </a:extLst>
          </p:cNvPr>
          <p:cNvSpPr>
            <a:spLocks noGrp="1"/>
          </p:cNvSpPr>
          <p:nvPr/>
        </p:nvSpPr>
        <p:spPr>
          <a:xfrm>
            <a:off x="933450" y="3524250"/>
            <a:ext cx="4000500" cy="361950"/>
          </a:xfrm>
          <a:prstGeom prst="rect">
            <a:avLst/>
          </a:prstGeom>
          <a:noFill/>
          <a:ln w="0">
            <a:noFill/>
            <a:prstDash val="solid"/>
          </a:ln>
        </p:spPr>
        <p:txBody>
          <a:bodyPr wrap="square" lIns="0" tIns="0" rIns="0" bIns="0" anchor="ctr">
            <a:normAutofit/>
          </a:bodyPr>
          <a:lstStyle/>
          <a:p>
            <a:pPr algn="l">
              <a:lnSpc>
                <a:spcPct val="100000"/>
              </a:lnSpc>
              <a:buNone/>
              <a:defRPr sz="1650" b="1">
                <a:solidFill>
                  <a:srgbClr val="13213A"/>
                </a:solidFill>
                <a:latin typeface="Aptos"/>
                <a:ea typeface="Aptos"/>
                <a:cs typeface="Aptos"/>
              </a:defRPr>
            </a:pPr>
            <a:r>
              <a:rPr sz="1650" b="1">
                <a:solidFill>
                  <a:srgbClr val="13213A"/>
                </a:solidFill>
                <a:latin typeface="Aptos"/>
                <a:ea typeface="Aptos"/>
                <a:cs typeface="Aptos"/>
              </a:rPr>
              <a:t>Market context</a:t>
            </a:r>
          </a:p>
        </p:txBody>
      </p:sp>
      <p:sp>
        <p:nvSpPr>
          <p:cNvPr id="9" name="Rectangle 8">
            <a:extLst>
              <a:ext uri="{FF2B5EF4-FFF2-40B4-BE49-F238E27FC236}">
                <a16:creationId xmlns:a16="http://schemas.microsoft.com/office/drawing/2014/main" id="{37BEF042-3D68-423A-B6E1-503E25019A70}"/>
              </a:ext>
            </a:extLst>
          </p:cNvPr>
          <p:cNvSpPr>
            <a:spLocks noGrp="1"/>
          </p:cNvSpPr>
          <p:nvPr/>
        </p:nvSpPr>
        <p:spPr>
          <a:xfrm>
            <a:off x="933450" y="4019550"/>
            <a:ext cx="4000500" cy="361950"/>
          </a:xfrm>
          <a:prstGeom prst="rect">
            <a:avLst/>
          </a:prstGeom>
          <a:noFill/>
          <a:ln w="0">
            <a:noFill/>
            <a:prstDash val="solid"/>
          </a:ln>
        </p:spPr>
        <p:txBody>
          <a:bodyPr wrap="square" lIns="0" tIns="0" rIns="0" bIns="0" anchor="ctr">
            <a:normAutofit/>
          </a:bodyPr>
          <a:lstStyle/>
          <a:p>
            <a:pPr algn="l">
              <a:lnSpc>
                <a:spcPct val="100000"/>
              </a:lnSpc>
              <a:buNone/>
              <a:defRPr sz="1650" b="1">
                <a:solidFill>
                  <a:srgbClr val="13213A"/>
                </a:solidFill>
                <a:latin typeface="Aptos"/>
                <a:ea typeface="Aptos"/>
                <a:cs typeface="Aptos"/>
              </a:defRPr>
            </a:pPr>
            <a:r>
              <a:rPr sz="1650" b="1">
                <a:solidFill>
                  <a:srgbClr val="13213A"/>
                </a:solidFill>
                <a:latin typeface="Aptos"/>
                <a:ea typeface="Aptos"/>
                <a:cs typeface="Aptos"/>
              </a:rPr>
              <a:t>Proposed submarkets</a:t>
            </a:r>
          </a:p>
        </p:txBody>
      </p:sp>
      <p:sp>
        <p:nvSpPr>
          <p:cNvPr id="10" name="Rounded Rectangle 9">
            <a:extLst>
              <a:ext uri="{FF2B5EF4-FFF2-40B4-BE49-F238E27FC236}">
                <a16:creationId xmlns:a16="http://schemas.microsoft.com/office/drawing/2014/main" id="{0AD45134-7E95-4E9C-94E8-9A8368F8AAAB}"/>
              </a:ext>
            </a:extLst>
          </p:cNvPr>
          <p:cNvSpPr>
            <a:spLocks noGrp="1"/>
          </p:cNvSpPr>
          <p:nvPr/>
        </p:nvSpPr>
        <p:spPr>
          <a:xfrm>
            <a:off x="933450" y="4514850"/>
            <a:ext cx="4000500" cy="361950"/>
          </a:xfrm>
          <a:prstGeom prst="roundRect">
            <a:avLst>
              <a:gd name="adj" fmla="val 6569"/>
            </a:avLst>
          </a:prstGeom>
          <a:noFill/>
          <a:ln w="0">
            <a:noFill/>
            <a:prstDash val="solid"/>
          </a:ln>
        </p:spPr>
        <p:txBody>
          <a:bodyPr wrap="square" lIns="0" tIns="0" rIns="0" bIns="0" anchor="ctr">
            <a:normAutofit/>
          </a:bodyPr>
          <a:lstStyle/>
          <a:p>
            <a:pPr algn="l">
              <a:lnSpc>
                <a:spcPct val="100000"/>
              </a:lnSpc>
              <a:buNone/>
              <a:defRPr sz="1650" b="1">
                <a:solidFill>
                  <a:srgbClr val="13213A"/>
                </a:solidFill>
              </a:defRPr>
            </a:pPr>
            <a:r>
              <a:rPr sz="1650" b="1">
                <a:solidFill>
                  <a:srgbClr val="13213A"/>
                </a:solidFill>
              </a:rPr>
              <a:t>Approval + comparison</a:t>
            </a:r>
          </a:p>
        </p:txBody>
      </p:sp>
      <p:sp>
        <p:nvSpPr>
          <p:cNvPr id="11" name="Rounded Rectangle 10">
            <a:extLst>
              <a:ext uri="{FF2B5EF4-FFF2-40B4-BE49-F238E27FC236}">
                <a16:creationId xmlns:a16="http://schemas.microsoft.com/office/drawing/2014/main" id="{7449C125-1A19-4FE3-9E54-E6409C4BE4FD}"/>
              </a:ext>
            </a:extLst>
          </p:cNvPr>
          <p:cNvSpPr>
            <a:spLocks noGrp="1"/>
          </p:cNvSpPr>
          <p:nvPr/>
        </p:nvSpPr>
        <p:spPr>
          <a:xfrm>
            <a:off x="5943600" y="2667000"/>
            <a:ext cx="5638800" cy="2857500"/>
          </a:xfrm>
          <a:prstGeom prst="roundRect">
            <a:avLst>
              <a:gd name="adj" fmla="val 8667"/>
            </a:avLst>
          </a:prstGeom>
          <a:solidFill>
            <a:srgbClr val="0B1733"/>
          </a:solidFill>
          <a:ln w="0">
            <a:noFill/>
            <a:prstDash val="solid"/>
          </a:ln>
        </p:spPr>
        <p:txBody>
          <a:bodyPr lIns="0" tIns="0" rIns="0" bIns="0" anchor="t">
            <a:normAutofit/>
          </a:bodyPr>
          <a:lstStyle/>
          <a:p>
            <a:pPr algn="l">
              <a:buNone/>
              <a:defRPr sz="100" b="1">
                <a:solidFill>
                  <a:srgbClr val="0B1733"/>
                </a:solidFill>
                <a:latin typeface="Aptos"/>
                <a:ea typeface="Aptos"/>
                <a:cs typeface="Aptos"/>
              </a:defRPr>
            </a:pPr>
            <a:r>
              <a:rPr sz="100" b="1">
                <a:solidFill>
                  <a:srgbClr val="0B1733"/>
                </a:solidFill>
                <a:latin typeface="Aptos"/>
                <a:ea typeface="Aptos"/>
                <a:cs typeface="Aptos"/>
              </a:rPr>
              <a:t>​</a:t>
            </a:r>
          </a:p>
        </p:txBody>
      </p:sp>
      <p:sp>
        <p:nvSpPr>
          <p:cNvPr id="12" name="Rectangle 11">
            <a:extLst>
              <a:ext uri="{FF2B5EF4-FFF2-40B4-BE49-F238E27FC236}">
                <a16:creationId xmlns:a16="http://schemas.microsoft.com/office/drawing/2014/main" id="{4EDE3C16-9DE9-4754-8BA9-32ECC4F2904B}"/>
              </a:ext>
            </a:extLst>
          </p:cNvPr>
          <p:cNvSpPr>
            <a:spLocks noGrp="1"/>
          </p:cNvSpPr>
          <p:nvPr/>
        </p:nvSpPr>
        <p:spPr>
          <a:xfrm>
            <a:off x="6286500" y="2971800"/>
            <a:ext cx="4762500" cy="28575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FF8A73"/>
                </a:solidFill>
                <a:latin typeface="Aptos"/>
                <a:ea typeface="Aptos"/>
                <a:cs typeface="Aptos"/>
              </a:defRPr>
            </a:pPr>
            <a:r>
              <a:rPr sz="1200" b="1">
                <a:solidFill>
                  <a:srgbClr val="FF8A73"/>
                </a:solidFill>
                <a:latin typeface="Aptos"/>
                <a:ea typeface="Aptos"/>
                <a:cs typeface="Aptos"/>
              </a:rPr>
              <a:t>DOES NOT CLAIM</a:t>
            </a:r>
          </a:p>
        </p:txBody>
      </p:sp>
      <p:sp>
        <p:nvSpPr>
          <p:cNvPr id="13" name="Rectangle 12">
            <a:extLst>
              <a:ext uri="{FF2B5EF4-FFF2-40B4-BE49-F238E27FC236}">
                <a16:creationId xmlns:a16="http://schemas.microsoft.com/office/drawing/2014/main" id="{D41F2BC3-811C-42D6-A097-C1B8F7062AA2}"/>
              </a:ext>
            </a:extLst>
          </p:cNvPr>
          <p:cNvSpPr>
            <a:spLocks noGrp="1"/>
          </p:cNvSpPr>
          <p:nvPr/>
        </p:nvSpPr>
        <p:spPr>
          <a:xfrm>
            <a:off x="6286500" y="3524250"/>
            <a:ext cx="4762500" cy="361950"/>
          </a:xfrm>
          <a:prstGeom prst="rect">
            <a:avLst/>
          </a:prstGeom>
          <a:noFill/>
          <a:ln w="0">
            <a:noFill/>
            <a:prstDash val="solid"/>
          </a:ln>
        </p:spPr>
        <p:txBody>
          <a:bodyPr wrap="square" lIns="0" tIns="0" rIns="0" bIns="0" anchor="ctr">
            <a:normAutofit/>
          </a:bodyPr>
          <a:lstStyle/>
          <a:p>
            <a:pPr algn="l">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National ranking</a:t>
            </a:r>
          </a:p>
        </p:txBody>
      </p:sp>
      <p:sp>
        <p:nvSpPr>
          <p:cNvPr id="14" name="Rounded Rectangle 13">
            <a:extLst>
              <a:ext uri="{FF2B5EF4-FFF2-40B4-BE49-F238E27FC236}">
                <a16:creationId xmlns:a16="http://schemas.microsoft.com/office/drawing/2014/main" id="{0B02026C-AD0E-43BB-A1F8-E9677242068F}"/>
              </a:ext>
            </a:extLst>
          </p:cNvPr>
          <p:cNvSpPr>
            <a:spLocks noGrp="1"/>
          </p:cNvSpPr>
          <p:nvPr/>
        </p:nvSpPr>
        <p:spPr>
          <a:xfrm>
            <a:off x="6286500" y="4019550"/>
            <a:ext cx="4762500" cy="361950"/>
          </a:xfrm>
          <a:prstGeom prst="roundRect">
            <a:avLst>
              <a:gd name="adj" fmla="val 6569"/>
            </a:avLst>
          </a:prstGeom>
          <a:noFill/>
          <a:ln w="0">
            <a:noFill/>
            <a:prstDash val="solid"/>
          </a:ln>
        </p:spPr>
        <p:txBody>
          <a:bodyPr wrap="square" lIns="0" tIns="0" rIns="0" bIns="0" anchor="ctr">
            <a:normAutofit/>
          </a:bodyPr>
          <a:lstStyle/>
          <a:p>
            <a:pPr algn="l">
              <a:lnSpc>
                <a:spcPct val="100000"/>
              </a:lnSpc>
              <a:buNone/>
              <a:defRPr sz="1650" b="1">
                <a:solidFill>
                  <a:srgbClr val="FFFFFF"/>
                </a:solidFill>
              </a:defRPr>
            </a:pPr>
            <a:r>
              <a:rPr sz="1650" b="1">
                <a:solidFill>
                  <a:srgbClr val="FFFFFF"/>
                </a:solidFill>
              </a:rPr>
              <a:t>Production geography</a:t>
            </a:r>
          </a:p>
        </p:txBody>
      </p:sp>
      <p:sp>
        <p:nvSpPr>
          <p:cNvPr id="15" name="Rectangle 14">
            <a:extLst>
              <a:ext uri="{FF2B5EF4-FFF2-40B4-BE49-F238E27FC236}">
                <a16:creationId xmlns:a16="http://schemas.microsoft.com/office/drawing/2014/main" id="{2BA6FB62-0699-464F-B062-F45C768EBFB0}"/>
              </a:ext>
            </a:extLst>
          </p:cNvPr>
          <p:cNvSpPr>
            <a:spLocks noGrp="1"/>
          </p:cNvSpPr>
          <p:nvPr/>
        </p:nvSpPr>
        <p:spPr>
          <a:xfrm>
            <a:off x="6286500" y="4514850"/>
            <a:ext cx="4762500" cy="361950"/>
          </a:xfrm>
          <a:prstGeom prst="rect">
            <a:avLst/>
          </a:prstGeom>
          <a:noFill/>
          <a:ln w="0">
            <a:noFill/>
            <a:prstDash val="solid"/>
          </a:ln>
        </p:spPr>
        <p:txBody>
          <a:bodyPr wrap="square" lIns="0" tIns="0" rIns="0" bIns="0" anchor="ctr">
            <a:normAutofit/>
          </a:bodyPr>
          <a:lstStyle/>
          <a:p>
            <a:pPr algn="l">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Real-estate recommendation</a:t>
            </a:r>
          </a:p>
        </p:txBody>
      </p:sp>
      <p:sp>
        <p:nvSpPr>
          <p:cNvPr id="16" name="Rectangle 15">
            <a:extLst>
              <a:ext uri="{FF2B5EF4-FFF2-40B4-BE49-F238E27FC236}">
                <a16:creationId xmlns:a16="http://schemas.microsoft.com/office/drawing/2014/main" id="{B869455E-1D34-4539-B9AC-75C40BD9206E}"/>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l">
              <a:buNone/>
              <a:defRPr sz="2175" b="1">
                <a:solidFill>
                  <a:srgbClr val="13213A"/>
                </a:solidFill>
                <a:latin typeface="Aptos"/>
                <a:ea typeface="Aptos"/>
                <a:cs typeface="Aptos"/>
              </a:defRPr>
            </a:pPr>
            <a:endParaRPr/>
          </a:p>
        </p:txBody>
      </p:sp>
      <p:sp>
        <p:nvSpPr>
          <p:cNvPr id="17" name="Rectangle 16">
            <a:extLst>
              <a:ext uri="{FF2B5EF4-FFF2-40B4-BE49-F238E27FC236}">
                <a16:creationId xmlns:a16="http://schemas.microsoft.com/office/drawing/2014/main" id="{40353E46-39D2-41F3-8DF1-566DE08216CD}"/>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l">
              <a:buNone/>
              <a:defRPr sz="1425" b="0">
                <a:solidFill>
                  <a:srgbClr val="39455A"/>
                </a:solidFill>
                <a:latin typeface="Aptos"/>
                <a:ea typeface="Aptos"/>
                <a:cs typeface="Aptos"/>
              </a:defRPr>
            </a:pPr>
            <a:endParaRPr/>
          </a:p>
        </p:txBody>
      </p:sp>
      <p:sp>
        <p:nvSpPr>
          <p:cNvPr id="18" name="Rounded Rectangle 17">
            <a:extLst>
              <a:ext uri="{FF2B5EF4-FFF2-40B4-BE49-F238E27FC236}">
                <a16:creationId xmlns:a16="http://schemas.microsoft.com/office/drawing/2014/main" id="{68A09FD8-AA77-4BBC-9320-268EBFF84149}"/>
              </a:ext>
            </a:extLst>
          </p:cNvPr>
          <p:cNvSpPr>
            <a:spLocks noGrp="1"/>
          </p:cNvSpPr>
          <p:nvPr/>
        </p:nvSpPr>
        <p:spPr>
          <a:xfrm>
            <a:off x="38100" y="38100"/>
            <a:ext cx="9525" cy="9525"/>
          </a:xfrm>
          <a:prstGeom prst="roundRect">
            <a:avLst>
              <a:gd name="adj" fmla="val 6569"/>
            </a:avLst>
          </a:prstGeom>
          <a:noFill/>
          <a:ln w="0">
            <a:noFill/>
            <a:prstDash val="solid"/>
          </a:ln>
        </p:spPr>
        <p:txBody>
          <a:bodyPr/>
          <a:lstStyle/>
          <a:p>
            <a:endParaRPr/>
          </a:p>
        </p:txBody>
      </p:sp>
      <p:sp>
        <p:nvSpPr>
          <p:cNvPr id="19" name="Rectangle 18">
            <a:extLst>
              <a:ext uri="{FF2B5EF4-FFF2-40B4-BE49-F238E27FC236}">
                <a16:creationId xmlns:a16="http://schemas.microsoft.com/office/drawing/2014/main" id="{02E7A170-9123-4523-9293-1AB63A25E31C}"/>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l">
              <a:buNone/>
              <a:defRPr sz="1050" b="1">
                <a:solidFill>
                  <a:srgbClr val="9A4040"/>
                </a:solidFill>
                <a:latin typeface="Aptos"/>
                <a:ea typeface="Aptos"/>
                <a:cs typeface="Aptos"/>
              </a:defRPr>
            </a:pPr>
            <a:endParaRPr/>
          </a:p>
        </p:txBody>
      </p:sp>
      <p:sp>
        <p:nvSpPr>
          <p:cNvPr id="20" name="Rectangle 19">
            <a:extLst>
              <a:ext uri="{FF2B5EF4-FFF2-40B4-BE49-F238E27FC236}">
                <a16:creationId xmlns:a16="http://schemas.microsoft.com/office/drawing/2014/main" id="{5AF8640E-615D-4CA7-87F5-CF8E77227F47}"/>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l">
              <a:buNone/>
              <a:defRPr sz="2175" b="1">
                <a:solidFill>
                  <a:srgbClr val="13213A"/>
                </a:solidFill>
                <a:latin typeface="Aptos"/>
                <a:ea typeface="Aptos"/>
                <a:cs typeface="Aptos"/>
              </a:defRPr>
            </a:pPr>
            <a:endParaRPr/>
          </a:p>
        </p:txBody>
      </p:sp>
      <p:sp>
        <p:nvSpPr>
          <p:cNvPr id="21" name="Rectangle 20">
            <a:extLst>
              <a:ext uri="{FF2B5EF4-FFF2-40B4-BE49-F238E27FC236}">
                <a16:creationId xmlns:a16="http://schemas.microsoft.com/office/drawing/2014/main" id="{C89B21F0-71AD-4163-8E9E-5A42DBC3CDCA}"/>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l">
              <a:buNone/>
              <a:defRPr sz="1425" b="0">
                <a:solidFill>
                  <a:srgbClr val="39455A"/>
                </a:solidFill>
                <a:latin typeface="Aptos"/>
                <a:ea typeface="Aptos"/>
                <a:cs typeface="Aptos"/>
              </a:defRPr>
            </a:pPr>
            <a:endParaRPr/>
          </a:p>
        </p:txBody>
      </p:sp>
      <p:sp>
        <p:nvSpPr>
          <p:cNvPr id="22" name="Rectangle 21">
            <a:extLst>
              <a:ext uri="{FF2B5EF4-FFF2-40B4-BE49-F238E27FC236}">
                <a16:creationId xmlns:a16="http://schemas.microsoft.com/office/drawing/2014/main" id="{6FE09820-38CB-46F6-88A0-751AA589A8CD}"/>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ctr">
              <a:buNone/>
              <a:defRPr sz="1875" b="1">
                <a:solidFill>
                  <a:srgbClr val="1E43C8"/>
                </a:solidFill>
                <a:latin typeface="Aptos"/>
                <a:ea typeface="Aptos"/>
                <a:cs typeface="Aptos"/>
              </a:defRPr>
            </a:pPr>
            <a:endParaRPr/>
          </a:p>
        </p:txBody>
      </p:sp>
    </p:spTree>
    <p:extLst>
      <p:ext uri="{BB962C8B-B14F-4D97-AF65-F5344CB8AC3E}">
        <p14:creationId xmlns:p14="http://schemas.microsoft.com/office/powerpoint/2010/main" val="1417878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74099AD7-B488-4452-9AB6-374CF4A680FD}"/>
              </a:ext>
            </a:extLst>
          </p:cNvPr>
          <p:cNvSpPr>
            <a:spLocks noGrp="1"/>
          </p:cNvSpPr>
          <p:nvPr/>
        </p:nvSpPr>
        <p:spPr>
          <a:xfrm>
            <a:off x="609600" y="323850"/>
            <a:ext cx="5334000" cy="247650"/>
          </a:xfrm>
          <a:prstGeom prst="rect">
            <a:avLst/>
          </a:prstGeom>
          <a:noFill/>
          <a:ln w="0">
            <a:noFill/>
            <a:prstDash val="solid"/>
          </a:ln>
        </p:spPr>
        <p:txBody>
          <a:bodyPr wrap="square" lIns="0" tIns="0" rIns="0" bIns="0" anchor="ctr">
            <a:normAutofit/>
          </a:bodyPr>
          <a:lstStyle/>
          <a:p>
            <a:pPr algn="l">
              <a:lnSpc>
                <a:spcPct val="100000"/>
              </a:lnSpc>
              <a:buNone/>
              <a:defRPr sz="1125" b="1">
                <a:solidFill>
                  <a:srgbClr val="2D5BFF"/>
                </a:solidFill>
                <a:latin typeface="Aptos"/>
                <a:ea typeface="Aptos"/>
                <a:cs typeface="Aptos"/>
              </a:defRPr>
            </a:pPr>
            <a:r>
              <a:rPr sz="1125" b="1">
                <a:solidFill>
                  <a:srgbClr val="2D5BFF"/>
                </a:solidFill>
                <a:latin typeface="Aptos"/>
                <a:ea typeface="Aptos"/>
                <a:cs typeface="Aptos"/>
              </a:rPr>
              <a:t>WHAT MUST BE DECIDED NEXT</a:t>
            </a:r>
          </a:p>
        </p:txBody>
      </p:sp>
      <p:sp>
        <p:nvSpPr>
          <p:cNvPr id="2" name="Rectangle 1">
            <a:extLst>
              <a:ext uri="{FF2B5EF4-FFF2-40B4-BE49-F238E27FC236}">
                <a16:creationId xmlns:a16="http://schemas.microsoft.com/office/drawing/2014/main" id="{D916E7AB-13D1-4B35-A1C1-202519C20FAA}"/>
              </a:ext>
            </a:extLst>
          </p:cNvPr>
          <p:cNvSpPr>
            <a:spLocks noGrp="1"/>
          </p:cNvSpPr>
          <p:nvPr/>
        </p:nvSpPr>
        <p:spPr>
          <a:xfrm>
            <a:off x="609600" y="723900"/>
            <a:ext cx="10001250" cy="685800"/>
          </a:xfrm>
          <a:prstGeom prst="rect">
            <a:avLst/>
          </a:prstGeom>
          <a:noFill/>
          <a:ln w="0">
            <a:noFill/>
            <a:prstDash val="solid"/>
          </a:ln>
        </p:spPr>
        <p:txBody>
          <a:bodyPr wrap="square" lIns="0" tIns="0" rIns="0" bIns="0" anchor="ctr">
            <a:normAutofit/>
          </a:bodyPr>
          <a:lstStyle/>
          <a:p>
            <a:pPr algn="l">
              <a:lnSpc>
                <a:spcPct val="100000"/>
              </a:lnSpc>
              <a:buNone/>
              <a:defRPr sz="3300" b="1">
                <a:solidFill>
                  <a:srgbClr val="13213A"/>
                </a:solidFill>
                <a:latin typeface="Aptos"/>
                <a:ea typeface="Aptos"/>
                <a:cs typeface="Aptos"/>
              </a:defRPr>
            </a:pPr>
            <a:r>
              <a:rPr sz="3300" b="1">
                <a:solidFill>
                  <a:srgbClr val="13213A"/>
                </a:solidFill>
                <a:latin typeface="Aptos"/>
                <a:ea typeface="Aptos"/>
                <a:cs typeface="Aptos"/>
              </a:rPr>
              <a:t>Real rankings require four clear rules</a:t>
            </a:r>
          </a:p>
        </p:txBody>
      </p:sp>
      <p:sp>
        <p:nvSpPr>
          <p:cNvPr id="3" name="Rectangle 2">
            <a:extLst>
              <a:ext uri="{FF2B5EF4-FFF2-40B4-BE49-F238E27FC236}">
                <a16:creationId xmlns:a16="http://schemas.microsoft.com/office/drawing/2014/main" id="{C1D0621C-D75B-41C8-B6E0-5AA5A2ECBBF8}"/>
              </a:ext>
            </a:extLst>
          </p:cNvPr>
          <p:cNvSpPr>
            <a:spLocks noGrp="1"/>
          </p:cNvSpPr>
          <p:nvPr/>
        </p:nvSpPr>
        <p:spPr>
          <a:xfrm>
            <a:off x="609600" y="6419850"/>
            <a:ext cx="10972800" cy="19050"/>
          </a:xfrm>
          <a:prstGeom prst="rect">
            <a:avLst/>
          </a:prstGeom>
          <a:solidFill>
            <a:srgbClr val="D6DCE7"/>
          </a:solidFill>
          <a:ln w="0">
            <a:noFill/>
            <a:prstDash val="solid"/>
          </a:ln>
        </p:spPr>
        <p:txBody>
          <a:bodyPr lIns="0" tIns="0" rIns="0" bIns="0"/>
          <a:lstStyle/>
          <a:p>
            <a:pPr>
              <a:defRPr sz="100">
                <a:solidFill>
                  <a:srgbClr val="D6DCE7"/>
                </a:solidFill>
              </a:defRPr>
            </a:pPr>
            <a:r>
              <a:rPr sz="100">
                <a:solidFill>
                  <a:srgbClr val="D6DCE7"/>
                </a:solidFill>
              </a:rPr>
              <a:t>​</a:t>
            </a:r>
          </a:p>
        </p:txBody>
      </p:sp>
      <p:sp>
        <p:nvSpPr>
          <p:cNvPr id="4" name="Rectangle 3">
            <a:extLst>
              <a:ext uri="{FF2B5EF4-FFF2-40B4-BE49-F238E27FC236}">
                <a16:creationId xmlns:a16="http://schemas.microsoft.com/office/drawing/2014/main" id="{A9C90B3F-6D10-4F7F-B837-5C745ADA4A25}"/>
              </a:ext>
            </a:extLst>
          </p:cNvPr>
          <p:cNvSpPr>
            <a:spLocks noGrp="1"/>
          </p:cNvSpPr>
          <p:nvPr/>
        </p:nvSpPr>
        <p:spPr>
          <a:xfrm>
            <a:off x="609600" y="6515100"/>
            <a:ext cx="9334500" cy="171450"/>
          </a:xfrm>
          <a:prstGeom prst="rect">
            <a:avLst/>
          </a:prstGeom>
          <a:noFill/>
          <a:ln w="0">
            <a:noFill/>
            <a:prstDash val="solid"/>
          </a:ln>
        </p:spPr>
        <p:txBody>
          <a:bodyPr wrap="square" lIns="0" tIns="0" rIns="0" bIns="0" anchor="ctr">
            <a:normAutofit/>
          </a:bodyPr>
          <a:lstStyle/>
          <a:p>
            <a:pPr algn="l">
              <a:lnSpc>
                <a:spcPct val="100000"/>
              </a:lnSpc>
              <a:buNone/>
              <a:defRPr sz="900" b="0">
                <a:solidFill>
                  <a:srgbClr val="667085"/>
                </a:solidFill>
                <a:latin typeface="Aptos"/>
                <a:ea typeface="Aptos"/>
                <a:cs typeface="Aptos"/>
              </a:defRPr>
            </a:pPr>
            <a:r>
              <a:rPr sz="900" b="0">
                <a:solidFill>
                  <a:srgbClr val="667085"/>
                </a:solidFill>
                <a:latin typeface="Aptos"/>
                <a:ea typeface="Aptos"/>
                <a:cs typeface="Aptos"/>
              </a:rPr>
              <a:t>Approve the rules before connecting production data</a:t>
            </a:r>
          </a:p>
        </p:txBody>
      </p:sp>
      <p:sp>
        <p:nvSpPr>
          <p:cNvPr id="5" name="Rectangle 4">
            <a:extLst>
              <a:ext uri="{FF2B5EF4-FFF2-40B4-BE49-F238E27FC236}">
                <a16:creationId xmlns:a16="http://schemas.microsoft.com/office/drawing/2014/main" id="{14C3E8BC-C82A-4E20-9B03-BB19CF27B40B}"/>
              </a:ext>
            </a:extLst>
          </p:cNvPr>
          <p:cNvSpPr>
            <a:spLocks noGrp="1"/>
          </p:cNvSpPr>
          <p:nvPr/>
        </p:nvSpPr>
        <p:spPr>
          <a:xfrm>
            <a:off x="10953750" y="6515100"/>
            <a:ext cx="628650" cy="171450"/>
          </a:xfrm>
          <a:prstGeom prst="rect">
            <a:avLst/>
          </a:prstGeom>
          <a:noFill/>
          <a:ln w="0">
            <a:noFill/>
            <a:prstDash val="solid"/>
          </a:ln>
        </p:spPr>
        <p:txBody>
          <a:bodyPr wrap="square" lIns="0" tIns="0" rIns="0" bIns="0" anchor="ctr">
            <a:normAutofit/>
          </a:bodyPr>
          <a:lstStyle/>
          <a:p>
            <a:pPr algn="r">
              <a:lnSpc>
                <a:spcPct val="100000"/>
              </a:lnSpc>
              <a:buNone/>
              <a:defRPr sz="900" b="1">
                <a:solidFill>
                  <a:srgbClr val="13213A"/>
                </a:solidFill>
                <a:latin typeface="Aptos"/>
                <a:ea typeface="Aptos"/>
                <a:cs typeface="Aptos"/>
              </a:defRPr>
            </a:pPr>
            <a:r>
              <a:rPr sz="900" b="1">
                <a:solidFill>
                  <a:srgbClr val="13213A"/>
                </a:solidFill>
                <a:latin typeface="Aptos"/>
                <a:ea typeface="Aptos"/>
                <a:cs typeface="Aptos"/>
              </a:rPr>
              <a:t>11</a:t>
            </a:r>
          </a:p>
        </p:txBody>
      </p:sp>
      <p:sp>
        <p:nvSpPr>
          <p:cNvPr id="6" name="Rounded Rectangle 5">
            <a:extLst>
              <a:ext uri="{FF2B5EF4-FFF2-40B4-BE49-F238E27FC236}">
                <a16:creationId xmlns:a16="http://schemas.microsoft.com/office/drawing/2014/main" id="{9D4F7F4E-3D17-48B5-AFDD-03CC583EE040}"/>
              </a:ext>
            </a:extLst>
          </p:cNvPr>
          <p:cNvSpPr>
            <a:spLocks noGrp="1"/>
          </p:cNvSpPr>
          <p:nvPr/>
        </p:nvSpPr>
        <p:spPr>
          <a:xfrm>
            <a:off x="685800" y="3714750"/>
            <a:ext cx="2209800" cy="1695450"/>
          </a:xfrm>
          <a:prstGeom prst="roundRect">
            <a:avLst>
              <a:gd name="adj" fmla="val 12360"/>
            </a:avLst>
          </a:prstGeom>
          <a:solidFill>
            <a:srgbClr val="DDE6FF"/>
          </a:solidFill>
          <a:ln w="0">
            <a:noFill/>
            <a:prstDash val="solid"/>
          </a:ln>
        </p:spPr>
        <p:txBody>
          <a:bodyPr lIns="0" tIns="0" rIns="0" bIns="0"/>
          <a:lstStyle/>
          <a:p>
            <a:pPr>
              <a:defRPr sz="100">
                <a:solidFill>
                  <a:srgbClr val="DDE6FF"/>
                </a:solidFill>
              </a:defRPr>
            </a:pPr>
            <a:r>
              <a:rPr sz="100">
                <a:solidFill>
                  <a:srgbClr val="DDE6FF"/>
                </a:solidFill>
              </a:rPr>
              <a:t>​</a:t>
            </a:r>
          </a:p>
        </p:txBody>
      </p:sp>
      <p:sp>
        <p:nvSpPr>
          <p:cNvPr id="7" name="Rounded Rectangle 6">
            <a:extLst>
              <a:ext uri="{FF2B5EF4-FFF2-40B4-BE49-F238E27FC236}">
                <a16:creationId xmlns:a16="http://schemas.microsoft.com/office/drawing/2014/main" id="{60F8AD2A-EBBD-4D40-AE11-2FAAEE74B06F}"/>
              </a:ext>
            </a:extLst>
          </p:cNvPr>
          <p:cNvSpPr>
            <a:spLocks noGrp="1"/>
          </p:cNvSpPr>
          <p:nvPr/>
        </p:nvSpPr>
        <p:spPr>
          <a:xfrm>
            <a:off x="895350" y="3905250"/>
            <a:ext cx="514350" cy="304800"/>
          </a:xfrm>
          <a:prstGeom prst="roundRect">
            <a:avLst>
              <a:gd name="adj" fmla="val 50000"/>
            </a:avLst>
          </a:prstGeom>
          <a:noFill/>
          <a:ln w="0">
            <a:noFill/>
            <a:prstDash val="solid"/>
          </a:ln>
        </p:spPr>
        <p:txBody>
          <a:bodyPr wrap="square" lIns="0" tIns="0" rIns="0" bIns="0" anchor="ctr">
            <a:normAutofit/>
          </a:bodyPr>
          <a:lstStyle/>
          <a:p>
            <a:pPr algn="l">
              <a:lnSpc>
                <a:spcPct val="100000"/>
              </a:lnSpc>
              <a:buNone/>
              <a:defRPr sz="1275" b="1">
                <a:solidFill>
                  <a:srgbClr val="13213A"/>
                </a:solidFill>
                <a:latin typeface="Aptos"/>
                <a:ea typeface="Aptos"/>
                <a:cs typeface="Aptos"/>
              </a:defRPr>
            </a:pPr>
            <a:r>
              <a:rPr sz="1275" b="1">
                <a:solidFill>
                  <a:srgbClr val="13213A"/>
                </a:solidFill>
                <a:latin typeface="Aptos"/>
                <a:ea typeface="Aptos"/>
                <a:cs typeface="Aptos"/>
              </a:rPr>
              <a:t>01</a:t>
            </a:r>
          </a:p>
        </p:txBody>
      </p:sp>
      <p:sp>
        <p:nvSpPr>
          <p:cNvPr id="8" name="Rectangle 7">
            <a:extLst>
              <a:ext uri="{FF2B5EF4-FFF2-40B4-BE49-F238E27FC236}">
                <a16:creationId xmlns:a16="http://schemas.microsoft.com/office/drawing/2014/main" id="{DA280A53-F24F-4902-8F41-6DB8A4D8F360}"/>
              </a:ext>
            </a:extLst>
          </p:cNvPr>
          <p:cNvSpPr>
            <a:spLocks noGrp="1"/>
          </p:cNvSpPr>
          <p:nvPr/>
        </p:nvSpPr>
        <p:spPr>
          <a:xfrm>
            <a:off x="895350" y="4495800"/>
            <a:ext cx="1790700" cy="590550"/>
          </a:xfrm>
          <a:prstGeom prst="rect">
            <a:avLst/>
          </a:prstGeom>
          <a:noFill/>
          <a:ln w="0">
            <a:noFill/>
            <a:prstDash val="solid"/>
          </a:ln>
        </p:spPr>
        <p:txBody>
          <a:bodyPr wrap="square" lIns="0" tIns="0" rIns="0" bIns="0" anchor="ctr">
            <a:normAutofit/>
          </a:bodyPr>
          <a:lstStyle/>
          <a:p>
            <a:pPr algn="l">
              <a:lnSpc>
                <a:spcPct val="100000"/>
              </a:lnSpc>
              <a:buNone/>
              <a:defRPr sz="1650" b="1">
                <a:solidFill>
                  <a:srgbClr val="13213A"/>
                </a:solidFill>
                <a:latin typeface="Aptos"/>
                <a:ea typeface="Aptos"/>
                <a:cs typeface="Aptos"/>
              </a:defRPr>
            </a:pPr>
            <a:r>
              <a:rPr sz="1650" b="1">
                <a:solidFill>
                  <a:srgbClr val="13213A"/>
                </a:solidFill>
                <a:latin typeface="Aptos"/>
                <a:ea typeface="Aptos"/>
                <a:cs typeface="Aptos"/>
              </a:rPr>
              <a:t>MARKET MODEL</a:t>
            </a:r>
          </a:p>
        </p:txBody>
      </p:sp>
      <p:sp>
        <p:nvSpPr>
          <p:cNvPr id="9" name="Rounded Rectangle 8">
            <a:extLst>
              <a:ext uri="{FF2B5EF4-FFF2-40B4-BE49-F238E27FC236}">
                <a16:creationId xmlns:a16="http://schemas.microsoft.com/office/drawing/2014/main" id="{ADF18E7E-D3EC-4485-9491-C7C31ECECD48}"/>
              </a:ext>
            </a:extLst>
          </p:cNvPr>
          <p:cNvSpPr>
            <a:spLocks noGrp="1"/>
          </p:cNvSpPr>
          <p:nvPr/>
        </p:nvSpPr>
        <p:spPr>
          <a:xfrm>
            <a:off x="3143250" y="3162300"/>
            <a:ext cx="2209800" cy="1695450"/>
          </a:xfrm>
          <a:prstGeom prst="roundRect">
            <a:avLst>
              <a:gd name="adj" fmla="val 12360"/>
            </a:avLst>
          </a:prstGeom>
          <a:solidFill>
            <a:srgbClr val="BFE9D0"/>
          </a:solidFill>
          <a:ln w="0">
            <a:noFill/>
            <a:prstDash val="solid"/>
          </a:ln>
        </p:spPr>
        <p:txBody>
          <a:bodyPr lIns="0" tIns="0" rIns="0" bIns="0" anchor="t">
            <a:normAutofit/>
          </a:bodyPr>
          <a:lstStyle/>
          <a:p>
            <a:pPr algn="l">
              <a:buNone/>
              <a:defRPr sz="100" b="0">
                <a:solidFill>
                  <a:srgbClr val="BFE9D0"/>
                </a:solidFill>
                <a:latin typeface="Aptos"/>
                <a:ea typeface="Aptos"/>
                <a:cs typeface="Aptos"/>
              </a:defRPr>
            </a:pPr>
            <a:r>
              <a:rPr sz="100" b="0">
                <a:solidFill>
                  <a:srgbClr val="BFE9D0"/>
                </a:solidFill>
                <a:latin typeface="Aptos"/>
                <a:ea typeface="Aptos"/>
                <a:cs typeface="Aptos"/>
              </a:rPr>
              <a:t>​</a:t>
            </a:r>
          </a:p>
        </p:txBody>
      </p:sp>
      <p:sp>
        <p:nvSpPr>
          <p:cNvPr id="10" name="Rounded Rectangle 9">
            <a:extLst>
              <a:ext uri="{FF2B5EF4-FFF2-40B4-BE49-F238E27FC236}">
                <a16:creationId xmlns:a16="http://schemas.microsoft.com/office/drawing/2014/main" id="{DC4FFE19-7E36-44DA-9152-729D5A710B79}"/>
              </a:ext>
            </a:extLst>
          </p:cNvPr>
          <p:cNvSpPr>
            <a:spLocks noGrp="1"/>
          </p:cNvSpPr>
          <p:nvPr/>
        </p:nvSpPr>
        <p:spPr>
          <a:xfrm>
            <a:off x="3352800" y="3352800"/>
            <a:ext cx="514350" cy="304800"/>
          </a:xfrm>
          <a:prstGeom prst="roundRect">
            <a:avLst>
              <a:gd name="adj" fmla="val 8824"/>
            </a:avLst>
          </a:prstGeom>
          <a:noFill/>
          <a:ln w="0">
            <a:noFill/>
            <a:prstDash val="solid"/>
          </a:ln>
        </p:spPr>
        <p:txBody>
          <a:bodyPr wrap="square" lIns="0" tIns="0" rIns="0" bIns="0" anchor="ctr">
            <a:normAutofit/>
          </a:bodyPr>
          <a:lstStyle/>
          <a:p>
            <a:pPr algn="l">
              <a:lnSpc>
                <a:spcPct val="100000"/>
              </a:lnSpc>
              <a:buNone/>
              <a:defRPr sz="1275" b="1">
                <a:solidFill>
                  <a:srgbClr val="13213A"/>
                </a:solidFill>
              </a:defRPr>
            </a:pPr>
            <a:r>
              <a:rPr sz="1275" b="1">
                <a:solidFill>
                  <a:srgbClr val="13213A"/>
                </a:solidFill>
              </a:rPr>
              <a:t>02</a:t>
            </a:r>
          </a:p>
        </p:txBody>
      </p:sp>
      <p:sp>
        <p:nvSpPr>
          <p:cNvPr id="11" name="Rounded Rectangle 10">
            <a:extLst>
              <a:ext uri="{FF2B5EF4-FFF2-40B4-BE49-F238E27FC236}">
                <a16:creationId xmlns:a16="http://schemas.microsoft.com/office/drawing/2014/main" id="{C2DFAC32-18F9-44A4-AFCC-7166ADD0AFB4}"/>
              </a:ext>
            </a:extLst>
          </p:cNvPr>
          <p:cNvSpPr>
            <a:spLocks noGrp="1"/>
          </p:cNvSpPr>
          <p:nvPr/>
        </p:nvSpPr>
        <p:spPr>
          <a:xfrm>
            <a:off x="3352800" y="3943350"/>
            <a:ext cx="1790700" cy="590550"/>
          </a:xfrm>
          <a:prstGeom prst="roundRect">
            <a:avLst>
              <a:gd name="adj" fmla="val 50000"/>
            </a:avLst>
          </a:prstGeom>
          <a:noFill/>
          <a:ln w="0">
            <a:noFill/>
            <a:prstDash val="solid"/>
          </a:ln>
        </p:spPr>
        <p:txBody>
          <a:bodyPr wrap="square" lIns="0" tIns="0" rIns="0" bIns="0" anchor="ctr">
            <a:normAutofit fontScale="83032"/>
          </a:bodyPr>
          <a:lstStyle/>
          <a:p>
            <a:pPr algn="l">
              <a:lnSpc>
                <a:spcPct val="100000"/>
              </a:lnSpc>
              <a:buNone/>
              <a:defRPr sz="1650" b="1">
                <a:solidFill>
                  <a:srgbClr val="13213A"/>
                </a:solidFill>
                <a:latin typeface="Aptos"/>
                <a:ea typeface="Aptos"/>
                <a:cs typeface="Aptos"/>
              </a:defRPr>
            </a:pPr>
            <a:r>
              <a:rPr sz="1650" b="1">
                <a:solidFill>
                  <a:srgbClr val="13213A"/>
                </a:solidFill>
                <a:latin typeface="Aptos"/>
                <a:ea typeface="Aptos"/>
                <a:cs typeface="Aptos"/>
              </a:rPr>
              <a:t>SUBMARKET RULES</a:t>
            </a:r>
          </a:p>
        </p:txBody>
      </p:sp>
      <p:sp>
        <p:nvSpPr>
          <p:cNvPr id="12" name="Rounded Rectangle 11">
            <a:extLst>
              <a:ext uri="{FF2B5EF4-FFF2-40B4-BE49-F238E27FC236}">
                <a16:creationId xmlns:a16="http://schemas.microsoft.com/office/drawing/2014/main" id="{F6D0E7EB-FB7B-446A-BEF6-65312FCD6E22}"/>
              </a:ext>
            </a:extLst>
          </p:cNvPr>
          <p:cNvSpPr>
            <a:spLocks noGrp="1"/>
          </p:cNvSpPr>
          <p:nvPr/>
        </p:nvSpPr>
        <p:spPr>
          <a:xfrm>
            <a:off x="5600700" y="2609850"/>
            <a:ext cx="2209800" cy="1695450"/>
          </a:xfrm>
          <a:prstGeom prst="roundRect">
            <a:avLst>
              <a:gd name="adj" fmla="val 12360"/>
            </a:avLst>
          </a:prstGeom>
          <a:solidFill>
            <a:srgbClr val="F3C96B"/>
          </a:solidFill>
          <a:ln w="0">
            <a:noFill/>
            <a:prstDash val="solid"/>
          </a:ln>
        </p:spPr>
        <p:txBody>
          <a:bodyPr lIns="0" tIns="0" rIns="0" bIns="0" anchor="t">
            <a:normAutofit/>
          </a:bodyPr>
          <a:lstStyle/>
          <a:p>
            <a:pPr algn="l">
              <a:buNone/>
              <a:defRPr sz="100" b="1">
                <a:solidFill>
                  <a:srgbClr val="F3C96B"/>
                </a:solidFill>
                <a:latin typeface="Aptos"/>
                <a:ea typeface="Aptos"/>
                <a:cs typeface="Aptos"/>
              </a:defRPr>
            </a:pPr>
            <a:r>
              <a:rPr sz="100" b="1">
                <a:solidFill>
                  <a:srgbClr val="F3C96B"/>
                </a:solidFill>
                <a:latin typeface="Aptos"/>
                <a:ea typeface="Aptos"/>
                <a:cs typeface="Aptos"/>
              </a:rPr>
              <a:t>​</a:t>
            </a:r>
          </a:p>
        </p:txBody>
      </p:sp>
      <p:sp>
        <p:nvSpPr>
          <p:cNvPr id="13" name="Rectangle 12">
            <a:extLst>
              <a:ext uri="{FF2B5EF4-FFF2-40B4-BE49-F238E27FC236}">
                <a16:creationId xmlns:a16="http://schemas.microsoft.com/office/drawing/2014/main" id="{34A0C56A-F998-4684-AD38-755F03552A81}"/>
              </a:ext>
            </a:extLst>
          </p:cNvPr>
          <p:cNvSpPr>
            <a:spLocks noGrp="1"/>
          </p:cNvSpPr>
          <p:nvPr/>
        </p:nvSpPr>
        <p:spPr>
          <a:xfrm>
            <a:off x="5810250" y="2800350"/>
            <a:ext cx="514350" cy="304800"/>
          </a:xfrm>
          <a:prstGeom prst="rect">
            <a:avLst/>
          </a:prstGeom>
          <a:noFill/>
          <a:ln w="0">
            <a:noFill/>
            <a:prstDash val="solid"/>
          </a:ln>
        </p:spPr>
        <p:txBody>
          <a:bodyPr wrap="square" lIns="0" tIns="0" rIns="0" bIns="0" anchor="ctr">
            <a:normAutofit/>
          </a:bodyPr>
          <a:lstStyle/>
          <a:p>
            <a:pPr algn="l">
              <a:lnSpc>
                <a:spcPct val="100000"/>
              </a:lnSpc>
              <a:buNone/>
              <a:defRPr sz="1275" b="1">
                <a:solidFill>
                  <a:srgbClr val="13213A"/>
                </a:solidFill>
                <a:latin typeface="Aptos"/>
                <a:ea typeface="Aptos"/>
                <a:cs typeface="Aptos"/>
              </a:defRPr>
            </a:pPr>
            <a:r>
              <a:rPr sz="1275" b="1">
                <a:solidFill>
                  <a:srgbClr val="13213A"/>
                </a:solidFill>
                <a:latin typeface="Aptos"/>
                <a:ea typeface="Aptos"/>
                <a:cs typeface="Aptos"/>
              </a:rPr>
              <a:t>03</a:t>
            </a:r>
          </a:p>
        </p:txBody>
      </p:sp>
      <p:sp>
        <p:nvSpPr>
          <p:cNvPr id="14" name="Rounded Rectangle 13">
            <a:extLst>
              <a:ext uri="{FF2B5EF4-FFF2-40B4-BE49-F238E27FC236}">
                <a16:creationId xmlns:a16="http://schemas.microsoft.com/office/drawing/2014/main" id="{8662E46C-7F53-4103-AB18-4EE3217C87A3}"/>
              </a:ext>
            </a:extLst>
          </p:cNvPr>
          <p:cNvSpPr>
            <a:spLocks noGrp="1"/>
          </p:cNvSpPr>
          <p:nvPr/>
        </p:nvSpPr>
        <p:spPr>
          <a:xfrm>
            <a:off x="5810250" y="3390900"/>
            <a:ext cx="1790700" cy="590550"/>
          </a:xfrm>
          <a:prstGeom prst="roundRect">
            <a:avLst>
              <a:gd name="adj" fmla="val 8824"/>
            </a:avLst>
          </a:prstGeom>
          <a:noFill/>
          <a:ln w="0">
            <a:noFill/>
            <a:prstDash val="solid"/>
          </a:ln>
        </p:spPr>
        <p:txBody>
          <a:bodyPr wrap="square" lIns="0" tIns="0" rIns="0" bIns="0" anchor="ctr">
            <a:normAutofit/>
          </a:bodyPr>
          <a:lstStyle/>
          <a:p>
            <a:pPr algn="l">
              <a:lnSpc>
                <a:spcPct val="100000"/>
              </a:lnSpc>
              <a:buNone/>
              <a:defRPr sz="1650" b="1">
                <a:solidFill>
                  <a:srgbClr val="13213A"/>
                </a:solidFill>
              </a:defRPr>
            </a:pPr>
            <a:r>
              <a:rPr sz="1650" b="1">
                <a:solidFill>
                  <a:srgbClr val="13213A"/>
                </a:solidFill>
              </a:rPr>
              <a:t>PROPERTY GATE</a:t>
            </a:r>
          </a:p>
        </p:txBody>
      </p:sp>
      <p:sp>
        <p:nvSpPr>
          <p:cNvPr id="15" name="Rounded Rectangle 14">
            <a:extLst>
              <a:ext uri="{FF2B5EF4-FFF2-40B4-BE49-F238E27FC236}">
                <a16:creationId xmlns:a16="http://schemas.microsoft.com/office/drawing/2014/main" id="{17887ECE-1A51-44AE-8ACA-A759E3667688}"/>
              </a:ext>
            </a:extLst>
          </p:cNvPr>
          <p:cNvSpPr>
            <a:spLocks noGrp="1"/>
          </p:cNvSpPr>
          <p:nvPr/>
        </p:nvSpPr>
        <p:spPr>
          <a:xfrm>
            <a:off x="8058150" y="2057400"/>
            <a:ext cx="2209800" cy="1695450"/>
          </a:xfrm>
          <a:prstGeom prst="roundRect">
            <a:avLst>
              <a:gd name="adj" fmla="val 12360"/>
            </a:avLst>
          </a:prstGeom>
          <a:solidFill>
            <a:srgbClr val="FF8A73"/>
          </a:solidFill>
          <a:ln w="0">
            <a:noFill/>
            <a:prstDash val="solid"/>
          </a:ln>
        </p:spPr>
        <p:txBody>
          <a:bodyPr lIns="0" tIns="0" rIns="0" bIns="0" anchor="ctr">
            <a:normAutofit/>
          </a:bodyPr>
          <a:lstStyle/>
          <a:p>
            <a:pPr algn="ctr">
              <a:buNone/>
              <a:defRPr sz="100" b="1">
                <a:solidFill>
                  <a:srgbClr val="FF8A73"/>
                </a:solidFill>
                <a:latin typeface="Aptos"/>
                <a:ea typeface="Aptos"/>
                <a:cs typeface="Aptos"/>
              </a:defRPr>
            </a:pPr>
            <a:r>
              <a:rPr sz="100" b="1">
                <a:solidFill>
                  <a:srgbClr val="FF8A73"/>
                </a:solidFill>
                <a:latin typeface="Aptos"/>
                <a:ea typeface="Aptos"/>
                <a:cs typeface="Aptos"/>
              </a:rPr>
              <a:t>​</a:t>
            </a:r>
          </a:p>
        </p:txBody>
      </p:sp>
      <p:sp>
        <p:nvSpPr>
          <p:cNvPr id="16" name="Rectangle 15">
            <a:extLst>
              <a:ext uri="{FF2B5EF4-FFF2-40B4-BE49-F238E27FC236}">
                <a16:creationId xmlns:a16="http://schemas.microsoft.com/office/drawing/2014/main" id="{5F165645-74B3-4479-9F9E-0C9C12348830}"/>
              </a:ext>
            </a:extLst>
          </p:cNvPr>
          <p:cNvSpPr>
            <a:spLocks noGrp="1"/>
          </p:cNvSpPr>
          <p:nvPr/>
        </p:nvSpPr>
        <p:spPr>
          <a:xfrm>
            <a:off x="8267700" y="2247900"/>
            <a:ext cx="514350" cy="304800"/>
          </a:xfrm>
          <a:prstGeom prst="rect">
            <a:avLst/>
          </a:prstGeom>
          <a:noFill/>
          <a:ln w="0">
            <a:noFill/>
            <a:prstDash val="solid"/>
          </a:ln>
        </p:spPr>
        <p:txBody>
          <a:bodyPr wrap="square" lIns="0" tIns="0" rIns="0" bIns="0" anchor="ctr">
            <a:normAutofit/>
          </a:bodyPr>
          <a:lstStyle/>
          <a:p>
            <a:pPr algn="l">
              <a:lnSpc>
                <a:spcPct val="100000"/>
              </a:lnSpc>
              <a:buNone/>
              <a:defRPr sz="1275" b="1">
                <a:solidFill>
                  <a:srgbClr val="13213A"/>
                </a:solidFill>
                <a:latin typeface="Aptos"/>
                <a:ea typeface="Aptos"/>
                <a:cs typeface="Aptos"/>
              </a:defRPr>
            </a:pPr>
            <a:r>
              <a:rPr sz="1275" b="1">
                <a:solidFill>
                  <a:srgbClr val="13213A"/>
                </a:solidFill>
                <a:latin typeface="Aptos"/>
                <a:ea typeface="Aptos"/>
                <a:cs typeface="Aptos"/>
              </a:rPr>
              <a:t>04</a:t>
            </a:r>
          </a:p>
        </p:txBody>
      </p:sp>
      <p:sp>
        <p:nvSpPr>
          <p:cNvPr id="17" name="Rectangle 16">
            <a:extLst>
              <a:ext uri="{FF2B5EF4-FFF2-40B4-BE49-F238E27FC236}">
                <a16:creationId xmlns:a16="http://schemas.microsoft.com/office/drawing/2014/main" id="{D5EC6784-0C91-4F06-93B7-3A06BCAE84FF}"/>
              </a:ext>
            </a:extLst>
          </p:cNvPr>
          <p:cNvSpPr>
            <a:spLocks noGrp="1"/>
          </p:cNvSpPr>
          <p:nvPr/>
        </p:nvSpPr>
        <p:spPr>
          <a:xfrm>
            <a:off x="8267700" y="2838450"/>
            <a:ext cx="1790700" cy="590550"/>
          </a:xfrm>
          <a:prstGeom prst="rect">
            <a:avLst/>
          </a:prstGeom>
          <a:noFill/>
          <a:ln w="0">
            <a:noFill/>
            <a:prstDash val="solid"/>
          </a:ln>
        </p:spPr>
        <p:txBody>
          <a:bodyPr wrap="square" lIns="0" tIns="0" rIns="0" bIns="0" anchor="ctr">
            <a:normAutofit/>
          </a:bodyPr>
          <a:lstStyle/>
          <a:p>
            <a:pPr algn="l">
              <a:lnSpc>
                <a:spcPct val="100000"/>
              </a:lnSpc>
              <a:buNone/>
              <a:defRPr sz="1650" b="1">
                <a:solidFill>
                  <a:srgbClr val="13213A"/>
                </a:solidFill>
                <a:latin typeface="Aptos"/>
                <a:ea typeface="Aptos"/>
                <a:cs typeface="Aptos"/>
              </a:defRPr>
            </a:pPr>
            <a:r>
              <a:rPr sz="1650" b="1">
                <a:solidFill>
                  <a:srgbClr val="13213A"/>
                </a:solidFill>
                <a:latin typeface="Aptos"/>
                <a:ea typeface="Aptos"/>
                <a:cs typeface="Aptos"/>
              </a:rPr>
              <a:t>QUEUE LOGIC</a:t>
            </a:r>
          </a:p>
        </p:txBody>
      </p:sp>
      <p:sp>
        <p:nvSpPr>
          <p:cNvPr id="18" name="Rounded Rectangle 17">
            <a:extLst>
              <a:ext uri="{FF2B5EF4-FFF2-40B4-BE49-F238E27FC236}">
                <a16:creationId xmlns:a16="http://schemas.microsoft.com/office/drawing/2014/main" id="{D67DD66B-DA13-4F5F-8B2C-2D87ECD10B1A}"/>
              </a:ext>
            </a:extLst>
          </p:cNvPr>
          <p:cNvSpPr>
            <a:spLocks noGrp="1"/>
          </p:cNvSpPr>
          <p:nvPr/>
        </p:nvSpPr>
        <p:spPr>
          <a:xfrm>
            <a:off x="3143250" y="5619750"/>
            <a:ext cx="7105650" cy="514350"/>
          </a:xfrm>
          <a:prstGeom prst="roundRect">
            <a:avLst>
              <a:gd name="adj" fmla="val 33333"/>
            </a:avLst>
          </a:prstGeom>
          <a:solidFill>
            <a:srgbClr val="0B1733"/>
          </a:solidFill>
          <a:ln w="0">
            <a:noFill/>
            <a:prstDash val="solid"/>
          </a:ln>
        </p:spPr>
        <p:txBody>
          <a:bodyPr lIns="0" tIns="0" rIns="0" bIns="0"/>
          <a:lstStyle/>
          <a:p>
            <a:pPr>
              <a:defRPr sz="100">
                <a:solidFill>
                  <a:srgbClr val="0B1733"/>
                </a:solidFill>
              </a:defRPr>
            </a:pPr>
            <a:r>
              <a:rPr sz="100">
                <a:solidFill>
                  <a:srgbClr val="0B1733"/>
                </a:solidFill>
              </a:rPr>
              <a:t>​</a:t>
            </a:r>
          </a:p>
        </p:txBody>
      </p:sp>
      <p:sp>
        <p:nvSpPr>
          <p:cNvPr id="19" name="Rounded Rectangle 18">
            <a:extLst>
              <a:ext uri="{FF2B5EF4-FFF2-40B4-BE49-F238E27FC236}">
                <a16:creationId xmlns:a16="http://schemas.microsoft.com/office/drawing/2014/main" id="{F69627BC-C9AF-4C2E-B0F1-1FB3A2789061}"/>
              </a:ext>
            </a:extLst>
          </p:cNvPr>
          <p:cNvSpPr>
            <a:spLocks noGrp="1"/>
          </p:cNvSpPr>
          <p:nvPr/>
        </p:nvSpPr>
        <p:spPr>
          <a:xfrm>
            <a:off x="3371850" y="5619750"/>
            <a:ext cx="6648450" cy="514350"/>
          </a:xfrm>
          <a:prstGeom prst="roundRect">
            <a:avLst>
              <a:gd name="adj" fmla="val 50000"/>
            </a:avLst>
          </a:prstGeom>
          <a:noFill/>
          <a:ln w="0">
            <a:noFill/>
            <a:prstDash val="solid"/>
          </a:ln>
        </p:spPr>
        <p:txBody>
          <a:bodyPr wrap="square" lIns="0" tIns="0" rIns="0" bIns="0" anchor="ctr">
            <a:normAutofit/>
          </a:bodyPr>
          <a:lstStyle/>
          <a:p>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CLEAR RULES  →  CLEAR DIRECTION</a:t>
            </a:r>
          </a:p>
        </p:txBody>
      </p:sp>
      <p:sp>
        <p:nvSpPr>
          <p:cNvPr id="20" name="Rectangle 19">
            <a:extLst>
              <a:ext uri="{FF2B5EF4-FFF2-40B4-BE49-F238E27FC236}">
                <a16:creationId xmlns:a16="http://schemas.microsoft.com/office/drawing/2014/main" id="{FE1E4B9B-1B7B-4FB8-8D81-EEBEE0FB5DC4}"/>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l">
              <a:buNone/>
              <a:defRPr sz="1875" b="1">
                <a:solidFill>
                  <a:srgbClr val="13213A"/>
                </a:solidFill>
                <a:latin typeface="Aptos"/>
                <a:ea typeface="Aptos"/>
                <a:cs typeface="Aptos"/>
              </a:defRPr>
            </a:pPr>
            <a:endParaRPr/>
          </a:p>
        </p:txBody>
      </p:sp>
      <p:sp>
        <p:nvSpPr>
          <p:cNvPr id="21" name="Rectangle 20">
            <a:extLst>
              <a:ext uri="{FF2B5EF4-FFF2-40B4-BE49-F238E27FC236}">
                <a16:creationId xmlns:a16="http://schemas.microsoft.com/office/drawing/2014/main" id="{693B819A-0EFE-40B8-B398-BC3E66F6C92A}"/>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l">
              <a:buNone/>
              <a:defRPr sz="1350" b="0">
                <a:solidFill>
                  <a:srgbClr val="39455A"/>
                </a:solidFill>
                <a:latin typeface="Aptos"/>
                <a:ea typeface="Aptos"/>
                <a:cs typeface="Aptos"/>
              </a:defRPr>
            </a:pPr>
            <a:endParaRPr/>
          </a:p>
        </p:txBody>
      </p:sp>
      <p:sp>
        <p:nvSpPr>
          <p:cNvPr id="22" name="Rounded Rectangle 21">
            <a:extLst>
              <a:ext uri="{FF2B5EF4-FFF2-40B4-BE49-F238E27FC236}">
                <a16:creationId xmlns:a16="http://schemas.microsoft.com/office/drawing/2014/main" id="{68152077-3D05-4BD4-AE31-EE71B85093DC}"/>
              </a:ext>
            </a:extLst>
          </p:cNvPr>
          <p:cNvSpPr>
            <a:spLocks noGrp="1"/>
          </p:cNvSpPr>
          <p:nvPr/>
        </p:nvSpPr>
        <p:spPr>
          <a:xfrm>
            <a:off x="38100" y="38100"/>
            <a:ext cx="9525" cy="9525"/>
          </a:xfrm>
          <a:prstGeom prst="roundRect">
            <a:avLst>
              <a:gd name="adj" fmla="val 8824"/>
            </a:avLst>
          </a:prstGeom>
          <a:noFill/>
          <a:ln w="0">
            <a:noFill/>
            <a:prstDash val="solid"/>
          </a:ln>
        </p:spPr>
        <p:txBody>
          <a:bodyPr/>
          <a:lstStyle/>
          <a:p>
            <a:endParaRPr/>
          </a:p>
        </p:txBody>
      </p:sp>
      <p:sp>
        <p:nvSpPr>
          <p:cNvPr id="23" name="Rounded Rectangle 22">
            <a:extLst>
              <a:ext uri="{FF2B5EF4-FFF2-40B4-BE49-F238E27FC236}">
                <a16:creationId xmlns:a16="http://schemas.microsoft.com/office/drawing/2014/main" id="{9627B79E-648E-40D8-B370-B2D336903EB9}"/>
              </a:ext>
            </a:extLst>
          </p:cNvPr>
          <p:cNvSpPr>
            <a:spLocks noGrp="1"/>
          </p:cNvSpPr>
          <p:nvPr/>
        </p:nvSpPr>
        <p:spPr>
          <a:xfrm>
            <a:off x="38100" y="38100"/>
            <a:ext cx="9525" cy="9525"/>
          </a:xfrm>
          <a:prstGeom prst="roundRect">
            <a:avLst>
              <a:gd name="adj" fmla="val 50000"/>
            </a:avLst>
          </a:prstGeom>
          <a:noFill/>
          <a:ln w="0">
            <a:noFill/>
            <a:prstDash val="solid"/>
          </a:ln>
        </p:spPr>
        <p:txBody>
          <a:bodyPr anchor="ctr">
            <a:normAutofit/>
          </a:bodyPr>
          <a:lstStyle/>
          <a:p>
            <a:pPr algn="ctr">
              <a:buNone/>
              <a:defRPr sz="1650" b="1">
                <a:solidFill>
                  <a:srgbClr val="FFFFFF"/>
                </a:solidFill>
                <a:latin typeface="Aptos"/>
                <a:ea typeface="Aptos"/>
                <a:cs typeface="Aptos"/>
              </a:defRPr>
            </a:pPr>
            <a:endParaRPr/>
          </a:p>
        </p:txBody>
      </p:sp>
      <p:sp>
        <p:nvSpPr>
          <p:cNvPr id="24" name="Rectangle 23">
            <a:extLst>
              <a:ext uri="{FF2B5EF4-FFF2-40B4-BE49-F238E27FC236}">
                <a16:creationId xmlns:a16="http://schemas.microsoft.com/office/drawing/2014/main" id="{E993BEA8-0954-4AD4-83BE-957EE1DA77E3}"/>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l">
              <a:buNone/>
              <a:defRPr sz="1875" b="1">
                <a:solidFill>
                  <a:srgbClr val="13213A"/>
                </a:solidFill>
                <a:latin typeface="Aptos"/>
                <a:ea typeface="Aptos"/>
                <a:cs typeface="Aptos"/>
              </a:defRPr>
            </a:pPr>
            <a:endParaRPr/>
          </a:p>
        </p:txBody>
      </p:sp>
      <p:sp>
        <p:nvSpPr>
          <p:cNvPr id="25" name="Rectangle 24">
            <a:extLst>
              <a:ext uri="{FF2B5EF4-FFF2-40B4-BE49-F238E27FC236}">
                <a16:creationId xmlns:a16="http://schemas.microsoft.com/office/drawing/2014/main" id="{87963F3F-C759-4ACD-9499-649023E14298}"/>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l">
              <a:buNone/>
              <a:defRPr sz="1350" b="0">
                <a:solidFill>
                  <a:srgbClr val="39455A"/>
                </a:solidFill>
                <a:latin typeface="Aptos"/>
                <a:ea typeface="Aptos"/>
                <a:cs typeface="Aptos"/>
              </a:defRPr>
            </a:pPr>
            <a:endParaRPr/>
          </a:p>
        </p:txBody>
      </p:sp>
      <p:sp>
        <p:nvSpPr>
          <p:cNvPr id="26" name="Rectangle 25">
            <a:extLst>
              <a:ext uri="{FF2B5EF4-FFF2-40B4-BE49-F238E27FC236}">
                <a16:creationId xmlns:a16="http://schemas.microsoft.com/office/drawing/2014/main" id="{5419564B-299C-4393-9E78-BB9648219313}"/>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ctr">
              <a:buNone/>
              <a:defRPr sz="1650" b="1">
                <a:solidFill>
                  <a:srgbClr val="9A4040"/>
                </a:solidFill>
                <a:latin typeface="Aptos"/>
                <a:ea typeface="Aptos"/>
                <a:cs typeface="Aptos"/>
              </a:defRPr>
            </a:pPr>
            <a:endParaRPr/>
          </a:p>
        </p:txBody>
      </p:sp>
    </p:spTree>
    <p:extLst>
      <p:ext uri="{BB962C8B-B14F-4D97-AF65-F5344CB8AC3E}">
        <p14:creationId xmlns:p14="http://schemas.microsoft.com/office/powerpoint/2010/main" val="1220267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17E6D119-33FA-4963-8A3E-9E9E8A478E4A}"/>
              </a:ext>
            </a:extLst>
          </p:cNvPr>
          <p:cNvSpPr>
            <a:spLocks noGrp="1"/>
          </p:cNvSpPr>
          <p:nvPr/>
        </p:nvSpPr>
        <p:spPr>
          <a:xfrm>
            <a:off x="609600" y="323850"/>
            <a:ext cx="5334000" cy="247650"/>
          </a:xfrm>
          <a:prstGeom prst="rect">
            <a:avLst/>
          </a:prstGeom>
          <a:noFill/>
          <a:ln w="0">
            <a:noFill/>
            <a:prstDash val="solid"/>
          </a:ln>
        </p:spPr>
        <p:txBody>
          <a:bodyPr wrap="square" lIns="0" tIns="0" rIns="0" bIns="0" anchor="ctr">
            <a:normAutofit/>
          </a:bodyPr>
          <a:lstStyle/>
          <a:p>
            <a:pPr algn="l">
              <a:lnSpc>
                <a:spcPct val="100000"/>
              </a:lnSpc>
              <a:buNone/>
              <a:defRPr sz="1125" b="1">
                <a:solidFill>
                  <a:srgbClr val="2D5BFF"/>
                </a:solidFill>
                <a:latin typeface="Aptos"/>
                <a:ea typeface="Aptos"/>
                <a:cs typeface="Aptos"/>
              </a:defRPr>
            </a:pPr>
            <a:r>
              <a:rPr sz="1125" b="1">
                <a:solidFill>
                  <a:srgbClr val="2D5BFF"/>
                </a:solidFill>
                <a:latin typeface="Aptos"/>
                <a:ea typeface="Aptos"/>
                <a:cs typeface="Aptos"/>
              </a:rPr>
              <a:t>RESPONSIBLE AI ROLE</a:t>
            </a:r>
          </a:p>
        </p:txBody>
      </p:sp>
      <p:sp>
        <p:nvSpPr>
          <p:cNvPr id="2" name="Rectangle 1">
            <a:extLst>
              <a:ext uri="{FF2B5EF4-FFF2-40B4-BE49-F238E27FC236}">
                <a16:creationId xmlns:a16="http://schemas.microsoft.com/office/drawing/2014/main" id="{1EFF42A6-AC14-4399-B760-6D11E502B8B2}"/>
              </a:ext>
            </a:extLst>
          </p:cNvPr>
          <p:cNvSpPr>
            <a:spLocks noGrp="1"/>
          </p:cNvSpPr>
          <p:nvPr/>
        </p:nvSpPr>
        <p:spPr>
          <a:xfrm>
            <a:off x="609600" y="723900"/>
            <a:ext cx="10668000" cy="685800"/>
          </a:xfrm>
          <a:prstGeom prst="rect">
            <a:avLst/>
          </a:prstGeom>
          <a:noFill/>
          <a:ln w="0">
            <a:noFill/>
            <a:prstDash val="solid"/>
          </a:ln>
        </p:spPr>
        <p:txBody>
          <a:bodyPr wrap="square" lIns="0" tIns="0" rIns="0" bIns="0" anchor="ctr">
            <a:normAutofit/>
          </a:bodyPr>
          <a:lstStyle/>
          <a:p>
            <a:pPr algn="l">
              <a:lnSpc>
                <a:spcPct val="100000"/>
              </a:lnSpc>
              <a:buNone/>
              <a:defRPr sz="3150" b="1">
                <a:solidFill>
                  <a:srgbClr val="13213A"/>
                </a:solidFill>
                <a:latin typeface="Aptos"/>
                <a:ea typeface="Aptos"/>
                <a:cs typeface="Aptos"/>
              </a:defRPr>
            </a:pPr>
            <a:r>
              <a:rPr sz="3150" b="1">
                <a:solidFill>
                  <a:srgbClr val="13213A"/>
                </a:solidFill>
                <a:latin typeface="Aptos"/>
                <a:ea typeface="Aptos"/>
                <a:cs typeface="Aptos"/>
              </a:rPr>
              <a:t>AI guides. Code calculates. People decide.</a:t>
            </a:r>
          </a:p>
        </p:txBody>
      </p:sp>
      <p:sp>
        <p:nvSpPr>
          <p:cNvPr id="3" name="Rectangle 2">
            <a:extLst>
              <a:ext uri="{FF2B5EF4-FFF2-40B4-BE49-F238E27FC236}">
                <a16:creationId xmlns:a16="http://schemas.microsoft.com/office/drawing/2014/main" id="{89FD16F6-F8BE-456C-BB3D-0043E6C2B814}"/>
              </a:ext>
            </a:extLst>
          </p:cNvPr>
          <p:cNvSpPr>
            <a:spLocks noGrp="1"/>
          </p:cNvSpPr>
          <p:nvPr/>
        </p:nvSpPr>
        <p:spPr>
          <a:xfrm>
            <a:off x="609600" y="6419850"/>
            <a:ext cx="10972800" cy="19050"/>
          </a:xfrm>
          <a:prstGeom prst="rect">
            <a:avLst/>
          </a:prstGeom>
          <a:solidFill>
            <a:srgbClr val="D6DCE7"/>
          </a:solidFill>
          <a:ln w="0">
            <a:noFill/>
            <a:prstDash val="solid"/>
          </a:ln>
        </p:spPr>
        <p:txBody>
          <a:bodyPr lIns="0" tIns="0" rIns="0" bIns="0"/>
          <a:lstStyle/>
          <a:p>
            <a:pPr>
              <a:defRPr sz="100">
                <a:solidFill>
                  <a:srgbClr val="D6DCE7"/>
                </a:solidFill>
              </a:defRPr>
            </a:pPr>
            <a:r>
              <a:rPr sz="100">
                <a:solidFill>
                  <a:srgbClr val="D6DCE7"/>
                </a:solidFill>
              </a:rPr>
              <a:t>​</a:t>
            </a:r>
          </a:p>
        </p:txBody>
      </p:sp>
      <p:sp>
        <p:nvSpPr>
          <p:cNvPr id="4" name="Rectangle 3">
            <a:extLst>
              <a:ext uri="{FF2B5EF4-FFF2-40B4-BE49-F238E27FC236}">
                <a16:creationId xmlns:a16="http://schemas.microsoft.com/office/drawing/2014/main" id="{DAEB93BB-0B7F-4142-92FA-E285D3C1D865}"/>
              </a:ext>
            </a:extLst>
          </p:cNvPr>
          <p:cNvSpPr>
            <a:spLocks noGrp="1"/>
          </p:cNvSpPr>
          <p:nvPr/>
        </p:nvSpPr>
        <p:spPr>
          <a:xfrm>
            <a:off x="609600" y="6515100"/>
            <a:ext cx="9334500" cy="171450"/>
          </a:xfrm>
          <a:prstGeom prst="rect">
            <a:avLst/>
          </a:prstGeom>
          <a:noFill/>
          <a:ln w="0">
            <a:noFill/>
            <a:prstDash val="solid"/>
          </a:ln>
        </p:spPr>
        <p:txBody>
          <a:bodyPr wrap="square" lIns="0" tIns="0" rIns="0" bIns="0" anchor="ctr">
            <a:normAutofit/>
          </a:bodyPr>
          <a:lstStyle/>
          <a:p>
            <a:pPr algn="l">
              <a:lnSpc>
                <a:spcPct val="100000"/>
              </a:lnSpc>
              <a:buNone/>
              <a:defRPr sz="900" b="0">
                <a:solidFill>
                  <a:srgbClr val="667085"/>
                </a:solidFill>
                <a:latin typeface="Aptos"/>
                <a:ea typeface="Aptos"/>
                <a:cs typeface="Aptos"/>
              </a:defRPr>
            </a:pPr>
            <a:r>
              <a:rPr sz="900" b="0">
                <a:solidFill>
                  <a:srgbClr val="667085"/>
                </a:solidFill>
                <a:latin typeface="Aptos"/>
                <a:ea typeface="Aptos"/>
                <a:cs typeface="Aptos"/>
              </a:rPr>
              <a:t>Transparent decision support, with explicit human gates</a:t>
            </a:r>
          </a:p>
        </p:txBody>
      </p:sp>
      <p:sp>
        <p:nvSpPr>
          <p:cNvPr id="5" name="Rectangle 4">
            <a:extLst>
              <a:ext uri="{FF2B5EF4-FFF2-40B4-BE49-F238E27FC236}">
                <a16:creationId xmlns:a16="http://schemas.microsoft.com/office/drawing/2014/main" id="{4A70BAB6-6B8D-44C4-BCB1-459D43FD2229}"/>
              </a:ext>
            </a:extLst>
          </p:cNvPr>
          <p:cNvSpPr>
            <a:spLocks noGrp="1"/>
          </p:cNvSpPr>
          <p:nvPr/>
        </p:nvSpPr>
        <p:spPr>
          <a:xfrm>
            <a:off x="10953750" y="6515100"/>
            <a:ext cx="628650" cy="171450"/>
          </a:xfrm>
          <a:prstGeom prst="rect">
            <a:avLst/>
          </a:prstGeom>
          <a:noFill/>
          <a:ln w="0">
            <a:noFill/>
            <a:prstDash val="solid"/>
          </a:ln>
        </p:spPr>
        <p:txBody>
          <a:bodyPr wrap="square" lIns="0" tIns="0" rIns="0" bIns="0" anchor="ctr">
            <a:normAutofit/>
          </a:bodyPr>
          <a:lstStyle/>
          <a:p>
            <a:pPr algn="r">
              <a:lnSpc>
                <a:spcPct val="100000"/>
              </a:lnSpc>
              <a:buNone/>
              <a:defRPr sz="900" b="1">
                <a:solidFill>
                  <a:srgbClr val="13213A"/>
                </a:solidFill>
                <a:latin typeface="Aptos"/>
                <a:ea typeface="Aptos"/>
                <a:cs typeface="Aptos"/>
              </a:defRPr>
            </a:pPr>
            <a:r>
              <a:rPr sz="900" b="1">
                <a:solidFill>
                  <a:srgbClr val="13213A"/>
                </a:solidFill>
                <a:latin typeface="Aptos"/>
                <a:ea typeface="Aptos"/>
                <a:cs typeface="Aptos"/>
              </a:rPr>
              <a:t>12</a:t>
            </a:r>
          </a:p>
        </p:txBody>
      </p:sp>
      <p:sp>
        <p:nvSpPr>
          <p:cNvPr id="6" name="Rounded Rectangle 5">
            <a:extLst>
              <a:ext uri="{FF2B5EF4-FFF2-40B4-BE49-F238E27FC236}">
                <a16:creationId xmlns:a16="http://schemas.microsoft.com/office/drawing/2014/main" id="{C61F8919-94DA-4BEE-BD92-96B3BCD55103}"/>
              </a:ext>
            </a:extLst>
          </p:cNvPr>
          <p:cNvSpPr>
            <a:spLocks noGrp="1"/>
          </p:cNvSpPr>
          <p:nvPr/>
        </p:nvSpPr>
        <p:spPr>
          <a:xfrm>
            <a:off x="609600" y="1943100"/>
            <a:ext cx="3429000" cy="3714750"/>
          </a:xfrm>
          <a:prstGeom prst="roundRect">
            <a:avLst>
              <a:gd name="adj" fmla="val 7222"/>
            </a:avLst>
          </a:prstGeom>
          <a:solidFill>
            <a:srgbClr val="DDE6FF"/>
          </a:solidFill>
          <a:ln w="0">
            <a:noFill/>
            <a:prstDash val="solid"/>
          </a:ln>
        </p:spPr>
        <p:txBody>
          <a:bodyPr lIns="0" tIns="0" rIns="0" bIns="0"/>
          <a:lstStyle/>
          <a:p>
            <a:pPr>
              <a:defRPr sz="100">
                <a:solidFill>
                  <a:srgbClr val="DDE6FF"/>
                </a:solidFill>
              </a:defRPr>
            </a:pPr>
            <a:r>
              <a:rPr sz="100">
                <a:solidFill>
                  <a:srgbClr val="DDE6FF"/>
                </a:solidFill>
              </a:rPr>
              <a:t>​</a:t>
            </a:r>
          </a:p>
        </p:txBody>
      </p:sp>
      <p:sp>
        <p:nvSpPr>
          <p:cNvPr id="7" name="Rectangle 6">
            <a:extLst>
              <a:ext uri="{FF2B5EF4-FFF2-40B4-BE49-F238E27FC236}">
                <a16:creationId xmlns:a16="http://schemas.microsoft.com/office/drawing/2014/main" id="{21339F3E-AD5F-4A5C-9560-109AB5B5F35C}"/>
              </a:ext>
            </a:extLst>
          </p:cNvPr>
          <p:cNvSpPr>
            <a:spLocks noGrp="1"/>
          </p:cNvSpPr>
          <p:nvPr/>
        </p:nvSpPr>
        <p:spPr>
          <a:xfrm>
            <a:off x="876300" y="2209800"/>
            <a:ext cx="2895600" cy="32385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13213A"/>
                </a:solidFill>
                <a:latin typeface="Aptos"/>
                <a:ea typeface="Aptos"/>
                <a:cs typeface="Aptos"/>
              </a:defRPr>
            </a:pPr>
            <a:r>
              <a:rPr sz="1200" b="1">
                <a:solidFill>
                  <a:srgbClr val="13213A"/>
                </a:solidFill>
                <a:latin typeface="Aptos"/>
                <a:ea typeface="Aptos"/>
                <a:cs typeface="Aptos"/>
              </a:rPr>
              <a:t>AI</a:t>
            </a:r>
          </a:p>
        </p:txBody>
      </p:sp>
      <p:sp>
        <p:nvSpPr>
          <p:cNvPr id="8" name="Rounded Rectangle 7">
            <a:extLst>
              <a:ext uri="{FF2B5EF4-FFF2-40B4-BE49-F238E27FC236}">
                <a16:creationId xmlns:a16="http://schemas.microsoft.com/office/drawing/2014/main" id="{9B64F77F-0D53-42FD-9407-61F316236BF9}"/>
              </a:ext>
            </a:extLst>
          </p:cNvPr>
          <p:cNvSpPr>
            <a:spLocks noGrp="1"/>
          </p:cNvSpPr>
          <p:nvPr/>
        </p:nvSpPr>
        <p:spPr>
          <a:xfrm>
            <a:off x="876300" y="2781300"/>
            <a:ext cx="2895600" cy="514350"/>
          </a:xfrm>
          <a:prstGeom prst="roundRect">
            <a:avLst>
              <a:gd name="adj" fmla="val 50000"/>
            </a:avLst>
          </a:prstGeom>
          <a:noFill/>
          <a:ln w="0">
            <a:noFill/>
            <a:prstDash val="solid"/>
          </a:ln>
        </p:spPr>
        <p:txBody>
          <a:bodyPr wrap="square" lIns="0" tIns="0" rIns="0" bIns="0" anchor="ctr">
            <a:normAutofit/>
          </a:bodyPr>
          <a:lstStyle/>
          <a:p>
            <a:pPr algn="l">
              <a:lnSpc>
                <a:spcPct val="100000"/>
              </a:lnSpc>
              <a:buNone/>
              <a:defRPr sz="2250" b="1">
                <a:solidFill>
                  <a:srgbClr val="13213A"/>
                </a:solidFill>
              </a:defRPr>
            </a:pPr>
            <a:r>
              <a:rPr sz="2250" b="1">
                <a:solidFill>
                  <a:srgbClr val="13213A"/>
                </a:solidFill>
              </a:rPr>
              <a:t>GUIDES</a:t>
            </a:r>
          </a:p>
        </p:txBody>
      </p:sp>
      <p:sp>
        <p:nvSpPr>
          <p:cNvPr id="9" name="Rectangle 8">
            <a:extLst>
              <a:ext uri="{FF2B5EF4-FFF2-40B4-BE49-F238E27FC236}">
                <a16:creationId xmlns:a16="http://schemas.microsoft.com/office/drawing/2014/main" id="{4A77AE07-1855-4DB5-B506-C6B34D2D7D61}"/>
              </a:ext>
            </a:extLst>
          </p:cNvPr>
          <p:cNvSpPr>
            <a:spLocks noGrp="1"/>
          </p:cNvSpPr>
          <p:nvPr/>
        </p:nvSpPr>
        <p:spPr>
          <a:xfrm>
            <a:off x="876300" y="3619500"/>
            <a:ext cx="2895600" cy="1524000"/>
          </a:xfrm>
          <a:prstGeom prst="rect">
            <a:avLst/>
          </a:prstGeom>
          <a:noFill/>
          <a:ln w="0">
            <a:noFill/>
            <a:prstDash val="solid"/>
          </a:ln>
        </p:spPr>
        <p:txBody>
          <a:bodyPr wrap="square" lIns="0" tIns="0" rIns="0" bIns="0" anchor="ctr">
            <a:normAutofit/>
          </a:bodyPr>
          <a:lstStyle/>
          <a:p>
            <a:pPr algn="l">
              <a:lnSpc>
                <a:spcPct val="115000"/>
              </a:lnSpc>
              <a:buNone/>
              <a:defRPr sz="1650" b="0">
                <a:solidFill>
                  <a:srgbClr val="13213A"/>
                </a:solidFill>
                <a:latin typeface="Aptos"/>
                <a:ea typeface="Aptos"/>
                <a:cs typeface="Aptos"/>
              </a:defRPr>
            </a:pPr>
            <a:r>
              <a:rPr sz="1650" b="0">
                <a:solidFill>
                  <a:srgbClr val="13213A"/>
                </a:solidFill>
                <a:latin typeface="Aptos"/>
                <a:ea typeface="Aptos"/>
                <a:cs typeface="Aptos"/>
              </a:rPr>
              <a:t>Gather</a:t>
            </a:r>
          </a:p>
          <a:p>
            <a:pPr algn="l">
              <a:lnSpc>
                <a:spcPct val="115000"/>
              </a:lnSpc>
              <a:buNone/>
              <a:defRPr sz="1650" b="0">
                <a:solidFill>
                  <a:srgbClr val="13213A"/>
                </a:solidFill>
                <a:latin typeface="Aptos"/>
                <a:ea typeface="Aptos"/>
                <a:cs typeface="Aptos"/>
              </a:defRPr>
            </a:pPr>
            <a:r>
              <a:rPr sz="1650" b="0">
                <a:solidFill>
                  <a:srgbClr val="13213A"/>
                </a:solidFill>
                <a:latin typeface="Aptos"/>
                <a:ea typeface="Aptos"/>
                <a:cs typeface="Aptos"/>
              </a:rPr>
              <a:t>Propose</a:t>
            </a:r>
          </a:p>
          <a:p>
            <a:pPr algn="l">
              <a:lnSpc>
                <a:spcPct val="115000"/>
              </a:lnSpc>
              <a:buNone/>
              <a:defRPr sz="1650" b="0">
                <a:solidFill>
                  <a:srgbClr val="13213A"/>
                </a:solidFill>
                <a:latin typeface="Aptos"/>
                <a:ea typeface="Aptos"/>
                <a:cs typeface="Aptos"/>
              </a:defRPr>
            </a:pPr>
            <a:r>
              <a:rPr sz="1650" b="0">
                <a:solidFill>
                  <a:srgbClr val="13213A"/>
                </a:solidFill>
                <a:latin typeface="Aptos"/>
                <a:ea typeface="Aptos"/>
                <a:cs typeface="Aptos"/>
              </a:rPr>
              <a:t>Compare</a:t>
            </a:r>
          </a:p>
          <a:p>
            <a:pPr algn="l">
              <a:lnSpc>
                <a:spcPct val="115000"/>
              </a:lnSpc>
              <a:buNone/>
              <a:defRPr sz="1650" b="0">
                <a:solidFill>
                  <a:srgbClr val="13213A"/>
                </a:solidFill>
                <a:latin typeface="Aptos"/>
                <a:ea typeface="Aptos"/>
                <a:cs typeface="Aptos"/>
              </a:defRPr>
            </a:pPr>
            <a:r>
              <a:rPr sz="1650" b="0">
                <a:solidFill>
                  <a:srgbClr val="13213A"/>
                </a:solidFill>
                <a:latin typeface="Aptos"/>
                <a:ea typeface="Aptos"/>
                <a:cs typeface="Aptos"/>
              </a:rPr>
              <a:t>Explain</a:t>
            </a:r>
          </a:p>
        </p:txBody>
      </p:sp>
      <p:sp>
        <p:nvSpPr>
          <p:cNvPr id="10" name="Rounded Rectangle 9">
            <a:extLst>
              <a:ext uri="{FF2B5EF4-FFF2-40B4-BE49-F238E27FC236}">
                <a16:creationId xmlns:a16="http://schemas.microsoft.com/office/drawing/2014/main" id="{B58CBC23-FEA1-457C-8923-0096A0B08741}"/>
              </a:ext>
            </a:extLst>
          </p:cNvPr>
          <p:cNvSpPr>
            <a:spLocks noGrp="1"/>
          </p:cNvSpPr>
          <p:nvPr/>
        </p:nvSpPr>
        <p:spPr>
          <a:xfrm>
            <a:off x="4381500" y="1943100"/>
            <a:ext cx="3429000" cy="3714750"/>
          </a:xfrm>
          <a:prstGeom prst="roundRect">
            <a:avLst>
              <a:gd name="adj" fmla="val 7222"/>
            </a:avLst>
          </a:prstGeom>
          <a:solidFill>
            <a:srgbClr val="F3C96B"/>
          </a:solidFill>
          <a:ln w="0">
            <a:noFill/>
            <a:prstDash val="solid"/>
          </a:ln>
        </p:spPr>
        <p:txBody>
          <a:bodyPr lIns="0" tIns="0" rIns="0" bIns="0"/>
          <a:lstStyle/>
          <a:p>
            <a:pPr>
              <a:defRPr sz="100">
                <a:solidFill>
                  <a:srgbClr val="F3C96B"/>
                </a:solidFill>
              </a:defRPr>
            </a:pPr>
            <a:r>
              <a:rPr sz="100">
                <a:solidFill>
                  <a:srgbClr val="F3C96B"/>
                </a:solidFill>
              </a:rPr>
              <a:t>​</a:t>
            </a:r>
          </a:p>
        </p:txBody>
      </p:sp>
      <p:sp>
        <p:nvSpPr>
          <p:cNvPr id="11" name="Rectangle 10">
            <a:extLst>
              <a:ext uri="{FF2B5EF4-FFF2-40B4-BE49-F238E27FC236}">
                <a16:creationId xmlns:a16="http://schemas.microsoft.com/office/drawing/2014/main" id="{A3095BA5-9D9B-4DD1-8AA0-CDF424BC2030}"/>
              </a:ext>
            </a:extLst>
          </p:cNvPr>
          <p:cNvSpPr>
            <a:spLocks noGrp="1"/>
          </p:cNvSpPr>
          <p:nvPr/>
        </p:nvSpPr>
        <p:spPr>
          <a:xfrm>
            <a:off x="4648200" y="2209800"/>
            <a:ext cx="2895600" cy="32385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13213A"/>
                </a:solidFill>
                <a:latin typeface="Aptos"/>
                <a:ea typeface="Aptos"/>
                <a:cs typeface="Aptos"/>
              </a:defRPr>
            </a:pPr>
            <a:r>
              <a:rPr sz="1200" b="1">
                <a:solidFill>
                  <a:srgbClr val="13213A"/>
                </a:solidFill>
                <a:latin typeface="Aptos"/>
                <a:ea typeface="Aptos"/>
                <a:cs typeface="Aptos"/>
              </a:rPr>
              <a:t>APP</a:t>
            </a:r>
          </a:p>
        </p:txBody>
      </p:sp>
      <p:sp>
        <p:nvSpPr>
          <p:cNvPr id="12" name="Rounded Rectangle 11">
            <a:extLst>
              <a:ext uri="{FF2B5EF4-FFF2-40B4-BE49-F238E27FC236}">
                <a16:creationId xmlns:a16="http://schemas.microsoft.com/office/drawing/2014/main" id="{74D5E5AA-5834-4851-9B80-CC8EC30FFC6F}"/>
              </a:ext>
            </a:extLst>
          </p:cNvPr>
          <p:cNvSpPr>
            <a:spLocks noGrp="1"/>
          </p:cNvSpPr>
          <p:nvPr/>
        </p:nvSpPr>
        <p:spPr>
          <a:xfrm>
            <a:off x="4648200" y="2781300"/>
            <a:ext cx="2895600" cy="514350"/>
          </a:xfrm>
          <a:prstGeom prst="roundRect">
            <a:avLst>
              <a:gd name="adj" fmla="val 50000"/>
            </a:avLst>
          </a:prstGeom>
          <a:noFill/>
          <a:ln w="0">
            <a:noFill/>
            <a:prstDash val="solid"/>
          </a:ln>
        </p:spPr>
        <p:txBody>
          <a:bodyPr wrap="square" lIns="0" tIns="0" rIns="0" bIns="0" anchor="ctr">
            <a:normAutofit/>
          </a:bodyPr>
          <a:lstStyle/>
          <a:p>
            <a:pPr algn="l">
              <a:lnSpc>
                <a:spcPct val="100000"/>
              </a:lnSpc>
              <a:buNone/>
              <a:defRPr sz="2250" b="1">
                <a:solidFill>
                  <a:srgbClr val="13213A"/>
                </a:solidFill>
              </a:defRPr>
            </a:pPr>
            <a:r>
              <a:rPr sz="2250" b="1">
                <a:solidFill>
                  <a:srgbClr val="13213A"/>
                </a:solidFill>
              </a:rPr>
              <a:t>CALCULATES</a:t>
            </a:r>
          </a:p>
        </p:txBody>
      </p:sp>
      <p:sp>
        <p:nvSpPr>
          <p:cNvPr id="13" name="Rectangle 12">
            <a:extLst>
              <a:ext uri="{FF2B5EF4-FFF2-40B4-BE49-F238E27FC236}">
                <a16:creationId xmlns:a16="http://schemas.microsoft.com/office/drawing/2014/main" id="{67996A32-0A7B-45E5-BA80-7058D82B14E4}"/>
              </a:ext>
            </a:extLst>
          </p:cNvPr>
          <p:cNvSpPr>
            <a:spLocks noGrp="1"/>
          </p:cNvSpPr>
          <p:nvPr/>
        </p:nvSpPr>
        <p:spPr>
          <a:xfrm>
            <a:off x="4648200" y="3619500"/>
            <a:ext cx="2895600" cy="1524000"/>
          </a:xfrm>
          <a:prstGeom prst="rect">
            <a:avLst/>
          </a:prstGeom>
          <a:noFill/>
          <a:ln w="0">
            <a:noFill/>
            <a:prstDash val="solid"/>
          </a:ln>
        </p:spPr>
        <p:txBody>
          <a:bodyPr wrap="square" lIns="0" tIns="0" rIns="0" bIns="0" anchor="ctr">
            <a:normAutofit/>
          </a:bodyPr>
          <a:lstStyle/>
          <a:p>
            <a:pPr algn="l">
              <a:lnSpc>
                <a:spcPct val="115000"/>
              </a:lnSpc>
              <a:buNone/>
              <a:defRPr sz="1650" b="0">
                <a:solidFill>
                  <a:srgbClr val="13213A"/>
                </a:solidFill>
                <a:latin typeface="Aptos"/>
                <a:ea typeface="Aptos"/>
                <a:cs typeface="Aptos"/>
              </a:defRPr>
            </a:pPr>
            <a:r>
              <a:rPr sz="1650" b="0">
                <a:solidFill>
                  <a:srgbClr val="13213A"/>
                </a:solidFill>
                <a:latin typeface="Aptos"/>
                <a:ea typeface="Aptos"/>
                <a:cs typeface="Aptos"/>
              </a:rPr>
              <a:t>Math</a:t>
            </a:r>
          </a:p>
          <a:p>
            <a:pPr algn="l">
              <a:lnSpc>
                <a:spcPct val="115000"/>
              </a:lnSpc>
              <a:buNone/>
              <a:defRPr sz="1650" b="0">
                <a:solidFill>
                  <a:srgbClr val="13213A"/>
                </a:solidFill>
                <a:latin typeface="Aptos"/>
                <a:ea typeface="Aptos"/>
                <a:cs typeface="Aptos"/>
              </a:defRPr>
            </a:pPr>
            <a:r>
              <a:rPr sz="1650" b="0">
                <a:solidFill>
                  <a:srgbClr val="13213A"/>
                </a:solidFill>
                <a:latin typeface="Aptos"/>
                <a:ea typeface="Aptos"/>
                <a:cs typeface="Aptos"/>
              </a:rPr>
              <a:t>Maps</a:t>
            </a:r>
          </a:p>
          <a:p>
            <a:pPr algn="l">
              <a:lnSpc>
                <a:spcPct val="115000"/>
              </a:lnSpc>
              <a:buNone/>
              <a:defRPr sz="1650" b="0">
                <a:solidFill>
                  <a:srgbClr val="13213A"/>
                </a:solidFill>
                <a:latin typeface="Aptos"/>
                <a:ea typeface="Aptos"/>
                <a:cs typeface="Aptos"/>
              </a:defRPr>
            </a:pPr>
            <a:r>
              <a:rPr sz="1650" b="0">
                <a:solidFill>
                  <a:srgbClr val="13213A"/>
                </a:solidFill>
                <a:latin typeface="Aptos"/>
                <a:ea typeface="Aptos"/>
                <a:cs typeface="Aptos"/>
              </a:rPr>
              <a:t>Rules</a:t>
            </a:r>
          </a:p>
          <a:p>
            <a:pPr algn="l">
              <a:lnSpc>
                <a:spcPct val="115000"/>
              </a:lnSpc>
              <a:buNone/>
              <a:defRPr sz="1650" b="0">
                <a:solidFill>
                  <a:srgbClr val="13213A"/>
                </a:solidFill>
                <a:latin typeface="Aptos"/>
                <a:ea typeface="Aptos"/>
                <a:cs typeface="Aptos"/>
              </a:defRPr>
            </a:pPr>
            <a:r>
              <a:rPr sz="1650" b="0">
                <a:solidFill>
                  <a:srgbClr val="13213A"/>
                </a:solidFill>
                <a:latin typeface="Aptos"/>
                <a:ea typeface="Aptos"/>
                <a:cs typeface="Aptos"/>
              </a:rPr>
              <a:t>Validation</a:t>
            </a:r>
          </a:p>
        </p:txBody>
      </p:sp>
      <p:sp>
        <p:nvSpPr>
          <p:cNvPr id="14" name="Rounded Rectangle 13">
            <a:extLst>
              <a:ext uri="{FF2B5EF4-FFF2-40B4-BE49-F238E27FC236}">
                <a16:creationId xmlns:a16="http://schemas.microsoft.com/office/drawing/2014/main" id="{BD51FE33-982C-4B09-AAAA-215F8B000B51}"/>
              </a:ext>
            </a:extLst>
          </p:cNvPr>
          <p:cNvSpPr>
            <a:spLocks noGrp="1"/>
          </p:cNvSpPr>
          <p:nvPr/>
        </p:nvSpPr>
        <p:spPr>
          <a:xfrm>
            <a:off x="8153400" y="1943100"/>
            <a:ext cx="3429000" cy="3714750"/>
          </a:xfrm>
          <a:prstGeom prst="roundRect">
            <a:avLst>
              <a:gd name="adj" fmla="val 7222"/>
            </a:avLst>
          </a:prstGeom>
          <a:solidFill>
            <a:srgbClr val="BFE9D0"/>
          </a:solidFill>
          <a:ln w="0">
            <a:noFill/>
            <a:prstDash val="solid"/>
          </a:ln>
        </p:spPr>
        <p:txBody>
          <a:bodyPr lIns="0" tIns="0" rIns="0" bIns="0"/>
          <a:lstStyle/>
          <a:p>
            <a:pPr>
              <a:defRPr sz="100">
                <a:solidFill>
                  <a:srgbClr val="BFE9D0"/>
                </a:solidFill>
              </a:defRPr>
            </a:pPr>
            <a:r>
              <a:rPr sz="100">
                <a:solidFill>
                  <a:srgbClr val="BFE9D0"/>
                </a:solidFill>
              </a:rPr>
              <a:t>​</a:t>
            </a:r>
          </a:p>
        </p:txBody>
      </p:sp>
      <p:sp>
        <p:nvSpPr>
          <p:cNvPr id="15" name="Rectangle 14">
            <a:extLst>
              <a:ext uri="{FF2B5EF4-FFF2-40B4-BE49-F238E27FC236}">
                <a16:creationId xmlns:a16="http://schemas.microsoft.com/office/drawing/2014/main" id="{08218163-EEE2-4AAF-8395-27F86BB050EE}"/>
              </a:ext>
            </a:extLst>
          </p:cNvPr>
          <p:cNvSpPr>
            <a:spLocks noGrp="1"/>
          </p:cNvSpPr>
          <p:nvPr/>
        </p:nvSpPr>
        <p:spPr>
          <a:xfrm>
            <a:off x="8420100" y="2209800"/>
            <a:ext cx="2895600" cy="32385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13213A"/>
                </a:solidFill>
                <a:latin typeface="Aptos"/>
                <a:ea typeface="Aptos"/>
                <a:cs typeface="Aptos"/>
              </a:defRPr>
            </a:pPr>
            <a:r>
              <a:rPr sz="1200" b="1">
                <a:solidFill>
                  <a:srgbClr val="13213A"/>
                </a:solidFill>
                <a:latin typeface="Aptos"/>
                <a:ea typeface="Aptos"/>
                <a:cs typeface="Aptos"/>
              </a:rPr>
              <a:t>ANALYST</a:t>
            </a:r>
          </a:p>
        </p:txBody>
      </p:sp>
      <p:sp>
        <p:nvSpPr>
          <p:cNvPr id="16" name="Rounded Rectangle 15">
            <a:extLst>
              <a:ext uri="{FF2B5EF4-FFF2-40B4-BE49-F238E27FC236}">
                <a16:creationId xmlns:a16="http://schemas.microsoft.com/office/drawing/2014/main" id="{3D83E843-1FCA-4A91-99F9-0DAA9863467F}"/>
              </a:ext>
            </a:extLst>
          </p:cNvPr>
          <p:cNvSpPr>
            <a:spLocks noGrp="1"/>
          </p:cNvSpPr>
          <p:nvPr/>
        </p:nvSpPr>
        <p:spPr>
          <a:xfrm>
            <a:off x="8420100" y="2781300"/>
            <a:ext cx="2895600" cy="514350"/>
          </a:xfrm>
          <a:prstGeom prst="roundRect">
            <a:avLst>
              <a:gd name="adj" fmla="val 50000"/>
            </a:avLst>
          </a:prstGeom>
          <a:noFill/>
          <a:ln w="0">
            <a:noFill/>
            <a:prstDash val="solid"/>
          </a:ln>
        </p:spPr>
        <p:txBody>
          <a:bodyPr wrap="square" lIns="0" tIns="0" rIns="0" bIns="0" anchor="ctr">
            <a:normAutofit/>
          </a:bodyPr>
          <a:lstStyle/>
          <a:p>
            <a:pPr algn="l">
              <a:lnSpc>
                <a:spcPct val="100000"/>
              </a:lnSpc>
              <a:buNone/>
              <a:defRPr sz="2250" b="1">
                <a:solidFill>
                  <a:srgbClr val="13213A"/>
                </a:solidFill>
              </a:defRPr>
            </a:pPr>
            <a:r>
              <a:rPr sz="2250" b="1">
                <a:solidFill>
                  <a:srgbClr val="13213A"/>
                </a:solidFill>
              </a:rPr>
              <a:t>DECIDES</a:t>
            </a:r>
          </a:p>
        </p:txBody>
      </p:sp>
      <p:sp>
        <p:nvSpPr>
          <p:cNvPr id="17" name="Rectangle 16">
            <a:extLst>
              <a:ext uri="{FF2B5EF4-FFF2-40B4-BE49-F238E27FC236}">
                <a16:creationId xmlns:a16="http://schemas.microsoft.com/office/drawing/2014/main" id="{0A44CA5E-92A0-4987-80CD-77A6EA2A0FAC}"/>
              </a:ext>
            </a:extLst>
          </p:cNvPr>
          <p:cNvSpPr>
            <a:spLocks noGrp="1"/>
          </p:cNvSpPr>
          <p:nvPr/>
        </p:nvSpPr>
        <p:spPr>
          <a:xfrm>
            <a:off x="8420100" y="3619500"/>
            <a:ext cx="2895600" cy="1524000"/>
          </a:xfrm>
          <a:prstGeom prst="rect">
            <a:avLst/>
          </a:prstGeom>
          <a:noFill/>
          <a:ln w="0">
            <a:noFill/>
            <a:prstDash val="solid"/>
          </a:ln>
        </p:spPr>
        <p:txBody>
          <a:bodyPr wrap="square" lIns="0" tIns="0" rIns="0" bIns="0" anchor="ctr">
            <a:normAutofit/>
          </a:bodyPr>
          <a:lstStyle/>
          <a:p>
            <a:pPr algn="l">
              <a:lnSpc>
                <a:spcPct val="115000"/>
              </a:lnSpc>
              <a:buNone/>
              <a:defRPr sz="1650" b="0">
                <a:solidFill>
                  <a:srgbClr val="13213A"/>
                </a:solidFill>
                <a:latin typeface="Aptos"/>
                <a:ea typeface="Aptos"/>
                <a:cs typeface="Aptos"/>
              </a:defRPr>
            </a:pPr>
            <a:r>
              <a:rPr sz="1650" b="0">
                <a:solidFill>
                  <a:srgbClr val="13213A"/>
                </a:solidFill>
                <a:latin typeface="Aptos"/>
                <a:ea typeface="Aptos"/>
                <a:cs typeface="Aptos"/>
              </a:rPr>
              <a:t>Confirm</a:t>
            </a:r>
          </a:p>
          <a:p>
            <a:pPr algn="l">
              <a:lnSpc>
                <a:spcPct val="115000"/>
              </a:lnSpc>
              <a:buNone/>
              <a:defRPr sz="1650" b="0">
                <a:solidFill>
                  <a:srgbClr val="13213A"/>
                </a:solidFill>
                <a:latin typeface="Aptos"/>
                <a:ea typeface="Aptos"/>
                <a:cs typeface="Aptos"/>
              </a:defRPr>
            </a:pPr>
            <a:r>
              <a:rPr sz="1650" b="0">
                <a:solidFill>
                  <a:srgbClr val="13213A"/>
                </a:solidFill>
                <a:latin typeface="Aptos"/>
                <a:ea typeface="Aptos"/>
                <a:cs typeface="Aptos"/>
              </a:rPr>
              <a:t>Challenge</a:t>
            </a:r>
          </a:p>
          <a:p>
            <a:pPr algn="l">
              <a:lnSpc>
                <a:spcPct val="115000"/>
              </a:lnSpc>
              <a:buNone/>
              <a:defRPr sz="1650" b="0">
                <a:solidFill>
                  <a:srgbClr val="13213A"/>
                </a:solidFill>
                <a:latin typeface="Aptos"/>
                <a:ea typeface="Aptos"/>
                <a:cs typeface="Aptos"/>
              </a:defRPr>
            </a:pPr>
            <a:r>
              <a:rPr sz="1650" b="0">
                <a:solidFill>
                  <a:srgbClr val="13213A"/>
                </a:solidFill>
                <a:latin typeface="Aptos"/>
                <a:ea typeface="Aptos"/>
                <a:cs typeface="Aptos"/>
              </a:rPr>
              <a:t>Approve</a:t>
            </a:r>
          </a:p>
          <a:p>
            <a:pPr algn="l">
              <a:lnSpc>
                <a:spcPct val="115000"/>
              </a:lnSpc>
              <a:buNone/>
              <a:defRPr sz="1650" b="0">
                <a:solidFill>
                  <a:srgbClr val="13213A"/>
                </a:solidFill>
                <a:latin typeface="Aptos"/>
                <a:ea typeface="Aptos"/>
                <a:cs typeface="Aptos"/>
              </a:defRPr>
            </a:pPr>
            <a:r>
              <a:rPr sz="1650" b="0">
                <a:solidFill>
                  <a:srgbClr val="13213A"/>
                </a:solidFill>
                <a:latin typeface="Aptos"/>
                <a:ea typeface="Aptos"/>
                <a:cs typeface="Aptos"/>
              </a:rPr>
              <a:t>Act</a:t>
            </a:r>
          </a:p>
        </p:txBody>
      </p:sp>
      <p:sp>
        <p:nvSpPr>
          <p:cNvPr id="18" name="Rounded Rectangle 17">
            <a:extLst>
              <a:ext uri="{FF2B5EF4-FFF2-40B4-BE49-F238E27FC236}">
                <a16:creationId xmlns:a16="http://schemas.microsoft.com/office/drawing/2014/main" id="{B40C23B3-69BB-4F33-9CDC-FAA313CEDF81}"/>
              </a:ext>
            </a:extLst>
          </p:cNvPr>
          <p:cNvSpPr>
            <a:spLocks noGrp="1"/>
          </p:cNvSpPr>
          <p:nvPr/>
        </p:nvSpPr>
        <p:spPr>
          <a:xfrm>
            <a:off x="38100" y="38100"/>
            <a:ext cx="9525" cy="9525"/>
          </a:xfrm>
          <a:prstGeom prst="roundRect">
            <a:avLst>
              <a:gd name="adj" fmla="val 4878"/>
            </a:avLst>
          </a:prstGeom>
          <a:noFill/>
          <a:ln w="0">
            <a:noFill/>
            <a:prstDash val="solid"/>
          </a:ln>
        </p:spPr>
        <p:txBody>
          <a:bodyPr/>
          <a:lstStyle/>
          <a:p>
            <a:endParaRPr/>
          </a:p>
        </p:txBody>
      </p:sp>
      <p:sp>
        <p:nvSpPr>
          <p:cNvPr id="19" name="Rectangle 18">
            <a:extLst>
              <a:ext uri="{FF2B5EF4-FFF2-40B4-BE49-F238E27FC236}">
                <a16:creationId xmlns:a16="http://schemas.microsoft.com/office/drawing/2014/main" id="{D36732E0-00C5-4477-AD0C-A9FAF35969CF}"/>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l">
              <a:buNone/>
              <a:defRPr sz="1200" b="1">
                <a:solidFill>
                  <a:srgbClr val="9A4040"/>
                </a:solidFill>
                <a:latin typeface="Aptos"/>
                <a:ea typeface="Aptos"/>
                <a:cs typeface="Aptos"/>
              </a:defRPr>
            </a:pPr>
            <a:endParaRPr/>
          </a:p>
        </p:txBody>
      </p:sp>
      <p:sp>
        <p:nvSpPr>
          <p:cNvPr id="20" name="Rounded Rectangle 19">
            <a:extLst>
              <a:ext uri="{FF2B5EF4-FFF2-40B4-BE49-F238E27FC236}">
                <a16:creationId xmlns:a16="http://schemas.microsoft.com/office/drawing/2014/main" id="{4DB22BA3-359E-4926-9801-EB4CE395C7AD}"/>
              </a:ext>
            </a:extLst>
          </p:cNvPr>
          <p:cNvSpPr>
            <a:spLocks noGrp="1"/>
          </p:cNvSpPr>
          <p:nvPr/>
        </p:nvSpPr>
        <p:spPr>
          <a:xfrm>
            <a:off x="38100" y="38100"/>
            <a:ext cx="9525" cy="9525"/>
          </a:xfrm>
          <a:prstGeom prst="roundRect">
            <a:avLst>
              <a:gd name="adj" fmla="val 50000"/>
            </a:avLst>
          </a:prstGeom>
          <a:noFill/>
          <a:ln w="0">
            <a:noFill/>
            <a:prstDash val="solid"/>
          </a:ln>
        </p:spPr>
        <p:txBody>
          <a:bodyPr/>
          <a:lstStyle/>
          <a:p>
            <a:endParaRPr/>
          </a:p>
        </p:txBody>
      </p:sp>
      <p:sp>
        <p:nvSpPr>
          <p:cNvPr id="21" name="Rectangle 20">
            <a:extLst>
              <a:ext uri="{FF2B5EF4-FFF2-40B4-BE49-F238E27FC236}">
                <a16:creationId xmlns:a16="http://schemas.microsoft.com/office/drawing/2014/main" id="{D92DD26A-DD4D-4670-B032-9698786DA2D9}"/>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l">
              <a:buNone/>
              <a:defRPr sz="1575" b="0">
                <a:solidFill>
                  <a:srgbClr val="39455A"/>
                </a:solidFill>
                <a:latin typeface="Aptos"/>
                <a:ea typeface="Aptos"/>
                <a:cs typeface="Aptos"/>
              </a:defRPr>
            </a:pPr>
            <a:endParaRPr/>
          </a:p>
        </p:txBody>
      </p:sp>
      <p:sp>
        <p:nvSpPr>
          <p:cNvPr id="22" name="Rounded Rectangle 21">
            <a:extLst>
              <a:ext uri="{FF2B5EF4-FFF2-40B4-BE49-F238E27FC236}">
                <a16:creationId xmlns:a16="http://schemas.microsoft.com/office/drawing/2014/main" id="{0D3A0BFF-4EB4-4A66-8DF3-6FAE8D521BC1}"/>
              </a:ext>
            </a:extLst>
          </p:cNvPr>
          <p:cNvSpPr>
            <a:spLocks noGrp="1"/>
          </p:cNvSpPr>
          <p:nvPr/>
        </p:nvSpPr>
        <p:spPr>
          <a:xfrm>
            <a:off x="38100" y="38100"/>
            <a:ext cx="9525" cy="9525"/>
          </a:xfrm>
          <a:prstGeom prst="roundRect">
            <a:avLst>
              <a:gd name="adj" fmla="val 50000"/>
            </a:avLst>
          </a:prstGeom>
          <a:noFill/>
          <a:ln w="0">
            <a:noFill/>
            <a:prstDash val="solid"/>
          </a:ln>
        </p:spPr>
        <p:txBody>
          <a:bodyPr/>
          <a:lstStyle/>
          <a:p>
            <a:endParaRPr/>
          </a:p>
        </p:txBody>
      </p:sp>
      <p:sp>
        <p:nvSpPr>
          <p:cNvPr id="23" name="Rectangle 22">
            <a:extLst>
              <a:ext uri="{FF2B5EF4-FFF2-40B4-BE49-F238E27FC236}">
                <a16:creationId xmlns:a16="http://schemas.microsoft.com/office/drawing/2014/main" id="{3DDE3E8D-1651-4DB2-BE76-384C2A3FB8FE}"/>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l">
              <a:buNone/>
              <a:defRPr sz="1575" b="0">
                <a:solidFill>
                  <a:srgbClr val="39455A"/>
                </a:solidFill>
                <a:latin typeface="Aptos"/>
                <a:ea typeface="Aptos"/>
                <a:cs typeface="Aptos"/>
              </a:defRPr>
            </a:pPr>
            <a:endParaRPr/>
          </a:p>
        </p:txBody>
      </p:sp>
      <p:sp>
        <p:nvSpPr>
          <p:cNvPr id="24" name="Rounded Rectangle 23">
            <a:extLst>
              <a:ext uri="{FF2B5EF4-FFF2-40B4-BE49-F238E27FC236}">
                <a16:creationId xmlns:a16="http://schemas.microsoft.com/office/drawing/2014/main" id="{3F994320-4646-461C-A1F0-B730EBD9F029}"/>
              </a:ext>
            </a:extLst>
          </p:cNvPr>
          <p:cNvSpPr>
            <a:spLocks noGrp="1"/>
          </p:cNvSpPr>
          <p:nvPr/>
        </p:nvSpPr>
        <p:spPr>
          <a:xfrm>
            <a:off x="38100" y="38100"/>
            <a:ext cx="9525" cy="9525"/>
          </a:xfrm>
          <a:prstGeom prst="roundRect">
            <a:avLst>
              <a:gd name="adj" fmla="val 50000"/>
            </a:avLst>
          </a:prstGeom>
          <a:noFill/>
          <a:ln w="0">
            <a:noFill/>
            <a:prstDash val="solid"/>
          </a:ln>
        </p:spPr>
        <p:txBody>
          <a:bodyPr/>
          <a:lstStyle/>
          <a:p>
            <a:endParaRPr/>
          </a:p>
        </p:txBody>
      </p:sp>
      <p:sp>
        <p:nvSpPr>
          <p:cNvPr id="25" name="Rectangle 24">
            <a:extLst>
              <a:ext uri="{FF2B5EF4-FFF2-40B4-BE49-F238E27FC236}">
                <a16:creationId xmlns:a16="http://schemas.microsoft.com/office/drawing/2014/main" id="{2BE12DE1-4135-43B1-863D-ECB911F06A21}"/>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l">
              <a:buNone/>
              <a:defRPr sz="1575" b="0">
                <a:solidFill>
                  <a:srgbClr val="39455A"/>
                </a:solidFill>
                <a:latin typeface="Aptos"/>
                <a:ea typeface="Aptos"/>
                <a:cs typeface="Aptos"/>
              </a:defRPr>
            </a:pPr>
            <a:endParaRPr/>
          </a:p>
        </p:txBody>
      </p:sp>
      <p:sp>
        <p:nvSpPr>
          <p:cNvPr id="26" name="Rounded Rectangle 25">
            <a:extLst>
              <a:ext uri="{FF2B5EF4-FFF2-40B4-BE49-F238E27FC236}">
                <a16:creationId xmlns:a16="http://schemas.microsoft.com/office/drawing/2014/main" id="{6DCA29BC-0A2E-4B63-9F24-82AFCE10E4DE}"/>
              </a:ext>
            </a:extLst>
          </p:cNvPr>
          <p:cNvSpPr>
            <a:spLocks noGrp="1"/>
          </p:cNvSpPr>
          <p:nvPr/>
        </p:nvSpPr>
        <p:spPr>
          <a:xfrm>
            <a:off x="38100" y="38100"/>
            <a:ext cx="9525" cy="9525"/>
          </a:xfrm>
          <a:prstGeom prst="roundRect">
            <a:avLst>
              <a:gd name="adj" fmla="val 50000"/>
            </a:avLst>
          </a:prstGeom>
          <a:noFill/>
          <a:ln w="0">
            <a:noFill/>
            <a:prstDash val="solid"/>
          </a:ln>
        </p:spPr>
        <p:txBody>
          <a:bodyPr/>
          <a:lstStyle/>
          <a:p>
            <a:endParaRPr/>
          </a:p>
        </p:txBody>
      </p:sp>
      <p:sp>
        <p:nvSpPr>
          <p:cNvPr id="27" name="Rectangle 26">
            <a:extLst>
              <a:ext uri="{FF2B5EF4-FFF2-40B4-BE49-F238E27FC236}">
                <a16:creationId xmlns:a16="http://schemas.microsoft.com/office/drawing/2014/main" id="{AC9E8F3C-74F6-44EA-8F23-6CC6F4C9094D}"/>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l">
              <a:buNone/>
              <a:defRPr sz="1575" b="0">
                <a:solidFill>
                  <a:srgbClr val="39455A"/>
                </a:solidFill>
                <a:latin typeface="Aptos"/>
                <a:ea typeface="Aptos"/>
                <a:cs typeface="Aptos"/>
              </a:defRPr>
            </a:pPr>
            <a:endParaRPr/>
          </a:p>
        </p:txBody>
      </p:sp>
      <p:sp>
        <p:nvSpPr>
          <p:cNvPr id="28" name="Rounded Rectangle 27">
            <a:extLst>
              <a:ext uri="{FF2B5EF4-FFF2-40B4-BE49-F238E27FC236}">
                <a16:creationId xmlns:a16="http://schemas.microsoft.com/office/drawing/2014/main" id="{19A15A14-59C0-4BD1-ABBB-90C10B926DF0}"/>
              </a:ext>
            </a:extLst>
          </p:cNvPr>
          <p:cNvSpPr>
            <a:spLocks noGrp="1"/>
          </p:cNvSpPr>
          <p:nvPr/>
        </p:nvSpPr>
        <p:spPr>
          <a:xfrm>
            <a:off x="38100" y="38100"/>
            <a:ext cx="9525" cy="9525"/>
          </a:xfrm>
          <a:prstGeom prst="roundRect">
            <a:avLst>
              <a:gd name="adj" fmla="val 50000"/>
            </a:avLst>
          </a:prstGeom>
          <a:noFill/>
          <a:ln w="0">
            <a:noFill/>
            <a:prstDash val="solid"/>
          </a:ln>
        </p:spPr>
        <p:txBody>
          <a:bodyPr/>
          <a:lstStyle/>
          <a:p>
            <a:endParaRPr/>
          </a:p>
        </p:txBody>
      </p:sp>
      <p:sp>
        <p:nvSpPr>
          <p:cNvPr id="29" name="Rectangle 28">
            <a:extLst>
              <a:ext uri="{FF2B5EF4-FFF2-40B4-BE49-F238E27FC236}">
                <a16:creationId xmlns:a16="http://schemas.microsoft.com/office/drawing/2014/main" id="{AB848032-1101-42BC-A652-A58FE77CED8C}"/>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l">
              <a:buNone/>
              <a:defRPr sz="1575" b="0">
                <a:solidFill>
                  <a:srgbClr val="39455A"/>
                </a:solidFill>
                <a:latin typeface="Aptos"/>
                <a:ea typeface="Aptos"/>
                <a:cs typeface="Aptos"/>
              </a:defRPr>
            </a:pPr>
            <a:endParaRPr/>
          </a:p>
        </p:txBody>
      </p:sp>
    </p:spTree>
    <p:extLst>
      <p:ext uri="{BB962C8B-B14F-4D97-AF65-F5344CB8AC3E}">
        <p14:creationId xmlns:p14="http://schemas.microsoft.com/office/powerpoint/2010/main" val="4872816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CD123C35-CA7A-4346-AB97-EBAF20C31050}"/>
              </a:ext>
            </a:extLst>
          </p:cNvPr>
          <p:cNvSpPr>
            <a:spLocks noGrp="1"/>
          </p:cNvSpPr>
          <p:nvPr/>
        </p:nvSpPr>
        <p:spPr>
          <a:xfrm>
            <a:off x="609600" y="323850"/>
            <a:ext cx="5334000" cy="247650"/>
          </a:xfrm>
          <a:prstGeom prst="rect">
            <a:avLst/>
          </a:prstGeom>
          <a:noFill/>
          <a:ln w="0">
            <a:noFill/>
            <a:prstDash val="solid"/>
          </a:ln>
        </p:spPr>
        <p:txBody>
          <a:bodyPr wrap="square" lIns="0" tIns="0" rIns="0" bIns="0" anchor="ctr">
            <a:normAutofit/>
          </a:bodyPr>
          <a:lstStyle/>
          <a:p>
            <a:pPr algn="l">
              <a:lnSpc>
                <a:spcPct val="100000"/>
              </a:lnSpc>
              <a:buNone/>
              <a:defRPr sz="1125" b="1">
                <a:solidFill>
                  <a:srgbClr val="2D5BFF"/>
                </a:solidFill>
                <a:latin typeface="Aptos"/>
                <a:ea typeface="Aptos"/>
                <a:cs typeface="Aptos"/>
              </a:defRPr>
            </a:pPr>
            <a:r>
              <a:rPr sz="1125" b="1">
                <a:solidFill>
                  <a:srgbClr val="2D5BFF"/>
                </a:solidFill>
                <a:latin typeface="Aptos"/>
                <a:ea typeface="Aptos"/>
                <a:cs typeface="Aptos"/>
              </a:rPr>
              <a:t>BEFORE AND AFTER</a:t>
            </a:r>
          </a:p>
        </p:txBody>
      </p:sp>
      <p:sp>
        <p:nvSpPr>
          <p:cNvPr id="2" name="Rectangle 1">
            <a:extLst>
              <a:ext uri="{FF2B5EF4-FFF2-40B4-BE49-F238E27FC236}">
                <a16:creationId xmlns:a16="http://schemas.microsoft.com/office/drawing/2014/main" id="{36C8429C-DFCA-437D-B13A-F4ABF1840A4B}"/>
              </a:ext>
            </a:extLst>
          </p:cNvPr>
          <p:cNvSpPr>
            <a:spLocks noGrp="1"/>
          </p:cNvSpPr>
          <p:nvPr/>
        </p:nvSpPr>
        <p:spPr>
          <a:xfrm>
            <a:off x="609600" y="723900"/>
            <a:ext cx="10001250" cy="685800"/>
          </a:xfrm>
          <a:prstGeom prst="rect">
            <a:avLst/>
          </a:prstGeom>
          <a:noFill/>
          <a:ln w="0">
            <a:noFill/>
            <a:prstDash val="solid"/>
          </a:ln>
        </p:spPr>
        <p:txBody>
          <a:bodyPr wrap="square" lIns="0" tIns="0" rIns="0" bIns="0" anchor="ctr">
            <a:normAutofit/>
          </a:bodyPr>
          <a:lstStyle/>
          <a:p>
            <a:pPr algn="l">
              <a:lnSpc>
                <a:spcPct val="100000"/>
              </a:lnSpc>
              <a:buNone/>
              <a:defRPr sz="3300" b="1">
                <a:solidFill>
                  <a:srgbClr val="13213A"/>
                </a:solidFill>
                <a:latin typeface="Aptos"/>
                <a:ea typeface="Aptos"/>
                <a:cs typeface="Aptos"/>
              </a:defRPr>
            </a:pPr>
            <a:r>
              <a:rPr sz="3300" b="1">
                <a:solidFill>
                  <a:srgbClr val="13213A"/>
                </a:solidFill>
                <a:latin typeface="Aptos"/>
                <a:ea typeface="Aptos"/>
                <a:cs typeface="Aptos"/>
              </a:rPr>
              <a:t>Turn handoffs into one decision trace</a:t>
            </a:r>
          </a:p>
        </p:txBody>
      </p:sp>
      <p:sp>
        <p:nvSpPr>
          <p:cNvPr id="3" name="Rectangle 2">
            <a:extLst>
              <a:ext uri="{FF2B5EF4-FFF2-40B4-BE49-F238E27FC236}">
                <a16:creationId xmlns:a16="http://schemas.microsoft.com/office/drawing/2014/main" id="{7962740E-3D83-4F82-BCBC-E4182F5F4B50}"/>
              </a:ext>
            </a:extLst>
          </p:cNvPr>
          <p:cNvSpPr>
            <a:spLocks noGrp="1"/>
          </p:cNvSpPr>
          <p:nvPr/>
        </p:nvSpPr>
        <p:spPr>
          <a:xfrm>
            <a:off x="609600" y="6419850"/>
            <a:ext cx="10972800" cy="19050"/>
          </a:xfrm>
          <a:prstGeom prst="rect">
            <a:avLst/>
          </a:prstGeom>
          <a:solidFill>
            <a:srgbClr val="D6DCE7"/>
          </a:solidFill>
          <a:ln w="0">
            <a:noFill/>
            <a:prstDash val="solid"/>
          </a:ln>
        </p:spPr>
        <p:txBody>
          <a:bodyPr lIns="0" tIns="0" rIns="0" bIns="0"/>
          <a:lstStyle/>
          <a:p>
            <a:pPr>
              <a:defRPr sz="100">
                <a:solidFill>
                  <a:srgbClr val="D6DCE7"/>
                </a:solidFill>
              </a:defRPr>
            </a:pPr>
            <a:r>
              <a:rPr sz="100">
                <a:solidFill>
                  <a:srgbClr val="D6DCE7"/>
                </a:solidFill>
              </a:rPr>
              <a:t>​</a:t>
            </a:r>
          </a:p>
        </p:txBody>
      </p:sp>
      <p:sp>
        <p:nvSpPr>
          <p:cNvPr id="4" name="Rectangle 3">
            <a:extLst>
              <a:ext uri="{FF2B5EF4-FFF2-40B4-BE49-F238E27FC236}">
                <a16:creationId xmlns:a16="http://schemas.microsoft.com/office/drawing/2014/main" id="{B1318562-918A-47C9-8C07-AB4D7E4F1E21}"/>
              </a:ext>
            </a:extLst>
          </p:cNvPr>
          <p:cNvSpPr>
            <a:spLocks noGrp="1"/>
          </p:cNvSpPr>
          <p:nvPr/>
        </p:nvSpPr>
        <p:spPr>
          <a:xfrm>
            <a:off x="609600" y="6515100"/>
            <a:ext cx="9334500" cy="171450"/>
          </a:xfrm>
          <a:prstGeom prst="rect">
            <a:avLst/>
          </a:prstGeom>
          <a:noFill/>
          <a:ln w="0">
            <a:noFill/>
            <a:prstDash val="solid"/>
          </a:ln>
        </p:spPr>
        <p:txBody>
          <a:bodyPr wrap="square" lIns="0" tIns="0" rIns="0" bIns="0" anchor="ctr">
            <a:normAutofit/>
          </a:bodyPr>
          <a:lstStyle/>
          <a:p>
            <a:pPr algn="l">
              <a:lnSpc>
                <a:spcPct val="100000"/>
              </a:lnSpc>
              <a:buNone/>
              <a:defRPr sz="900" b="0">
                <a:solidFill>
                  <a:srgbClr val="667085"/>
                </a:solidFill>
                <a:latin typeface="Aptos"/>
                <a:ea typeface="Aptos"/>
                <a:cs typeface="Aptos"/>
              </a:defRPr>
            </a:pPr>
            <a:r>
              <a:rPr sz="900" b="0">
                <a:solidFill>
                  <a:srgbClr val="667085"/>
                </a:solidFill>
                <a:latin typeface="Aptos"/>
                <a:ea typeface="Aptos"/>
                <a:cs typeface="Aptos"/>
              </a:rPr>
              <a:t>See what happened, why it happened, and what remains</a:t>
            </a:r>
          </a:p>
        </p:txBody>
      </p:sp>
      <p:sp>
        <p:nvSpPr>
          <p:cNvPr id="5" name="Rectangle 4">
            <a:extLst>
              <a:ext uri="{FF2B5EF4-FFF2-40B4-BE49-F238E27FC236}">
                <a16:creationId xmlns:a16="http://schemas.microsoft.com/office/drawing/2014/main" id="{2DAA3926-EB77-4942-BFB3-31145C4E35DD}"/>
              </a:ext>
            </a:extLst>
          </p:cNvPr>
          <p:cNvSpPr>
            <a:spLocks noGrp="1"/>
          </p:cNvSpPr>
          <p:nvPr/>
        </p:nvSpPr>
        <p:spPr>
          <a:xfrm>
            <a:off x="10953750" y="6515100"/>
            <a:ext cx="628650" cy="171450"/>
          </a:xfrm>
          <a:prstGeom prst="rect">
            <a:avLst/>
          </a:prstGeom>
          <a:noFill/>
          <a:ln w="0">
            <a:noFill/>
            <a:prstDash val="solid"/>
          </a:ln>
        </p:spPr>
        <p:txBody>
          <a:bodyPr wrap="square" lIns="0" tIns="0" rIns="0" bIns="0" anchor="ctr">
            <a:normAutofit/>
          </a:bodyPr>
          <a:lstStyle/>
          <a:p>
            <a:pPr algn="r">
              <a:lnSpc>
                <a:spcPct val="100000"/>
              </a:lnSpc>
              <a:buNone/>
              <a:defRPr sz="900" b="1">
                <a:solidFill>
                  <a:srgbClr val="13213A"/>
                </a:solidFill>
                <a:latin typeface="Aptos"/>
                <a:ea typeface="Aptos"/>
                <a:cs typeface="Aptos"/>
              </a:defRPr>
            </a:pPr>
            <a:r>
              <a:rPr sz="900" b="1">
                <a:solidFill>
                  <a:srgbClr val="13213A"/>
                </a:solidFill>
                <a:latin typeface="Aptos"/>
                <a:ea typeface="Aptos"/>
                <a:cs typeface="Aptos"/>
              </a:rPr>
              <a:t>13</a:t>
            </a:r>
          </a:p>
        </p:txBody>
      </p:sp>
      <p:sp>
        <p:nvSpPr>
          <p:cNvPr id="6" name="Rectangle 5">
            <a:extLst>
              <a:ext uri="{FF2B5EF4-FFF2-40B4-BE49-F238E27FC236}">
                <a16:creationId xmlns:a16="http://schemas.microsoft.com/office/drawing/2014/main" id="{BE24006A-B13E-408A-8166-2804DC4F81BB}"/>
              </a:ext>
            </a:extLst>
          </p:cNvPr>
          <p:cNvSpPr>
            <a:spLocks noGrp="1"/>
          </p:cNvSpPr>
          <p:nvPr/>
        </p:nvSpPr>
        <p:spPr>
          <a:xfrm>
            <a:off x="609600" y="1809750"/>
            <a:ext cx="4000500" cy="28575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FF8A73"/>
                </a:solidFill>
                <a:latin typeface="Aptos"/>
                <a:ea typeface="Aptos"/>
                <a:cs typeface="Aptos"/>
              </a:defRPr>
            </a:pPr>
            <a:r>
              <a:rPr sz="1200" b="1">
                <a:solidFill>
                  <a:srgbClr val="FF8A73"/>
                </a:solidFill>
                <a:latin typeface="Aptos"/>
                <a:ea typeface="Aptos"/>
                <a:cs typeface="Aptos"/>
              </a:rPr>
              <a:t>TODAY</a:t>
            </a:r>
          </a:p>
        </p:txBody>
      </p:sp>
      <p:sp>
        <p:nvSpPr>
          <p:cNvPr id="7" name="Rounded Rectangle 6">
            <a:extLst>
              <a:ext uri="{FF2B5EF4-FFF2-40B4-BE49-F238E27FC236}">
                <a16:creationId xmlns:a16="http://schemas.microsoft.com/office/drawing/2014/main" id="{9E73ACEB-5F59-456E-AE2D-A69CF8DCB931}"/>
              </a:ext>
            </a:extLst>
          </p:cNvPr>
          <p:cNvSpPr>
            <a:spLocks noGrp="1"/>
          </p:cNvSpPr>
          <p:nvPr/>
        </p:nvSpPr>
        <p:spPr>
          <a:xfrm>
            <a:off x="609600" y="2381250"/>
            <a:ext cx="3714750" cy="685800"/>
          </a:xfrm>
          <a:prstGeom prst="roundRect">
            <a:avLst>
              <a:gd name="adj" fmla="val 22222"/>
            </a:avLst>
          </a:prstGeom>
          <a:solidFill>
            <a:srgbClr val="E8EDF5"/>
          </a:solidFill>
          <a:ln w="0">
            <a:noFill/>
            <a:prstDash val="solid"/>
          </a:ln>
        </p:spPr>
        <p:txBody>
          <a:bodyPr lIns="0" tIns="0" rIns="0" bIns="0" anchor="t">
            <a:normAutofit/>
          </a:bodyPr>
          <a:lstStyle/>
          <a:p>
            <a:pPr algn="l">
              <a:buNone/>
              <a:defRPr sz="100" b="1">
                <a:solidFill>
                  <a:srgbClr val="E8EDF5"/>
                </a:solidFill>
                <a:latin typeface="Aptos"/>
                <a:ea typeface="Aptos"/>
                <a:cs typeface="Aptos"/>
              </a:defRPr>
            </a:pPr>
            <a:r>
              <a:rPr sz="100" b="1">
                <a:solidFill>
                  <a:srgbClr val="E8EDF5"/>
                </a:solidFill>
                <a:latin typeface="Aptos"/>
                <a:ea typeface="Aptos"/>
                <a:cs typeface="Aptos"/>
              </a:rPr>
              <a:t>​</a:t>
            </a:r>
          </a:p>
        </p:txBody>
      </p:sp>
      <p:sp>
        <p:nvSpPr>
          <p:cNvPr id="8" name="Rounded Rectangle 7">
            <a:extLst>
              <a:ext uri="{FF2B5EF4-FFF2-40B4-BE49-F238E27FC236}">
                <a16:creationId xmlns:a16="http://schemas.microsoft.com/office/drawing/2014/main" id="{714EE83A-03C7-47F1-9AB8-2C41456ABF03}"/>
              </a:ext>
            </a:extLst>
          </p:cNvPr>
          <p:cNvSpPr>
            <a:spLocks noGrp="1"/>
          </p:cNvSpPr>
          <p:nvPr/>
        </p:nvSpPr>
        <p:spPr>
          <a:xfrm>
            <a:off x="838200" y="2381250"/>
            <a:ext cx="3257550" cy="685800"/>
          </a:xfrm>
          <a:prstGeom prst="roundRect">
            <a:avLst>
              <a:gd name="adj" fmla="val 20690"/>
            </a:avLst>
          </a:prstGeom>
          <a:noFill/>
          <a:ln w="0">
            <a:noFill/>
            <a:prstDash val="solid"/>
          </a:ln>
        </p:spPr>
        <p:txBody>
          <a:bodyPr wrap="square" lIns="0" tIns="0" rIns="0" bIns="0" anchor="ctr">
            <a:normAutofit/>
          </a:bodyPr>
          <a:lstStyle/>
          <a:p>
            <a:pPr algn="l">
              <a:lnSpc>
                <a:spcPct val="100000"/>
              </a:lnSpc>
              <a:buNone/>
              <a:defRPr sz="1650" b="1">
                <a:solidFill>
                  <a:srgbClr val="13213A"/>
                </a:solidFill>
              </a:defRPr>
            </a:pPr>
            <a:r>
              <a:rPr sz="1650" b="1">
                <a:solidFill>
                  <a:srgbClr val="13213A"/>
                </a:solidFill>
              </a:rPr>
              <a:t>Market analysis</a:t>
            </a:r>
          </a:p>
        </p:txBody>
      </p:sp>
      <p:sp>
        <p:nvSpPr>
          <p:cNvPr id="9" name="Rounded Rectangle 8">
            <a:extLst>
              <a:ext uri="{FF2B5EF4-FFF2-40B4-BE49-F238E27FC236}">
                <a16:creationId xmlns:a16="http://schemas.microsoft.com/office/drawing/2014/main" id="{25F9FF14-8975-4ECB-81B1-4A224D68FC7A}"/>
              </a:ext>
            </a:extLst>
          </p:cNvPr>
          <p:cNvSpPr>
            <a:spLocks noGrp="1"/>
          </p:cNvSpPr>
          <p:nvPr/>
        </p:nvSpPr>
        <p:spPr>
          <a:xfrm>
            <a:off x="1181100" y="3390900"/>
            <a:ext cx="3714750" cy="685800"/>
          </a:xfrm>
          <a:prstGeom prst="roundRect">
            <a:avLst>
              <a:gd name="adj" fmla="val 22222"/>
            </a:avLst>
          </a:prstGeom>
          <a:solidFill>
            <a:srgbClr val="E8EDF5"/>
          </a:solidFill>
          <a:ln w="0">
            <a:noFill/>
            <a:prstDash val="solid"/>
          </a:ln>
        </p:spPr>
        <p:txBody>
          <a:bodyPr lIns="0" tIns="0" rIns="0" bIns="0" anchor="t">
            <a:normAutofit/>
          </a:bodyPr>
          <a:lstStyle/>
          <a:p>
            <a:pPr algn="l">
              <a:buNone/>
              <a:defRPr sz="100" b="0">
                <a:solidFill>
                  <a:srgbClr val="E8EDF5"/>
                </a:solidFill>
                <a:latin typeface="Aptos"/>
                <a:ea typeface="Aptos"/>
                <a:cs typeface="Aptos"/>
              </a:defRPr>
            </a:pPr>
            <a:r>
              <a:rPr sz="100" b="0">
                <a:solidFill>
                  <a:srgbClr val="E8EDF5"/>
                </a:solidFill>
                <a:latin typeface="Aptos"/>
                <a:ea typeface="Aptos"/>
                <a:cs typeface="Aptos"/>
              </a:rPr>
              <a:t>​</a:t>
            </a:r>
          </a:p>
        </p:txBody>
      </p:sp>
      <p:sp>
        <p:nvSpPr>
          <p:cNvPr id="10" name="Rounded Rectangle 9">
            <a:extLst>
              <a:ext uri="{FF2B5EF4-FFF2-40B4-BE49-F238E27FC236}">
                <a16:creationId xmlns:a16="http://schemas.microsoft.com/office/drawing/2014/main" id="{EAEFAB8D-DDE8-4EAE-AAFC-6EE4F53DFE36}"/>
              </a:ext>
            </a:extLst>
          </p:cNvPr>
          <p:cNvSpPr>
            <a:spLocks noGrp="1"/>
          </p:cNvSpPr>
          <p:nvPr/>
        </p:nvSpPr>
        <p:spPr>
          <a:xfrm>
            <a:off x="1409700" y="3390900"/>
            <a:ext cx="3257550" cy="685800"/>
          </a:xfrm>
          <a:prstGeom prst="roundRect">
            <a:avLst>
              <a:gd name="adj" fmla="val 20690"/>
            </a:avLst>
          </a:prstGeom>
          <a:noFill/>
          <a:ln w="0">
            <a:noFill/>
            <a:prstDash val="solid"/>
          </a:ln>
        </p:spPr>
        <p:txBody>
          <a:bodyPr wrap="square" lIns="0" tIns="0" rIns="0" bIns="0" anchor="ctr">
            <a:normAutofit/>
          </a:bodyPr>
          <a:lstStyle/>
          <a:p>
            <a:pPr algn="l">
              <a:lnSpc>
                <a:spcPct val="100000"/>
              </a:lnSpc>
              <a:buNone/>
              <a:defRPr sz="1650" b="1">
                <a:solidFill>
                  <a:srgbClr val="13213A"/>
                </a:solidFill>
              </a:defRPr>
            </a:pPr>
            <a:r>
              <a:rPr sz="1650" b="1">
                <a:solidFill>
                  <a:srgbClr val="13213A"/>
                </a:solidFill>
              </a:rPr>
              <a:t>Property research</a:t>
            </a:r>
          </a:p>
        </p:txBody>
      </p:sp>
      <p:sp>
        <p:nvSpPr>
          <p:cNvPr id="11" name="Rounded Rectangle 10">
            <a:extLst>
              <a:ext uri="{FF2B5EF4-FFF2-40B4-BE49-F238E27FC236}">
                <a16:creationId xmlns:a16="http://schemas.microsoft.com/office/drawing/2014/main" id="{BE9AB7BC-28B4-499C-BA9D-04A4292AC11C}"/>
              </a:ext>
            </a:extLst>
          </p:cNvPr>
          <p:cNvSpPr>
            <a:spLocks noGrp="1"/>
          </p:cNvSpPr>
          <p:nvPr/>
        </p:nvSpPr>
        <p:spPr>
          <a:xfrm>
            <a:off x="609600" y="4400550"/>
            <a:ext cx="3714750" cy="685800"/>
          </a:xfrm>
          <a:prstGeom prst="roundRect">
            <a:avLst>
              <a:gd name="adj" fmla="val 22222"/>
            </a:avLst>
          </a:prstGeom>
          <a:solidFill>
            <a:srgbClr val="E8EDF5"/>
          </a:solidFill>
          <a:ln w="0">
            <a:noFill/>
            <a:prstDash val="solid"/>
          </a:ln>
        </p:spPr>
        <p:txBody>
          <a:bodyPr lIns="0" tIns="0" rIns="0" bIns="0" anchor="t">
            <a:normAutofit/>
          </a:bodyPr>
          <a:lstStyle/>
          <a:p>
            <a:pPr algn="l">
              <a:buNone/>
              <a:defRPr sz="100" b="0">
                <a:solidFill>
                  <a:srgbClr val="E8EDF5"/>
                </a:solidFill>
                <a:latin typeface="Aptos"/>
                <a:ea typeface="Aptos"/>
                <a:cs typeface="Aptos"/>
              </a:defRPr>
            </a:pPr>
            <a:r>
              <a:rPr sz="100" b="0">
                <a:solidFill>
                  <a:srgbClr val="E8EDF5"/>
                </a:solidFill>
                <a:latin typeface="Aptos"/>
                <a:ea typeface="Aptos"/>
                <a:cs typeface="Aptos"/>
              </a:rPr>
              <a:t>​</a:t>
            </a:r>
          </a:p>
        </p:txBody>
      </p:sp>
      <p:sp>
        <p:nvSpPr>
          <p:cNvPr id="12" name="Rounded Rectangle 11">
            <a:extLst>
              <a:ext uri="{FF2B5EF4-FFF2-40B4-BE49-F238E27FC236}">
                <a16:creationId xmlns:a16="http://schemas.microsoft.com/office/drawing/2014/main" id="{96CCF0F9-9016-499B-97E0-256474A5E23A}"/>
              </a:ext>
            </a:extLst>
          </p:cNvPr>
          <p:cNvSpPr>
            <a:spLocks noGrp="1"/>
          </p:cNvSpPr>
          <p:nvPr/>
        </p:nvSpPr>
        <p:spPr>
          <a:xfrm>
            <a:off x="838200" y="4400550"/>
            <a:ext cx="3257550" cy="685800"/>
          </a:xfrm>
          <a:prstGeom prst="roundRect">
            <a:avLst>
              <a:gd name="adj" fmla="val 20690"/>
            </a:avLst>
          </a:prstGeom>
          <a:noFill/>
          <a:ln w="0">
            <a:noFill/>
            <a:prstDash val="solid"/>
          </a:ln>
        </p:spPr>
        <p:txBody>
          <a:bodyPr wrap="square" lIns="0" tIns="0" rIns="0" bIns="0" anchor="ctr">
            <a:normAutofit/>
          </a:bodyPr>
          <a:lstStyle/>
          <a:p>
            <a:pPr algn="l">
              <a:lnSpc>
                <a:spcPct val="100000"/>
              </a:lnSpc>
              <a:buNone/>
              <a:defRPr sz="1650" b="1">
                <a:solidFill>
                  <a:srgbClr val="13213A"/>
                </a:solidFill>
              </a:defRPr>
            </a:pPr>
            <a:r>
              <a:rPr sz="1650" b="1">
                <a:solidFill>
                  <a:srgbClr val="13213A"/>
                </a:solidFill>
              </a:rPr>
              <a:t>Review conversations</a:t>
            </a:r>
          </a:p>
        </p:txBody>
      </p:sp>
      <p:sp>
        <p:nvSpPr>
          <p:cNvPr id="13" name="Rectangle 12">
            <a:extLst>
              <a:ext uri="{FF2B5EF4-FFF2-40B4-BE49-F238E27FC236}">
                <a16:creationId xmlns:a16="http://schemas.microsoft.com/office/drawing/2014/main" id="{79888673-E2AA-42C7-9E8D-9BBD583D7B7C}"/>
              </a:ext>
            </a:extLst>
          </p:cNvPr>
          <p:cNvSpPr>
            <a:spLocks noGrp="1"/>
          </p:cNvSpPr>
          <p:nvPr/>
        </p:nvSpPr>
        <p:spPr>
          <a:xfrm>
            <a:off x="4667250" y="3276600"/>
            <a:ext cx="1428750" cy="381000"/>
          </a:xfrm>
          <a:prstGeom prst="rect">
            <a:avLst/>
          </a:prstGeom>
          <a:noFill/>
          <a:ln w="0">
            <a:noFill/>
            <a:prstDash val="solid"/>
          </a:ln>
        </p:spPr>
        <p:txBody>
          <a:bodyPr wrap="square" lIns="0" tIns="0" rIns="0" bIns="0" anchor="ctr">
            <a:normAutofit/>
          </a:bodyPr>
          <a:lstStyle/>
          <a:p>
            <a:pPr algn="ctr">
              <a:lnSpc>
                <a:spcPct val="100000"/>
              </a:lnSpc>
              <a:buNone/>
              <a:defRPr sz="1125" b="1">
                <a:solidFill>
                  <a:srgbClr val="FF8A73"/>
                </a:solidFill>
                <a:latin typeface="Aptos"/>
                <a:ea typeface="Aptos"/>
                <a:cs typeface="Aptos"/>
              </a:defRPr>
            </a:pPr>
            <a:r>
              <a:rPr sz="1125" b="1">
                <a:solidFill>
                  <a:srgbClr val="FF8A73"/>
                </a:solidFill>
                <a:latin typeface="Aptos"/>
                <a:ea typeface="Aptos"/>
                <a:cs typeface="Aptos"/>
              </a:rPr>
              <a:t>HANDOFFS</a:t>
            </a:r>
          </a:p>
        </p:txBody>
      </p:sp>
      <p:sp>
        <p:nvSpPr>
          <p:cNvPr id="14" name="Rounded Rectangle 13">
            <a:extLst>
              <a:ext uri="{FF2B5EF4-FFF2-40B4-BE49-F238E27FC236}">
                <a16:creationId xmlns:a16="http://schemas.microsoft.com/office/drawing/2014/main" id="{46DE9599-04E3-4A6A-B157-C1EE31E5411A}"/>
              </a:ext>
            </a:extLst>
          </p:cNvPr>
          <p:cNvSpPr>
            <a:spLocks noGrp="1"/>
          </p:cNvSpPr>
          <p:nvPr/>
        </p:nvSpPr>
        <p:spPr>
          <a:xfrm>
            <a:off x="5067300" y="3695700"/>
            <a:ext cx="666750" cy="76200"/>
          </a:xfrm>
          <a:prstGeom prst="roundRect">
            <a:avLst>
              <a:gd name="adj" fmla="val 0"/>
            </a:avLst>
          </a:prstGeom>
          <a:solidFill>
            <a:srgbClr val="FF8A73"/>
          </a:solidFill>
          <a:ln w="0">
            <a:noFill/>
            <a:prstDash val="solid"/>
          </a:ln>
        </p:spPr>
        <p:txBody>
          <a:bodyPr lIns="0" tIns="0" rIns="0" bIns="0"/>
          <a:lstStyle/>
          <a:p>
            <a:pPr>
              <a:defRPr sz="100">
                <a:solidFill>
                  <a:srgbClr val="FF8A73"/>
                </a:solidFill>
              </a:defRPr>
            </a:pPr>
            <a:r>
              <a:rPr sz="100">
                <a:solidFill>
                  <a:srgbClr val="FF8A73"/>
                </a:solidFill>
              </a:rPr>
              <a:t>​</a:t>
            </a:r>
          </a:p>
        </p:txBody>
      </p:sp>
      <p:sp>
        <p:nvSpPr>
          <p:cNvPr id="15" name="Rectangle 14">
            <a:extLst>
              <a:ext uri="{FF2B5EF4-FFF2-40B4-BE49-F238E27FC236}">
                <a16:creationId xmlns:a16="http://schemas.microsoft.com/office/drawing/2014/main" id="{B8209976-E5EB-4619-BE3F-069746EB6FDB}"/>
              </a:ext>
            </a:extLst>
          </p:cNvPr>
          <p:cNvSpPr>
            <a:spLocks noGrp="1"/>
          </p:cNvSpPr>
          <p:nvPr/>
        </p:nvSpPr>
        <p:spPr>
          <a:xfrm>
            <a:off x="6496050" y="1809750"/>
            <a:ext cx="4381500" cy="28575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2D5BFF"/>
                </a:solidFill>
                <a:latin typeface="Aptos"/>
                <a:ea typeface="Aptos"/>
                <a:cs typeface="Aptos"/>
              </a:defRPr>
            </a:pPr>
            <a:r>
              <a:rPr sz="1200" b="1">
                <a:solidFill>
                  <a:srgbClr val="2D5BFF"/>
                </a:solidFill>
                <a:latin typeface="Aptos"/>
                <a:ea typeface="Aptos"/>
                <a:cs typeface="Aptos"/>
              </a:rPr>
              <a:t>WITH THE PLATFORM</a:t>
            </a:r>
          </a:p>
        </p:txBody>
      </p:sp>
      <p:sp>
        <p:nvSpPr>
          <p:cNvPr id="16" name="Rounded Rectangle 15">
            <a:extLst>
              <a:ext uri="{FF2B5EF4-FFF2-40B4-BE49-F238E27FC236}">
                <a16:creationId xmlns:a16="http://schemas.microsoft.com/office/drawing/2014/main" id="{794DF697-9416-4B5F-8E62-F1632339BD44}"/>
              </a:ext>
            </a:extLst>
          </p:cNvPr>
          <p:cNvSpPr>
            <a:spLocks noGrp="1"/>
          </p:cNvSpPr>
          <p:nvPr/>
        </p:nvSpPr>
        <p:spPr>
          <a:xfrm>
            <a:off x="6496050" y="2266950"/>
            <a:ext cx="5086350" cy="2952750"/>
          </a:xfrm>
          <a:prstGeom prst="roundRect">
            <a:avLst>
              <a:gd name="adj" fmla="val 7742"/>
            </a:avLst>
          </a:prstGeom>
          <a:solidFill>
            <a:srgbClr val="0B1733"/>
          </a:solidFill>
          <a:ln w="0">
            <a:noFill/>
            <a:prstDash val="solid"/>
          </a:ln>
        </p:spPr>
        <p:txBody>
          <a:bodyPr lIns="0" tIns="0" rIns="0" bIns="0"/>
          <a:lstStyle/>
          <a:p>
            <a:pPr>
              <a:defRPr sz="100">
                <a:solidFill>
                  <a:srgbClr val="0B1733"/>
                </a:solidFill>
              </a:defRPr>
            </a:pPr>
            <a:r>
              <a:rPr sz="100">
                <a:solidFill>
                  <a:srgbClr val="0B1733"/>
                </a:solidFill>
              </a:rPr>
              <a:t>​</a:t>
            </a:r>
          </a:p>
        </p:txBody>
      </p:sp>
      <p:sp>
        <p:nvSpPr>
          <p:cNvPr id="17" name="Rounded Rectangle 16">
            <a:extLst>
              <a:ext uri="{FF2B5EF4-FFF2-40B4-BE49-F238E27FC236}">
                <a16:creationId xmlns:a16="http://schemas.microsoft.com/office/drawing/2014/main" id="{EFFAAC09-D66F-43C6-842B-B6883EF2053F}"/>
              </a:ext>
            </a:extLst>
          </p:cNvPr>
          <p:cNvSpPr>
            <a:spLocks noGrp="1"/>
          </p:cNvSpPr>
          <p:nvPr/>
        </p:nvSpPr>
        <p:spPr>
          <a:xfrm>
            <a:off x="6838950" y="2571750"/>
            <a:ext cx="114300" cy="114300"/>
          </a:xfrm>
          <a:prstGeom prst="roundRect">
            <a:avLst>
              <a:gd name="adj" fmla="val 50000"/>
            </a:avLst>
          </a:prstGeom>
          <a:solidFill>
            <a:srgbClr val="6F8CFF"/>
          </a:solidFill>
          <a:ln w="0">
            <a:noFill/>
            <a:prstDash val="solid"/>
          </a:ln>
        </p:spPr>
        <p:txBody>
          <a:bodyPr lIns="0" tIns="0" rIns="0" bIns="0" anchor="t">
            <a:normAutofit/>
          </a:bodyPr>
          <a:lstStyle/>
          <a:p>
            <a:pPr algn="l">
              <a:buNone/>
              <a:defRPr sz="100" b="0">
                <a:solidFill>
                  <a:srgbClr val="6F8CFF"/>
                </a:solidFill>
                <a:latin typeface="Aptos"/>
                <a:ea typeface="Aptos"/>
                <a:cs typeface="Aptos"/>
              </a:defRPr>
            </a:pPr>
            <a:r>
              <a:rPr sz="100" b="0">
                <a:solidFill>
                  <a:srgbClr val="6F8CFF"/>
                </a:solidFill>
                <a:latin typeface="Aptos"/>
                <a:ea typeface="Aptos"/>
                <a:cs typeface="Aptos"/>
              </a:rPr>
              <a:t>​</a:t>
            </a:r>
          </a:p>
        </p:txBody>
      </p:sp>
      <p:sp>
        <p:nvSpPr>
          <p:cNvPr id="18" name="Rounded Rectangle 17">
            <a:extLst>
              <a:ext uri="{FF2B5EF4-FFF2-40B4-BE49-F238E27FC236}">
                <a16:creationId xmlns:a16="http://schemas.microsoft.com/office/drawing/2014/main" id="{81EF9541-D5C0-42C0-8751-8B4ECC3C2D98}"/>
              </a:ext>
            </a:extLst>
          </p:cNvPr>
          <p:cNvSpPr>
            <a:spLocks noGrp="1"/>
          </p:cNvSpPr>
          <p:nvPr/>
        </p:nvSpPr>
        <p:spPr>
          <a:xfrm>
            <a:off x="7200900" y="2438400"/>
            <a:ext cx="3619500" cy="381000"/>
          </a:xfrm>
          <a:prstGeom prst="roundRect">
            <a:avLst>
              <a:gd name="adj" fmla="val 20690"/>
            </a:avLst>
          </a:prstGeom>
          <a:noFill/>
          <a:ln w="0">
            <a:noFill/>
            <a:prstDash val="solid"/>
          </a:ln>
        </p:spPr>
        <p:txBody>
          <a:bodyPr wrap="square" lIns="0" tIns="0" rIns="0" bIns="0" anchor="ctr">
            <a:normAutofit/>
          </a:bodyPr>
          <a:lstStyle/>
          <a:p>
            <a:pPr algn="l">
              <a:lnSpc>
                <a:spcPct val="100000"/>
              </a:lnSpc>
              <a:buNone/>
              <a:defRPr sz="1650" b="1">
                <a:solidFill>
                  <a:srgbClr val="FFFFFF"/>
                </a:solidFill>
              </a:defRPr>
            </a:pPr>
            <a:r>
              <a:rPr sz="1650" b="1">
                <a:solidFill>
                  <a:srgbClr val="FFFFFF"/>
                </a:solidFill>
              </a:rPr>
              <a:t>MARKET</a:t>
            </a:r>
          </a:p>
        </p:txBody>
      </p:sp>
      <p:sp>
        <p:nvSpPr>
          <p:cNvPr id="19" name="Rounded Rectangle 18">
            <a:extLst>
              <a:ext uri="{FF2B5EF4-FFF2-40B4-BE49-F238E27FC236}">
                <a16:creationId xmlns:a16="http://schemas.microsoft.com/office/drawing/2014/main" id="{A6F25BEE-CDCC-4502-8546-88E865562164}"/>
              </a:ext>
            </a:extLst>
          </p:cNvPr>
          <p:cNvSpPr>
            <a:spLocks noGrp="1"/>
          </p:cNvSpPr>
          <p:nvPr/>
        </p:nvSpPr>
        <p:spPr>
          <a:xfrm>
            <a:off x="6838950" y="3162300"/>
            <a:ext cx="114300" cy="114300"/>
          </a:xfrm>
          <a:prstGeom prst="roundRect">
            <a:avLst>
              <a:gd name="adj" fmla="val 50000"/>
            </a:avLst>
          </a:prstGeom>
          <a:solidFill>
            <a:srgbClr val="6F8CFF"/>
          </a:solidFill>
          <a:ln w="0">
            <a:noFill/>
            <a:prstDash val="solid"/>
          </a:ln>
        </p:spPr>
        <p:txBody>
          <a:bodyPr lIns="0" tIns="0" rIns="0" bIns="0" anchor="t">
            <a:normAutofit/>
          </a:bodyPr>
          <a:lstStyle/>
          <a:p>
            <a:pPr algn="l">
              <a:buNone/>
              <a:defRPr sz="100" b="1">
                <a:solidFill>
                  <a:srgbClr val="6F8CFF"/>
                </a:solidFill>
                <a:latin typeface="Aptos"/>
                <a:ea typeface="Aptos"/>
                <a:cs typeface="Aptos"/>
              </a:defRPr>
            </a:pPr>
            <a:r>
              <a:rPr sz="100" b="1">
                <a:solidFill>
                  <a:srgbClr val="6F8CFF"/>
                </a:solidFill>
                <a:latin typeface="Aptos"/>
                <a:ea typeface="Aptos"/>
                <a:cs typeface="Aptos"/>
              </a:rPr>
              <a:t>​</a:t>
            </a:r>
          </a:p>
        </p:txBody>
      </p:sp>
      <p:sp>
        <p:nvSpPr>
          <p:cNvPr id="20" name="Rounded Rectangle 19">
            <a:extLst>
              <a:ext uri="{FF2B5EF4-FFF2-40B4-BE49-F238E27FC236}">
                <a16:creationId xmlns:a16="http://schemas.microsoft.com/office/drawing/2014/main" id="{4A622566-F47C-4AC1-882E-EFDC6A7D5DC7}"/>
              </a:ext>
            </a:extLst>
          </p:cNvPr>
          <p:cNvSpPr>
            <a:spLocks noGrp="1"/>
          </p:cNvSpPr>
          <p:nvPr/>
        </p:nvSpPr>
        <p:spPr>
          <a:xfrm>
            <a:off x="7200900" y="3028950"/>
            <a:ext cx="3619500" cy="381000"/>
          </a:xfrm>
          <a:prstGeom prst="roundRect">
            <a:avLst>
              <a:gd name="adj" fmla="val 20690"/>
            </a:avLst>
          </a:prstGeom>
          <a:noFill/>
          <a:ln w="0">
            <a:noFill/>
            <a:prstDash val="solid"/>
          </a:ln>
        </p:spPr>
        <p:txBody>
          <a:bodyPr wrap="square" lIns="0" tIns="0" rIns="0" bIns="0" anchor="ctr">
            <a:normAutofit/>
          </a:bodyPr>
          <a:lstStyle/>
          <a:p>
            <a:pPr algn="l">
              <a:lnSpc>
                <a:spcPct val="100000"/>
              </a:lnSpc>
              <a:buNone/>
              <a:defRPr sz="1650" b="1">
                <a:solidFill>
                  <a:srgbClr val="FFFFFF"/>
                </a:solidFill>
              </a:defRPr>
            </a:pPr>
            <a:r>
              <a:rPr sz="1650" b="1">
                <a:solidFill>
                  <a:srgbClr val="FFFFFF"/>
                </a:solidFill>
              </a:rPr>
              <a:t>EVIDENCE</a:t>
            </a:r>
          </a:p>
        </p:txBody>
      </p:sp>
      <p:sp>
        <p:nvSpPr>
          <p:cNvPr id="21" name="Rounded Rectangle 20">
            <a:extLst>
              <a:ext uri="{FF2B5EF4-FFF2-40B4-BE49-F238E27FC236}">
                <a16:creationId xmlns:a16="http://schemas.microsoft.com/office/drawing/2014/main" id="{E4206EEC-2097-457D-B8B0-0F7D0F018FB2}"/>
              </a:ext>
            </a:extLst>
          </p:cNvPr>
          <p:cNvSpPr>
            <a:spLocks noGrp="1"/>
          </p:cNvSpPr>
          <p:nvPr/>
        </p:nvSpPr>
        <p:spPr>
          <a:xfrm>
            <a:off x="6838950" y="3752850"/>
            <a:ext cx="114300" cy="114300"/>
          </a:xfrm>
          <a:prstGeom prst="roundRect">
            <a:avLst>
              <a:gd name="adj" fmla="val 50000"/>
            </a:avLst>
          </a:prstGeom>
          <a:solidFill>
            <a:srgbClr val="6F8CFF"/>
          </a:solidFill>
          <a:ln w="0">
            <a:noFill/>
            <a:prstDash val="solid"/>
          </a:ln>
        </p:spPr>
        <p:txBody>
          <a:bodyPr lIns="0" tIns="0" rIns="0" bIns="0" anchor="t">
            <a:normAutofit/>
          </a:bodyPr>
          <a:lstStyle/>
          <a:p>
            <a:pPr algn="l">
              <a:buNone/>
              <a:defRPr sz="100" b="1">
                <a:solidFill>
                  <a:srgbClr val="6F8CFF"/>
                </a:solidFill>
                <a:latin typeface="Aptos"/>
                <a:ea typeface="Aptos"/>
                <a:cs typeface="Aptos"/>
              </a:defRPr>
            </a:pPr>
            <a:r>
              <a:rPr sz="100" b="1">
                <a:solidFill>
                  <a:srgbClr val="6F8CFF"/>
                </a:solidFill>
                <a:latin typeface="Aptos"/>
                <a:ea typeface="Aptos"/>
                <a:cs typeface="Aptos"/>
              </a:rPr>
              <a:t>​</a:t>
            </a:r>
          </a:p>
        </p:txBody>
      </p:sp>
      <p:sp>
        <p:nvSpPr>
          <p:cNvPr id="22" name="Rounded Rectangle 21">
            <a:extLst>
              <a:ext uri="{FF2B5EF4-FFF2-40B4-BE49-F238E27FC236}">
                <a16:creationId xmlns:a16="http://schemas.microsoft.com/office/drawing/2014/main" id="{2BE04B81-52E9-44FA-995B-E52EDFEC5B92}"/>
              </a:ext>
            </a:extLst>
          </p:cNvPr>
          <p:cNvSpPr>
            <a:spLocks noGrp="1"/>
          </p:cNvSpPr>
          <p:nvPr/>
        </p:nvSpPr>
        <p:spPr>
          <a:xfrm>
            <a:off x="7200900" y="3619500"/>
            <a:ext cx="3619500" cy="381000"/>
          </a:xfrm>
          <a:prstGeom prst="roundRect">
            <a:avLst>
              <a:gd name="adj" fmla="val 20690"/>
            </a:avLst>
          </a:prstGeom>
          <a:noFill/>
          <a:ln w="0">
            <a:noFill/>
            <a:prstDash val="solid"/>
          </a:ln>
        </p:spPr>
        <p:txBody>
          <a:bodyPr wrap="square" lIns="0" tIns="0" rIns="0" bIns="0" anchor="ctr">
            <a:normAutofit/>
          </a:bodyPr>
          <a:lstStyle/>
          <a:p>
            <a:pPr algn="l">
              <a:lnSpc>
                <a:spcPct val="100000"/>
              </a:lnSpc>
              <a:buNone/>
              <a:defRPr sz="1650" b="1">
                <a:solidFill>
                  <a:srgbClr val="FFFFFF"/>
                </a:solidFill>
              </a:defRPr>
            </a:pPr>
            <a:r>
              <a:rPr sz="1650" b="1">
                <a:solidFill>
                  <a:srgbClr val="FFFFFF"/>
                </a:solidFill>
              </a:rPr>
              <a:t>DECISION</a:t>
            </a:r>
          </a:p>
        </p:txBody>
      </p:sp>
      <p:sp>
        <p:nvSpPr>
          <p:cNvPr id="23" name="Rounded Rectangle 22">
            <a:extLst>
              <a:ext uri="{FF2B5EF4-FFF2-40B4-BE49-F238E27FC236}">
                <a16:creationId xmlns:a16="http://schemas.microsoft.com/office/drawing/2014/main" id="{9C3210CC-FC7F-4D0A-AE2F-44C3917A3DA8}"/>
              </a:ext>
            </a:extLst>
          </p:cNvPr>
          <p:cNvSpPr>
            <a:spLocks noGrp="1"/>
          </p:cNvSpPr>
          <p:nvPr/>
        </p:nvSpPr>
        <p:spPr>
          <a:xfrm>
            <a:off x="6838950" y="4343400"/>
            <a:ext cx="114300" cy="114300"/>
          </a:xfrm>
          <a:prstGeom prst="roundRect">
            <a:avLst>
              <a:gd name="adj" fmla="val 50000"/>
            </a:avLst>
          </a:prstGeom>
          <a:solidFill>
            <a:srgbClr val="BFE9D0"/>
          </a:solidFill>
          <a:ln w="0">
            <a:noFill/>
            <a:prstDash val="solid"/>
          </a:ln>
        </p:spPr>
        <p:txBody>
          <a:bodyPr lIns="0" tIns="0" rIns="0" bIns="0" anchor="t">
            <a:normAutofit/>
          </a:bodyPr>
          <a:lstStyle/>
          <a:p>
            <a:pPr algn="l">
              <a:buNone/>
              <a:defRPr sz="100" b="1">
                <a:solidFill>
                  <a:srgbClr val="BFE9D0"/>
                </a:solidFill>
                <a:latin typeface="Aptos"/>
                <a:ea typeface="Aptos"/>
                <a:cs typeface="Aptos"/>
              </a:defRPr>
            </a:pPr>
            <a:r>
              <a:rPr sz="100" b="1">
                <a:solidFill>
                  <a:srgbClr val="BFE9D0"/>
                </a:solidFill>
                <a:latin typeface="Aptos"/>
                <a:ea typeface="Aptos"/>
                <a:cs typeface="Aptos"/>
              </a:rPr>
              <a:t>​</a:t>
            </a:r>
          </a:p>
        </p:txBody>
      </p:sp>
      <p:sp>
        <p:nvSpPr>
          <p:cNvPr id="24" name="Rounded Rectangle 23">
            <a:extLst>
              <a:ext uri="{FF2B5EF4-FFF2-40B4-BE49-F238E27FC236}">
                <a16:creationId xmlns:a16="http://schemas.microsoft.com/office/drawing/2014/main" id="{76CAFD62-374E-4856-A91E-0363D15A67D8}"/>
              </a:ext>
            </a:extLst>
          </p:cNvPr>
          <p:cNvSpPr>
            <a:spLocks noGrp="1"/>
          </p:cNvSpPr>
          <p:nvPr/>
        </p:nvSpPr>
        <p:spPr>
          <a:xfrm>
            <a:off x="7200900" y="4210050"/>
            <a:ext cx="3619500" cy="381000"/>
          </a:xfrm>
          <a:prstGeom prst="roundRect">
            <a:avLst>
              <a:gd name="adj" fmla="val 20690"/>
            </a:avLst>
          </a:prstGeom>
          <a:noFill/>
          <a:ln w="0">
            <a:noFill/>
            <a:prstDash val="solid"/>
          </a:ln>
        </p:spPr>
        <p:txBody>
          <a:bodyPr wrap="square" lIns="0" tIns="0" rIns="0" bIns="0" anchor="ctr">
            <a:normAutofit/>
          </a:bodyPr>
          <a:lstStyle/>
          <a:p>
            <a:pPr algn="l">
              <a:lnSpc>
                <a:spcPct val="100000"/>
              </a:lnSpc>
              <a:buNone/>
              <a:defRPr sz="1650" b="1">
                <a:solidFill>
                  <a:srgbClr val="FFFFFF"/>
                </a:solidFill>
              </a:defRPr>
            </a:pPr>
            <a:r>
              <a:rPr sz="1650" b="1">
                <a:solidFill>
                  <a:srgbClr val="FFFFFF"/>
                </a:solidFill>
              </a:rPr>
              <a:t>NEXT ACTION</a:t>
            </a:r>
          </a:p>
        </p:txBody>
      </p:sp>
      <p:sp>
        <p:nvSpPr>
          <p:cNvPr id="25" name="Rectangle 24">
            <a:extLst>
              <a:ext uri="{FF2B5EF4-FFF2-40B4-BE49-F238E27FC236}">
                <a16:creationId xmlns:a16="http://schemas.microsoft.com/office/drawing/2014/main" id="{2CEBBF17-9A25-4B88-84B9-2CEC759CBC18}"/>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l">
              <a:buNone/>
              <a:defRPr sz="1575" b="1">
                <a:solidFill>
                  <a:srgbClr val="13213A"/>
                </a:solidFill>
                <a:latin typeface="Aptos"/>
                <a:ea typeface="Aptos"/>
                <a:cs typeface="Aptos"/>
              </a:defRPr>
            </a:pPr>
            <a:endParaRPr/>
          </a:p>
        </p:txBody>
      </p:sp>
      <p:sp>
        <p:nvSpPr>
          <p:cNvPr id="26" name="Rounded Rectangle 25">
            <a:extLst>
              <a:ext uri="{FF2B5EF4-FFF2-40B4-BE49-F238E27FC236}">
                <a16:creationId xmlns:a16="http://schemas.microsoft.com/office/drawing/2014/main" id="{AD27ED43-5ECA-4CE6-A895-FEF471F9368B}"/>
              </a:ext>
            </a:extLst>
          </p:cNvPr>
          <p:cNvSpPr>
            <a:spLocks noGrp="1"/>
          </p:cNvSpPr>
          <p:nvPr/>
        </p:nvSpPr>
        <p:spPr>
          <a:xfrm>
            <a:off x="38100" y="38100"/>
            <a:ext cx="9525" cy="9525"/>
          </a:xfrm>
          <a:prstGeom prst="roundRect">
            <a:avLst>
              <a:gd name="adj" fmla="val 20690"/>
            </a:avLst>
          </a:prstGeom>
          <a:noFill/>
          <a:ln w="0">
            <a:noFill/>
            <a:prstDash val="solid"/>
          </a:ln>
        </p:spPr>
        <p:txBody>
          <a:bodyPr/>
          <a:lstStyle/>
          <a:p>
            <a:endParaRPr/>
          </a:p>
        </p:txBody>
      </p:sp>
      <p:sp>
        <p:nvSpPr>
          <p:cNvPr id="27" name="Rectangle 26">
            <a:extLst>
              <a:ext uri="{FF2B5EF4-FFF2-40B4-BE49-F238E27FC236}">
                <a16:creationId xmlns:a16="http://schemas.microsoft.com/office/drawing/2014/main" id="{ABF7D7A0-E097-4A2F-B4D3-664A7B63C409}"/>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l">
              <a:buNone/>
              <a:defRPr sz="1575" b="1">
                <a:solidFill>
                  <a:srgbClr val="13213A"/>
                </a:solidFill>
                <a:latin typeface="Aptos"/>
                <a:ea typeface="Aptos"/>
                <a:cs typeface="Aptos"/>
              </a:defRPr>
            </a:pPr>
            <a:endParaRPr/>
          </a:p>
        </p:txBody>
      </p:sp>
      <p:sp>
        <p:nvSpPr>
          <p:cNvPr id="28" name="Rectangle 27">
            <a:extLst>
              <a:ext uri="{FF2B5EF4-FFF2-40B4-BE49-F238E27FC236}">
                <a16:creationId xmlns:a16="http://schemas.microsoft.com/office/drawing/2014/main" id="{8FADFEAB-3C09-441F-B32B-540BEBE36274}"/>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ctr">
              <a:buNone/>
              <a:defRPr sz="1200" b="1">
                <a:solidFill>
                  <a:srgbClr val="A56A00"/>
                </a:solidFill>
                <a:latin typeface="Aptos"/>
                <a:ea typeface="Aptos"/>
                <a:cs typeface="Aptos"/>
              </a:defRPr>
            </a:pPr>
            <a:endParaRPr/>
          </a:p>
        </p:txBody>
      </p:sp>
    </p:spTree>
    <p:extLst>
      <p:ext uri="{BB962C8B-B14F-4D97-AF65-F5344CB8AC3E}">
        <p14:creationId xmlns:p14="http://schemas.microsoft.com/office/powerpoint/2010/main" val="210314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2326E7C4-9A23-4157-B194-EB922429977C}"/>
              </a:ext>
            </a:extLst>
          </p:cNvPr>
          <p:cNvSpPr>
            <a:spLocks noGrp="1"/>
          </p:cNvSpPr>
          <p:nvPr/>
        </p:nvSpPr>
        <p:spPr>
          <a:xfrm>
            <a:off x="609600" y="323850"/>
            <a:ext cx="5334000" cy="247650"/>
          </a:xfrm>
          <a:prstGeom prst="rect">
            <a:avLst/>
          </a:prstGeom>
          <a:noFill/>
          <a:ln w="0">
            <a:noFill/>
            <a:prstDash val="solid"/>
          </a:ln>
        </p:spPr>
        <p:txBody>
          <a:bodyPr wrap="square" lIns="0" tIns="0" rIns="0" bIns="0" anchor="ctr">
            <a:normAutofit/>
          </a:bodyPr>
          <a:lstStyle/>
          <a:p>
            <a:pPr algn="l">
              <a:lnSpc>
                <a:spcPct val="100000"/>
              </a:lnSpc>
              <a:buNone/>
              <a:defRPr sz="1125" b="1">
                <a:solidFill>
                  <a:srgbClr val="2D5BFF"/>
                </a:solidFill>
                <a:latin typeface="Aptos"/>
                <a:ea typeface="Aptos"/>
                <a:cs typeface="Aptos"/>
              </a:defRPr>
            </a:pPr>
            <a:r>
              <a:rPr sz="1125" b="1">
                <a:solidFill>
                  <a:srgbClr val="2D5BFF"/>
                </a:solidFill>
                <a:latin typeface="Aptos"/>
                <a:ea typeface="Aptos"/>
                <a:cs typeface="Aptos"/>
              </a:rPr>
              <a:t>WHAT WE LEARNED</a:t>
            </a:r>
          </a:p>
        </p:txBody>
      </p:sp>
      <p:sp>
        <p:nvSpPr>
          <p:cNvPr id="2" name="Rectangle 1">
            <a:extLst>
              <a:ext uri="{FF2B5EF4-FFF2-40B4-BE49-F238E27FC236}">
                <a16:creationId xmlns:a16="http://schemas.microsoft.com/office/drawing/2014/main" id="{81BB4E57-BF3B-4938-92D8-E7A1B2B061EA}"/>
              </a:ext>
            </a:extLst>
          </p:cNvPr>
          <p:cNvSpPr>
            <a:spLocks noGrp="1"/>
          </p:cNvSpPr>
          <p:nvPr/>
        </p:nvSpPr>
        <p:spPr>
          <a:xfrm>
            <a:off x="609600" y="723900"/>
            <a:ext cx="10668000" cy="685800"/>
          </a:xfrm>
          <a:prstGeom prst="rect">
            <a:avLst/>
          </a:prstGeom>
          <a:noFill/>
          <a:ln w="0">
            <a:noFill/>
            <a:prstDash val="solid"/>
          </a:ln>
        </p:spPr>
        <p:txBody>
          <a:bodyPr wrap="square" lIns="0" tIns="0" rIns="0" bIns="0" anchor="ctr">
            <a:normAutofit/>
          </a:bodyPr>
          <a:lstStyle/>
          <a:p>
            <a:pPr algn="l">
              <a:lnSpc>
                <a:spcPct val="100000"/>
              </a:lnSpc>
              <a:buNone/>
              <a:defRPr sz="3150" b="1">
                <a:solidFill>
                  <a:srgbClr val="13213A"/>
                </a:solidFill>
                <a:latin typeface="Aptos"/>
                <a:ea typeface="Aptos"/>
                <a:cs typeface="Aptos"/>
              </a:defRPr>
            </a:pPr>
            <a:r>
              <a:rPr sz="3150" b="1">
                <a:solidFill>
                  <a:srgbClr val="13213A"/>
                </a:solidFill>
                <a:latin typeface="Aptos"/>
                <a:ea typeface="Aptos"/>
                <a:cs typeface="Aptos"/>
              </a:rPr>
              <a:t>Regional insight can travel across the business</a:t>
            </a:r>
          </a:p>
        </p:txBody>
      </p:sp>
      <p:sp>
        <p:nvSpPr>
          <p:cNvPr id="3" name="Rectangle 2">
            <a:extLst>
              <a:ext uri="{FF2B5EF4-FFF2-40B4-BE49-F238E27FC236}">
                <a16:creationId xmlns:a16="http://schemas.microsoft.com/office/drawing/2014/main" id="{42EEF10A-CB1A-4A92-98D3-42C21916AFE5}"/>
              </a:ext>
            </a:extLst>
          </p:cNvPr>
          <p:cNvSpPr>
            <a:spLocks noGrp="1"/>
          </p:cNvSpPr>
          <p:nvPr/>
        </p:nvSpPr>
        <p:spPr>
          <a:xfrm>
            <a:off x="609600" y="6419850"/>
            <a:ext cx="10972800" cy="19050"/>
          </a:xfrm>
          <a:prstGeom prst="rect">
            <a:avLst/>
          </a:prstGeom>
          <a:solidFill>
            <a:srgbClr val="D6DCE7"/>
          </a:solidFill>
          <a:ln w="0">
            <a:noFill/>
            <a:prstDash val="solid"/>
          </a:ln>
        </p:spPr>
        <p:txBody>
          <a:bodyPr lIns="0" tIns="0" rIns="0" bIns="0"/>
          <a:lstStyle/>
          <a:p>
            <a:pPr>
              <a:defRPr sz="100">
                <a:solidFill>
                  <a:srgbClr val="D6DCE7"/>
                </a:solidFill>
              </a:defRPr>
            </a:pPr>
            <a:r>
              <a:rPr sz="100">
                <a:solidFill>
                  <a:srgbClr val="D6DCE7"/>
                </a:solidFill>
              </a:rPr>
              <a:t>​</a:t>
            </a:r>
          </a:p>
        </p:txBody>
      </p:sp>
      <p:sp>
        <p:nvSpPr>
          <p:cNvPr id="4" name="Rectangle 3">
            <a:extLst>
              <a:ext uri="{FF2B5EF4-FFF2-40B4-BE49-F238E27FC236}">
                <a16:creationId xmlns:a16="http://schemas.microsoft.com/office/drawing/2014/main" id="{CD4CADFD-2C85-4186-BA8B-77C7FAD77F93}"/>
              </a:ext>
            </a:extLst>
          </p:cNvPr>
          <p:cNvSpPr>
            <a:spLocks noGrp="1"/>
          </p:cNvSpPr>
          <p:nvPr/>
        </p:nvSpPr>
        <p:spPr>
          <a:xfrm>
            <a:off x="609600" y="6515100"/>
            <a:ext cx="9334500" cy="171450"/>
          </a:xfrm>
          <a:prstGeom prst="rect">
            <a:avLst/>
          </a:prstGeom>
          <a:noFill/>
          <a:ln w="0">
            <a:noFill/>
            <a:prstDash val="solid"/>
          </a:ln>
        </p:spPr>
        <p:txBody>
          <a:bodyPr wrap="square" lIns="0" tIns="0" rIns="0" bIns="0" anchor="ctr">
            <a:normAutofit/>
          </a:bodyPr>
          <a:lstStyle/>
          <a:p>
            <a:pPr algn="l">
              <a:lnSpc>
                <a:spcPct val="100000"/>
              </a:lnSpc>
              <a:buNone/>
              <a:defRPr sz="900" b="0">
                <a:solidFill>
                  <a:srgbClr val="667085"/>
                </a:solidFill>
                <a:latin typeface="Aptos"/>
                <a:ea typeface="Aptos"/>
                <a:cs typeface="Aptos"/>
              </a:defRPr>
            </a:pPr>
            <a:r>
              <a:rPr sz="900" b="0">
                <a:solidFill>
                  <a:srgbClr val="667085"/>
                </a:solidFill>
                <a:latin typeface="Aptos"/>
                <a:ea typeface="Aptos"/>
                <a:cs typeface="Aptos"/>
              </a:rPr>
              <a:t>Shared evidence | Sector-specific goals, rules, and measures</a:t>
            </a:r>
          </a:p>
        </p:txBody>
      </p:sp>
      <p:sp>
        <p:nvSpPr>
          <p:cNvPr id="5" name="Rectangle 4">
            <a:extLst>
              <a:ext uri="{FF2B5EF4-FFF2-40B4-BE49-F238E27FC236}">
                <a16:creationId xmlns:a16="http://schemas.microsoft.com/office/drawing/2014/main" id="{B32A66BE-5FAE-4F5A-9489-8D1543E2EFD1}"/>
              </a:ext>
            </a:extLst>
          </p:cNvPr>
          <p:cNvSpPr>
            <a:spLocks noGrp="1"/>
          </p:cNvSpPr>
          <p:nvPr/>
        </p:nvSpPr>
        <p:spPr>
          <a:xfrm>
            <a:off x="10953750" y="6515100"/>
            <a:ext cx="628650" cy="171450"/>
          </a:xfrm>
          <a:prstGeom prst="rect">
            <a:avLst/>
          </a:prstGeom>
          <a:noFill/>
          <a:ln w="0">
            <a:noFill/>
            <a:prstDash val="solid"/>
          </a:ln>
        </p:spPr>
        <p:txBody>
          <a:bodyPr wrap="square" lIns="0" tIns="0" rIns="0" bIns="0" anchor="ctr">
            <a:normAutofit/>
          </a:bodyPr>
          <a:lstStyle/>
          <a:p>
            <a:pPr algn="r">
              <a:lnSpc>
                <a:spcPct val="100000"/>
              </a:lnSpc>
              <a:buNone/>
              <a:defRPr sz="900" b="1">
                <a:solidFill>
                  <a:srgbClr val="13213A"/>
                </a:solidFill>
                <a:latin typeface="Aptos"/>
                <a:ea typeface="Aptos"/>
                <a:cs typeface="Aptos"/>
              </a:defRPr>
            </a:pPr>
            <a:r>
              <a:rPr sz="900" b="1">
                <a:solidFill>
                  <a:srgbClr val="13213A"/>
                </a:solidFill>
                <a:latin typeface="Aptos"/>
                <a:ea typeface="Aptos"/>
                <a:cs typeface="Aptos"/>
              </a:rPr>
              <a:t>14</a:t>
            </a:r>
          </a:p>
        </p:txBody>
      </p:sp>
      <p:sp>
        <p:nvSpPr>
          <p:cNvPr id="6" name="Rounded Rectangle 5">
            <a:extLst>
              <a:ext uri="{FF2B5EF4-FFF2-40B4-BE49-F238E27FC236}">
                <a16:creationId xmlns:a16="http://schemas.microsoft.com/office/drawing/2014/main" id="{97103A4A-41C7-43D5-A496-33896273F09C}"/>
              </a:ext>
            </a:extLst>
          </p:cNvPr>
          <p:cNvSpPr>
            <a:spLocks noGrp="1"/>
          </p:cNvSpPr>
          <p:nvPr/>
        </p:nvSpPr>
        <p:spPr>
          <a:xfrm>
            <a:off x="5962650" y="1790700"/>
            <a:ext cx="57150" cy="1428750"/>
          </a:xfrm>
          <a:prstGeom prst="roundRect">
            <a:avLst>
              <a:gd name="adj" fmla="val 0"/>
            </a:avLst>
          </a:prstGeom>
          <a:solidFill>
            <a:srgbClr val="E8EDF5"/>
          </a:solidFill>
          <a:ln w="0">
            <a:noFill/>
            <a:prstDash val="solid"/>
          </a:ln>
        </p:spPr>
        <p:txBody>
          <a:bodyPr lIns="0" tIns="0" rIns="0" bIns="0"/>
          <a:lstStyle/>
          <a:p>
            <a:pPr>
              <a:defRPr sz="100">
                <a:solidFill>
                  <a:srgbClr val="E8EDF5"/>
                </a:solidFill>
              </a:defRPr>
            </a:pPr>
            <a:r>
              <a:rPr sz="100">
                <a:solidFill>
                  <a:srgbClr val="E8EDF5"/>
                </a:solidFill>
              </a:rPr>
              <a:t>​</a:t>
            </a:r>
          </a:p>
        </p:txBody>
      </p:sp>
      <p:sp>
        <p:nvSpPr>
          <p:cNvPr id="7" name="Rectangle 6">
            <a:extLst>
              <a:ext uri="{FF2B5EF4-FFF2-40B4-BE49-F238E27FC236}">
                <a16:creationId xmlns:a16="http://schemas.microsoft.com/office/drawing/2014/main" id="{EEB51B4B-1DBB-4F96-82DB-4CE59D68D70F}"/>
              </a:ext>
            </a:extLst>
          </p:cNvPr>
          <p:cNvSpPr>
            <a:spLocks noGrp="1"/>
          </p:cNvSpPr>
          <p:nvPr/>
        </p:nvSpPr>
        <p:spPr>
          <a:xfrm>
            <a:off x="4133850" y="2609850"/>
            <a:ext cx="1714500" cy="57150"/>
          </a:xfrm>
          <a:prstGeom prst="rect">
            <a:avLst/>
          </a:prstGeom>
          <a:solidFill>
            <a:srgbClr val="E8EDF5"/>
          </a:solidFill>
          <a:ln w="0">
            <a:noFill/>
            <a:prstDash val="solid"/>
          </a:ln>
        </p:spPr>
        <p:txBody>
          <a:bodyPr lIns="0" tIns="0" rIns="0" bIns="0" anchor="t">
            <a:normAutofit/>
          </a:bodyPr>
          <a:lstStyle/>
          <a:p>
            <a:pPr algn="l">
              <a:buNone/>
              <a:defRPr sz="100" b="1">
                <a:solidFill>
                  <a:srgbClr val="E8EDF5"/>
                </a:solidFill>
                <a:latin typeface="Aptos"/>
                <a:ea typeface="Aptos"/>
                <a:cs typeface="Aptos"/>
              </a:defRPr>
            </a:pPr>
            <a:r>
              <a:rPr sz="100" b="1">
                <a:solidFill>
                  <a:srgbClr val="E8EDF5"/>
                </a:solidFill>
                <a:latin typeface="Aptos"/>
                <a:ea typeface="Aptos"/>
                <a:cs typeface="Aptos"/>
              </a:rPr>
              <a:t>​</a:t>
            </a:r>
          </a:p>
        </p:txBody>
      </p:sp>
      <p:sp>
        <p:nvSpPr>
          <p:cNvPr id="8" name="Rectangle 7">
            <a:extLst>
              <a:ext uri="{FF2B5EF4-FFF2-40B4-BE49-F238E27FC236}">
                <a16:creationId xmlns:a16="http://schemas.microsoft.com/office/drawing/2014/main" id="{5DC9ACB1-A531-4031-9A08-612A7F39B970}"/>
              </a:ext>
            </a:extLst>
          </p:cNvPr>
          <p:cNvSpPr>
            <a:spLocks noGrp="1"/>
          </p:cNvSpPr>
          <p:nvPr/>
        </p:nvSpPr>
        <p:spPr>
          <a:xfrm>
            <a:off x="6172200" y="2609850"/>
            <a:ext cx="1714500" cy="57150"/>
          </a:xfrm>
          <a:prstGeom prst="rect">
            <a:avLst/>
          </a:prstGeom>
          <a:solidFill>
            <a:srgbClr val="E8EDF5"/>
          </a:solidFill>
          <a:ln w="0">
            <a:noFill/>
            <a:prstDash val="solid"/>
          </a:ln>
        </p:spPr>
        <p:txBody>
          <a:bodyPr lIns="0" tIns="0" rIns="0" bIns="0" anchor="t">
            <a:normAutofit/>
          </a:bodyPr>
          <a:lstStyle/>
          <a:p>
            <a:pPr algn="l">
              <a:buNone/>
              <a:defRPr sz="100" b="1">
                <a:solidFill>
                  <a:srgbClr val="E8EDF5"/>
                </a:solidFill>
                <a:latin typeface="Aptos"/>
                <a:ea typeface="Aptos"/>
                <a:cs typeface="Aptos"/>
              </a:defRPr>
            </a:pPr>
            <a:r>
              <a:rPr sz="100" b="1">
                <a:solidFill>
                  <a:srgbClr val="E8EDF5"/>
                </a:solidFill>
                <a:latin typeface="Aptos"/>
                <a:ea typeface="Aptos"/>
                <a:cs typeface="Aptos"/>
              </a:rPr>
              <a:t>​</a:t>
            </a:r>
          </a:p>
        </p:txBody>
      </p:sp>
      <p:sp>
        <p:nvSpPr>
          <p:cNvPr id="9" name="Rectangle 8">
            <a:extLst>
              <a:ext uri="{FF2B5EF4-FFF2-40B4-BE49-F238E27FC236}">
                <a16:creationId xmlns:a16="http://schemas.microsoft.com/office/drawing/2014/main" id="{A4EF3A2E-B8CB-41DB-B7B6-9FDADAE1D3CA}"/>
              </a:ext>
            </a:extLst>
          </p:cNvPr>
          <p:cNvSpPr>
            <a:spLocks noGrp="1"/>
          </p:cNvSpPr>
          <p:nvPr/>
        </p:nvSpPr>
        <p:spPr>
          <a:xfrm>
            <a:off x="4133850" y="4476750"/>
            <a:ext cx="1714500" cy="57150"/>
          </a:xfrm>
          <a:prstGeom prst="rect">
            <a:avLst/>
          </a:prstGeom>
          <a:solidFill>
            <a:srgbClr val="E8EDF5"/>
          </a:solidFill>
          <a:ln w="0">
            <a:noFill/>
            <a:prstDash val="solid"/>
          </a:ln>
        </p:spPr>
        <p:txBody>
          <a:bodyPr lIns="0" tIns="0" rIns="0" bIns="0" anchor="t">
            <a:normAutofit/>
          </a:bodyPr>
          <a:lstStyle/>
          <a:p>
            <a:pPr algn="l">
              <a:buNone/>
              <a:defRPr sz="100" b="0">
                <a:solidFill>
                  <a:srgbClr val="E8EDF5"/>
                </a:solidFill>
                <a:latin typeface="Aptos"/>
                <a:ea typeface="Aptos"/>
                <a:cs typeface="Aptos"/>
              </a:defRPr>
            </a:pPr>
            <a:r>
              <a:rPr sz="100" b="0">
                <a:solidFill>
                  <a:srgbClr val="E8EDF5"/>
                </a:solidFill>
                <a:latin typeface="Aptos"/>
                <a:ea typeface="Aptos"/>
                <a:cs typeface="Aptos"/>
              </a:rPr>
              <a:t>​</a:t>
            </a:r>
          </a:p>
        </p:txBody>
      </p:sp>
      <p:sp>
        <p:nvSpPr>
          <p:cNvPr id="10" name="Rounded Rectangle 9">
            <a:extLst>
              <a:ext uri="{FF2B5EF4-FFF2-40B4-BE49-F238E27FC236}">
                <a16:creationId xmlns:a16="http://schemas.microsoft.com/office/drawing/2014/main" id="{A4360955-6192-48C9-AED3-4AB7B7D7BF4F}"/>
              </a:ext>
            </a:extLst>
          </p:cNvPr>
          <p:cNvSpPr>
            <a:spLocks noGrp="1"/>
          </p:cNvSpPr>
          <p:nvPr/>
        </p:nvSpPr>
        <p:spPr>
          <a:xfrm>
            <a:off x="6172200" y="4476750"/>
            <a:ext cx="1714500" cy="57150"/>
          </a:xfrm>
          <a:prstGeom prst="roundRect">
            <a:avLst>
              <a:gd name="adj" fmla="val 0"/>
            </a:avLst>
          </a:prstGeom>
          <a:solidFill>
            <a:srgbClr val="E8EDF5"/>
          </a:solidFill>
          <a:ln w="0">
            <a:noFill/>
            <a:prstDash val="solid"/>
          </a:ln>
        </p:spPr>
        <p:txBody>
          <a:bodyPr lIns="0" tIns="0" rIns="0" bIns="0"/>
          <a:lstStyle/>
          <a:p>
            <a:pPr>
              <a:defRPr sz="100">
                <a:solidFill>
                  <a:srgbClr val="E8EDF5"/>
                </a:solidFill>
              </a:defRPr>
            </a:pPr>
            <a:r>
              <a:rPr sz="100">
                <a:solidFill>
                  <a:srgbClr val="E8EDF5"/>
                </a:solidFill>
              </a:rPr>
              <a:t>​</a:t>
            </a:r>
          </a:p>
        </p:txBody>
      </p:sp>
      <p:sp>
        <p:nvSpPr>
          <p:cNvPr id="11" name="Rectangle 10">
            <a:extLst>
              <a:ext uri="{FF2B5EF4-FFF2-40B4-BE49-F238E27FC236}">
                <a16:creationId xmlns:a16="http://schemas.microsoft.com/office/drawing/2014/main" id="{99588035-1E69-454E-BFB3-72D87779EF61}"/>
              </a:ext>
            </a:extLst>
          </p:cNvPr>
          <p:cNvSpPr>
            <a:spLocks noGrp="1"/>
          </p:cNvSpPr>
          <p:nvPr/>
        </p:nvSpPr>
        <p:spPr>
          <a:xfrm>
            <a:off x="5962650" y="4095750"/>
            <a:ext cx="57150" cy="1428750"/>
          </a:xfrm>
          <a:prstGeom prst="rect">
            <a:avLst/>
          </a:prstGeom>
          <a:solidFill>
            <a:srgbClr val="E8EDF5"/>
          </a:solidFill>
          <a:ln w="0">
            <a:noFill/>
            <a:prstDash val="solid"/>
          </a:ln>
        </p:spPr>
        <p:txBody>
          <a:bodyPr lIns="0" tIns="0" rIns="0" bIns="0" anchor="t">
            <a:normAutofit/>
          </a:bodyPr>
          <a:lstStyle/>
          <a:p>
            <a:pPr algn="l">
              <a:buNone/>
              <a:defRPr sz="100" b="1">
                <a:solidFill>
                  <a:srgbClr val="E8EDF5"/>
                </a:solidFill>
                <a:latin typeface="Aptos"/>
                <a:ea typeface="Aptos"/>
                <a:cs typeface="Aptos"/>
              </a:defRPr>
            </a:pPr>
            <a:r>
              <a:rPr sz="100" b="1">
                <a:solidFill>
                  <a:srgbClr val="E8EDF5"/>
                </a:solidFill>
                <a:latin typeface="Aptos"/>
                <a:ea typeface="Aptos"/>
                <a:cs typeface="Aptos"/>
              </a:rPr>
              <a:t>​</a:t>
            </a:r>
          </a:p>
        </p:txBody>
      </p:sp>
      <p:sp>
        <p:nvSpPr>
          <p:cNvPr id="12" name="Rounded Rectangle 11">
            <a:extLst>
              <a:ext uri="{FF2B5EF4-FFF2-40B4-BE49-F238E27FC236}">
                <a16:creationId xmlns:a16="http://schemas.microsoft.com/office/drawing/2014/main" id="{2893A8C6-FB19-4FC0-80D0-5C5DCBF9134C}"/>
              </a:ext>
            </a:extLst>
          </p:cNvPr>
          <p:cNvSpPr>
            <a:spLocks noGrp="1"/>
          </p:cNvSpPr>
          <p:nvPr/>
        </p:nvSpPr>
        <p:spPr>
          <a:xfrm>
            <a:off x="4667250" y="2812755"/>
            <a:ext cx="2667000" cy="1524000"/>
          </a:xfrm>
          <a:prstGeom prst="roundRect">
            <a:avLst>
              <a:gd name="adj" fmla="val 17500"/>
            </a:avLst>
          </a:prstGeom>
          <a:solidFill>
            <a:srgbClr val="2D5BFF"/>
          </a:solidFill>
          <a:ln w="0">
            <a:noFill/>
            <a:prstDash val="solid"/>
          </a:ln>
        </p:spPr>
        <p:txBody>
          <a:bodyPr lIns="0" tIns="0" rIns="0" bIns="0" anchor="t">
            <a:normAutofit/>
          </a:bodyPr>
          <a:lstStyle/>
          <a:p>
            <a:pPr algn="l">
              <a:buNone/>
              <a:defRPr sz="100" b="1">
                <a:solidFill>
                  <a:srgbClr val="2D5BFF"/>
                </a:solidFill>
                <a:latin typeface="Aptos"/>
                <a:ea typeface="Aptos"/>
                <a:cs typeface="Aptos"/>
              </a:defRPr>
            </a:pPr>
            <a:r>
              <a:rPr sz="100" b="1">
                <a:solidFill>
                  <a:srgbClr val="2D5BFF"/>
                </a:solidFill>
                <a:latin typeface="Aptos"/>
                <a:ea typeface="Aptos"/>
                <a:cs typeface="Aptos"/>
              </a:rPr>
              <a:t>​</a:t>
            </a:r>
          </a:p>
        </p:txBody>
      </p:sp>
      <p:sp>
        <p:nvSpPr>
          <p:cNvPr id="13" name="Rectangle 12">
            <a:extLst>
              <a:ext uri="{FF2B5EF4-FFF2-40B4-BE49-F238E27FC236}">
                <a16:creationId xmlns:a16="http://schemas.microsoft.com/office/drawing/2014/main" id="{315473C9-6F0A-4677-82DA-05A7928C55CC}"/>
              </a:ext>
            </a:extLst>
          </p:cNvPr>
          <p:cNvSpPr>
            <a:spLocks noGrp="1"/>
          </p:cNvSpPr>
          <p:nvPr/>
        </p:nvSpPr>
        <p:spPr>
          <a:xfrm>
            <a:off x="4895850" y="3016545"/>
            <a:ext cx="2209800" cy="1219200"/>
          </a:xfrm>
          <a:prstGeom prst="rect">
            <a:avLst/>
          </a:prstGeom>
          <a:noFill/>
          <a:ln w="0">
            <a:noFill/>
            <a:prstDash val="solid"/>
          </a:ln>
        </p:spPr>
        <p:txBody>
          <a:bodyPr wrap="square" lIns="0" tIns="0" rIns="0" bIns="0" anchor="ctr">
            <a:normAutofit/>
          </a:bodyPr>
          <a:lstStyle/>
          <a:p>
            <a:pPr algn="ctr">
              <a:lnSpc>
                <a:spcPct val="90000"/>
              </a:lnSpc>
              <a:buNone/>
              <a:defRPr sz="2400" b="1">
                <a:solidFill>
                  <a:srgbClr val="FFFFFF"/>
                </a:solidFill>
                <a:latin typeface="Aptos"/>
                <a:ea typeface="Aptos"/>
                <a:cs typeface="Aptos"/>
              </a:defRPr>
            </a:pPr>
            <a:r>
              <a:rPr sz="2400" b="1" dirty="0">
                <a:solidFill>
                  <a:srgbClr val="FFFFFF"/>
                </a:solidFill>
                <a:latin typeface="Aptos"/>
                <a:ea typeface="Aptos"/>
                <a:cs typeface="Aptos"/>
              </a:rPr>
              <a:t>REGIONAL</a:t>
            </a:r>
          </a:p>
          <a:p>
            <a:pPr algn="ctr">
              <a:lnSpc>
                <a:spcPct val="90000"/>
              </a:lnSpc>
              <a:buNone/>
              <a:defRPr sz="2400" b="1">
                <a:solidFill>
                  <a:srgbClr val="FFFFFF"/>
                </a:solidFill>
                <a:latin typeface="Aptos"/>
                <a:ea typeface="Aptos"/>
                <a:cs typeface="Aptos"/>
              </a:defRPr>
            </a:pPr>
            <a:r>
              <a:rPr sz="2400" b="1" dirty="0">
                <a:solidFill>
                  <a:srgbClr val="FFFFFF"/>
                </a:solidFill>
                <a:latin typeface="Aptos"/>
                <a:ea typeface="Aptos"/>
                <a:cs typeface="Aptos"/>
              </a:rPr>
              <a:t>SIGNALS</a:t>
            </a:r>
          </a:p>
        </p:txBody>
      </p:sp>
      <p:sp>
        <p:nvSpPr>
          <p:cNvPr id="14" name="Rounded Rectangle 13">
            <a:extLst>
              <a:ext uri="{FF2B5EF4-FFF2-40B4-BE49-F238E27FC236}">
                <a16:creationId xmlns:a16="http://schemas.microsoft.com/office/drawing/2014/main" id="{C7B2194A-509D-422D-A42E-F030E8D215A7}"/>
              </a:ext>
            </a:extLst>
          </p:cNvPr>
          <p:cNvSpPr>
            <a:spLocks noGrp="1"/>
          </p:cNvSpPr>
          <p:nvPr/>
        </p:nvSpPr>
        <p:spPr>
          <a:xfrm>
            <a:off x="4762500" y="1676400"/>
            <a:ext cx="2476500" cy="685800"/>
          </a:xfrm>
          <a:prstGeom prst="roundRect">
            <a:avLst>
              <a:gd name="adj" fmla="val 25000"/>
            </a:avLst>
          </a:prstGeom>
          <a:solidFill>
            <a:srgbClr val="DDE6FF"/>
          </a:solidFill>
          <a:ln w="0">
            <a:noFill/>
            <a:prstDash val="solid"/>
          </a:ln>
        </p:spPr>
        <p:txBody>
          <a:bodyPr lIns="0" tIns="0" rIns="0" bIns="0"/>
          <a:lstStyle/>
          <a:p>
            <a:pPr>
              <a:defRPr sz="100">
                <a:solidFill>
                  <a:srgbClr val="DDE6FF"/>
                </a:solidFill>
              </a:defRPr>
            </a:pPr>
            <a:r>
              <a:rPr sz="100">
                <a:solidFill>
                  <a:srgbClr val="DDE6FF"/>
                </a:solidFill>
              </a:rPr>
              <a:t>​</a:t>
            </a:r>
          </a:p>
        </p:txBody>
      </p:sp>
      <p:sp>
        <p:nvSpPr>
          <p:cNvPr id="15" name="Rectangle 14">
            <a:extLst>
              <a:ext uri="{FF2B5EF4-FFF2-40B4-BE49-F238E27FC236}">
                <a16:creationId xmlns:a16="http://schemas.microsoft.com/office/drawing/2014/main" id="{EC417500-C13A-4F91-ADCC-B0DE10430D73}"/>
              </a:ext>
            </a:extLst>
          </p:cNvPr>
          <p:cNvSpPr>
            <a:spLocks noGrp="1"/>
          </p:cNvSpPr>
          <p:nvPr/>
        </p:nvSpPr>
        <p:spPr>
          <a:xfrm>
            <a:off x="4895850" y="1676400"/>
            <a:ext cx="2209800" cy="685800"/>
          </a:xfrm>
          <a:prstGeom prst="rect">
            <a:avLst/>
          </a:prstGeom>
          <a:noFill/>
          <a:ln w="0">
            <a:noFill/>
            <a:prstDash val="solid"/>
          </a:ln>
        </p:spPr>
        <p:txBody>
          <a:bodyPr wrap="square" lIns="0" tIns="0" rIns="0" bIns="0" anchor="ctr">
            <a:normAutofit/>
          </a:bodyPr>
          <a:lstStyle/>
          <a:p>
            <a:pPr algn="ctr">
              <a:lnSpc>
                <a:spcPct val="100000"/>
              </a:lnSpc>
              <a:buNone/>
              <a:defRPr sz="1425" b="1">
                <a:solidFill>
                  <a:srgbClr val="13213A"/>
                </a:solidFill>
                <a:latin typeface="Aptos"/>
                <a:ea typeface="Aptos"/>
                <a:cs typeface="Aptos"/>
              </a:defRPr>
            </a:pPr>
            <a:r>
              <a:rPr sz="1425" b="1">
                <a:solidFill>
                  <a:srgbClr val="13213A"/>
                </a:solidFill>
                <a:latin typeface="Aptos"/>
                <a:ea typeface="Aptos"/>
                <a:cs typeface="Aptos"/>
              </a:rPr>
              <a:t>MARKETING</a:t>
            </a:r>
          </a:p>
        </p:txBody>
      </p:sp>
      <p:sp>
        <p:nvSpPr>
          <p:cNvPr id="16" name="Rounded Rectangle 15">
            <a:extLst>
              <a:ext uri="{FF2B5EF4-FFF2-40B4-BE49-F238E27FC236}">
                <a16:creationId xmlns:a16="http://schemas.microsoft.com/office/drawing/2014/main" id="{4351DFE3-9D18-45FC-AF78-FFAB41D25392}"/>
              </a:ext>
            </a:extLst>
          </p:cNvPr>
          <p:cNvSpPr>
            <a:spLocks noGrp="1"/>
          </p:cNvSpPr>
          <p:nvPr/>
        </p:nvSpPr>
        <p:spPr>
          <a:xfrm>
            <a:off x="895350" y="2266950"/>
            <a:ext cx="2857500" cy="685800"/>
          </a:xfrm>
          <a:prstGeom prst="roundRect">
            <a:avLst>
              <a:gd name="adj" fmla="val 25000"/>
            </a:avLst>
          </a:prstGeom>
          <a:solidFill>
            <a:srgbClr val="F3C96B"/>
          </a:solidFill>
          <a:ln w="0">
            <a:noFill/>
            <a:prstDash val="solid"/>
          </a:ln>
        </p:spPr>
        <p:txBody>
          <a:bodyPr lIns="0" tIns="0" rIns="0" bIns="0" anchor="t">
            <a:normAutofit/>
          </a:bodyPr>
          <a:lstStyle/>
          <a:p>
            <a:pPr algn="l">
              <a:buNone/>
              <a:defRPr sz="100" b="1">
                <a:solidFill>
                  <a:srgbClr val="F3C96B"/>
                </a:solidFill>
                <a:latin typeface="Aptos"/>
                <a:ea typeface="Aptos"/>
                <a:cs typeface="Aptos"/>
              </a:defRPr>
            </a:pPr>
            <a:r>
              <a:rPr sz="100" b="1">
                <a:solidFill>
                  <a:srgbClr val="F3C96B"/>
                </a:solidFill>
                <a:latin typeface="Aptos"/>
                <a:ea typeface="Aptos"/>
                <a:cs typeface="Aptos"/>
              </a:rPr>
              <a:t>​</a:t>
            </a:r>
          </a:p>
        </p:txBody>
      </p:sp>
      <p:sp>
        <p:nvSpPr>
          <p:cNvPr id="17" name="Rectangle 16">
            <a:extLst>
              <a:ext uri="{FF2B5EF4-FFF2-40B4-BE49-F238E27FC236}">
                <a16:creationId xmlns:a16="http://schemas.microsoft.com/office/drawing/2014/main" id="{29F7DDBF-2AA3-4A6C-91A9-2E4DA14F7622}"/>
              </a:ext>
            </a:extLst>
          </p:cNvPr>
          <p:cNvSpPr>
            <a:spLocks noGrp="1"/>
          </p:cNvSpPr>
          <p:nvPr/>
        </p:nvSpPr>
        <p:spPr>
          <a:xfrm>
            <a:off x="1028700" y="2266950"/>
            <a:ext cx="2590800" cy="685800"/>
          </a:xfrm>
          <a:prstGeom prst="rect">
            <a:avLst/>
          </a:prstGeom>
          <a:noFill/>
          <a:ln w="0">
            <a:noFill/>
            <a:prstDash val="solid"/>
          </a:ln>
        </p:spPr>
        <p:txBody>
          <a:bodyPr wrap="square" lIns="0" tIns="0" rIns="0" bIns="0" anchor="ctr">
            <a:normAutofit/>
          </a:bodyPr>
          <a:lstStyle/>
          <a:p>
            <a:pPr algn="ctr">
              <a:lnSpc>
                <a:spcPct val="100000"/>
              </a:lnSpc>
              <a:buNone/>
              <a:defRPr sz="1425" b="1">
                <a:solidFill>
                  <a:srgbClr val="13213A"/>
                </a:solidFill>
                <a:latin typeface="Aptos"/>
                <a:ea typeface="Aptos"/>
                <a:cs typeface="Aptos"/>
              </a:defRPr>
            </a:pPr>
            <a:r>
              <a:rPr sz="1425" b="1">
                <a:solidFill>
                  <a:srgbClr val="13213A"/>
                </a:solidFill>
                <a:latin typeface="Aptos"/>
                <a:ea typeface="Aptos"/>
                <a:cs typeface="Aptos"/>
              </a:rPr>
              <a:t>MERCHANDISING</a:t>
            </a:r>
          </a:p>
        </p:txBody>
      </p:sp>
      <p:sp>
        <p:nvSpPr>
          <p:cNvPr id="18" name="Rounded Rectangle 17">
            <a:extLst>
              <a:ext uri="{FF2B5EF4-FFF2-40B4-BE49-F238E27FC236}">
                <a16:creationId xmlns:a16="http://schemas.microsoft.com/office/drawing/2014/main" id="{8843E4DA-12CB-4A56-89B2-9C8B7C0D977A}"/>
              </a:ext>
            </a:extLst>
          </p:cNvPr>
          <p:cNvSpPr>
            <a:spLocks noGrp="1"/>
          </p:cNvSpPr>
          <p:nvPr/>
        </p:nvSpPr>
        <p:spPr>
          <a:xfrm>
            <a:off x="8248650" y="2266950"/>
            <a:ext cx="2857500" cy="685800"/>
          </a:xfrm>
          <a:prstGeom prst="roundRect">
            <a:avLst>
              <a:gd name="adj" fmla="val 25000"/>
            </a:avLst>
          </a:prstGeom>
          <a:solidFill>
            <a:srgbClr val="BFE9D0"/>
          </a:solidFill>
          <a:ln w="0">
            <a:noFill/>
            <a:prstDash val="solid"/>
          </a:ln>
        </p:spPr>
        <p:txBody>
          <a:bodyPr lIns="0" tIns="0" rIns="0" bIns="0"/>
          <a:lstStyle/>
          <a:p>
            <a:pPr>
              <a:defRPr sz="100">
                <a:solidFill>
                  <a:srgbClr val="BFE9D0"/>
                </a:solidFill>
              </a:defRPr>
            </a:pPr>
            <a:r>
              <a:rPr sz="100">
                <a:solidFill>
                  <a:srgbClr val="BFE9D0"/>
                </a:solidFill>
              </a:rPr>
              <a:t>​</a:t>
            </a:r>
          </a:p>
        </p:txBody>
      </p:sp>
      <p:sp>
        <p:nvSpPr>
          <p:cNvPr id="19" name="Rectangle 18">
            <a:extLst>
              <a:ext uri="{FF2B5EF4-FFF2-40B4-BE49-F238E27FC236}">
                <a16:creationId xmlns:a16="http://schemas.microsoft.com/office/drawing/2014/main" id="{F4A345E8-BF02-4D2D-A383-34064F213B05}"/>
              </a:ext>
            </a:extLst>
          </p:cNvPr>
          <p:cNvSpPr>
            <a:spLocks noGrp="1"/>
          </p:cNvSpPr>
          <p:nvPr/>
        </p:nvSpPr>
        <p:spPr>
          <a:xfrm>
            <a:off x="8382000" y="2266950"/>
            <a:ext cx="2590800" cy="685800"/>
          </a:xfrm>
          <a:prstGeom prst="rect">
            <a:avLst/>
          </a:prstGeom>
          <a:noFill/>
          <a:ln w="0">
            <a:noFill/>
            <a:prstDash val="solid"/>
          </a:ln>
        </p:spPr>
        <p:txBody>
          <a:bodyPr wrap="square" lIns="0" tIns="0" rIns="0" bIns="0" anchor="ctr">
            <a:normAutofit/>
          </a:bodyPr>
          <a:lstStyle/>
          <a:p>
            <a:pPr algn="ctr">
              <a:lnSpc>
                <a:spcPct val="100000"/>
              </a:lnSpc>
              <a:buNone/>
              <a:defRPr sz="1425" b="1">
                <a:solidFill>
                  <a:srgbClr val="13213A"/>
                </a:solidFill>
                <a:latin typeface="Aptos"/>
                <a:ea typeface="Aptos"/>
                <a:cs typeface="Aptos"/>
              </a:defRPr>
            </a:pPr>
            <a:r>
              <a:rPr sz="1425" b="1">
                <a:solidFill>
                  <a:srgbClr val="13213A"/>
                </a:solidFill>
                <a:latin typeface="Aptos"/>
                <a:ea typeface="Aptos"/>
                <a:cs typeface="Aptos"/>
              </a:rPr>
              <a:t>SERVICES</a:t>
            </a:r>
          </a:p>
        </p:txBody>
      </p:sp>
      <p:sp>
        <p:nvSpPr>
          <p:cNvPr id="20" name="Rounded Rectangle 19">
            <a:extLst>
              <a:ext uri="{FF2B5EF4-FFF2-40B4-BE49-F238E27FC236}">
                <a16:creationId xmlns:a16="http://schemas.microsoft.com/office/drawing/2014/main" id="{C85C5F8A-9C71-4031-A838-CDBB4DE5E565}"/>
              </a:ext>
            </a:extLst>
          </p:cNvPr>
          <p:cNvSpPr>
            <a:spLocks noGrp="1"/>
          </p:cNvSpPr>
          <p:nvPr/>
        </p:nvSpPr>
        <p:spPr>
          <a:xfrm>
            <a:off x="895350" y="4114800"/>
            <a:ext cx="2857500" cy="685800"/>
          </a:xfrm>
          <a:prstGeom prst="roundRect">
            <a:avLst>
              <a:gd name="adj" fmla="val 25000"/>
            </a:avLst>
          </a:prstGeom>
          <a:solidFill>
            <a:srgbClr val="BFE9D0"/>
          </a:solidFill>
          <a:ln w="0">
            <a:noFill/>
            <a:prstDash val="solid"/>
          </a:ln>
        </p:spPr>
        <p:txBody>
          <a:bodyPr lIns="0" tIns="0" rIns="0" bIns="0" anchor="t">
            <a:normAutofit/>
          </a:bodyPr>
          <a:lstStyle/>
          <a:p>
            <a:pPr algn="l">
              <a:buNone/>
              <a:defRPr sz="100" b="1">
                <a:solidFill>
                  <a:srgbClr val="BFE9D0"/>
                </a:solidFill>
                <a:latin typeface="Aptos"/>
                <a:ea typeface="Aptos"/>
                <a:cs typeface="Aptos"/>
              </a:defRPr>
            </a:pPr>
            <a:r>
              <a:rPr sz="100" b="1">
                <a:solidFill>
                  <a:srgbClr val="BFE9D0"/>
                </a:solidFill>
                <a:latin typeface="Aptos"/>
                <a:ea typeface="Aptos"/>
                <a:cs typeface="Aptos"/>
              </a:rPr>
              <a:t>​</a:t>
            </a:r>
          </a:p>
        </p:txBody>
      </p:sp>
      <p:sp>
        <p:nvSpPr>
          <p:cNvPr id="21" name="Rectangle 20">
            <a:extLst>
              <a:ext uri="{FF2B5EF4-FFF2-40B4-BE49-F238E27FC236}">
                <a16:creationId xmlns:a16="http://schemas.microsoft.com/office/drawing/2014/main" id="{A237AE24-54C5-416F-BED7-D43C5A21D2C5}"/>
              </a:ext>
            </a:extLst>
          </p:cNvPr>
          <p:cNvSpPr>
            <a:spLocks noGrp="1"/>
          </p:cNvSpPr>
          <p:nvPr/>
        </p:nvSpPr>
        <p:spPr>
          <a:xfrm>
            <a:off x="1028700" y="4114800"/>
            <a:ext cx="2590800" cy="685800"/>
          </a:xfrm>
          <a:prstGeom prst="rect">
            <a:avLst/>
          </a:prstGeom>
          <a:noFill/>
          <a:ln w="0">
            <a:noFill/>
            <a:prstDash val="solid"/>
          </a:ln>
        </p:spPr>
        <p:txBody>
          <a:bodyPr wrap="square" lIns="0" tIns="0" rIns="0" bIns="0" anchor="ctr">
            <a:normAutofit/>
          </a:bodyPr>
          <a:lstStyle/>
          <a:p>
            <a:pPr algn="ctr">
              <a:lnSpc>
                <a:spcPct val="100000"/>
              </a:lnSpc>
              <a:buNone/>
              <a:defRPr sz="1425" b="1">
                <a:solidFill>
                  <a:srgbClr val="13213A"/>
                </a:solidFill>
                <a:latin typeface="Aptos"/>
                <a:ea typeface="Aptos"/>
                <a:cs typeface="Aptos"/>
              </a:defRPr>
            </a:pPr>
            <a:r>
              <a:rPr sz="1425" b="1">
                <a:solidFill>
                  <a:srgbClr val="13213A"/>
                </a:solidFill>
                <a:latin typeface="Aptos"/>
                <a:ea typeface="Aptos"/>
                <a:cs typeface="Aptos"/>
              </a:rPr>
              <a:t>PARTNERSHIPS</a:t>
            </a:r>
          </a:p>
        </p:txBody>
      </p:sp>
      <p:sp>
        <p:nvSpPr>
          <p:cNvPr id="22" name="Rounded Rectangle 21">
            <a:extLst>
              <a:ext uri="{FF2B5EF4-FFF2-40B4-BE49-F238E27FC236}">
                <a16:creationId xmlns:a16="http://schemas.microsoft.com/office/drawing/2014/main" id="{8DADA5EC-5EF3-458F-84C8-1AB51E0754BD}"/>
              </a:ext>
            </a:extLst>
          </p:cNvPr>
          <p:cNvSpPr>
            <a:spLocks noGrp="1"/>
          </p:cNvSpPr>
          <p:nvPr/>
        </p:nvSpPr>
        <p:spPr>
          <a:xfrm>
            <a:off x="8248650" y="4114800"/>
            <a:ext cx="2857500" cy="685800"/>
          </a:xfrm>
          <a:prstGeom prst="roundRect">
            <a:avLst>
              <a:gd name="adj" fmla="val 25000"/>
            </a:avLst>
          </a:prstGeom>
          <a:solidFill>
            <a:srgbClr val="FF8A73"/>
          </a:solidFill>
          <a:ln w="0">
            <a:noFill/>
            <a:prstDash val="solid"/>
          </a:ln>
        </p:spPr>
        <p:txBody>
          <a:bodyPr lIns="0" tIns="0" rIns="0" bIns="0"/>
          <a:lstStyle/>
          <a:p>
            <a:pPr>
              <a:defRPr sz="100">
                <a:solidFill>
                  <a:srgbClr val="FF8A73"/>
                </a:solidFill>
              </a:defRPr>
            </a:pPr>
            <a:r>
              <a:rPr sz="100">
                <a:solidFill>
                  <a:srgbClr val="FF8A73"/>
                </a:solidFill>
              </a:rPr>
              <a:t>​</a:t>
            </a:r>
          </a:p>
        </p:txBody>
      </p:sp>
      <p:sp>
        <p:nvSpPr>
          <p:cNvPr id="23" name="Rectangle 22">
            <a:extLst>
              <a:ext uri="{FF2B5EF4-FFF2-40B4-BE49-F238E27FC236}">
                <a16:creationId xmlns:a16="http://schemas.microsoft.com/office/drawing/2014/main" id="{597F6219-43D5-48F6-AAF2-E08DE64913DF}"/>
              </a:ext>
            </a:extLst>
          </p:cNvPr>
          <p:cNvSpPr>
            <a:spLocks noGrp="1"/>
          </p:cNvSpPr>
          <p:nvPr/>
        </p:nvSpPr>
        <p:spPr>
          <a:xfrm>
            <a:off x="8382000" y="4114800"/>
            <a:ext cx="2590800" cy="685800"/>
          </a:xfrm>
          <a:prstGeom prst="rect">
            <a:avLst/>
          </a:prstGeom>
          <a:noFill/>
          <a:ln w="0">
            <a:noFill/>
            <a:prstDash val="solid"/>
          </a:ln>
        </p:spPr>
        <p:txBody>
          <a:bodyPr wrap="square" lIns="0" tIns="0" rIns="0" bIns="0" anchor="ctr">
            <a:normAutofit/>
          </a:bodyPr>
          <a:lstStyle/>
          <a:p>
            <a:pPr algn="ctr">
              <a:lnSpc>
                <a:spcPct val="100000"/>
              </a:lnSpc>
              <a:buNone/>
              <a:defRPr sz="1425" b="1">
                <a:solidFill>
                  <a:srgbClr val="13213A"/>
                </a:solidFill>
                <a:latin typeface="Aptos"/>
                <a:ea typeface="Aptos"/>
                <a:cs typeface="Aptos"/>
              </a:defRPr>
            </a:pPr>
            <a:r>
              <a:rPr sz="1425" b="1">
                <a:solidFill>
                  <a:srgbClr val="13213A"/>
                </a:solidFill>
                <a:latin typeface="Aptos"/>
                <a:ea typeface="Aptos"/>
                <a:cs typeface="Aptos"/>
              </a:rPr>
              <a:t>OPERATIONS</a:t>
            </a:r>
          </a:p>
        </p:txBody>
      </p:sp>
      <p:sp>
        <p:nvSpPr>
          <p:cNvPr id="24" name="Rounded Rectangle 23">
            <a:extLst>
              <a:ext uri="{FF2B5EF4-FFF2-40B4-BE49-F238E27FC236}">
                <a16:creationId xmlns:a16="http://schemas.microsoft.com/office/drawing/2014/main" id="{C0A0E400-729F-4A83-BF53-FD584BDABC3A}"/>
              </a:ext>
            </a:extLst>
          </p:cNvPr>
          <p:cNvSpPr>
            <a:spLocks noGrp="1"/>
          </p:cNvSpPr>
          <p:nvPr/>
        </p:nvSpPr>
        <p:spPr>
          <a:xfrm>
            <a:off x="4762500" y="5295900"/>
            <a:ext cx="2476500" cy="685800"/>
          </a:xfrm>
          <a:prstGeom prst="roundRect">
            <a:avLst>
              <a:gd name="adj" fmla="val 25000"/>
            </a:avLst>
          </a:prstGeom>
          <a:solidFill>
            <a:srgbClr val="DDE6FF"/>
          </a:solidFill>
          <a:ln w="0">
            <a:noFill/>
            <a:prstDash val="solid"/>
          </a:ln>
        </p:spPr>
        <p:txBody>
          <a:bodyPr lIns="0" tIns="0" rIns="0" bIns="0" anchor="t">
            <a:normAutofit/>
          </a:bodyPr>
          <a:lstStyle/>
          <a:p>
            <a:pPr algn="l">
              <a:buNone/>
              <a:defRPr sz="100" b="1">
                <a:solidFill>
                  <a:srgbClr val="DDE6FF"/>
                </a:solidFill>
                <a:latin typeface="Aptos"/>
                <a:ea typeface="Aptos"/>
                <a:cs typeface="Aptos"/>
              </a:defRPr>
            </a:pPr>
            <a:r>
              <a:rPr sz="100" b="1">
                <a:solidFill>
                  <a:srgbClr val="DDE6FF"/>
                </a:solidFill>
                <a:latin typeface="Aptos"/>
                <a:ea typeface="Aptos"/>
                <a:cs typeface="Aptos"/>
              </a:rPr>
              <a:t>​</a:t>
            </a:r>
          </a:p>
        </p:txBody>
      </p:sp>
      <p:sp>
        <p:nvSpPr>
          <p:cNvPr id="25" name="Rectangle 24">
            <a:extLst>
              <a:ext uri="{FF2B5EF4-FFF2-40B4-BE49-F238E27FC236}">
                <a16:creationId xmlns:a16="http://schemas.microsoft.com/office/drawing/2014/main" id="{0B8CEFE8-26CB-4666-B76F-028D4AA39B47}"/>
              </a:ext>
            </a:extLst>
          </p:cNvPr>
          <p:cNvSpPr>
            <a:spLocks noGrp="1"/>
          </p:cNvSpPr>
          <p:nvPr/>
        </p:nvSpPr>
        <p:spPr>
          <a:xfrm>
            <a:off x="4895850" y="5295900"/>
            <a:ext cx="2209800" cy="685800"/>
          </a:xfrm>
          <a:prstGeom prst="rect">
            <a:avLst/>
          </a:prstGeom>
          <a:noFill/>
          <a:ln w="0">
            <a:noFill/>
            <a:prstDash val="solid"/>
          </a:ln>
        </p:spPr>
        <p:txBody>
          <a:bodyPr wrap="square" lIns="0" tIns="0" rIns="0" bIns="0" anchor="ctr">
            <a:normAutofit/>
          </a:bodyPr>
          <a:lstStyle/>
          <a:p>
            <a:pPr algn="ctr">
              <a:lnSpc>
                <a:spcPct val="100000"/>
              </a:lnSpc>
              <a:buNone/>
              <a:defRPr sz="1425" b="1">
                <a:solidFill>
                  <a:srgbClr val="13213A"/>
                </a:solidFill>
                <a:latin typeface="Aptos"/>
                <a:ea typeface="Aptos"/>
                <a:cs typeface="Aptos"/>
              </a:defRPr>
            </a:pPr>
            <a:r>
              <a:rPr sz="1425" b="1">
                <a:solidFill>
                  <a:srgbClr val="13213A"/>
                </a:solidFill>
                <a:latin typeface="Aptos"/>
                <a:ea typeface="Aptos"/>
                <a:cs typeface="Aptos"/>
              </a:rPr>
              <a:t>CLINICS</a:t>
            </a:r>
          </a:p>
        </p:txBody>
      </p:sp>
      <p:sp>
        <p:nvSpPr>
          <p:cNvPr id="26" name="Rounded Rectangle 25">
            <a:extLst>
              <a:ext uri="{FF2B5EF4-FFF2-40B4-BE49-F238E27FC236}">
                <a16:creationId xmlns:a16="http://schemas.microsoft.com/office/drawing/2014/main" id="{45F5A91F-7CA9-4A3B-815A-E47F5CAA00D1}"/>
              </a:ext>
            </a:extLst>
          </p:cNvPr>
          <p:cNvSpPr>
            <a:spLocks noGrp="1"/>
          </p:cNvSpPr>
          <p:nvPr/>
        </p:nvSpPr>
        <p:spPr>
          <a:xfrm>
            <a:off x="38100" y="38100"/>
            <a:ext cx="9525" cy="9525"/>
          </a:xfrm>
          <a:prstGeom prst="roundRect">
            <a:avLst>
              <a:gd name="adj" fmla="val 9677"/>
            </a:avLst>
          </a:prstGeom>
          <a:noFill/>
          <a:ln w="0">
            <a:noFill/>
            <a:prstDash val="solid"/>
          </a:ln>
        </p:spPr>
        <p:txBody>
          <a:bodyPr/>
          <a:lstStyle/>
          <a:p>
            <a:endParaRPr/>
          </a:p>
        </p:txBody>
      </p:sp>
      <p:sp>
        <p:nvSpPr>
          <p:cNvPr id="27" name="Rectangle 26">
            <a:extLst>
              <a:ext uri="{FF2B5EF4-FFF2-40B4-BE49-F238E27FC236}">
                <a16:creationId xmlns:a16="http://schemas.microsoft.com/office/drawing/2014/main" id="{F0D65E1B-45FC-4651-BF7A-F2742AE7C54E}"/>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l">
              <a:buNone/>
              <a:defRPr sz="1050" b="1">
                <a:solidFill>
                  <a:srgbClr val="347A4A"/>
                </a:solidFill>
                <a:latin typeface="Aptos"/>
                <a:ea typeface="Aptos"/>
                <a:cs typeface="Aptos"/>
              </a:defRPr>
            </a:pPr>
            <a:endParaRPr/>
          </a:p>
        </p:txBody>
      </p:sp>
      <p:sp>
        <p:nvSpPr>
          <p:cNvPr id="28" name="Rectangle 27">
            <a:extLst>
              <a:ext uri="{FF2B5EF4-FFF2-40B4-BE49-F238E27FC236}">
                <a16:creationId xmlns:a16="http://schemas.microsoft.com/office/drawing/2014/main" id="{BE1F0388-2F67-4CA0-AF01-83122A90034B}"/>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l">
              <a:buNone/>
              <a:defRPr sz="2025" b="1">
                <a:solidFill>
                  <a:srgbClr val="13213A"/>
                </a:solidFill>
                <a:latin typeface="Aptos"/>
                <a:ea typeface="Aptos"/>
                <a:cs typeface="Aptos"/>
              </a:defRPr>
            </a:pPr>
            <a:endParaRPr/>
          </a:p>
        </p:txBody>
      </p:sp>
      <p:sp>
        <p:nvSpPr>
          <p:cNvPr id="29" name="Rectangle 28">
            <a:extLst>
              <a:ext uri="{FF2B5EF4-FFF2-40B4-BE49-F238E27FC236}">
                <a16:creationId xmlns:a16="http://schemas.microsoft.com/office/drawing/2014/main" id="{8CEE421F-B177-48A8-95C9-B4279097731E}"/>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l">
              <a:buNone/>
              <a:defRPr sz="1350" b="0">
                <a:solidFill>
                  <a:srgbClr val="39455A"/>
                </a:solidFill>
                <a:latin typeface="Aptos"/>
                <a:ea typeface="Aptos"/>
                <a:cs typeface="Aptos"/>
              </a:defRPr>
            </a:pPr>
            <a:endParaRPr/>
          </a:p>
        </p:txBody>
      </p:sp>
      <p:sp>
        <p:nvSpPr>
          <p:cNvPr id="30" name="Rectangle 29">
            <a:extLst>
              <a:ext uri="{FF2B5EF4-FFF2-40B4-BE49-F238E27FC236}">
                <a16:creationId xmlns:a16="http://schemas.microsoft.com/office/drawing/2014/main" id="{561F804E-A57E-4CD9-9EC6-F9A474FD1053}"/>
              </a:ext>
            </a:extLst>
          </p:cNvPr>
          <p:cNvSpPr>
            <a:spLocks noGrp="1"/>
          </p:cNvSpPr>
          <p:nvPr/>
        </p:nvSpPr>
        <p:spPr>
          <a:xfrm>
            <a:off x="38100" y="38100"/>
            <a:ext cx="9525" cy="9525"/>
          </a:xfrm>
          <a:prstGeom prst="rect">
            <a:avLst/>
          </a:prstGeom>
          <a:noFill/>
          <a:ln w="0">
            <a:noFill/>
            <a:prstDash val="solid"/>
          </a:ln>
        </p:spPr>
        <p:txBody>
          <a:bodyPr anchor="t">
            <a:normAutofit/>
          </a:bodyPr>
          <a:lstStyle/>
          <a:p>
            <a:pPr algn="ctr">
              <a:buNone/>
              <a:defRPr sz="1725" b="1">
                <a:solidFill>
                  <a:srgbClr val="A56A00"/>
                </a:solidFill>
                <a:latin typeface="Aptos"/>
                <a:ea typeface="Aptos"/>
                <a:cs typeface="Aptos"/>
              </a:defRPr>
            </a:pPr>
            <a:endParaRPr/>
          </a:p>
        </p:txBody>
      </p:sp>
    </p:spTree>
    <p:extLst>
      <p:ext uri="{BB962C8B-B14F-4D97-AF65-F5344CB8AC3E}">
        <p14:creationId xmlns:p14="http://schemas.microsoft.com/office/powerpoint/2010/main" val="418331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1733"/>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12592F96-0EE8-41DD-AD31-C6021EE989E4}"/>
              </a:ext>
            </a:extLst>
          </p:cNvPr>
          <p:cNvSpPr>
            <a:spLocks noGrp="1"/>
          </p:cNvSpPr>
          <p:nvPr/>
        </p:nvSpPr>
        <p:spPr>
          <a:xfrm>
            <a:off x="609600" y="323850"/>
            <a:ext cx="5334000" cy="247650"/>
          </a:xfrm>
          <a:prstGeom prst="rect">
            <a:avLst/>
          </a:prstGeom>
          <a:noFill/>
          <a:ln w="0">
            <a:noFill/>
            <a:prstDash val="solid"/>
          </a:ln>
        </p:spPr>
        <p:txBody>
          <a:bodyPr wrap="square" lIns="0" tIns="0" rIns="0" bIns="0" anchor="ctr">
            <a:normAutofit/>
          </a:bodyPr>
          <a:lstStyle/>
          <a:p>
            <a:pPr algn="l">
              <a:lnSpc>
                <a:spcPct val="100000"/>
              </a:lnSpc>
              <a:buNone/>
              <a:defRPr sz="1125" b="1">
                <a:solidFill>
                  <a:srgbClr val="DDE6FF"/>
                </a:solidFill>
                <a:latin typeface="Aptos"/>
                <a:ea typeface="Aptos"/>
                <a:cs typeface="Aptos"/>
              </a:defRPr>
            </a:pPr>
            <a:r>
              <a:rPr sz="1125" b="1">
                <a:solidFill>
                  <a:srgbClr val="DDE6FF"/>
                </a:solidFill>
                <a:latin typeface="Aptos"/>
                <a:ea typeface="Aptos"/>
                <a:cs typeface="Aptos"/>
              </a:rPr>
              <a:t>LIVE DEMO</a:t>
            </a:r>
          </a:p>
        </p:txBody>
      </p:sp>
      <p:sp>
        <p:nvSpPr>
          <p:cNvPr id="2" name="Rectangle 1">
            <a:extLst>
              <a:ext uri="{FF2B5EF4-FFF2-40B4-BE49-F238E27FC236}">
                <a16:creationId xmlns:a16="http://schemas.microsoft.com/office/drawing/2014/main" id="{E674DBC7-6E33-4724-8ECB-A8B80DD4EF26}"/>
              </a:ext>
            </a:extLst>
          </p:cNvPr>
          <p:cNvSpPr>
            <a:spLocks noGrp="1"/>
          </p:cNvSpPr>
          <p:nvPr/>
        </p:nvSpPr>
        <p:spPr>
          <a:xfrm>
            <a:off x="609600" y="723900"/>
            <a:ext cx="10668000" cy="685800"/>
          </a:xfrm>
          <a:prstGeom prst="rect">
            <a:avLst/>
          </a:prstGeom>
          <a:noFill/>
          <a:ln w="0">
            <a:noFill/>
            <a:prstDash val="solid"/>
          </a:ln>
        </p:spPr>
        <p:txBody>
          <a:bodyPr wrap="square" lIns="0" tIns="0" rIns="0" bIns="0" anchor="ctr">
            <a:normAutofit/>
          </a:bodyPr>
          <a:lstStyle/>
          <a:p>
            <a:pPr algn="l">
              <a:lnSpc>
                <a:spcPct val="100000"/>
              </a:lnSpc>
              <a:buNone/>
              <a:defRPr sz="3000" b="1">
                <a:solidFill>
                  <a:srgbClr val="FFFFFF"/>
                </a:solidFill>
                <a:latin typeface="Aptos"/>
                <a:ea typeface="Aptos"/>
                <a:cs typeface="Aptos"/>
              </a:defRPr>
            </a:pPr>
            <a:r>
              <a:rPr sz="3000" b="1">
                <a:solidFill>
                  <a:srgbClr val="FFFFFF"/>
                </a:solidFill>
                <a:latin typeface="Aptos"/>
                <a:ea typeface="Aptos"/>
                <a:cs typeface="Aptos"/>
              </a:rPr>
              <a:t>Seattle: one guided path from market to next action</a:t>
            </a:r>
          </a:p>
        </p:txBody>
      </p:sp>
      <p:sp>
        <p:nvSpPr>
          <p:cNvPr id="3" name="Rectangle 2">
            <a:extLst>
              <a:ext uri="{FF2B5EF4-FFF2-40B4-BE49-F238E27FC236}">
                <a16:creationId xmlns:a16="http://schemas.microsoft.com/office/drawing/2014/main" id="{E16340C0-B064-4033-864E-00A18F22D4D0}"/>
              </a:ext>
            </a:extLst>
          </p:cNvPr>
          <p:cNvSpPr>
            <a:spLocks noGrp="1"/>
          </p:cNvSpPr>
          <p:nvPr/>
        </p:nvSpPr>
        <p:spPr>
          <a:xfrm>
            <a:off x="609600" y="6419850"/>
            <a:ext cx="10972800" cy="19050"/>
          </a:xfrm>
          <a:prstGeom prst="rect">
            <a:avLst/>
          </a:prstGeom>
          <a:solidFill>
            <a:srgbClr val="33415F"/>
          </a:solidFill>
          <a:ln w="0">
            <a:noFill/>
            <a:prstDash val="solid"/>
          </a:ln>
        </p:spPr>
        <p:txBody>
          <a:bodyPr lIns="0" tIns="0" rIns="0" bIns="0"/>
          <a:lstStyle/>
          <a:p>
            <a:pPr>
              <a:defRPr sz="100">
                <a:solidFill>
                  <a:srgbClr val="33415F"/>
                </a:solidFill>
              </a:defRPr>
            </a:pPr>
            <a:r>
              <a:rPr sz="100">
                <a:solidFill>
                  <a:srgbClr val="33415F"/>
                </a:solidFill>
              </a:rPr>
              <a:t>​</a:t>
            </a:r>
          </a:p>
        </p:txBody>
      </p:sp>
      <p:sp>
        <p:nvSpPr>
          <p:cNvPr id="4" name="Rectangle 3">
            <a:extLst>
              <a:ext uri="{FF2B5EF4-FFF2-40B4-BE49-F238E27FC236}">
                <a16:creationId xmlns:a16="http://schemas.microsoft.com/office/drawing/2014/main" id="{6C9FC375-17F9-4FB9-B3BC-740284050E40}"/>
              </a:ext>
            </a:extLst>
          </p:cNvPr>
          <p:cNvSpPr>
            <a:spLocks noGrp="1"/>
          </p:cNvSpPr>
          <p:nvPr/>
        </p:nvSpPr>
        <p:spPr>
          <a:xfrm>
            <a:off x="609600" y="6515100"/>
            <a:ext cx="9334500" cy="171450"/>
          </a:xfrm>
          <a:prstGeom prst="rect">
            <a:avLst/>
          </a:prstGeom>
          <a:noFill/>
          <a:ln w="0">
            <a:noFill/>
            <a:prstDash val="solid"/>
          </a:ln>
        </p:spPr>
        <p:txBody>
          <a:bodyPr wrap="square" lIns="0" tIns="0" rIns="0" bIns="0" anchor="ctr">
            <a:normAutofit/>
          </a:bodyPr>
          <a:lstStyle/>
          <a:p>
            <a:pPr algn="l">
              <a:lnSpc>
                <a:spcPct val="100000"/>
              </a:lnSpc>
              <a:buNone/>
              <a:defRPr sz="900" b="0">
                <a:solidFill>
                  <a:srgbClr val="A9B5CC"/>
                </a:solidFill>
                <a:latin typeface="Aptos"/>
                <a:ea typeface="Aptos"/>
                <a:cs typeface="Aptos"/>
              </a:defRPr>
            </a:pPr>
            <a:r>
              <a:rPr sz="900" b="0">
                <a:solidFill>
                  <a:srgbClr val="A9B5CC"/>
                </a:solidFill>
                <a:latin typeface="Aptos"/>
                <a:ea typeface="Aptos"/>
                <a:cs typeface="Aptos"/>
              </a:rPr>
              <a:t>Synthetic demo | Illustrative submarkets | Not a recommendation</a:t>
            </a:r>
          </a:p>
        </p:txBody>
      </p:sp>
      <p:sp>
        <p:nvSpPr>
          <p:cNvPr id="5" name="Rectangle 4">
            <a:extLst>
              <a:ext uri="{FF2B5EF4-FFF2-40B4-BE49-F238E27FC236}">
                <a16:creationId xmlns:a16="http://schemas.microsoft.com/office/drawing/2014/main" id="{841E72F8-F91C-4AB1-A276-12AF5C3566DD}"/>
              </a:ext>
            </a:extLst>
          </p:cNvPr>
          <p:cNvSpPr>
            <a:spLocks noGrp="1"/>
          </p:cNvSpPr>
          <p:nvPr/>
        </p:nvSpPr>
        <p:spPr>
          <a:xfrm>
            <a:off x="10953750" y="6515100"/>
            <a:ext cx="628650" cy="171450"/>
          </a:xfrm>
          <a:prstGeom prst="rect">
            <a:avLst/>
          </a:prstGeom>
          <a:noFill/>
          <a:ln w="0">
            <a:noFill/>
            <a:prstDash val="solid"/>
          </a:ln>
        </p:spPr>
        <p:txBody>
          <a:bodyPr wrap="square" lIns="0" tIns="0" rIns="0" bIns="0" anchor="ctr">
            <a:normAutofit/>
          </a:bodyPr>
          <a:lstStyle/>
          <a:p>
            <a:pPr algn="r">
              <a:lnSpc>
                <a:spcPct val="100000"/>
              </a:lnSpc>
              <a:buNone/>
              <a:defRPr sz="900" b="1">
                <a:solidFill>
                  <a:srgbClr val="FFFFFF"/>
                </a:solidFill>
                <a:latin typeface="Aptos"/>
                <a:ea typeface="Aptos"/>
                <a:cs typeface="Aptos"/>
              </a:defRPr>
            </a:pPr>
            <a:r>
              <a:rPr sz="900" b="1">
                <a:solidFill>
                  <a:srgbClr val="FFFFFF"/>
                </a:solidFill>
                <a:latin typeface="Aptos"/>
                <a:ea typeface="Aptos"/>
                <a:cs typeface="Aptos"/>
              </a:rPr>
              <a:t>15</a:t>
            </a:r>
          </a:p>
        </p:txBody>
      </p:sp>
      <p:sp>
        <p:nvSpPr>
          <p:cNvPr id="6" name="Rounded Rectangle 5">
            <a:extLst>
              <a:ext uri="{FF2B5EF4-FFF2-40B4-BE49-F238E27FC236}">
                <a16:creationId xmlns:a16="http://schemas.microsoft.com/office/drawing/2014/main" id="{57F2238E-CA6B-4F68-907B-54801E8BCDF5}"/>
              </a:ext>
            </a:extLst>
          </p:cNvPr>
          <p:cNvSpPr>
            <a:spLocks noGrp="1"/>
          </p:cNvSpPr>
          <p:nvPr/>
        </p:nvSpPr>
        <p:spPr>
          <a:xfrm>
            <a:off x="609600" y="2076450"/>
            <a:ext cx="1962150" cy="3105150"/>
          </a:xfrm>
          <a:prstGeom prst="roundRect">
            <a:avLst>
              <a:gd name="adj" fmla="val 10680"/>
            </a:avLst>
          </a:prstGeom>
          <a:solidFill>
            <a:srgbClr val="2D5BFF"/>
          </a:solidFill>
          <a:ln w="9525">
            <a:solidFill>
              <a:srgbClr val="2D5BFF"/>
            </a:solidFill>
            <a:prstDash val="solid"/>
          </a:ln>
        </p:spPr>
        <p:txBody>
          <a:bodyPr lIns="0" tIns="0" rIns="0" bIns="0"/>
          <a:lstStyle/>
          <a:p>
            <a:pPr>
              <a:defRPr sz="100">
                <a:solidFill>
                  <a:srgbClr val="2D5BFF"/>
                </a:solidFill>
              </a:defRPr>
            </a:pPr>
            <a:r>
              <a:rPr sz="100">
                <a:solidFill>
                  <a:srgbClr val="2D5BFF"/>
                </a:solidFill>
              </a:rPr>
              <a:t>​</a:t>
            </a:r>
          </a:p>
        </p:txBody>
      </p:sp>
      <p:sp>
        <p:nvSpPr>
          <p:cNvPr id="7" name="Rectangle 6">
            <a:extLst>
              <a:ext uri="{FF2B5EF4-FFF2-40B4-BE49-F238E27FC236}">
                <a16:creationId xmlns:a16="http://schemas.microsoft.com/office/drawing/2014/main" id="{9B7EA097-F3F8-4B6F-8B20-13880193029C}"/>
              </a:ext>
            </a:extLst>
          </p:cNvPr>
          <p:cNvSpPr>
            <a:spLocks noGrp="1"/>
          </p:cNvSpPr>
          <p:nvPr/>
        </p:nvSpPr>
        <p:spPr>
          <a:xfrm>
            <a:off x="800100" y="2266950"/>
            <a:ext cx="571500" cy="3048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2D5BFF"/>
                </a:solidFill>
                <a:latin typeface="Aptos"/>
                <a:ea typeface="Aptos"/>
                <a:cs typeface="Aptos"/>
              </a:defRPr>
            </a:pPr>
            <a:r>
              <a:rPr sz="1200" b="1">
                <a:solidFill>
                  <a:srgbClr val="2D5BFF"/>
                </a:solidFill>
                <a:latin typeface="Aptos"/>
                <a:ea typeface="Aptos"/>
                <a:cs typeface="Aptos"/>
              </a:rPr>
              <a:t>01</a:t>
            </a:r>
          </a:p>
        </p:txBody>
      </p:sp>
      <p:sp>
        <p:nvSpPr>
          <p:cNvPr id="8" name="Rectangle 7">
            <a:extLst>
              <a:ext uri="{FF2B5EF4-FFF2-40B4-BE49-F238E27FC236}">
                <a16:creationId xmlns:a16="http://schemas.microsoft.com/office/drawing/2014/main" id="{CCE9B40E-6B38-4B9B-84D8-548D14E3420E}"/>
              </a:ext>
            </a:extLst>
          </p:cNvPr>
          <p:cNvSpPr>
            <a:spLocks noGrp="1"/>
          </p:cNvSpPr>
          <p:nvPr/>
        </p:nvSpPr>
        <p:spPr>
          <a:xfrm>
            <a:off x="800100" y="3028950"/>
            <a:ext cx="1581150" cy="514350"/>
          </a:xfrm>
          <a:prstGeom prst="rect">
            <a:avLst/>
          </a:prstGeom>
          <a:noFill/>
          <a:ln w="0">
            <a:noFill/>
            <a:prstDash val="solid"/>
          </a:ln>
        </p:spPr>
        <p:txBody>
          <a:bodyPr wrap="square" lIns="0" tIns="0" rIns="0" bIns="0" anchor="ctr">
            <a:normAutofit/>
          </a:bodyPr>
          <a:lstStyle/>
          <a:p>
            <a:pPr algn="l">
              <a:lnSpc>
                <a:spcPct val="100000"/>
              </a:lnSpc>
              <a:buNone/>
              <a:defRPr sz="1800" b="1">
                <a:solidFill>
                  <a:srgbClr val="FFFFFF"/>
                </a:solidFill>
                <a:latin typeface="Aptos"/>
                <a:ea typeface="Aptos"/>
                <a:cs typeface="Aptos"/>
              </a:defRPr>
            </a:pPr>
            <a:r>
              <a:rPr sz="1800" b="1">
                <a:solidFill>
                  <a:srgbClr val="FFFFFF"/>
                </a:solidFill>
                <a:latin typeface="Aptos"/>
                <a:ea typeface="Aptos"/>
                <a:cs typeface="Aptos"/>
              </a:rPr>
              <a:t>START</a:t>
            </a:r>
          </a:p>
        </p:txBody>
      </p:sp>
      <p:sp>
        <p:nvSpPr>
          <p:cNvPr id="9" name="Rectangle 8">
            <a:extLst>
              <a:ext uri="{FF2B5EF4-FFF2-40B4-BE49-F238E27FC236}">
                <a16:creationId xmlns:a16="http://schemas.microsoft.com/office/drawing/2014/main" id="{6285EDDD-F477-4996-8726-C11B7AFB8803}"/>
              </a:ext>
            </a:extLst>
          </p:cNvPr>
          <p:cNvSpPr>
            <a:spLocks noGrp="1"/>
          </p:cNvSpPr>
          <p:nvPr/>
        </p:nvSpPr>
        <p:spPr>
          <a:xfrm>
            <a:off x="800100" y="3981450"/>
            <a:ext cx="1581150" cy="704850"/>
          </a:xfrm>
          <a:prstGeom prst="rect">
            <a:avLst/>
          </a:prstGeom>
          <a:noFill/>
          <a:ln w="0">
            <a:noFill/>
            <a:prstDash val="solid"/>
          </a:ln>
        </p:spPr>
        <p:txBody>
          <a:bodyPr wrap="square" lIns="0" tIns="0" rIns="0" bIns="0" anchor="ctr">
            <a:normAutofit/>
          </a:bodyPr>
          <a:lstStyle/>
          <a:p>
            <a:pPr algn="l">
              <a:lnSpc>
                <a:spcPct val="100000"/>
              </a:lnSpc>
              <a:buNone/>
              <a:defRPr sz="1350" b="0">
                <a:solidFill>
                  <a:srgbClr val="DDE6FF"/>
                </a:solidFill>
                <a:latin typeface="Aptos"/>
                <a:ea typeface="Aptos"/>
                <a:cs typeface="Aptos"/>
              </a:defRPr>
            </a:pPr>
            <a:r>
              <a:rPr sz="1350" b="0">
                <a:solidFill>
                  <a:srgbClr val="DDE6FF"/>
                </a:solidFill>
                <a:latin typeface="Aptos"/>
                <a:ea typeface="Aptos"/>
                <a:cs typeface="Aptos"/>
              </a:rPr>
              <a:t>Open Seattle</a:t>
            </a:r>
          </a:p>
        </p:txBody>
      </p:sp>
      <p:sp>
        <p:nvSpPr>
          <p:cNvPr id="10" name="Rounded Rectangle 9">
            <a:extLst>
              <a:ext uri="{FF2B5EF4-FFF2-40B4-BE49-F238E27FC236}">
                <a16:creationId xmlns:a16="http://schemas.microsoft.com/office/drawing/2014/main" id="{EFE7680A-BF2C-4EE0-BEBE-A32956369C77}"/>
              </a:ext>
            </a:extLst>
          </p:cNvPr>
          <p:cNvSpPr>
            <a:spLocks noGrp="1"/>
          </p:cNvSpPr>
          <p:nvPr/>
        </p:nvSpPr>
        <p:spPr>
          <a:xfrm>
            <a:off x="2800350" y="2076450"/>
            <a:ext cx="1962150" cy="3105150"/>
          </a:xfrm>
          <a:prstGeom prst="roundRect">
            <a:avLst>
              <a:gd name="adj" fmla="val 10680"/>
            </a:avLst>
          </a:prstGeom>
          <a:solidFill>
            <a:srgbClr val="182747"/>
          </a:solidFill>
          <a:ln w="9525">
            <a:solidFill>
              <a:srgbClr val="405174"/>
            </a:solidFill>
            <a:prstDash val="solid"/>
          </a:ln>
        </p:spPr>
        <p:txBody>
          <a:bodyPr lIns="0" tIns="0" rIns="0" bIns="0"/>
          <a:lstStyle/>
          <a:p>
            <a:pPr>
              <a:defRPr sz="100">
                <a:solidFill>
                  <a:srgbClr val="182747"/>
                </a:solidFill>
              </a:defRPr>
            </a:pPr>
            <a:r>
              <a:rPr sz="100">
                <a:solidFill>
                  <a:srgbClr val="182747"/>
                </a:solidFill>
              </a:rPr>
              <a:t>​</a:t>
            </a:r>
          </a:p>
        </p:txBody>
      </p:sp>
      <p:sp>
        <p:nvSpPr>
          <p:cNvPr id="11" name="Rectangle 10">
            <a:extLst>
              <a:ext uri="{FF2B5EF4-FFF2-40B4-BE49-F238E27FC236}">
                <a16:creationId xmlns:a16="http://schemas.microsoft.com/office/drawing/2014/main" id="{6E6B2A1A-FBAF-44DE-A325-DD621D0AFA33}"/>
              </a:ext>
            </a:extLst>
          </p:cNvPr>
          <p:cNvSpPr>
            <a:spLocks noGrp="1"/>
          </p:cNvSpPr>
          <p:nvPr/>
        </p:nvSpPr>
        <p:spPr>
          <a:xfrm>
            <a:off x="2990850" y="2266950"/>
            <a:ext cx="571500" cy="3048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6F8CFF"/>
                </a:solidFill>
                <a:latin typeface="Aptos"/>
                <a:ea typeface="Aptos"/>
                <a:cs typeface="Aptos"/>
              </a:defRPr>
            </a:pPr>
            <a:r>
              <a:rPr sz="1200" b="1">
                <a:solidFill>
                  <a:srgbClr val="6F8CFF"/>
                </a:solidFill>
                <a:latin typeface="Aptos"/>
                <a:ea typeface="Aptos"/>
                <a:cs typeface="Aptos"/>
              </a:rPr>
              <a:t>02</a:t>
            </a:r>
          </a:p>
        </p:txBody>
      </p:sp>
      <p:sp>
        <p:nvSpPr>
          <p:cNvPr id="12" name="Rectangle 11">
            <a:extLst>
              <a:ext uri="{FF2B5EF4-FFF2-40B4-BE49-F238E27FC236}">
                <a16:creationId xmlns:a16="http://schemas.microsoft.com/office/drawing/2014/main" id="{2210A367-79B3-4AE8-AE7A-B6D1DB29520A}"/>
              </a:ext>
            </a:extLst>
          </p:cNvPr>
          <p:cNvSpPr>
            <a:spLocks noGrp="1"/>
          </p:cNvSpPr>
          <p:nvPr/>
        </p:nvSpPr>
        <p:spPr>
          <a:xfrm>
            <a:off x="2990850" y="3028950"/>
            <a:ext cx="1581150" cy="514350"/>
          </a:xfrm>
          <a:prstGeom prst="rect">
            <a:avLst/>
          </a:prstGeom>
          <a:noFill/>
          <a:ln w="0">
            <a:noFill/>
            <a:prstDash val="solid"/>
          </a:ln>
        </p:spPr>
        <p:txBody>
          <a:bodyPr wrap="square" lIns="0" tIns="0" rIns="0" bIns="0" anchor="ctr">
            <a:normAutofit/>
          </a:bodyPr>
          <a:lstStyle/>
          <a:p>
            <a:pPr algn="l">
              <a:lnSpc>
                <a:spcPct val="100000"/>
              </a:lnSpc>
              <a:buNone/>
              <a:defRPr sz="1800" b="1">
                <a:solidFill>
                  <a:srgbClr val="FFFFFF"/>
                </a:solidFill>
                <a:latin typeface="Aptos"/>
                <a:ea typeface="Aptos"/>
                <a:cs typeface="Aptos"/>
              </a:defRPr>
            </a:pPr>
            <a:r>
              <a:rPr sz="1800" b="1">
                <a:solidFill>
                  <a:srgbClr val="FFFFFF"/>
                </a:solidFill>
                <a:latin typeface="Aptos"/>
                <a:ea typeface="Aptos"/>
                <a:cs typeface="Aptos"/>
              </a:rPr>
              <a:t>PROPOSE</a:t>
            </a:r>
          </a:p>
        </p:txBody>
      </p:sp>
      <p:sp>
        <p:nvSpPr>
          <p:cNvPr id="13" name="Rectangle 12">
            <a:extLst>
              <a:ext uri="{FF2B5EF4-FFF2-40B4-BE49-F238E27FC236}">
                <a16:creationId xmlns:a16="http://schemas.microsoft.com/office/drawing/2014/main" id="{D1E161BA-91C3-4C42-BCE9-88BF30776DBC}"/>
              </a:ext>
            </a:extLst>
          </p:cNvPr>
          <p:cNvSpPr>
            <a:spLocks noGrp="1"/>
          </p:cNvSpPr>
          <p:nvPr/>
        </p:nvSpPr>
        <p:spPr>
          <a:xfrm>
            <a:off x="2990850" y="3981450"/>
            <a:ext cx="1581150" cy="704850"/>
          </a:xfrm>
          <a:prstGeom prst="rect">
            <a:avLst/>
          </a:prstGeom>
          <a:noFill/>
          <a:ln w="0">
            <a:noFill/>
            <a:prstDash val="solid"/>
          </a:ln>
        </p:spPr>
        <p:txBody>
          <a:bodyPr wrap="square" lIns="0" tIns="0" rIns="0" bIns="0" anchor="ctr">
            <a:normAutofit/>
          </a:bodyPr>
          <a:lstStyle/>
          <a:p>
            <a:pPr algn="l">
              <a:lnSpc>
                <a:spcPct val="100000"/>
              </a:lnSpc>
              <a:buNone/>
              <a:defRPr sz="1350" b="0">
                <a:solidFill>
                  <a:srgbClr val="DDE6FF"/>
                </a:solidFill>
                <a:latin typeface="Aptos"/>
                <a:ea typeface="Aptos"/>
                <a:cs typeface="Aptos"/>
              </a:defRPr>
            </a:pPr>
            <a:r>
              <a:rPr sz="1350" b="0">
                <a:solidFill>
                  <a:srgbClr val="DDE6FF"/>
                </a:solidFill>
                <a:latin typeface="Aptos"/>
                <a:ea typeface="Aptos"/>
                <a:cs typeface="Aptos"/>
              </a:rPr>
              <a:t>Review submarkets</a:t>
            </a:r>
          </a:p>
        </p:txBody>
      </p:sp>
      <p:sp>
        <p:nvSpPr>
          <p:cNvPr id="14" name="Rounded Rectangle 13">
            <a:extLst>
              <a:ext uri="{FF2B5EF4-FFF2-40B4-BE49-F238E27FC236}">
                <a16:creationId xmlns:a16="http://schemas.microsoft.com/office/drawing/2014/main" id="{F46E2D66-A242-4045-94DA-C18D3AAE8F58}"/>
              </a:ext>
            </a:extLst>
          </p:cNvPr>
          <p:cNvSpPr>
            <a:spLocks noGrp="1"/>
          </p:cNvSpPr>
          <p:nvPr/>
        </p:nvSpPr>
        <p:spPr>
          <a:xfrm>
            <a:off x="4991100" y="2076450"/>
            <a:ext cx="1962150" cy="3105150"/>
          </a:xfrm>
          <a:prstGeom prst="roundRect">
            <a:avLst>
              <a:gd name="adj" fmla="val 10680"/>
            </a:avLst>
          </a:prstGeom>
          <a:solidFill>
            <a:srgbClr val="182747"/>
          </a:solidFill>
          <a:ln w="9525">
            <a:solidFill>
              <a:srgbClr val="405174"/>
            </a:solidFill>
            <a:prstDash val="solid"/>
          </a:ln>
        </p:spPr>
        <p:txBody>
          <a:bodyPr lIns="0" tIns="0" rIns="0" bIns="0"/>
          <a:lstStyle/>
          <a:p>
            <a:pPr>
              <a:defRPr sz="100">
                <a:solidFill>
                  <a:srgbClr val="182747"/>
                </a:solidFill>
              </a:defRPr>
            </a:pPr>
            <a:r>
              <a:rPr sz="100">
                <a:solidFill>
                  <a:srgbClr val="182747"/>
                </a:solidFill>
              </a:rPr>
              <a:t>​</a:t>
            </a:r>
          </a:p>
        </p:txBody>
      </p:sp>
      <p:sp>
        <p:nvSpPr>
          <p:cNvPr id="15" name="Rectangle 14">
            <a:extLst>
              <a:ext uri="{FF2B5EF4-FFF2-40B4-BE49-F238E27FC236}">
                <a16:creationId xmlns:a16="http://schemas.microsoft.com/office/drawing/2014/main" id="{B855F5A4-B6AF-4D40-B43D-B4776C15394F}"/>
              </a:ext>
            </a:extLst>
          </p:cNvPr>
          <p:cNvSpPr>
            <a:spLocks noGrp="1"/>
          </p:cNvSpPr>
          <p:nvPr/>
        </p:nvSpPr>
        <p:spPr>
          <a:xfrm>
            <a:off x="5181600" y="2266950"/>
            <a:ext cx="571500" cy="3048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BFE9D0"/>
                </a:solidFill>
                <a:latin typeface="Aptos"/>
                <a:ea typeface="Aptos"/>
                <a:cs typeface="Aptos"/>
              </a:defRPr>
            </a:pPr>
            <a:r>
              <a:rPr sz="1200" b="1">
                <a:solidFill>
                  <a:srgbClr val="BFE9D0"/>
                </a:solidFill>
                <a:latin typeface="Aptos"/>
                <a:ea typeface="Aptos"/>
                <a:cs typeface="Aptos"/>
              </a:rPr>
              <a:t>03</a:t>
            </a:r>
          </a:p>
        </p:txBody>
      </p:sp>
      <p:sp>
        <p:nvSpPr>
          <p:cNvPr id="16" name="Rectangle 15">
            <a:extLst>
              <a:ext uri="{FF2B5EF4-FFF2-40B4-BE49-F238E27FC236}">
                <a16:creationId xmlns:a16="http://schemas.microsoft.com/office/drawing/2014/main" id="{6C47BC9E-D8B1-43FA-9C39-4079CDFF17E7}"/>
              </a:ext>
            </a:extLst>
          </p:cNvPr>
          <p:cNvSpPr>
            <a:spLocks noGrp="1"/>
          </p:cNvSpPr>
          <p:nvPr/>
        </p:nvSpPr>
        <p:spPr>
          <a:xfrm>
            <a:off x="5181600" y="3028950"/>
            <a:ext cx="1581150" cy="514350"/>
          </a:xfrm>
          <a:prstGeom prst="rect">
            <a:avLst/>
          </a:prstGeom>
          <a:noFill/>
          <a:ln w="0">
            <a:noFill/>
            <a:prstDash val="solid"/>
          </a:ln>
        </p:spPr>
        <p:txBody>
          <a:bodyPr wrap="square" lIns="0" tIns="0" rIns="0" bIns="0" anchor="ctr">
            <a:normAutofit/>
          </a:bodyPr>
          <a:lstStyle/>
          <a:p>
            <a:pPr algn="l">
              <a:lnSpc>
                <a:spcPct val="100000"/>
              </a:lnSpc>
              <a:buNone/>
              <a:defRPr sz="1800" b="1">
                <a:solidFill>
                  <a:srgbClr val="FFFFFF"/>
                </a:solidFill>
                <a:latin typeface="Aptos"/>
                <a:ea typeface="Aptos"/>
                <a:cs typeface="Aptos"/>
              </a:defRPr>
            </a:pPr>
            <a:r>
              <a:rPr sz="1800" b="1">
                <a:solidFill>
                  <a:srgbClr val="FFFFFF"/>
                </a:solidFill>
                <a:latin typeface="Aptos"/>
                <a:ea typeface="Aptos"/>
                <a:cs typeface="Aptos"/>
              </a:rPr>
              <a:t>CONFIRM</a:t>
            </a:r>
          </a:p>
        </p:txBody>
      </p:sp>
      <p:sp>
        <p:nvSpPr>
          <p:cNvPr id="17" name="Rectangle 16">
            <a:extLst>
              <a:ext uri="{FF2B5EF4-FFF2-40B4-BE49-F238E27FC236}">
                <a16:creationId xmlns:a16="http://schemas.microsoft.com/office/drawing/2014/main" id="{904EFD15-C6A7-4E04-B28E-C2A029C80069}"/>
              </a:ext>
            </a:extLst>
          </p:cNvPr>
          <p:cNvSpPr>
            <a:spLocks noGrp="1"/>
          </p:cNvSpPr>
          <p:nvPr/>
        </p:nvSpPr>
        <p:spPr>
          <a:xfrm>
            <a:off x="5181600" y="3981450"/>
            <a:ext cx="1581150" cy="704850"/>
          </a:xfrm>
          <a:prstGeom prst="rect">
            <a:avLst/>
          </a:prstGeom>
          <a:noFill/>
          <a:ln w="0">
            <a:noFill/>
            <a:prstDash val="solid"/>
          </a:ln>
        </p:spPr>
        <p:txBody>
          <a:bodyPr wrap="square" lIns="0" tIns="0" rIns="0" bIns="0" anchor="ctr">
            <a:normAutofit/>
          </a:bodyPr>
          <a:lstStyle/>
          <a:p>
            <a:pPr algn="l">
              <a:lnSpc>
                <a:spcPct val="100000"/>
              </a:lnSpc>
              <a:buNone/>
              <a:defRPr sz="1350" b="0">
                <a:solidFill>
                  <a:srgbClr val="DDE6FF"/>
                </a:solidFill>
                <a:latin typeface="Aptos"/>
                <a:ea typeface="Aptos"/>
                <a:cs typeface="Aptos"/>
              </a:defRPr>
            </a:pPr>
            <a:r>
              <a:rPr sz="1350" b="0">
                <a:solidFill>
                  <a:srgbClr val="DDE6FF"/>
                </a:solidFill>
                <a:latin typeface="Aptos"/>
                <a:ea typeface="Aptos"/>
                <a:cs typeface="Aptos"/>
              </a:rPr>
              <a:t>Approve geography</a:t>
            </a:r>
          </a:p>
        </p:txBody>
      </p:sp>
      <p:sp>
        <p:nvSpPr>
          <p:cNvPr id="18" name="Rounded Rectangle 17">
            <a:extLst>
              <a:ext uri="{FF2B5EF4-FFF2-40B4-BE49-F238E27FC236}">
                <a16:creationId xmlns:a16="http://schemas.microsoft.com/office/drawing/2014/main" id="{3FBFDA91-77C8-4D1E-8FE6-12F073B2F6E9}"/>
              </a:ext>
            </a:extLst>
          </p:cNvPr>
          <p:cNvSpPr>
            <a:spLocks noGrp="1"/>
          </p:cNvSpPr>
          <p:nvPr/>
        </p:nvSpPr>
        <p:spPr>
          <a:xfrm>
            <a:off x="7181850" y="2076450"/>
            <a:ext cx="1962150" cy="3105150"/>
          </a:xfrm>
          <a:prstGeom prst="roundRect">
            <a:avLst>
              <a:gd name="adj" fmla="val 10680"/>
            </a:avLst>
          </a:prstGeom>
          <a:solidFill>
            <a:srgbClr val="182747"/>
          </a:solidFill>
          <a:ln w="9525">
            <a:solidFill>
              <a:srgbClr val="405174"/>
            </a:solidFill>
            <a:prstDash val="solid"/>
          </a:ln>
        </p:spPr>
        <p:txBody>
          <a:bodyPr lIns="0" tIns="0" rIns="0" bIns="0"/>
          <a:lstStyle/>
          <a:p>
            <a:pPr>
              <a:defRPr sz="100">
                <a:solidFill>
                  <a:srgbClr val="182747"/>
                </a:solidFill>
              </a:defRPr>
            </a:pPr>
            <a:r>
              <a:rPr sz="100">
                <a:solidFill>
                  <a:srgbClr val="182747"/>
                </a:solidFill>
              </a:rPr>
              <a:t>​</a:t>
            </a:r>
          </a:p>
        </p:txBody>
      </p:sp>
      <p:sp>
        <p:nvSpPr>
          <p:cNvPr id="19" name="Rectangle 18">
            <a:extLst>
              <a:ext uri="{FF2B5EF4-FFF2-40B4-BE49-F238E27FC236}">
                <a16:creationId xmlns:a16="http://schemas.microsoft.com/office/drawing/2014/main" id="{3A44139C-2A21-4A5F-B357-641A794D1D58}"/>
              </a:ext>
            </a:extLst>
          </p:cNvPr>
          <p:cNvSpPr>
            <a:spLocks noGrp="1"/>
          </p:cNvSpPr>
          <p:nvPr/>
        </p:nvSpPr>
        <p:spPr>
          <a:xfrm>
            <a:off x="7372350" y="2266950"/>
            <a:ext cx="571500" cy="3048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F3C96B"/>
                </a:solidFill>
                <a:latin typeface="Aptos"/>
                <a:ea typeface="Aptos"/>
                <a:cs typeface="Aptos"/>
              </a:defRPr>
            </a:pPr>
            <a:r>
              <a:rPr sz="1200" b="1">
                <a:solidFill>
                  <a:srgbClr val="F3C96B"/>
                </a:solidFill>
                <a:latin typeface="Aptos"/>
                <a:ea typeface="Aptos"/>
                <a:cs typeface="Aptos"/>
              </a:rPr>
              <a:t>04</a:t>
            </a:r>
          </a:p>
        </p:txBody>
      </p:sp>
      <p:sp>
        <p:nvSpPr>
          <p:cNvPr id="20" name="Rectangle 19">
            <a:extLst>
              <a:ext uri="{FF2B5EF4-FFF2-40B4-BE49-F238E27FC236}">
                <a16:creationId xmlns:a16="http://schemas.microsoft.com/office/drawing/2014/main" id="{652A535D-491D-44D8-9422-4920856FC41C}"/>
              </a:ext>
            </a:extLst>
          </p:cNvPr>
          <p:cNvSpPr>
            <a:spLocks noGrp="1"/>
          </p:cNvSpPr>
          <p:nvPr/>
        </p:nvSpPr>
        <p:spPr>
          <a:xfrm>
            <a:off x="7372350" y="3028950"/>
            <a:ext cx="1581150" cy="514350"/>
          </a:xfrm>
          <a:prstGeom prst="rect">
            <a:avLst/>
          </a:prstGeom>
          <a:noFill/>
          <a:ln w="0">
            <a:noFill/>
            <a:prstDash val="solid"/>
          </a:ln>
        </p:spPr>
        <p:txBody>
          <a:bodyPr wrap="square" lIns="0" tIns="0" rIns="0" bIns="0" anchor="ctr">
            <a:normAutofit/>
          </a:bodyPr>
          <a:lstStyle/>
          <a:p>
            <a:pPr algn="l">
              <a:lnSpc>
                <a:spcPct val="100000"/>
              </a:lnSpc>
              <a:buNone/>
              <a:defRPr sz="1800" b="1">
                <a:solidFill>
                  <a:srgbClr val="FFFFFF"/>
                </a:solidFill>
                <a:latin typeface="Aptos"/>
                <a:ea typeface="Aptos"/>
                <a:cs typeface="Aptos"/>
              </a:defRPr>
            </a:pPr>
            <a:r>
              <a:rPr sz="1800" b="1">
                <a:solidFill>
                  <a:srgbClr val="FFFFFF"/>
                </a:solidFill>
                <a:latin typeface="Aptos"/>
                <a:ea typeface="Aptos"/>
                <a:cs typeface="Aptos"/>
              </a:rPr>
              <a:t>COMPARE</a:t>
            </a:r>
          </a:p>
        </p:txBody>
      </p:sp>
      <p:sp>
        <p:nvSpPr>
          <p:cNvPr id="21" name="Rectangle 20">
            <a:extLst>
              <a:ext uri="{FF2B5EF4-FFF2-40B4-BE49-F238E27FC236}">
                <a16:creationId xmlns:a16="http://schemas.microsoft.com/office/drawing/2014/main" id="{AF3F7939-FEE6-4721-BA25-9E88E3988562}"/>
              </a:ext>
            </a:extLst>
          </p:cNvPr>
          <p:cNvSpPr>
            <a:spLocks noGrp="1"/>
          </p:cNvSpPr>
          <p:nvPr/>
        </p:nvSpPr>
        <p:spPr>
          <a:xfrm>
            <a:off x="7372350" y="3981450"/>
            <a:ext cx="1581150" cy="704850"/>
          </a:xfrm>
          <a:prstGeom prst="rect">
            <a:avLst/>
          </a:prstGeom>
          <a:noFill/>
          <a:ln w="0">
            <a:noFill/>
            <a:prstDash val="solid"/>
          </a:ln>
        </p:spPr>
        <p:txBody>
          <a:bodyPr wrap="square" lIns="0" tIns="0" rIns="0" bIns="0" anchor="ctr">
            <a:normAutofit/>
          </a:bodyPr>
          <a:lstStyle/>
          <a:p>
            <a:pPr algn="l">
              <a:lnSpc>
                <a:spcPct val="100000"/>
              </a:lnSpc>
              <a:buNone/>
              <a:defRPr sz="1350" b="0">
                <a:solidFill>
                  <a:srgbClr val="DDE6FF"/>
                </a:solidFill>
                <a:latin typeface="Aptos"/>
                <a:ea typeface="Aptos"/>
                <a:cs typeface="Aptos"/>
              </a:defRPr>
            </a:pPr>
            <a:r>
              <a:rPr sz="1350" b="0">
                <a:solidFill>
                  <a:srgbClr val="DDE6FF"/>
                </a:solidFill>
                <a:latin typeface="Aptos"/>
                <a:ea typeface="Aptos"/>
                <a:cs typeface="Aptos"/>
              </a:rPr>
              <a:t>See drivers + gaps</a:t>
            </a:r>
          </a:p>
        </p:txBody>
      </p:sp>
      <p:sp>
        <p:nvSpPr>
          <p:cNvPr id="22" name="Rounded Rectangle 21">
            <a:extLst>
              <a:ext uri="{FF2B5EF4-FFF2-40B4-BE49-F238E27FC236}">
                <a16:creationId xmlns:a16="http://schemas.microsoft.com/office/drawing/2014/main" id="{A88F2160-350F-4BAE-82C1-902ED016E9B9}"/>
              </a:ext>
            </a:extLst>
          </p:cNvPr>
          <p:cNvSpPr>
            <a:spLocks noGrp="1"/>
          </p:cNvSpPr>
          <p:nvPr/>
        </p:nvSpPr>
        <p:spPr>
          <a:xfrm>
            <a:off x="9372600" y="2076450"/>
            <a:ext cx="1962150" cy="3105150"/>
          </a:xfrm>
          <a:prstGeom prst="roundRect">
            <a:avLst>
              <a:gd name="adj" fmla="val 10680"/>
            </a:avLst>
          </a:prstGeom>
          <a:solidFill>
            <a:srgbClr val="182747"/>
          </a:solidFill>
          <a:ln w="9525">
            <a:solidFill>
              <a:srgbClr val="405174"/>
            </a:solidFill>
            <a:prstDash val="solid"/>
          </a:ln>
        </p:spPr>
        <p:txBody>
          <a:bodyPr lIns="0" tIns="0" rIns="0" bIns="0"/>
          <a:lstStyle/>
          <a:p>
            <a:pPr>
              <a:defRPr sz="100">
                <a:solidFill>
                  <a:srgbClr val="182747"/>
                </a:solidFill>
              </a:defRPr>
            </a:pPr>
            <a:r>
              <a:rPr sz="100">
                <a:solidFill>
                  <a:srgbClr val="182747"/>
                </a:solidFill>
              </a:rPr>
              <a:t>​</a:t>
            </a:r>
          </a:p>
        </p:txBody>
      </p:sp>
      <p:sp>
        <p:nvSpPr>
          <p:cNvPr id="23" name="Rectangle 22">
            <a:extLst>
              <a:ext uri="{FF2B5EF4-FFF2-40B4-BE49-F238E27FC236}">
                <a16:creationId xmlns:a16="http://schemas.microsoft.com/office/drawing/2014/main" id="{9E97CFF4-6CC0-4CC0-A501-BE73903280A1}"/>
              </a:ext>
            </a:extLst>
          </p:cNvPr>
          <p:cNvSpPr>
            <a:spLocks noGrp="1"/>
          </p:cNvSpPr>
          <p:nvPr/>
        </p:nvSpPr>
        <p:spPr>
          <a:xfrm>
            <a:off x="9563100" y="2266950"/>
            <a:ext cx="571500" cy="3048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FF8A73"/>
                </a:solidFill>
                <a:latin typeface="Aptos"/>
                <a:ea typeface="Aptos"/>
                <a:cs typeface="Aptos"/>
              </a:defRPr>
            </a:pPr>
            <a:r>
              <a:rPr sz="1200" b="1">
                <a:solidFill>
                  <a:srgbClr val="FF8A73"/>
                </a:solidFill>
                <a:latin typeface="Aptos"/>
                <a:ea typeface="Aptos"/>
                <a:cs typeface="Aptos"/>
              </a:rPr>
              <a:t>05</a:t>
            </a:r>
          </a:p>
        </p:txBody>
      </p:sp>
      <p:sp>
        <p:nvSpPr>
          <p:cNvPr id="24" name="Rectangle 23">
            <a:extLst>
              <a:ext uri="{FF2B5EF4-FFF2-40B4-BE49-F238E27FC236}">
                <a16:creationId xmlns:a16="http://schemas.microsoft.com/office/drawing/2014/main" id="{C5B8DA6B-9AD6-4D4E-929E-84E76998057C}"/>
              </a:ext>
            </a:extLst>
          </p:cNvPr>
          <p:cNvSpPr>
            <a:spLocks noGrp="1"/>
          </p:cNvSpPr>
          <p:nvPr/>
        </p:nvSpPr>
        <p:spPr>
          <a:xfrm>
            <a:off x="9563100" y="3028950"/>
            <a:ext cx="1581150" cy="514350"/>
          </a:xfrm>
          <a:prstGeom prst="rect">
            <a:avLst/>
          </a:prstGeom>
          <a:noFill/>
          <a:ln w="0">
            <a:noFill/>
            <a:prstDash val="solid"/>
          </a:ln>
        </p:spPr>
        <p:txBody>
          <a:bodyPr wrap="square" lIns="0" tIns="0" rIns="0" bIns="0" anchor="ctr">
            <a:normAutofit/>
          </a:bodyPr>
          <a:lstStyle/>
          <a:p>
            <a:pPr algn="l">
              <a:lnSpc>
                <a:spcPct val="100000"/>
              </a:lnSpc>
              <a:buNone/>
              <a:defRPr sz="1800" b="1">
                <a:solidFill>
                  <a:srgbClr val="FFFFFF"/>
                </a:solidFill>
                <a:latin typeface="Aptos"/>
                <a:ea typeface="Aptos"/>
                <a:cs typeface="Aptos"/>
              </a:defRPr>
            </a:pPr>
            <a:r>
              <a:rPr sz="1800" b="1">
                <a:solidFill>
                  <a:srgbClr val="FFFFFF"/>
                </a:solidFill>
                <a:latin typeface="Aptos"/>
                <a:ea typeface="Aptos"/>
                <a:cs typeface="Aptos"/>
              </a:rPr>
              <a:t>ADVANCE</a:t>
            </a:r>
          </a:p>
        </p:txBody>
      </p:sp>
      <p:sp>
        <p:nvSpPr>
          <p:cNvPr id="25" name="Rectangle 24">
            <a:extLst>
              <a:ext uri="{FF2B5EF4-FFF2-40B4-BE49-F238E27FC236}">
                <a16:creationId xmlns:a16="http://schemas.microsoft.com/office/drawing/2014/main" id="{51686262-87AD-44B0-BB97-F0D233BC8C02}"/>
              </a:ext>
            </a:extLst>
          </p:cNvPr>
          <p:cNvSpPr>
            <a:spLocks noGrp="1"/>
          </p:cNvSpPr>
          <p:nvPr/>
        </p:nvSpPr>
        <p:spPr>
          <a:xfrm>
            <a:off x="9563100" y="3981450"/>
            <a:ext cx="1581150" cy="704850"/>
          </a:xfrm>
          <a:prstGeom prst="rect">
            <a:avLst/>
          </a:prstGeom>
          <a:noFill/>
          <a:ln w="0">
            <a:noFill/>
            <a:prstDash val="solid"/>
          </a:ln>
        </p:spPr>
        <p:txBody>
          <a:bodyPr wrap="square" lIns="0" tIns="0" rIns="0" bIns="0" anchor="ctr">
            <a:normAutofit/>
          </a:bodyPr>
          <a:lstStyle/>
          <a:p>
            <a:pPr algn="l">
              <a:lnSpc>
                <a:spcPct val="100000"/>
              </a:lnSpc>
              <a:buNone/>
              <a:defRPr sz="1350" b="0">
                <a:solidFill>
                  <a:srgbClr val="DDE6FF"/>
                </a:solidFill>
                <a:latin typeface="Aptos"/>
                <a:ea typeface="Aptos"/>
                <a:cs typeface="Aptos"/>
              </a:defRPr>
            </a:pPr>
            <a:r>
              <a:rPr sz="1350" b="0">
                <a:solidFill>
                  <a:srgbClr val="DDE6FF"/>
                </a:solidFill>
                <a:latin typeface="Aptos"/>
                <a:ea typeface="Aptos"/>
                <a:cs typeface="Aptos"/>
              </a:rPr>
              <a:t>Open a candidate</a:t>
            </a:r>
          </a:p>
        </p:txBody>
      </p:sp>
    </p:spTree>
    <p:extLst>
      <p:ext uri="{BB962C8B-B14F-4D97-AF65-F5344CB8AC3E}">
        <p14:creationId xmlns:p14="http://schemas.microsoft.com/office/powerpoint/2010/main" val="15709080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173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8147F49-94A7-4E8E-A6EA-0CD2EDFAB4A4}"/>
              </a:ext>
            </a:extLst>
          </p:cNvPr>
          <p:cNvSpPr>
            <a:spLocks noGrp="1"/>
          </p:cNvSpPr>
          <p:nvPr/>
        </p:nvSpPr>
        <p:spPr>
          <a:xfrm>
            <a:off x="609600" y="457200"/>
            <a:ext cx="2857500" cy="28575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BFE9D0"/>
                </a:solidFill>
                <a:latin typeface="Aptos"/>
                <a:ea typeface="Aptos"/>
                <a:cs typeface="Aptos"/>
              </a:defRPr>
            </a:pPr>
            <a:r>
              <a:rPr sz="1200" b="1">
                <a:solidFill>
                  <a:srgbClr val="BFE9D0"/>
                </a:solidFill>
                <a:latin typeface="Aptos"/>
                <a:ea typeface="Aptos"/>
                <a:cs typeface="Aptos"/>
              </a:rPr>
              <a:t>THE ASK</a:t>
            </a:r>
          </a:p>
        </p:txBody>
      </p:sp>
      <p:sp>
        <p:nvSpPr>
          <p:cNvPr id="2" name="Rectangle 1">
            <a:extLst>
              <a:ext uri="{FF2B5EF4-FFF2-40B4-BE49-F238E27FC236}">
                <a16:creationId xmlns:a16="http://schemas.microsoft.com/office/drawing/2014/main" id="{5853D337-3A40-4605-A81C-0DB33CCAFD30}"/>
              </a:ext>
            </a:extLst>
          </p:cNvPr>
          <p:cNvSpPr>
            <a:spLocks noGrp="1"/>
          </p:cNvSpPr>
          <p:nvPr/>
        </p:nvSpPr>
        <p:spPr>
          <a:xfrm>
            <a:off x="609600" y="1504950"/>
            <a:ext cx="8572500" cy="1714500"/>
          </a:xfrm>
          <a:prstGeom prst="rect">
            <a:avLst/>
          </a:prstGeom>
          <a:noFill/>
          <a:ln w="0">
            <a:noFill/>
            <a:prstDash val="solid"/>
          </a:ln>
        </p:spPr>
        <p:txBody>
          <a:bodyPr wrap="square" lIns="0" tIns="0" rIns="0" bIns="0" anchor="ctr">
            <a:normAutofit/>
          </a:bodyPr>
          <a:lstStyle/>
          <a:p>
            <a:pPr algn="l">
              <a:lnSpc>
                <a:spcPct val="90000"/>
              </a:lnSpc>
              <a:buNone/>
              <a:defRPr sz="4350" b="1">
                <a:solidFill>
                  <a:srgbClr val="FFFFFF"/>
                </a:solidFill>
                <a:latin typeface="Aptos"/>
                <a:ea typeface="Aptos"/>
                <a:cs typeface="Aptos"/>
              </a:defRPr>
            </a:pPr>
            <a:r>
              <a:rPr sz="4350" b="1">
                <a:solidFill>
                  <a:srgbClr val="FFFFFF"/>
                </a:solidFill>
                <a:latin typeface="Aptos"/>
                <a:ea typeface="Aptos"/>
                <a:cs typeface="Aptos"/>
              </a:rPr>
              <a:t>Pilot the regional</a:t>
            </a:r>
          </a:p>
          <a:p>
            <a:pPr algn="l">
              <a:lnSpc>
                <a:spcPct val="90000"/>
              </a:lnSpc>
              <a:buNone/>
              <a:defRPr sz="4350" b="1">
                <a:solidFill>
                  <a:srgbClr val="FFFFFF"/>
                </a:solidFill>
                <a:latin typeface="Aptos"/>
                <a:ea typeface="Aptos"/>
                <a:cs typeface="Aptos"/>
              </a:defRPr>
            </a:pPr>
            <a:r>
              <a:rPr sz="4350" b="1">
                <a:solidFill>
                  <a:srgbClr val="FFFFFF"/>
                </a:solidFill>
                <a:latin typeface="Aptos"/>
                <a:ea typeface="Aptos"/>
                <a:cs typeface="Aptos"/>
              </a:rPr>
              <a:t>insights capability.</a:t>
            </a:r>
          </a:p>
        </p:txBody>
      </p:sp>
      <p:sp>
        <p:nvSpPr>
          <p:cNvPr id="3" name="Rectangle 2">
            <a:extLst>
              <a:ext uri="{FF2B5EF4-FFF2-40B4-BE49-F238E27FC236}">
                <a16:creationId xmlns:a16="http://schemas.microsoft.com/office/drawing/2014/main" id="{EE9F1EA6-0BB4-442A-BB7D-65BA40A055DE}"/>
              </a:ext>
            </a:extLst>
          </p:cNvPr>
          <p:cNvSpPr>
            <a:spLocks noGrp="1"/>
          </p:cNvSpPr>
          <p:nvPr/>
        </p:nvSpPr>
        <p:spPr>
          <a:xfrm>
            <a:off x="647700" y="3810000"/>
            <a:ext cx="7620000" cy="857250"/>
          </a:xfrm>
          <a:prstGeom prst="rect">
            <a:avLst/>
          </a:prstGeom>
          <a:noFill/>
          <a:ln w="0">
            <a:noFill/>
            <a:prstDash val="solid"/>
          </a:ln>
        </p:spPr>
        <p:txBody>
          <a:bodyPr wrap="square" lIns="0" tIns="0" rIns="0" bIns="0" anchor="ctr">
            <a:normAutofit/>
          </a:bodyPr>
          <a:lstStyle/>
          <a:p>
            <a:pPr algn="l">
              <a:lnSpc>
                <a:spcPct val="105000"/>
              </a:lnSpc>
              <a:buNone/>
              <a:defRPr sz="1800" b="0">
                <a:solidFill>
                  <a:srgbClr val="DDE6FF"/>
                </a:solidFill>
                <a:latin typeface="Aptos"/>
                <a:ea typeface="Aptos"/>
                <a:cs typeface="Aptos"/>
              </a:defRPr>
            </a:pPr>
            <a:r>
              <a:rPr sz="1800" b="0">
                <a:solidFill>
                  <a:srgbClr val="DDE6FF"/>
                </a:solidFill>
                <a:latin typeface="Aptos"/>
                <a:ea typeface="Aptos"/>
                <a:cs typeface="Aptos"/>
              </a:rPr>
              <a:t>Choose a few sectors. Reuse the regional evidence.</a:t>
            </a:r>
          </a:p>
          <a:p>
            <a:pPr algn="l">
              <a:lnSpc>
                <a:spcPct val="105000"/>
              </a:lnSpc>
              <a:buNone/>
              <a:defRPr sz="1800" b="0">
                <a:solidFill>
                  <a:srgbClr val="DDE6FF"/>
                </a:solidFill>
                <a:latin typeface="Aptos"/>
                <a:ea typeface="Aptos"/>
                <a:cs typeface="Aptos"/>
              </a:defRPr>
            </a:pPr>
            <a:r>
              <a:rPr sz="1800" b="0">
                <a:solidFill>
                  <a:srgbClr val="DDE6FF"/>
                </a:solidFill>
                <a:latin typeface="Aptos"/>
                <a:ea typeface="Aptos"/>
                <a:cs typeface="Aptos"/>
              </a:rPr>
              <a:t>Keep each team’s decision rules local.</a:t>
            </a:r>
          </a:p>
        </p:txBody>
      </p:sp>
      <p:sp>
        <p:nvSpPr>
          <p:cNvPr id="4" name="Rounded Rectangle 3">
            <a:extLst>
              <a:ext uri="{FF2B5EF4-FFF2-40B4-BE49-F238E27FC236}">
                <a16:creationId xmlns:a16="http://schemas.microsoft.com/office/drawing/2014/main" id="{F348AE29-FAD7-4EC8-875A-D75A26F69CE9}"/>
              </a:ext>
            </a:extLst>
          </p:cNvPr>
          <p:cNvSpPr>
            <a:spLocks noGrp="1"/>
          </p:cNvSpPr>
          <p:nvPr/>
        </p:nvSpPr>
        <p:spPr>
          <a:xfrm>
            <a:off x="9886950" y="0"/>
            <a:ext cx="2305050" cy="6858000"/>
          </a:xfrm>
          <a:prstGeom prst="roundRect">
            <a:avLst>
              <a:gd name="adj" fmla="val 0"/>
            </a:avLst>
          </a:prstGeom>
          <a:solidFill>
            <a:srgbClr val="2D5BFF"/>
          </a:solidFill>
          <a:ln w="0">
            <a:noFill/>
            <a:prstDash val="solid"/>
          </a:ln>
        </p:spPr>
        <p:txBody>
          <a:bodyPr lIns="0" tIns="0" rIns="0" bIns="0"/>
          <a:lstStyle/>
          <a:p>
            <a:pPr>
              <a:defRPr sz="100">
                <a:solidFill>
                  <a:srgbClr val="2D5BFF"/>
                </a:solidFill>
              </a:defRPr>
            </a:pPr>
            <a:r>
              <a:rPr sz="100">
                <a:solidFill>
                  <a:srgbClr val="2D5BFF"/>
                </a:solidFill>
              </a:rPr>
              <a:t>​</a:t>
            </a:r>
          </a:p>
        </p:txBody>
      </p:sp>
      <p:sp>
        <p:nvSpPr>
          <p:cNvPr id="5" name="Rectangle 4">
            <a:extLst>
              <a:ext uri="{FF2B5EF4-FFF2-40B4-BE49-F238E27FC236}">
                <a16:creationId xmlns:a16="http://schemas.microsoft.com/office/drawing/2014/main" id="{D49A0CAD-F9A5-4D1C-A91F-4CE5FA12C1C9}"/>
              </a:ext>
            </a:extLst>
          </p:cNvPr>
          <p:cNvSpPr>
            <a:spLocks noGrp="1"/>
          </p:cNvSpPr>
          <p:nvPr/>
        </p:nvSpPr>
        <p:spPr>
          <a:xfrm>
            <a:off x="9886950" y="2762250"/>
            <a:ext cx="2305050" cy="1047750"/>
          </a:xfrm>
          <a:prstGeom prst="rect">
            <a:avLst/>
          </a:prstGeom>
          <a:noFill/>
          <a:ln w="0">
            <a:noFill/>
            <a:prstDash val="solid"/>
          </a:ln>
        </p:spPr>
        <p:txBody>
          <a:bodyPr wrap="square" lIns="0" tIns="0" rIns="0" bIns="0" anchor="ctr">
            <a:normAutofit/>
          </a:bodyPr>
          <a:lstStyle/>
          <a:p>
            <a:pPr algn="ctr">
              <a:lnSpc>
                <a:spcPct val="100000"/>
              </a:lnSpc>
              <a:buNone/>
              <a:defRPr sz="3150" b="1">
                <a:solidFill>
                  <a:srgbClr val="FFFFFF"/>
                </a:solidFill>
                <a:latin typeface="Aptos"/>
                <a:ea typeface="Aptos"/>
                <a:cs typeface="Aptos"/>
              </a:defRPr>
            </a:pPr>
            <a:r>
              <a:rPr sz="3150" b="1">
                <a:solidFill>
                  <a:srgbClr val="FFFFFF"/>
                </a:solidFill>
                <a:latin typeface="Aptos"/>
                <a:ea typeface="Aptos"/>
                <a:cs typeface="Aptos"/>
              </a:rPr>
              <a:t>CVC</a:t>
            </a:r>
          </a:p>
        </p:txBody>
      </p:sp>
    </p:spTree>
    <p:extLst>
      <p:ext uri="{BB962C8B-B14F-4D97-AF65-F5344CB8AC3E}">
        <p14:creationId xmlns:p14="http://schemas.microsoft.com/office/powerpoint/2010/main" val="144041809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B150CEF-8F38-0340-8C0B-14CE38F7F8A3}">
  <we:reference id="cba9fc06-6fc9-492e-9525-923870a3b909" version="2.0.0.0" store="EXCatalog" storeType="EXCatalog"/>
  <we:alternateReferences>
    <we:reference id="WA200010215" version="2.0.0.0"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2418</Words>
  <Application>Microsoft Macintosh PowerPoint</Application>
  <DocSecurity>0</DocSecurity>
  <PresentationFormat>Widescreen</PresentationFormat>
  <Paragraphs>462</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Aptos</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Nik Nair</cp:lastModifiedBy>
  <cp:revision>1</cp:revision>
  <dcterms:created xsi:type="dcterms:W3CDTF">2026-08-06T23:32:31Z</dcterms:created>
  <dcterms:modified xsi:type="dcterms:W3CDTF">2026-08-07T00:17:33Z</dcterms:modified>
</cp:coreProperties>
</file>